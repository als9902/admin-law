
<file path=[Content_Types].xml><?xml version="1.0" encoding="utf-8"?>
<Types xmlns="http://schemas.openxmlformats.org/package/2006/content-types">
  <Default Extension="emf" ContentType="image/x-emf"/>
  <Default Extension="fntdata" ContentType="application/x-fontdata"/>
  <Default Extension="jpeg" ContentType="image/jpeg"/>
  <Default Extension="jpg" ContentType="image/jpeg"/>
  <Default Extension="png" ContentType="image/png"/>
  <Default Extension="rels" ContentType="application/vnd.openxmlformats-package.relationships+xml"/>
  <Default Extension="svg" ContentType="image/svg+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theme/theme2.xml" ContentType="application/vnd.openxmlformats-officedocument.theme+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 id="2147483660" r:id="rId2"/>
    <p:sldMasterId id="2147483712" r:id="rId3"/>
  </p:sldMasterIdLst>
  <p:notesMasterIdLst>
    <p:notesMasterId r:id="rId48"/>
  </p:notesMasterIdLst>
  <p:sldIdLst>
    <p:sldId id="256" r:id="rId4"/>
    <p:sldId id="2303" r:id="rId5"/>
    <p:sldId id="2305" r:id="rId6"/>
    <p:sldId id="257" r:id="rId7"/>
    <p:sldId id="2307" r:id="rId8"/>
    <p:sldId id="2308" r:id="rId9"/>
    <p:sldId id="2329" r:id="rId10"/>
    <p:sldId id="2328" r:id="rId11"/>
    <p:sldId id="2330" r:id="rId12"/>
    <p:sldId id="2331" r:id="rId13"/>
    <p:sldId id="2332" r:id="rId14"/>
    <p:sldId id="2333" r:id="rId15"/>
    <p:sldId id="2334" r:id="rId16"/>
    <p:sldId id="2335" r:id="rId17"/>
    <p:sldId id="2336" r:id="rId18"/>
    <p:sldId id="2337" r:id="rId19"/>
    <p:sldId id="2338" r:id="rId20"/>
    <p:sldId id="2339" r:id="rId21"/>
    <p:sldId id="2340" r:id="rId22"/>
    <p:sldId id="2341" r:id="rId23"/>
    <p:sldId id="2342" r:id="rId24"/>
    <p:sldId id="2343" r:id="rId25"/>
    <p:sldId id="2344" r:id="rId26"/>
    <p:sldId id="2345" r:id="rId27"/>
    <p:sldId id="2346" r:id="rId28"/>
    <p:sldId id="2347" r:id="rId29"/>
    <p:sldId id="2349" r:id="rId30"/>
    <p:sldId id="2350" r:id="rId31"/>
    <p:sldId id="2351" r:id="rId32"/>
    <p:sldId id="2352" r:id="rId33"/>
    <p:sldId id="2353" r:id="rId34"/>
    <p:sldId id="2355" r:id="rId35"/>
    <p:sldId id="2356" r:id="rId36"/>
    <p:sldId id="2357" r:id="rId37"/>
    <p:sldId id="2358" r:id="rId38"/>
    <p:sldId id="2359" r:id="rId39"/>
    <p:sldId id="2360" r:id="rId40"/>
    <p:sldId id="2361" r:id="rId41"/>
    <p:sldId id="2362" r:id="rId42"/>
    <p:sldId id="2363" r:id="rId43"/>
    <p:sldId id="2364" r:id="rId44"/>
    <p:sldId id="2365" r:id="rId45"/>
    <p:sldId id="2366" r:id="rId46"/>
    <p:sldId id="280" r:id="rId47"/>
  </p:sldIdLst>
  <p:sldSz cx="12192000" cy="6858000"/>
  <p:notesSz cx="6858000" cy="9144000"/>
  <p:embeddedFontLst>
    <p:embeddedFont>
      <p:font typeface="Arial Bold" panose="020B0704020202020204" pitchFamily="34" charset="0"/>
      <p:regular r:id="rId49"/>
      <p:bold r:id="rId50"/>
    </p:embeddedFont>
    <p:embeddedFont>
      <p:font typeface="Merriweather" panose="00000500000000000000" pitchFamily="2" charset="0"/>
      <p:regular r:id="rId51"/>
      <p:bold r:id="rId52"/>
      <p:italic r:id="rId53"/>
      <p:boldItalic r:id="rId54"/>
    </p:embeddedFont>
    <p:embeddedFont>
      <p:font typeface="Montserrat Bold" panose="020B0604020202020204" charset="0"/>
      <p:bold r:id="rId55"/>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9933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0" d="100"/>
          <a:sy n="70" d="100"/>
        </p:scale>
        <p:origin x="512" y="52"/>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0.xml"/><Relationship Id="rId18" Type="http://schemas.openxmlformats.org/officeDocument/2006/relationships/slide" Target="slides/slide15.xml"/><Relationship Id="rId26" Type="http://schemas.openxmlformats.org/officeDocument/2006/relationships/slide" Target="slides/slide23.xml"/><Relationship Id="rId39" Type="http://schemas.openxmlformats.org/officeDocument/2006/relationships/slide" Target="slides/slide36.xml"/><Relationship Id="rId21" Type="http://schemas.openxmlformats.org/officeDocument/2006/relationships/slide" Target="slides/slide18.xml"/><Relationship Id="rId34" Type="http://schemas.openxmlformats.org/officeDocument/2006/relationships/slide" Target="slides/slide31.xml"/><Relationship Id="rId42" Type="http://schemas.openxmlformats.org/officeDocument/2006/relationships/slide" Target="slides/slide39.xml"/><Relationship Id="rId47" Type="http://schemas.openxmlformats.org/officeDocument/2006/relationships/slide" Target="slides/slide44.xml"/><Relationship Id="rId50" Type="http://schemas.openxmlformats.org/officeDocument/2006/relationships/font" Target="fonts/font2.fntdata"/><Relationship Id="rId55" Type="http://schemas.openxmlformats.org/officeDocument/2006/relationships/font" Target="fonts/font7.fntdata"/><Relationship Id="rId7" Type="http://schemas.openxmlformats.org/officeDocument/2006/relationships/slide" Target="slides/slide4.xml"/><Relationship Id="rId2" Type="http://schemas.openxmlformats.org/officeDocument/2006/relationships/slideMaster" Target="slideMasters/slideMaster2.xml"/><Relationship Id="rId16" Type="http://schemas.openxmlformats.org/officeDocument/2006/relationships/slide" Target="slides/slide13.xml"/><Relationship Id="rId29" Type="http://schemas.openxmlformats.org/officeDocument/2006/relationships/slide" Target="slides/slide26.xml"/><Relationship Id="rId11" Type="http://schemas.openxmlformats.org/officeDocument/2006/relationships/slide" Target="slides/slide8.xml"/><Relationship Id="rId24" Type="http://schemas.openxmlformats.org/officeDocument/2006/relationships/slide" Target="slides/slide21.xml"/><Relationship Id="rId32" Type="http://schemas.openxmlformats.org/officeDocument/2006/relationships/slide" Target="slides/slide29.xml"/><Relationship Id="rId37" Type="http://schemas.openxmlformats.org/officeDocument/2006/relationships/slide" Target="slides/slide34.xml"/><Relationship Id="rId40" Type="http://schemas.openxmlformats.org/officeDocument/2006/relationships/slide" Target="slides/slide37.xml"/><Relationship Id="rId45" Type="http://schemas.openxmlformats.org/officeDocument/2006/relationships/slide" Target="slides/slide42.xml"/><Relationship Id="rId53" Type="http://schemas.openxmlformats.org/officeDocument/2006/relationships/font" Target="fonts/font5.fntdata"/><Relationship Id="rId58" Type="http://schemas.openxmlformats.org/officeDocument/2006/relationships/theme" Target="theme/theme1.xml"/><Relationship Id="rId5" Type="http://schemas.openxmlformats.org/officeDocument/2006/relationships/slide" Target="slides/slide2.xml"/><Relationship Id="rId19" Type="http://schemas.openxmlformats.org/officeDocument/2006/relationships/slide" Target="slides/slide16.xml"/><Relationship Id="rId4" Type="http://schemas.openxmlformats.org/officeDocument/2006/relationships/slide" Target="slides/slide1.xml"/><Relationship Id="rId9" Type="http://schemas.openxmlformats.org/officeDocument/2006/relationships/slide" Target="slides/slide6.xml"/><Relationship Id="rId14" Type="http://schemas.openxmlformats.org/officeDocument/2006/relationships/slide" Target="slides/slide11.xml"/><Relationship Id="rId22" Type="http://schemas.openxmlformats.org/officeDocument/2006/relationships/slide" Target="slides/slide19.xml"/><Relationship Id="rId27" Type="http://schemas.openxmlformats.org/officeDocument/2006/relationships/slide" Target="slides/slide24.xml"/><Relationship Id="rId30" Type="http://schemas.openxmlformats.org/officeDocument/2006/relationships/slide" Target="slides/slide27.xml"/><Relationship Id="rId35" Type="http://schemas.openxmlformats.org/officeDocument/2006/relationships/slide" Target="slides/slide32.xml"/><Relationship Id="rId43" Type="http://schemas.openxmlformats.org/officeDocument/2006/relationships/slide" Target="slides/slide40.xml"/><Relationship Id="rId48" Type="http://schemas.openxmlformats.org/officeDocument/2006/relationships/notesMaster" Target="notesMasters/notesMaster1.xml"/><Relationship Id="rId56" Type="http://schemas.openxmlformats.org/officeDocument/2006/relationships/presProps" Target="presProps.xml"/><Relationship Id="rId8" Type="http://schemas.openxmlformats.org/officeDocument/2006/relationships/slide" Target="slides/slide5.xml"/><Relationship Id="rId51" Type="http://schemas.openxmlformats.org/officeDocument/2006/relationships/font" Target="fonts/font3.fntdata"/><Relationship Id="rId3" Type="http://schemas.openxmlformats.org/officeDocument/2006/relationships/slideMaster" Target="slideMasters/slideMaster3.xml"/><Relationship Id="rId12" Type="http://schemas.openxmlformats.org/officeDocument/2006/relationships/slide" Target="slides/slide9.xml"/><Relationship Id="rId17" Type="http://schemas.openxmlformats.org/officeDocument/2006/relationships/slide" Target="slides/slide14.xml"/><Relationship Id="rId25" Type="http://schemas.openxmlformats.org/officeDocument/2006/relationships/slide" Target="slides/slide22.xml"/><Relationship Id="rId33" Type="http://schemas.openxmlformats.org/officeDocument/2006/relationships/slide" Target="slides/slide30.xml"/><Relationship Id="rId38" Type="http://schemas.openxmlformats.org/officeDocument/2006/relationships/slide" Target="slides/slide35.xml"/><Relationship Id="rId46" Type="http://schemas.openxmlformats.org/officeDocument/2006/relationships/slide" Target="slides/slide43.xml"/><Relationship Id="rId59" Type="http://schemas.openxmlformats.org/officeDocument/2006/relationships/tableStyles" Target="tableStyles.xml"/><Relationship Id="rId20" Type="http://schemas.openxmlformats.org/officeDocument/2006/relationships/slide" Target="slides/slide17.xml"/><Relationship Id="rId41" Type="http://schemas.openxmlformats.org/officeDocument/2006/relationships/slide" Target="slides/slide38.xml"/><Relationship Id="rId54" Type="http://schemas.openxmlformats.org/officeDocument/2006/relationships/font" Target="fonts/font6.fntdata"/><Relationship Id="rId1" Type="http://schemas.openxmlformats.org/officeDocument/2006/relationships/slideMaster" Target="slideMasters/slideMaster1.xml"/><Relationship Id="rId6" Type="http://schemas.openxmlformats.org/officeDocument/2006/relationships/slide" Target="slides/slide3.xml"/><Relationship Id="rId15" Type="http://schemas.openxmlformats.org/officeDocument/2006/relationships/slide" Target="slides/slide12.xml"/><Relationship Id="rId23" Type="http://schemas.openxmlformats.org/officeDocument/2006/relationships/slide" Target="slides/slide20.xml"/><Relationship Id="rId28" Type="http://schemas.openxmlformats.org/officeDocument/2006/relationships/slide" Target="slides/slide25.xml"/><Relationship Id="rId36" Type="http://schemas.openxmlformats.org/officeDocument/2006/relationships/slide" Target="slides/slide33.xml"/><Relationship Id="rId49" Type="http://schemas.openxmlformats.org/officeDocument/2006/relationships/font" Target="fonts/font1.fntdata"/><Relationship Id="rId57" Type="http://schemas.openxmlformats.org/officeDocument/2006/relationships/viewProps" Target="viewProps.xml"/><Relationship Id="rId10" Type="http://schemas.openxmlformats.org/officeDocument/2006/relationships/slide" Target="slides/slide7.xml"/><Relationship Id="rId31" Type="http://schemas.openxmlformats.org/officeDocument/2006/relationships/slide" Target="slides/slide28.xml"/><Relationship Id="rId44" Type="http://schemas.openxmlformats.org/officeDocument/2006/relationships/slide" Target="slides/slide41.xml"/><Relationship Id="rId52" Type="http://schemas.openxmlformats.org/officeDocument/2006/relationships/font" Target="fonts/font4.fntdata"/><Relationship Id="rId60" Type="http://schemas.microsoft.com/office/2016/11/relationships/changesInfo" Target="changesInfos/changesInfo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Richard Taylor" userId="fbfc1553-b23d-457b-a859-b112eb014c8c" providerId="ADAL" clId="{AC1BEEC2-753D-4993-B869-B4F42A51304D}"/>
    <pc:docChg chg="custSel modSld">
      <pc:chgData name="Richard Taylor" userId="fbfc1553-b23d-457b-a859-b112eb014c8c" providerId="ADAL" clId="{AC1BEEC2-753D-4993-B869-B4F42A51304D}" dt="2025-08-20T23:57:27.231" v="202" actId="20577"/>
      <pc:docMkLst>
        <pc:docMk/>
      </pc:docMkLst>
      <pc:sldChg chg="modSp mod">
        <pc:chgData name="Richard Taylor" userId="fbfc1553-b23d-457b-a859-b112eb014c8c" providerId="ADAL" clId="{AC1BEEC2-753D-4993-B869-B4F42A51304D}" dt="2025-08-20T23:15:13.504" v="201" actId="20577"/>
        <pc:sldMkLst>
          <pc:docMk/>
          <pc:sldMk cId="3333206354" sldId="2303"/>
        </pc:sldMkLst>
        <pc:spChg chg="mod">
          <ac:chgData name="Richard Taylor" userId="fbfc1553-b23d-457b-a859-b112eb014c8c" providerId="ADAL" clId="{AC1BEEC2-753D-4993-B869-B4F42A51304D}" dt="2025-08-20T23:12:31.115" v="56" actId="20577"/>
          <ac:spMkLst>
            <pc:docMk/>
            <pc:sldMk cId="3333206354" sldId="2303"/>
            <ac:spMk id="2" creationId="{F9413B98-0319-74E3-38D3-EE0CB3C108D4}"/>
          </ac:spMkLst>
        </pc:spChg>
        <pc:spChg chg="mod">
          <ac:chgData name="Richard Taylor" userId="fbfc1553-b23d-457b-a859-b112eb014c8c" providerId="ADAL" clId="{AC1BEEC2-753D-4993-B869-B4F42A51304D}" dt="2025-08-20T23:13:13.780" v="80" actId="20577"/>
          <ac:spMkLst>
            <pc:docMk/>
            <pc:sldMk cId="3333206354" sldId="2303"/>
            <ac:spMk id="3" creationId="{61127326-5322-2F0C-1D54-4F9FA6ADAF50}"/>
          </ac:spMkLst>
        </pc:spChg>
        <pc:spChg chg="mod">
          <ac:chgData name="Richard Taylor" userId="fbfc1553-b23d-457b-a859-b112eb014c8c" providerId="ADAL" clId="{AC1BEEC2-753D-4993-B869-B4F42A51304D}" dt="2025-08-20T23:13:46.639" v="104" actId="1076"/>
          <ac:spMkLst>
            <pc:docMk/>
            <pc:sldMk cId="3333206354" sldId="2303"/>
            <ac:spMk id="4" creationId="{5696B9A4-0494-4C06-00CE-1D1BB38100BD}"/>
          </ac:spMkLst>
        </pc:spChg>
        <pc:spChg chg="mod">
          <ac:chgData name="Richard Taylor" userId="fbfc1553-b23d-457b-a859-b112eb014c8c" providerId="ADAL" clId="{AC1BEEC2-753D-4993-B869-B4F42A51304D}" dt="2025-08-20T23:15:13.504" v="201" actId="20577"/>
          <ac:spMkLst>
            <pc:docMk/>
            <pc:sldMk cId="3333206354" sldId="2303"/>
            <ac:spMk id="6" creationId="{2A99025E-5D7D-3E55-1C46-727A2DC96B80}"/>
          </ac:spMkLst>
        </pc:spChg>
        <pc:spChg chg="mod">
          <ac:chgData name="Richard Taylor" userId="fbfc1553-b23d-457b-a859-b112eb014c8c" providerId="ADAL" clId="{AC1BEEC2-753D-4993-B869-B4F42A51304D}" dt="2025-08-20T23:11:50.826" v="0" actId="20577"/>
          <ac:spMkLst>
            <pc:docMk/>
            <pc:sldMk cId="3333206354" sldId="2303"/>
            <ac:spMk id="31" creationId="{9FC9EB19-4B63-EB47-C999-0D75B49ACF20}"/>
          </ac:spMkLst>
        </pc:spChg>
        <pc:spChg chg="mod">
          <ac:chgData name="Richard Taylor" userId="fbfc1553-b23d-457b-a859-b112eb014c8c" providerId="ADAL" clId="{AC1BEEC2-753D-4993-B869-B4F42A51304D}" dt="2025-08-20T23:14:29.326" v="136" actId="20577"/>
          <ac:spMkLst>
            <pc:docMk/>
            <pc:sldMk cId="3333206354" sldId="2303"/>
            <ac:spMk id="32" creationId="{4AA5C928-3D58-F717-8E65-BDAB6697489F}"/>
          </ac:spMkLst>
        </pc:spChg>
        <pc:spChg chg="mod">
          <ac:chgData name="Richard Taylor" userId="fbfc1553-b23d-457b-a859-b112eb014c8c" providerId="ADAL" clId="{AC1BEEC2-753D-4993-B869-B4F42A51304D}" dt="2025-08-20T23:14:40.785" v="159" actId="20577"/>
          <ac:spMkLst>
            <pc:docMk/>
            <pc:sldMk cId="3333206354" sldId="2303"/>
            <ac:spMk id="33" creationId="{E7BAF03B-D725-FCE2-EF8B-84E6BD2860DB}"/>
          </ac:spMkLst>
        </pc:spChg>
        <pc:spChg chg="mod">
          <ac:chgData name="Richard Taylor" userId="fbfc1553-b23d-457b-a859-b112eb014c8c" providerId="ADAL" clId="{AC1BEEC2-753D-4993-B869-B4F42A51304D}" dt="2025-08-20T23:12:05.902" v="17" actId="20577"/>
          <ac:spMkLst>
            <pc:docMk/>
            <pc:sldMk cId="3333206354" sldId="2303"/>
            <ac:spMk id="36" creationId="{C93188E5-237B-C7AD-B92E-1E6DA67F1A95}"/>
          </ac:spMkLst>
        </pc:spChg>
        <pc:spChg chg="mod">
          <ac:chgData name="Richard Taylor" userId="fbfc1553-b23d-457b-a859-b112eb014c8c" providerId="ADAL" clId="{AC1BEEC2-753D-4993-B869-B4F42A51304D}" dt="2025-08-20T23:15:02.788" v="184" actId="20577"/>
          <ac:spMkLst>
            <pc:docMk/>
            <pc:sldMk cId="3333206354" sldId="2303"/>
            <ac:spMk id="38" creationId="{49EAC151-A040-1556-957F-B08DF4D1E7C0}"/>
          </ac:spMkLst>
        </pc:spChg>
      </pc:sldChg>
      <pc:sldChg chg="modSp mod">
        <pc:chgData name="Richard Taylor" userId="fbfc1553-b23d-457b-a859-b112eb014c8c" providerId="ADAL" clId="{AC1BEEC2-753D-4993-B869-B4F42A51304D}" dt="2025-08-20T23:57:27.231" v="202" actId="20577"/>
        <pc:sldMkLst>
          <pc:docMk/>
          <pc:sldMk cId="3007076231" sldId="2337"/>
        </pc:sldMkLst>
        <pc:spChg chg="mod">
          <ac:chgData name="Richard Taylor" userId="fbfc1553-b23d-457b-a859-b112eb014c8c" providerId="ADAL" clId="{AC1BEEC2-753D-4993-B869-B4F42A51304D}" dt="2025-08-20T23:57:27.231" v="202" actId="20577"/>
          <ac:spMkLst>
            <pc:docMk/>
            <pc:sldMk cId="3007076231" sldId="2337"/>
            <ac:spMk id="5" creationId="{1CC21E76-995C-18F5-E010-CC7CF8BAA170}"/>
          </ac:spMkLst>
        </pc:spChg>
      </pc:sldChg>
    </pc:docChg>
  </pc:docChgLst>
  <pc:docChgLst>
    <pc:chgData name="Richard Taylor" userId="fbfc1553-b23d-457b-a859-b112eb014c8c" providerId="ADAL" clId="{87CFA891-77F9-43AD-A107-BE6305742759}"/>
    <pc:docChg chg="undo redo custSel addSld delSld modSld sldOrd">
      <pc:chgData name="Richard Taylor" userId="fbfc1553-b23d-457b-a859-b112eb014c8c" providerId="ADAL" clId="{87CFA891-77F9-43AD-A107-BE6305742759}" dt="2025-07-15T23:10:43.089" v="1441" actId="114"/>
      <pc:docMkLst>
        <pc:docMk/>
      </pc:docMkLst>
      <pc:sldChg chg="modSp mod">
        <pc:chgData name="Richard Taylor" userId="fbfc1553-b23d-457b-a859-b112eb014c8c" providerId="ADAL" clId="{87CFA891-77F9-43AD-A107-BE6305742759}" dt="2025-07-09T23:21:14.315" v="34" actId="20577"/>
        <pc:sldMkLst>
          <pc:docMk/>
          <pc:sldMk cId="0" sldId="256"/>
        </pc:sldMkLst>
        <pc:spChg chg="mod">
          <ac:chgData name="Richard Taylor" userId="fbfc1553-b23d-457b-a859-b112eb014c8c" providerId="ADAL" clId="{87CFA891-77F9-43AD-A107-BE6305742759}" dt="2025-07-09T23:21:14.315" v="34" actId="20577"/>
          <ac:spMkLst>
            <pc:docMk/>
            <pc:sldMk cId="0" sldId="256"/>
            <ac:spMk id="16" creationId="{00000000-0000-0000-0000-000000000000}"/>
          </ac:spMkLst>
        </pc:spChg>
      </pc:sldChg>
      <pc:sldChg chg="addSp delSp modSp mod">
        <pc:chgData name="Richard Taylor" userId="fbfc1553-b23d-457b-a859-b112eb014c8c" providerId="ADAL" clId="{87CFA891-77F9-43AD-A107-BE6305742759}" dt="2025-07-15T04:11:53.304" v="583" actId="20577"/>
        <pc:sldMkLst>
          <pc:docMk/>
          <pc:sldMk cId="0" sldId="257"/>
        </pc:sldMkLst>
        <pc:spChg chg="add mod">
          <ac:chgData name="Richard Taylor" userId="fbfc1553-b23d-457b-a859-b112eb014c8c" providerId="ADAL" clId="{87CFA891-77F9-43AD-A107-BE6305742759}" dt="2025-07-15T04:03:45.843" v="525" actId="1076"/>
          <ac:spMkLst>
            <pc:docMk/>
            <pc:sldMk cId="0" sldId="257"/>
            <ac:spMk id="4" creationId="{62C3A65A-34F4-6B97-118F-50DF8B007FED}"/>
          </ac:spMkLst>
        </pc:spChg>
        <pc:spChg chg="mod">
          <ac:chgData name="Richard Taylor" userId="fbfc1553-b23d-457b-a859-b112eb014c8c" providerId="ADAL" clId="{87CFA891-77F9-43AD-A107-BE6305742759}" dt="2025-07-10T08:27:05.753" v="148"/>
          <ac:spMkLst>
            <pc:docMk/>
            <pc:sldMk cId="0" sldId="257"/>
            <ac:spMk id="5" creationId="{00000000-0000-0000-0000-000000000000}"/>
          </ac:spMkLst>
        </pc:spChg>
        <pc:spChg chg="add mod">
          <ac:chgData name="Richard Taylor" userId="fbfc1553-b23d-457b-a859-b112eb014c8c" providerId="ADAL" clId="{87CFA891-77F9-43AD-A107-BE6305742759}" dt="2025-07-15T04:03:45.843" v="525" actId="1076"/>
          <ac:spMkLst>
            <pc:docMk/>
            <pc:sldMk cId="0" sldId="257"/>
            <ac:spMk id="6" creationId="{73F4A283-7744-EA24-DB5C-542E0EE92749}"/>
          </ac:spMkLst>
        </pc:spChg>
        <pc:spChg chg="add mod">
          <ac:chgData name="Richard Taylor" userId="fbfc1553-b23d-457b-a859-b112eb014c8c" providerId="ADAL" clId="{87CFA891-77F9-43AD-A107-BE6305742759}" dt="2025-07-15T04:03:45.843" v="525" actId="1076"/>
          <ac:spMkLst>
            <pc:docMk/>
            <pc:sldMk cId="0" sldId="257"/>
            <ac:spMk id="7" creationId="{A4B51CC4-2432-FD48-7854-D07D9EF09239}"/>
          </ac:spMkLst>
        </pc:spChg>
        <pc:spChg chg="add mod">
          <ac:chgData name="Richard Taylor" userId="fbfc1553-b23d-457b-a859-b112eb014c8c" providerId="ADAL" clId="{87CFA891-77F9-43AD-A107-BE6305742759}" dt="2025-07-15T04:03:45.843" v="525" actId="1076"/>
          <ac:spMkLst>
            <pc:docMk/>
            <pc:sldMk cId="0" sldId="257"/>
            <ac:spMk id="8" creationId="{9DE7A672-5201-E728-C72C-D99422FCF505}"/>
          </ac:spMkLst>
        </pc:spChg>
        <pc:spChg chg="mod">
          <ac:chgData name="Richard Taylor" userId="fbfc1553-b23d-457b-a859-b112eb014c8c" providerId="ADAL" clId="{87CFA891-77F9-43AD-A107-BE6305742759}" dt="2025-07-15T04:03:38.041" v="523" actId="14100"/>
          <ac:spMkLst>
            <pc:docMk/>
            <pc:sldMk cId="0" sldId="257"/>
            <ac:spMk id="9" creationId="{00000000-0000-0000-0000-000000000000}"/>
          </ac:spMkLst>
        </pc:spChg>
        <pc:spChg chg="add mod">
          <ac:chgData name="Richard Taylor" userId="fbfc1553-b23d-457b-a859-b112eb014c8c" providerId="ADAL" clId="{87CFA891-77F9-43AD-A107-BE6305742759}" dt="2025-07-15T04:03:45.843" v="525" actId="1076"/>
          <ac:spMkLst>
            <pc:docMk/>
            <pc:sldMk cId="0" sldId="257"/>
            <ac:spMk id="11" creationId="{E072407F-2028-9B30-C83F-C8B6FFD9BA2A}"/>
          </ac:spMkLst>
        </pc:spChg>
        <pc:spChg chg="add mod">
          <ac:chgData name="Richard Taylor" userId="fbfc1553-b23d-457b-a859-b112eb014c8c" providerId="ADAL" clId="{87CFA891-77F9-43AD-A107-BE6305742759}" dt="2025-07-15T04:11:23.934" v="557" actId="1076"/>
          <ac:spMkLst>
            <pc:docMk/>
            <pc:sldMk cId="0" sldId="257"/>
            <ac:spMk id="22" creationId="{5E1FE712-595F-EF5E-8561-429AFBE2EDFC}"/>
          </ac:spMkLst>
        </pc:spChg>
        <pc:spChg chg="add mod">
          <ac:chgData name="Richard Taylor" userId="fbfc1553-b23d-457b-a859-b112eb014c8c" providerId="ADAL" clId="{87CFA891-77F9-43AD-A107-BE6305742759}" dt="2025-07-15T04:11:43.867" v="574" actId="1076"/>
          <ac:spMkLst>
            <pc:docMk/>
            <pc:sldMk cId="0" sldId="257"/>
            <ac:spMk id="25" creationId="{F0B7B42E-C387-48C9-8695-FC90FE558FAE}"/>
          </ac:spMkLst>
        </pc:spChg>
        <pc:spChg chg="add mod">
          <ac:chgData name="Richard Taylor" userId="fbfc1553-b23d-457b-a859-b112eb014c8c" providerId="ADAL" clId="{87CFA891-77F9-43AD-A107-BE6305742759}" dt="2025-07-15T04:11:53.304" v="583" actId="20577"/>
          <ac:spMkLst>
            <pc:docMk/>
            <pc:sldMk cId="0" sldId="257"/>
            <ac:spMk id="26" creationId="{A5460319-15C3-461C-7BEA-AFDC2F116414}"/>
          </ac:spMkLst>
        </pc:spChg>
        <pc:picChg chg="add mod">
          <ac:chgData name="Richard Taylor" userId="fbfc1553-b23d-457b-a859-b112eb014c8c" providerId="ADAL" clId="{87CFA891-77F9-43AD-A107-BE6305742759}" dt="2025-07-15T04:08:34.641" v="533" actId="1076"/>
          <ac:picMkLst>
            <pc:docMk/>
            <pc:sldMk cId="0" sldId="257"/>
            <ac:picMk id="16" creationId="{F0382B0A-4188-ACA6-D1D6-EC2C44505636}"/>
          </ac:picMkLst>
        </pc:picChg>
        <pc:picChg chg="add mod">
          <ac:chgData name="Richard Taylor" userId="fbfc1553-b23d-457b-a859-b112eb014c8c" providerId="ADAL" clId="{87CFA891-77F9-43AD-A107-BE6305742759}" dt="2025-07-15T04:09:30.103" v="536" actId="207"/>
          <ac:picMkLst>
            <pc:docMk/>
            <pc:sldMk cId="0" sldId="257"/>
            <ac:picMk id="18" creationId="{BCC452CE-EC45-43CB-3509-64656A7CDB39}"/>
          </ac:picMkLst>
        </pc:picChg>
        <pc:picChg chg="add mod">
          <ac:chgData name="Richard Taylor" userId="fbfc1553-b23d-457b-a859-b112eb014c8c" providerId="ADAL" clId="{87CFA891-77F9-43AD-A107-BE6305742759}" dt="2025-07-15T04:10:34.308" v="540" actId="207"/>
          <ac:picMkLst>
            <pc:docMk/>
            <pc:sldMk cId="0" sldId="257"/>
            <ac:picMk id="20" creationId="{A18F13AA-CB01-060B-186E-C70216839820}"/>
          </ac:picMkLst>
        </pc:picChg>
      </pc:sldChg>
      <pc:sldChg chg="add del">
        <pc:chgData name="Richard Taylor" userId="fbfc1553-b23d-457b-a859-b112eb014c8c" providerId="ADAL" clId="{87CFA891-77F9-43AD-A107-BE6305742759}" dt="2025-07-10T08:58:30.488" v="435" actId="47"/>
        <pc:sldMkLst>
          <pc:docMk/>
          <pc:sldMk cId="31610262" sldId="267"/>
        </pc:sldMkLst>
      </pc:sldChg>
      <pc:sldChg chg="add del">
        <pc:chgData name="Richard Taylor" userId="fbfc1553-b23d-457b-a859-b112eb014c8c" providerId="ADAL" clId="{87CFA891-77F9-43AD-A107-BE6305742759}" dt="2025-07-10T08:30:43.559" v="193" actId="47"/>
        <pc:sldMkLst>
          <pc:docMk/>
          <pc:sldMk cId="3137373810" sldId="273"/>
        </pc:sldMkLst>
      </pc:sldChg>
      <pc:sldChg chg="add">
        <pc:chgData name="Richard Taylor" userId="fbfc1553-b23d-457b-a859-b112eb014c8c" providerId="ADAL" clId="{87CFA891-77F9-43AD-A107-BE6305742759}" dt="2025-07-09T23:33:35.815" v="43"/>
        <pc:sldMkLst>
          <pc:docMk/>
          <pc:sldMk cId="4184571377" sldId="274"/>
        </pc:sldMkLst>
      </pc:sldChg>
      <pc:sldChg chg="add">
        <pc:chgData name="Richard Taylor" userId="fbfc1553-b23d-457b-a859-b112eb014c8c" providerId="ADAL" clId="{87CFA891-77F9-43AD-A107-BE6305742759}" dt="2025-07-09T23:33:35.815" v="43"/>
        <pc:sldMkLst>
          <pc:docMk/>
          <pc:sldMk cId="133434527" sldId="275"/>
        </pc:sldMkLst>
      </pc:sldChg>
      <pc:sldChg chg="modSp add del mod">
        <pc:chgData name="Richard Taylor" userId="fbfc1553-b23d-457b-a859-b112eb014c8c" providerId="ADAL" clId="{87CFA891-77F9-43AD-A107-BE6305742759}" dt="2025-07-10T09:04:25.494" v="501" actId="47"/>
        <pc:sldMkLst>
          <pc:docMk/>
          <pc:sldMk cId="392746198" sldId="276"/>
        </pc:sldMkLst>
      </pc:sldChg>
      <pc:sldChg chg="add del">
        <pc:chgData name="Richard Taylor" userId="fbfc1553-b23d-457b-a859-b112eb014c8c" providerId="ADAL" clId="{87CFA891-77F9-43AD-A107-BE6305742759}" dt="2025-07-10T09:06:12.794" v="518" actId="47"/>
        <pc:sldMkLst>
          <pc:docMk/>
          <pc:sldMk cId="1178189235" sldId="277"/>
        </pc:sldMkLst>
      </pc:sldChg>
      <pc:sldChg chg="add">
        <pc:chgData name="Richard Taylor" userId="fbfc1553-b23d-457b-a859-b112eb014c8c" providerId="ADAL" clId="{87CFA891-77F9-43AD-A107-BE6305742759}" dt="2025-07-09T23:33:35.815" v="43"/>
        <pc:sldMkLst>
          <pc:docMk/>
          <pc:sldMk cId="430478909" sldId="278"/>
        </pc:sldMkLst>
      </pc:sldChg>
      <pc:sldChg chg="add">
        <pc:chgData name="Richard Taylor" userId="fbfc1553-b23d-457b-a859-b112eb014c8c" providerId="ADAL" clId="{87CFA891-77F9-43AD-A107-BE6305742759}" dt="2025-07-09T23:33:35.815" v="43"/>
        <pc:sldMkLst>
          <pc:docMk/>
          <pc:sldMk cId="1826329314" sldId="279"/>
        </pc:sldMkLst>
      </pc:sldChg>
      <pc:sldChg chg="add">
        <pc:chgData name="Richard Taylor" userId="fbfc1553-b23d-457b-a859-b112eb014c8c" providerId="ADAL" clId="{87CFA891-77F9-43AD-A107-BE6305742759}" dt="2025-07-09T23:33:35.815" v="43"/>
        <pc:sldMkLst>
          <pc:docMk/>
          <pc:sldMk cId="2829674358" sldId="281"/>
        </pc:sldMkLst>
      </pc:sldChg>
      <pc:sldChg chg="add">
        <pc:chgData name="Richard Taylor" userId="fbfc1553-b23d-457b-a859-b112eb014c8c" providerId="ADAL" clId="{87CFA891-77F9-43AD-A107-BE6305742759}" dt="2025-07-09T23:33:35.815" v="43"/>
        <pc:sldMkLst>
          <pc:docMk/>
          <pc:sldMk cId="2681691723" sldId="282"/>
        </pc:sldMkLst>
      </pc:sldChg>
      <pc:sldChg chg="add">
        <pc:chgData name="Richard Taylor" userId="fbfc1553-b23d-457b-a859-b112eb014c8c" providerId="ADAL" clId="{87CFA891-77F9-43AD-A107-BE6305742759}" dt="2025-07-09T23:33:35.815" v="43"/>
        <pc:sldMkLst>
          <pc:docMk/>
          <pc:sldMk cId="53612294" sldId="283"/>
        </pc:sldMkLst>
      </pc:sldChg>
      <pc:sldChg chg="add">
        <pc:chgData name="Richard Taylor" userId="fbfc1553-b23d-457b-a859-b112eb014c8c" providerId="ADAL" clId="{87CFA891-77F9-43AD-A107-BE6305742759}" dt="2025-07-09T23:33:35.815" v="43"/>
        <pc:sldMkLst>
          <pc:docMk/>
          <pc:sldMk cId="3945166391" sldId="284"/>
        </pc:sldMkLst>
      </pc:sldChg>
      <pc:sldChg chg="add">
        <pc:chgData name="Richard Taylor" userId="fbfc1553-b23d-457b-a859-b112eb014c8c" providerId="ADAL" clId="{87CFA891-77F9-43AD-A107-BE6305742759}" dt="2025-07-09T23:33:35.815" v="43"/>
        <pc:sldMkLst>
          <pc:docMk/>
          <pc:sldMk cId="468870519" sldId="285"/>
        </pc:sldMkLst>
      </pc:sldChg>
      <pc:sldChg chg="modSp add mod">
        <pc:chgData name="Richard Taylor" userId="fbfc1553-b23d-457b-a859-b112eb014c8c" providerId="ADAL" clId="{87CFA891-77F9-43AD-A107-BE6305742759}" dt="2025-07-09T23:33:35.977" v="45" actId="27636"/>
        <pc:sldMkLst>
          <pc:docMk/>
          <pc:sldMk cId="3632191402" sldId="286"/>
        </pc:sldMkLst>
      </pc:sldChg>
      <pc:sldChg chg="add">
        <pc:chgData name="Richard Taylor" userId="fbfc1553-b23d-457b-a859-b112eb014c8c" providerId="ADAL" clId="{87CFA891-77F9-43AD-A107-BE6305742759}" dt="2025-07-09T23:33:35.815" v="43"/>
        <pc:sldMkLst>
          <pc:docMk/>
          <pc:sldMk cId="519703359" sldId="287"/>
        </pc:sldMkLst>
      </pc:sldChg>
      <pc:sldChg chg="add">
        <pc:chgData name="Richard Taylor" userId="fbfc1553-b23d-457b-a859-b112eb014c8c" providerId="ADAL" clId="{87CFA891-77F9-43AD-A107-BE6305742759}" dt="2025-07-09T23:33:35.815" v="43"/>
        <pc:sldMkLst>
          <pc:docMk/>
          <pc:sldMk cId="2420968090" sldId="288"/>
        </pc:sldMkLst>
      </pc:sldChg>
      <pc:sldChg chg="add">
        <pc:chgData name="Richard Taylor" userId="fbfc1553-b23d-457b-a859-b112eb014c8c" providerId="ADAL" clId="{87CFA891-77F9-43AD-A107-BE6305742759}" dt="2025-07-09T23:33:35.815" v="43"/>
        <pc:sldMkLst>
          <pc:docMk/>
          <pc:sldMk cId="2576872997" sldId="289"/>
        </pc:sldMkLst>
      </pc:sldChg>
      <pc:sldChg chg="add">
        <pc:chgData name="Richard Taylor" userId="fbfc1553-b23d-457b-a859-b112eb014c8c" providerId="ADAL" clId="{87CFA891-77F9-43AD-A107-BE6305742759}" dt="2025-07-09T23:33:35.815" v="43"/>
        <pc:sldMkLst>
          <pc:docMk/>
          <pc:sldMk cId="2050121983" sldId="293"/>
        </pc:sldMkLst>
      </pc:sldChg>
      <pc:sldChg chg="add">
        <pc:chgData name="Richard Taylor" userId="fbfc1553-b23d-457b-a859-b112eb014c8c" providerId="ADAL" clId="{87CFA891-77F9-43AD-A107-BE6305742759}" dt="2025-07-09T23:33:35.815" v="43"/>
        <pc:sldMkLst>
          <pc:docMk/>
          <pc:sldMk cId="3046351151" sldId="294"/>
        </pc:sldMkLst>
      </pc:sldChg>
      <pc:sldChg chg="modSp add mod">
        <pc:chgData name="Richard Taylor" userId="fbfc1553-b23d-457b-a859-b112eb014c8c" providerId="ADAL" clId="{87CFA891-77F9-43AD-A107-BE6305742759}" dt="2025-07-09T23:33:35.953" v="44" actId="27636"/>
        <pc:sldMkLst>
          <pc:docMk/>
          <pc:sldMk cId="3387413142" sldId="295"/>
        </pc:sldMkLst>
      </pc:sldChg>
      <pc:sldChg chg="add">
        <pc:chgData name="Richard Taylor" userId="fbfc1553-b23d-457b-a859-b112eb014c8c" providerId="ADAL" clId="{87CFA891-77F9-43AD-A107-BE6305742759}" dt="2025-07-09T23:33:35.815" v="43"/>
        <pc:sldMkLst>
          <pc:docMk/>
          <pc:sldMk cId="1509145222" sldId="296"/>
        </pc:sldMkLst>
      </pc:sldChg>
      <pc:sldChg chg="add">
        <pc:chgData name="Richard Taylor" userId="fbfc1553-b23d-457b-a859-b112eb014c8c" providerId="ADAL" clId="{87CFA891-77F9-43AD-A107-BE6305742759}" dt="2025-07-09T23:33:35.815" v="43"/>
        <pc:sldMkLst>
          <pc:docMk/>
          <pc:sldMk cId="2528882637" sldId="297"/>
        </pc:sldMkLst>
      </pc:sldChg>
      <pc:sldChg chg="add">
        <pc:chgData name="Richard Taylor" userId="fbfc1553-b23d-457b-a859-b112eb014c8c" providerId="ADAL" clId="{87CFA891-77F9-43AD-A107-BE6305742759}" dt="2025-07-09T23:33:35.815" v="43"/>
        <pc:sldMkLst>
          <pc:docMk/>
          <pc:sldMk cId="2743389806" sldId="298"/>
        </pc:sldMkLst>
      </pc:sldChg>
      <pc:sldChg chg="add">
        <pc:chgData name="Richard Taylor" userId="fbfc1553-b23d-457b-a859-b112eb014c8c" providerId="ADAL" clId="{87CFA891-77F9-43AD-A107-BE6305742759}" dt="2025-07-09T23:33:35.815" v="43"/>
        <pc:sldMkLst>
          <pc:docMk/>
          <pc:sldMk cId="953236317" sldId="300"/>
        </pc:sldMkLst>
      </pc:sldChg>
      <pc:sldChg chg="add del">
        <pc:chgData name="Richard Taylor" userId="fbfc1553-b23d-457b-a859-b112eb014c8c" providerId="ADAL" clId="{87CFA891-77F9-43AD-A107-BE6305742759}" dt="2025-07-10T08:22:44.587" v="46" actId="47"/>
        <pc:sldMkLst>
          <pc:docMk/>
          <pc:sldMk cId="3874726595" sldId="302"/>
        </pc:sldMkLst>
      </pc:sldChg>
      <pc:sldChg chg="add del">
        <pc:chgData name="Richard Taylor" userId="fbfc1553-b23d-457b-a859-b112eb014c8c" providerId="ADAL" clId="{87CFA891-77F9-43AD-A107-BE6305742759}" dt="2025-07-10T08:34:51.953" v="201" actId="47"/>
        <pc:sldMkLst>
          <pc:docMk/>
          <pc:sldMk cId="3977828893" sldId="303"/>
        </pc:sldMkLst>
      </pc:sldChg>
      <pc:sldChg chg="add del">
        <pc:chgData name="Richard Taylor" userId="fbfc1553-b23d-457b-a859-b112eb014c8c" providerId="ADAL" clId="{87CFA891-77F9-43AD-A107-BE6305742759}" dt="2025-07-10T08:54:24.680" v="394" actId="47"/>
        <pc:sldMkLst>
          <pc:docMk/>
          <pc:sldMk cId="3512743462" sldId="305"/>
        </pc:sldMkLst>
      </pc:sldChg>
      <pc:sldChg chg="add del">
        <pc:chgData name="Richard Taylor" userId="fbfc1553-b23d-457b-a859-b112eb014c8c" providerId="ADAL" clId="{87CFA891-77F9-43AD-A107-BE6305742759}" dt="2025-07-10T09:00:39.168" v="473" actId="47"/>
        <pc:sldMkLst>
          <pc:docMk/>
          <pc:sldMk cId="1157315259" sldId="306"/>
        </pc:sldMkLst>
      </pc:sldChg>
      <pc:sldChg chg="add del">
        <pc:chgData name="Richard Taylor" userId="fbfc1553-b23d-457b-a859-b112eb014c8c" providerId="ADAL" clId="{87CFA891-77F9-43AD-A107-BE6305742759}" dt="2025-07-10T08:57:19.548" v="434" actId="47"/>
        <pc:sldMkLst>
          <pc:docMk/>
          <pc:sldMk cId="2563199332" sldId="308"/>
        </pc:sldMkLst>
      </pc:sldChg>
      <pc:sldChg chg="add">
        <pc:chgData name="Richard Taylor" userId="fbfc1553-b23d-457b-a859-b112eb014c8c" providerId="ADAL" clId="{87CFA891-77F9-43AD-A107-BE6305742759}" dt="2025-07-09T23:33:35.815" v="43"/>
        <pc:sldMkLst>
          <pc:docMk/>
          <pc:sldMk cId="1082635549" sldId="309"/>
        </pc:sldMkLst>
      </pc:sldChg>
      <pc:sldChg chg="add">
        <pc:chgData name="Richard Taylor" userId="fbfc1553-b23d-457b-a859-b112eb014c8c" providerId="ADAL" clId="{87CFA891-77F9-43AD-A107-BE6305742759}" dt="2025-07-09T23:33:35.815" v="43"/>
        <pc:sldMkLst>
          <pc:docMk/>
          <pc:sldMk cId="3144455057" sldId="310"/>
        </pc:sldMkLst>
      </pc:sldChg>
      <pc:sldChg chg="add">
        <pc:chgData name="Richard Taylor" userId="fbfc1553-b23d-457b-a859-b112eb014c8c" providerId="ADAL" clId="{87CFA891-77F9-43AD-A107-BE6305742759}" dt="2025-07-09T23:33:35.815" v="43"/>
        <pc:sldMkLst>
          <pc:docMk/>
          <pc:sldMk cId="1314717890" sldId="311"/>
        </pc:sldMkLst>
      </pc:sldChg>
      <pc:sldChg chg="add">
        <pc:chgData name="Richard Taylor" userId="fbfc1553-b23d-457b-a859-b112eb014c8c" providerId="ADAL" clId="{87CFA891-77F9-43AD-A107-BE6305742759}" dt="2025-07-09T23:33:35.815" v="43"/>
        <pc:sldMkLst>
          <pc:docMk/>
          <pc:sldMk cId="342217666" sldId="313"/>
        </pc:sldMkLst>
      </pc:sldChg>
      <pc:sldChg chg="add del">
        <pc:chgData name="Richard Taylor" userId="fbfc1553-b23d-457b-a859-b112eb014c8c" providerId="ADAL" clId="{87CFA891-77F9-43AD-A107-BE6305742759}" dt="2025-07-10T08:29:29.707" v="170" actId="47"/>
        <pc:sldMkLst>
          <pc:docMk/>
          <pc:sldMk cId="3164123508" sldId="314"/>
        </pc:sldMkLst>
      </pc:sldChg>
      <pc:sldChg chg="add del">
        <pc:chgData name="Richard Taylor" userId="fbfc1553-b23d-457b-a859-b112eb014c8c" providerId="ADAL" clId="{87CFA891-77F9-43AD-A107-BE6305742759}" dt="2025-07-10T08:37:20.338" v="220" actId="47"/>
        <pc:sldMkLst>
          <pc:docMk/>
          <pc:sldMk cId="1568986561" sldId="411"/>
        </pc:sldMkLst>
      </pc:sldChg>
      <pc:sldChg chg="add del">
        <pc:chgData name="Richard Taylor" userId="fbfc1553-b23d-457b-a859-b112eb014c8c" providerId="ADAL" clId="{87CFA891-77F9-43AD-A107-BE6305742759}" dt="2025-07-10T08:38:06.279" v="223" actId="47"/>
        <pc:sldMkLst>
          <pc:docMk/>
          <pc:sldMk cId="2003456868" sldId="412"/>
        </pc:sldMkLst>
      </pc:sldChg>
      <pc:sldChg chg="add del">
        <pc:chgData name="Richard Taylor" userId="fbfc1553-b23d-457b-a859-b112eb014c8c" providerId="ADAL" clId="{87CFA891-77F9-43AD-A107-BE6305742759}" dt="2025-07-10T08:39:29.899" v="226" actId="47"/>
        <pc:sldMkLst>
          <pc:docMk/>
          <pc:sldMk cId="1273630780" sldId="413"/>
        </pc:sldMkLst>
      </pc:sldChg>
      <pc:sldChg chg="add del">
        <pc:chgData name="Richard Taylor" userId="fbfc1553-b23d-457b-a859-b112eb014c8c" providerId="ADAL" clId="{87CFA891-77F9-43AD-A107-BE6305742759}" dt="2025-07-10T08:39:30.738" v="227" actId="47"/>
        <pc:sldMkLst>
          <pc:docMk/>
          <pc:sldMk cId="2471166483" sldId="414"/>
        </pc:sldMkLst>
      </pc:sldChg>
      <pc:sldChg chg="add">
        <pc:chgData name="Richard Taylor" userId="fbfc1553-b23d-457b-a859-b112eb014c8c" providerId="ADAL" clId="{87CFA891-77F9-43AD-A107-BE6305742759}" dt="2025-07-09T23:33:35.815" v="43"/>
        <pc:sldMkLst>
          <pc:docMk/>
          <pc:sldMk cId="1466691939" sldId="415"/>
        </pc:sldMkLst>
      </pc:sldChg>
      <pc:sldChg chg="add">
        <pc:chgData name="Richard Taylor" userId="fbfc1553-b23d-457b-a859-b112eb014c8c" providerId="ADAL" clId="{87CFA891-77F9-43AD-A107-BE6305742759}" dt="2025-07-09T23:33:35.815" v="43"/>
        <pc:sldMkLst>
          <pc:docMk/>
          <pc:sldMk cId="156335908" sldId="416"/>
        </pc:sldMkLst>
      </pc:sldChg>
      <pc:sldChg chg="add del">
        <pc:chgData name="Richard Taylor" userId="fbfc1553-b23d-457b-a859-b112eb014c8c" providerId="ADAL" clId="{87CFA891-77F9-43AD-A107-BE6305742759}" dt="2025-07-10T08:43:57.223" v="297" actId="47"/>
        <pc:sldMkLst>
          <pc:docMk/>
          <pc:sldMk cId="436844569" sldId="420"/>
        </pc:sldMkLst>
      </pc:sldChg>
      <pc:sldChg chg="add del">
        <pc:chgData name="Richard Taylor" userId="fbfc1553-b23d-457b-a859-b112eb014c8c" providerId="ADAL" clId="{87CFA891-77F9-43AD-A107-BE6305742759}" dt="2025-07-10T08:46:55.683" v="315" actId="47"/>
        <pc:sldMkLst>
          <pc:docMk/>
          <pc:sldMk cId="3518841177" sldId="421"/>
        </pc:sldMkLst>
      </pc:sldChg>
      <pc:sldChg chg="add del">
        <pc:chgData name="Richard Taylor" userId="fbfc1553-b23d-457b-a859-b112eb014c8c" providerId="ADAL" clId="{87CFA891-77F9-43AD-A107-BE6305742759}" dt="2025-07-10T08:49:10.603" v="359" actId="47"/>
        <pc:sldMkLst>
          <pc:docMk/>
          <pc:sldMk cId="2978306056" sldId="422"/>
        </pc:sldMkLst>
      </pc:sldChg>
      <pc:sldChg chg="add del">
        <pc:chgData name="Richard Taylor" userId="fbfc1553-b23d-457b-a859-b112eb014c8c" providerId="ADAL" clId="{87CFA891-77F9-43AD-A107-BE6305742759}" dt="2025-07-10T08:40:46.090" v="259" actId="47"/>
        <pc:sldMkLst>
          <pc:docMk/>
          <pc:sldMk cId="1848695725" sldId="424"/>
        </pc:sldMkLst>
      </pc:sldChg>
      <pc:sldChg chg="add del">
        <pc:chgData name="Richard Taylor" userId="fbfc1553-b23d-457b-a859-b112eb014c8c" providerId="ADAL" clId="{87CFA891-77F9-43AD-A107-BE6305742759}" dt="2025-07-10T08:43:53.940" v="296" actId="47"/>
        <pc:sldMkLst>
          <pc:docMk/>
          <pc:sldMk cId="1149190531" sldId="425"/>
        </pc:sldMkLst>
      </pc:sldChg>
      <pc:sldChg chg="add del">
        <pc:chgData name="Richard Taylor" userId="fbfc1553-b23d-457b-a859-b112eb014c8c" providerId="ADAL" clId="{87CFA891-77F9-43AD-A107-BE6305742759}" dt="2025-07-10T08:53:12.907" v="389" actId="47"/>
        <pc:sldMkLst>
          <pc:docMk/>
          <pc:sldMk cId="1041749123" sldId="426"/>
        </pc:sldMkLst>
      </pc:sldChg>
      <pc:sldChg chg="modSp add mod">
        <pc:chgData name="Richard Taylor" userId="fbfc1553-b23d-457b-a859-b112eb014c8c" providerId="ADAL" clId="{87CFA891-77F9-43AD-A107-BE6305742759}" dt="2025-07-15T03:59:29.328" v="522" actId="20577"/>
        <pc:sldMkLst>
          <pc:docMk/>
          <pc:sldMk cId="3333206354" sldId="2303"/>
        </pc:sldMkLst>
        <pc:spChg chg="mod">
          <ac:chgData name="Richard Taylor" userId="fbfc1553-b23d-457b-a859-b112eb014c8c" providerId="ADAL" clId="{87CFA891-77F9-43AD-A107-BE6305742759}" dt="2025-07-15T03:59:21.992" v="520" actId="20577"/>
          <ac:spMkLst>
            <pc:docMk/>
            <pc:sldMk cId="3333206354" sldId="2303"/>
            <ac:spMk id="3" creationId="{61127326-5322-2F0C-1D54-4F9FA6ADAF50}"/>
          </ac:spMkLst>
        </pc:spChg>
        <pc:spChg chg="mod">
          <ac:chgData name="Richard Taylor" userId="fbfc1553-b23d-457b-a859-b112eb014c8c" providerId="ADAL" clId="{87CFA891-77F9-43AD-A107-BE6305742759}" dt="2025-07-15T03:59:25.723" v="521" actId="20577"/>
          <ac:spMkLst>
            <pc:docMk/>
            <pc:sldMk cId="3333206354" sldId="2303"/>
            <ac:spMk id="4" creationId="{5696B9A4-0494-4C06-00CE-1D1BB38100BD}"/>
          </ac:spMkLst>
        </pc:spChg>
        <pc:spChg chg="mod">
          <ac:chgData name="Richard Taylor" userId="fbfc1553-b23d-457b-a859-b112eb014c8c" providerId="ADAL" clId="{87CFA891-77F9-43AD-A107-BE6305742759}" dt="2025-07-09T23:23:06.439" v="42" actId="20577"/>
          <ac:spMkLst>
            <pc:docMk/>
            <pc:sldMk cId="3333206354" sldId="2303"/>
            <ac:spMk id="5" creationId="{BCCEE956-4087-9B7F-80AB-9C49CD2B0D0B}"/>
          </ac:spMkLst>
        </pc:spChg>
        <pc:spChg chg="mod">
          <ac:chgData name="Richard Taylor" userId="fbfc1553-b23d-457b-a859-b112eb014c8c" providerId="ADAL" clId="{87CFA891-77F9-43AD-A107-BE6305742759}" dt="2025-07-10T08:26:23.690" v="127" actId="20577"/>
          <ac:spMkLst>
            <pc:docMk/>
            <pc:sldMk cId="3333206354" sldId="2303"/>
            <ac:spMk id="6" creationId="{2A99025E-5D7D-3E55-1C46-727A2DC96B80}"/>
          </ac:spMkLst>
        </pc:spChg>
        <pc:spChg chg="mod">
          <ac:chgData name="Richard Taylor" userId="fbfc1553-b23d-457b-a859-b112eb014c8c" providerId="ADAL" clId="{87CFA891-77F9-43AD-A107-BE6305742759}" dt="2025-07-10T08:26:03.798" v="101" actId="20577"/>
          <ac:spMkLst>
            <pc:docMk/>
            <pc:sldMk cId="3333206354" sldId="2303"/>
            <ac:spMk id="31" creationId="{9FC9EB19-4B63-EB47-C999-0D75B49ACF20}"/>
          </ac:spMkLst>
        </pc:spChg>
        <pc:spChg chg="mod">
          <ac:chgData name="Richard Taylor" userId="fbfc1553-b23d-457b-a859-b112eb014c8c" providerId="ADAL" clId="{87CFA891-77F9-43AD-A107-BE6305742759}" dt="2025-07-15T03:59:29.328" v="522" actId="20577"/>
          <ac:spMkLst>
            <pc:docMk/>
            <pc:sldMk cId="3333206354" sldId="2303"/>
            <ac:spMk id="32" creationId="{4AA5C928-3D58-F717-8E65-BDAB6697489F}"/>
          </ac:spMkLst>
        </pc:spChg>
        <pc:spChg chg="mod">
          <ac:chgData name="Richard Taylor" userId="fbfc1553-b23d-457b-a859-b112eb014c8c" providerId="ADAL" clId="{87CFA891-77F9-43AD-A107-BE6305742759}" dt="2025-07-10T08:25:56.311" v="81" actId="20577"/>
          <ac:spMkLst>
            <pc:docMk/>
            <pc:sldMk cId="3333206354" sldId="2303"/>
            <ac:spMk id="36" creationId="{C93188E5-237B-C7AD-B92E-1E6DA67F1A95}"/>
          </ac:spMkLst>
        </pc:spChg>
      </pc:sldChg>
      <pc:sldChg chg="add">
        <pc:chgData name="Richard Taylor" userId="fbfc1553-b23d-457b-a859-b112eb014c8c" providerId="ADAL" clId="{87CFA891-77F9-43AD-A107-BE6305742759}" dt="2025-07-09T23:33:35.815" v="43"/>
        <pc:sldMkLst>
          <pc:docMk/>
          <pc:sldMk cId="857282420" sldId="2304"/>
        </pc:sldMkLst>
      </pc:sldChg>
      <pc:sldChg chg="modSp add mod">
        <pc:chgData name="Richard Taylor" userId="fbfc1553-b23d-457b-a859-b112eb014c8c" providerId="ADAL" clId="{87CFA891-77F9-43AD-A107-BE6305742759}" dt="2025-07-10T08:26:43.217" v="147" actId="20577"/>
        <pc:sldMkLst>
          <pc:docMk/>
          <pc:sldMk cId="2856717441" sldId="2305"/>
        </pc:sldMkLst>
        <pc:spChg chg="mod">
          <ac:chgData name="Richard Taylor" userId="fbfc1553-b23d-457b-a859-b112eb014c8c" providerId="ADAL" clId="{87CFA891-77F9-43AD-A107-BE6305742759}" dt="2025-07-10T08:26:43.217" v="147" actId="20577"/>
          <ac:spMkLst>
            <pc:docMk/>
            <pc:sldMk cId="2856717441" sldId="2305"/>
            <ac:spMk id="8" creationId="{0E486E41-A4FD-BB8C-28B6-97E21E7562BD}"/>
          </ac:spMkLst>
        </pc:spChg>
      </pc:sldChg>
      <pc:sldChg chg="add del">
        <pc:chgData name="Richard Taylor" userId="fbfc1553-b23d-457b-a859-b112eb014c8c" providerId="ADAL" clId="{87CFA891-77F9-43AD-A107-BE6305742759}" dt="2025-07-15T04:12:07.209" v="584" actId="47"/>
        <pc:sldMkLst>
          <pc:docMk/>
          <pc:sldMk cId="1750742139" sldId="2306"/>
        </pc:sldMkLst>
      </pc:sldChg>
      <pc:sldChg chg="addSp modSp add mod">
        <pc:chgData name="Richard Taylor" userId="fbfc1553-b23d-457b-a859-b112eb014c8c" providerId="ADAL" clId="{87CFA891-77F9-43AD-A107-BE6305742759}" dt="2025-07-15T04:16:16.085" v="670" actId="1076"/>
        <pc:sldMkLst>
          <pc:docMk/>
          <pc:sldMk cId="4127435677" sldId="2307"/>
        </pc:sldMkLst>
        <pc:spChg chg="mod">
          <ac:chgData name="Richard Taylor" userId="fbfc1553-b23d-457b-a859-b112eb014c8c" providerId="ADAL" clId="{87CFA891-77F9-43AD-A107-BE6305742759}" dt="2025-07-10T08:30:18.743" v="189" actId="20577"/>
          <ac:spMkLst>
            <pc:docMk/>
            <pc:sldMk cId="4127435677" sldId="2307"/>
            <ac:spMk id="5" creationId="{8CEA2A35-E032-27A6-D1EC-4F549A030CE3}"/>
          </ac:spMkLst>
        </pc:spChg>
        <pc:spChg chg="mod">
          <ac:chgData name="Richard Taylor" userId="fbfc1553-b23d-457b-a859-b112eb014c8c" providerId="ADAL" clId="{87CFA891-77F9-43AD-A107-BE6305742759}" dt="2025-07-15T04:13:35.786" v="667" actId="255"/>
          <ac:spMkLst>
            <pc:docMk/>
            <pc:sldMk cId="4127435677" sldId="2307"/>
            <ac:spMk id="9" creationId="{7E2F2C25-B2A1-1498-EC3A-36C8E52E5FE3}"/>
          </ac:spMkLst>
        </pc:spChg>
        <pc:picChg chg="add mod">
          <ac:chgData name="Richard Taylor" userId="fbfc1553-b23d-457b-a859-b112eb014c8c" providerId="ADAL" clId="{87CFA891-77F9-43AD-A107-BE6305742759}" dt="2025-07-15T04:16:16.085" v="670" actId="1076"/>
          <ac:picMkLst>
            <pc:docMk/>
            <pc:sldMk cId="4127435677" sldId="2307"/>
            <ac:picMk id="1026" creationId="{0648D4A4-437F-E802-68A6-89034F8884B0}"/>
          </ac:picMkLst>
        </pc:picChg>
      </pc:sldChg>
      <pc:sldChg chg="addSp delSp modSp add mod">
        <pc:chgData name="Richard Taylor" userId="fbfc1553-b23d-457b-a859-b112eb014c8c" providerId="ADAL" clId="{87CFA891-77F9-43AD-A107-BE6305742759}" dt="2025-07-15T04:16:31.211" v="671" actId="20577"/>
        <pc:sldMkLst>
          <pc:docMk/>
          <pc:sldMk cId="1554051238" sldId="2308"/>
        </pc:sldMkLst>
        <pc:spChg chg="mod">
          <ac:chgData name="Richard Taylor" userId="fbfc1553-b23d-457b-a859-b112eb014c8c" providerId="ADAL" clId="{87CFA891-77F9-43AD-A107-BE6305742759}" dt="2025-07-10T08:34:17.711" v="200"/>
          <ac:spMkLst>
            <pc:docMk/>
            <pc:sldMk cId="1554051238" sldId="2308"/>
            <ac:spMk id="5" creationId="{0CA6D1D6-25B3-32CB-B116-3DF619FAFA42}"/>
          </ac:spMkLst>
        </pc:spChg>
        <pc:spChg chg="add mod">
          <ac:chgData name="Richard Taylor" userId="fbfc1553-b23d-457b-a859-b112eb014c8c" providerId="ADAL" clId="{87CFA891-77F9-43AD-A107-BE6305742759}" dt="2025-07-10T08:33:57.914" v="199" actId="207"/>
          <ac:spMkLst>
            <pc:docMk/>
            <pc:sldMk cId="1554051238" sldId="2308"/>
            <ac:spMk id="7" creationId="{A2CE85C4-6453-B071-FD6B-4CB885C2DEE7}"/>
          </ac:spMkLst>
        </pc:spChg>
        <pc:spChg chg="add mod">
          <ac:chgData name="Richard Taylor" userId="fbfc1553-b23d-457b-a859-b112eb014c8c" providerId="ADAL" clId="{87CFA891-77F9-43AD-A107-BE6305742759}" dt="2025-07-15T04:16:31.211" v="671" actId="20577"/>
          <ac:spMkLst>
            <pc:docMk/>
            <pc:sldMk cId="1554051238" sldId="2308"/>
            <ac:spMk id="8" creationId="{B6A4A0B9-0CDC-9E8B-D6AF-53F9BE09D044}"/>
          </ac:spMkLst>
        </pc:spChg>
      </pc:sldChg>
      <pc:sldChg chg="addSp modSp add del mod ord">
        <pc:chgData name="Richard Taylor" userId="fbfc1553-b23d-457b-a859-b112eb014c8c" providerId="ADAL" clId="{87CFA891-77F9-43AD-A107-BE6305742759}" dt="2025-07-10T08:39:28.853" v="225" actId="47"/>
        <pc:sldMkLst>
          <pc:docMk/>
          <pc:sldMk cId="2408559815" sldId="2309"/>
        </pc:sldMkLst>
      </pc:sldChg>
      <pc:sldChg chg="addSp modSp add mod">
        <pc:chgData name="Richard Taylor" userId="fbfc1553-b23d-457b-a859-b112eb014c8c" providerId="ADAL" clId="{87CFA891-77F9-43AD-A107-BE6305742759}" dt="2025-07-15T04:29:38.610" v="721" actId="1076"/>
        <pc:sldMkLst>
          <pc:docMk/>
          <pc:sldMk cId="3810542643" sldId="2328"/>
        </pc:sldMkLst>
        <pc:spChg chg="mod">
          <ac:chgData name="Richard Taylor" userId="fbfc1553-b23d-457b-a859-b112eb014c8c" providerId="ADAL" clId="{87CFA891-77F9-43AD-A107-BE6305742759}" dt="2025-07-15T04:17:00.308" v="692" actId="20577"/>
          <ac:spMkLst>
            <pc:docMk/>
            <pc:sldMk cId="3810542643" sldId="2328"/>
            <ac:spMk id="5" creationId="{156A0EB1-28A5-6450-B46E-48C7D991C890}"/>
          </ac:spMkLst>
        </pc:spChg>
        <pc:spChg chg="add mod">
          <ac:chgData name="Richard Taylor" userId="fbfc1553-b23d-457b-a859-b112eb014c8c" providerId="ADAL" clId="{87CFA891-77F9-43AD-A107-BE6305742759}" dt="2025-07-15T04:28:31.101" v="714" actId="1076"/>
          <ac:spMkLst>
            <pc:docMk/>
            <pc:sldMk cId="3810542643" sldId="2328"/>
            <ac:spMk id="6" creationId="{A1B6888B-FF18-0C4B-82D0-1C4E0BAC9A0A}"/>
          </ac:spMkLst>
        </pc:spChg>
        <pc:spChg chg="add mod ord">
          <ac:chgData name="Richard Taylor" userId="fbfc1553-b23d-457b-a859-b112eb014c8c" providerId="ADAL" clId="{87CFA891-77F9-43AD-A107-BE6305742759}" dt="2025-07-15T04:28:07.989" v="712" actId="171"/>
          <ac:spMkLst>
            <pc:docMk/>
            <pc:sldMk cId="3810542643" sldId="2328"/>
            <ac:spMk id="7" creationId="{F900376F-7887-5B27-CBD4-F279C665F985}"/>
          </ac:spMkLst>
        </pc:spChg>
        <pc:spChg chg="mod">
          <ac:chgData name="Richard Taylor" userId="fbfc1553-b23d-457b-a859-b112eb014c8c" providerId="ADAL" clId="{87CFA891-77F9-43AD-A107-BE6305742759}" dt="2025-07-15T04:25:35.178" v="693" actId="14100"/>
          <ac:spMkLst>
            <pc:docMk/>
            <pc:sldMk cId="3810542643" sldId="2328"/>
            <ac:spMk id="9" creationId="{6E9CE5FD-7314-9FDC-3B68-530E41126A88}"/>
          </ac:spMkLst>
        </pc:spChg>
        <pc:picChg chg="add mod">
          <ac:chgData name="Richard Taylor" userId="fbfc1553-b23d-457b-a859-b112eb014c8c" providerId="ADAL" clId="{87CFA891-77F9-43AD-A107-BE6305742759}" dt="2025-07-15T04:29:38.610" v="721" actId="1076"/>
          <ac:picMkLst>
            <pc:docMk/>
            <pc:sldMk cId="3810542643" sldId="2328"/>
            <ac:picMk id="2050" creationId="{81691ADF-2C93-B1FC-B0E8-68F730D66A4B}"/>
          </ac:picMkLst>
        </pc:picChg>
      </pc:sldChg>
      <pc:sldChg chg="modSp add mod">
        <pc:chgData name="Richard Taylor" userId="fbfc1553-b23d-457b-a859-b112eb014c8c" providerId="ADAL" clId="{87CFA891-77F9-43AD-A107-BE6305742759}" dt="2025-07-15T04:16:51.340" v="683" actId="20577"/>
        <pc:sldMkLst>
          <pc:docMk/>
          <pc:sldMk cId="340120056" sldId="2329"/>
        </pc:sldMkLst>
        <pc:spChg chg="mod">
          <ac:chgData name="Richard Taylor" userId="fbfc1553-b23d-457b-a859-b112eb014c8c" providerId="ADAL" clId="{87CFA891-77F9-43AD-A107-BE6305742759}" dt="2025-07-15T04:16:51.340" v="683" actId="20577"/>
          <ac:spMkLst>
            <pc:docMk/>
            <pc:sldMk cId="340120056" sldId="2329"/>
            <ac:spMk id="5" creationId="{1DFBC168-C38E-9D5E-F6E0-9DBEE88DAF69}"/>
          </ac:spMkLst>
        </pc:spChg>
        <pc:picChg chg="mod">
          <ac:chgData name="Richard Taylor" userId="fbfc1553-b23d-457b-a859-b112eb014c8c" providerId="ADAL" clId="{87CFA891-77F9-43AD-A107-BE6305742759}" dt="2025-07-15T04:16:40.487" v="672" actId="1076"/>
          <ac:picMkLst>
            <pc:docMk/>
            <pc:sldMk cId="340120056" sldId="2329"/>
            <ac:picMk id="5122" creationId="{27E86F32-A634-7795-8EA6-A7A470E0D9C3}"/>
          </ac:picMkLst>
        </pc:picChg>
      </pc:sldChg>
      <pc:sldChg chg="modSp add mod">
        <pc:chgData name="Richard Taylor" userId="fbfc1553-b23d-457b-a859-b112eb014c8c" providerId="ADAL" clId="{87CFA891-77F9-43AD-A107-BE6305742759}" dt="2025-07-15T04:30:05.549" v="724" actId="1076"/>
        <pc:sldMkLst>
          <pc:docMk/>
          <pc:sldMk cId="3146196385" sldId="2330"/>
        </pc:sldMkLst>
        <pc:spChg chg="mod">
          <ac:chgData name="Richard Taylor" userId="fbfc1553-b23d-457b-a859-b112eb014c8c" providerId="ADAL" clId="{87CFA891-77F9-43AD-A107-BE6305742759}" dt="2025-07-15T04:30:03.272" v="723" actId="14100"/>
          <ac:spMkLst>
            <pc:docMk/>
            <pc:sldMk cId="3146196385" sldId="2330"/>
            <ac:spMk id="9" creationId="{7F8C893D-9128-00A5-A63E-1B4E23823209}"/>
          </ac:spMkLst>
        </pc:spChg>
        <pc:picChg chg="mod">
          <ac:chgData name="Richard Taylor" userId="fbfc1553-b23d-457b-a859-b112eb014c8c" providerId="ADAL" clId="{87CFA891-77F9-43AD-A107-BE6305742759}" dt="2025-07-15T04:30:05.549" v="724" actId="1076"/>
          <ac:picMkLst>
            <pc:docMk/>
            <pc:sldMk cId="3146196385" sldId="2330"/>
            <ac:picMk id="4" creationId="{3B25A95E-F1AE-023D-A653-A8967052F6C9}"/>
          </ac:picMkLst>
        </pc:picChg>
      </pc:sldChg>
      <pc:sldChg chg="addSp delSp modSp add mod">
        <pc:chgData name="Richard Taylor" userId="fbfc1553-b23d-457b-a859-b112eb014c8c" providerId="ADAL" clId="{87CFA891-77F9-43AD-A107-BE6305742759}" dt="2025-07-15T04:31:43.978" v="731" actId="1076"/>
        <pc:sldMkLst>
          <pc:docMk/>
          <pc:sldMk cId="2414848572" sldId="2331"/>
        </pc:sldMkLst>
        <pc:spChg chg="mod">
          <ac:chgData name="Richard Taylor" userId="fbfc1553-b23d-457b-a859-b112eb014c8c" providerId="ADAL" clId="{87CFA891-77F9-43AD-A107-BE6305742759}" dt="2025-07-15T04:31:43.978" v="731" actId="1076"/>
          <ac:spMkLst>
            <pc:docMk/>
            <pc:sldMk cId="2414848572" sldId="2331"/>
            <ac:spMk id="5" creationId="{68D59304-05BF-23A3-7FE2-CA841EC7AC2E}"/>
          </ac:spMkLst>
        </pc:spChg>
        <pc:picChg chg="add mod">
          <ac:chgData name="Richard Taylor" userId="fbfc1553-b23d-457b-a859-b112eb014c8c" providerId="ADAL" clId="{87CFA891-77F9-43AD-A107-BE6305742759}" dt="2025-07-15T04:31:34.798" v="728" actId="167"/>
          <ac:picMkLst>
            <pc:docMk/>
            <pc:sldMk cId="2414848572" sldId="2331"/>
            <ac:picMk id="3074" creationId="{168DAE8C-879D-996D-3BF9-69BFE5B43D6B}"/>
          </ac:picMkLst>
        </pc:picChg>
      </pc:sldChg>
      <pc:sldChg chg="addSp delSp modSp add mod ord">
        <pc:chgData name="Richard Taylor" userId="fbfc1553-b23d-457b-a859-b112eb014c8c" providerId="ADAL" clId="{87CFA891-77F9-43AD-A107-BE6305742759}" dt="2025-07-15T04:43:49.568" v="793" actId="1076"/>
        <pc:sldMkLst>
          <pc:docMk/>
          <pc:sldMk cId="2439715307" sldId="2332"/>
        </pc:sldMkLst>
        <pc:spChg chg="add mod">
          <ac:chgData name="Richard Taylor" userId="fbfc1553-b23d-457b-a859-b112eb014c8c" providerId="ADAL" clId="{87CFA891-77F9-43AD-A107-BE6305742759}" dt="2025-07-15T04:43:49.568" v="793" actId="1076"/>
          <ac:spMkLst>
            <pc:docMk/>
            <pc:sldMk cId="2439715307" sldId="2332"/>
            <ac:spMk id="4" creationId="{E66E4C5F-4929-47FE-D17E-6EE02A77A1DD}"/>
          </ac:spMkLst>
        </pc:spChg>
        <pc:spChg chg="mod">
          <ac:chgData name="Richard Taylor" userId="fbfc1553-b23d-457b-a859-b112eb014c8c" providerId="ADAL" clId="{87CFA891-77F9-43AD-A107-BE6305742759}" dt="2025-07-10T08:42:01.882" v="264"/>
          <ac:spMkLst>
            <pc:docMk/>
            <pc:sldMk cId="2439715307" sldId="2332"/>
            <ac:spMk id="5" creationId="{2FEC151C-9DC7-4035-2D53-CFE52D7A03B1}"/>
          </ac:spMkLst>
        </pc:spChg>
        <pc:spChg chg="mod">
          <ac:chgData name="Richard Taylor" userId="fbfc1553-b23d-457b-a859-b112eb014c8c" providerId="ADAL" clId="{87CFA891-77F9-43AD-A107-BE6305742759}" dt="2025-07-15T04:33:01.399" v="732" actId="14100"/>
          <ac:spMkLst>
            <pc:docMk/>
            <pc:sldMk cId="2439715307" sldId="2332"/>
            <ac:spMk id="9" creationId="{1F7F1B97-F57F-7740-9D5C-59D508ACEC88}"/>
          </ac:spMkLst>
        </pc:spChg>
        <pc:picChg chg="add mod">
          <ac:chgData name="Richard Taylor" userId="fbfc1553-b23d-457b-a859-b112eb014c8c" providerId="ADAL" clId="{87CFA891-77F9-43AD-A107-BE6305742759}" dt="2025-07-15T04:33:10.492" v="735" actId="1076"/>
          <ac:picMkLst>
            <pc:docMk/>
            <pc:sldMk cId="2439715307" sldId="2332"/>
            <ac:picMk id="4098" creationId="{8EC90865-4B18-625E-CDFB-6850C2606DEB}"/>
          </ac:picMkLst>
        </pc:picChg>
        <pc:picChg chg="add mod">
          <ac:chgData name="Richard Taylor" userId="fbfc1553-b23d-457b-a859-b112eb014c8c" providerId="ADAL" clId="{87CFA891-77F9-43AD-A107-BE6305742759}" dt="2025-07-15T04:42:46.703" v="742" actId="1076"/>
          <ac:picMkLst>
            <pc:docMk/>
            <pc:sldMk cId="2439715307" sldId="2332"/>
            <ac:picMk id="4100" creationId="{8CA68ABB-B143-EB3B-BB21-72B9E6DCBFE9}"/>
          </ac:picMkLst>
        </pc:picChg>
        <pc:picChg chg="add mod">
          <ac:chgData name="Richard Taylor" userId="fbfc1553-b23d-457b-a859-b112eb014c8c" providerId="ADAL" clId="{87CFA891-77F9-43AD-A107-BE6305742759}" dt="2025-07-15T04:42:50.626" v="743" actId="1076"/>
          <ac:picMkLst>
            <pc:docMk/>
            <pc:sldMk cId="2439715307" sldId="2332"/>
            <ac:picMk id="4102" creationId="{182F641D-14C5-3D92-670E-226D4B7DC6A1}"/>
          </ac:picMkLst>
        </pc:picChg>
      </pc:sldChg>
      <pc:sldChg chg="new del">
        <pc:chgData name="Richard Taylor" userId="fbfc1553-b23d-457b-a859-b112eb014c8c" providerId="ADAL" clId="{87CFA891-77F9-43AD-A107-BE6305742759}" dt="2025-07-10T08:45:35.385" v="299" actId="680"/>
        <pc:sldMkLst>
          <pc:docMk/>
          <pc:sldMk cId="3552880961" sldId="2333"/>
        </pc:sldMkLst>
      </pc:sldChg>
      <pc:sldChg chg="addSp modSp add mod">
        <pc:chgData name="Richard Taylor" userId="fbfc1553-b23d-457b-a859-b112eb014c8c" providerId="ADAL" clId="{87CFA891-77F9-43AD-A107-BE6305742759}" dt="2025-07-15T04:44:16.677" v="795"/>
        <pc:sldMkLst>
          <pc:docMk/>
          <pc:sldMk cId="4242567446" sldId="2333"/>
        </pc:sldMkLst>
        <pc:spChg chg="mod">
          <ac:chgData name="Richard Taylor" userId="fbfc1553-b23d-457b-a859-b112eb014c8c" providerId="ADAL" clId="{87CFA891-77F9-43AD-A107-BE6305742759}" dt="2025-07-10T08:46:14.808" v="303" actId="114"/>
          <ac:spMkLst>
            <pc:docMk/>
            <pc:sldMk cId="4242567446" sldId="2333"/>
            <ac:spMk id="5" creationId="{E154FFC2-C7DA-C127-49A2-23F9A7416E7B}"/>
          </ac:spMkLst>
        </pc:spChg>
        <pc:spChg chg="add mod">
          <ac:chgData name="Richard Taylor" userId="fbfc1553-b23d-457b-a859-b112eb014c8c" providerId="ADAL" clId="{87CFA891-77F9-43AD-A107-BE6305742759}" dt="2025-07-15T04:44:16.677" v="795"/>
          <ac:spMkLst>
            <pc:docMk/>
            <pc:sldMk cId="4242567446" sldId="2333"/>
            <ac:spMk id="8" creationId="{4B4D45DE-0D28-796B-2F30-07D026E724EF}"/>
          </ac:spMkLst>
        </pc:spChg>
        <pc:spChg chg="mod">
          <ac:chgData name="Richard Taylor" userId="fbfc1553-b23d-457b-a859-b112eb014c8c" providerId="ADAL" clId="{87CFA891-77F9-43AD-A107-BE6305742759}" dt="2025-07-15T04:44:14.698" v="794" actId="14100"/>
          <ac:spMkLst>
            <pc:docMk/>
            <pc:sldMk cId="4242567446" sldId="2333"/>
            <ac:spMk id="9" creationId="{5E772C11-265A-E5E2-E730-21BF14E034CC}"/>
          </ac:spMkLst>
        </pc:spChg>
        <pc:picChg chg="add mod">
          <ac:chgData name="Richard Taylor" userId="fbfc1553-b23d-457b-a859-b112eb014c8c" providerId="ADAL" clId="{87CFA891-77F9-43AD-A107-BE6305742759}" dt="2025-07-15T04:44:16.677" v="795"/>
          <ac:picMkLst>
            <pc:docMk/>
            <pc:sldMk cId="4242567446" sldId="2333"/>
            <ac:picMk id="4" creationId="{F57BF384-9952-DB2A-D83B-77CB96945D67}"/>
          </ac:picMkLst>
        </pc:picChg>
        <pc:picChg chg="add mod">
          <ac:chgData name="Richard Taylor" userId="fbfc1553-b23d-457b-a859-b112eb014c8c" providerId="ADAL" clId="{87CFA891-77F9-43AD-A107-BE6305742759}" dt="2025-07-15T04:44:16.677" v="795"/>
          <ac:picMkLst>
            <pc:docMk/>
            <pc:sldMk cId="4242567446" sldId="2333"/>
            <ac:picMk id="6" creationId="{C9837301-B13F-D18D-8759-447E5E0EB250}"/>
          </ac:picMkLst>
        </pc:picChg>
        <pc:picChg chg="add mod">
          <ac:chgData name="Richard Taylor" userId="fbfc1553-b23d-457b-a859-b112eb014c8c" providerId="ADAL" clId="{87CFA891-77F9-43AD-A107-BE6305742759}" dt="2025-07-15T04:44:16.677" v="795"/>
          <ac:picMkLst>
            <pc:docMk/>
            <pc:sldMk cId="4242567446" sldId="2333"/>
            <ac:picMk id="7" creationId="{0A69A89F-D5D8-464F-0F54-750CAFBCF82E}"/>
          </ac:picMkLst>
        </pc:picChg>
      </pc:sldChg>
      <pc:sldChg chg="addSp delSp modSp add mod">
        <pc:chgData name="Richard Taylor" userId="fbfc1553-b23d-457b-a859-b112eb014c8c" providerId="ADAL" clId="{87CFA891-77F9-43AD-A107-BE6305742759}" dt="2025-07-15T23:02:42.335" v="1434" actId="1036"/>
        <pc:sldMkLst>
          <pc:docMk/>
          <pc:sldMk cId="1010425698" sldId="2334"/>
        </pc:sldMkLst>
        <pc:spChg chg="add mod">
          <ac:chgData name="Richard Taylor" userId="fbfc1553-b23d-457b-a859-b112eb014c8c" providerId="ADAL" clId="{87CFA891-77F9-43AD-A107-BE6305742759}" dt="2025-07-15T04:44:45.525" v="797"/>
          <ac:spMkLst>
            <pc:docMk/>
            <pc:sldMk cId="1010425698" sldId="2334"/>
            <ac:spMk id="8" creationId="{F2C4C3A4-82C5-0839-A147-788AFC5172DB}"/>
          </ac:spMkLst>
        </pc:spChg>
        <pc:spChg chg="add del mod">
          <ac:chgData name="Richard Taylor" userId="fbfc1553-b23d-457b-a859-b112eb014c8c" providerId="ADAL" clId="{87CFA891-77F9-43AD-A107-BE6305742759}" dt="2025-07-15T23:02:42.335" v="1434" actId="1036"/>
          <ac:spMkLst>
            <pc:docMk/>
            <pc:sldMk cId="1010425698" sldId="2334"/>
            <ac:spMk id="9" creationId="{ABCDED01-BEFD-75C1-D2B3-B45F34DE905C}"/>
          </ac:spMkLst>
        </pc:spChg>
        <pc:picChg chg="add mod">
          <ac:chgData name="Richard Taylor" userId="fbfc1553-b23d-457b-a859-b112eb014c8c" providerId="ADAL" clId="{87CFA891-77F9-43AD-A107-BE6305742759}" dt="2025-07-15T04:44:45.525" v="797"/>
          <ac:picMkLst>
            <pc:docMk/>
            <pc:sldMk cId="1010425698" sldId="2334"/>
            <ac:picMk id="4" creationId="{0C6F1EDE-F276-3240-B4CF-4BE03CDD5210}"/>
          </ac:picMkLst>
        </pc:picChg>
        <pc:picChg chg="add mod">
          <ac:chgData name="Richard Taylor" userId="fbfc1553-b23d-457b-a859-b112eb014c8c" providerId="ADAL" clId="{87CFA891-77F9-43AD-A107-BE6305742759}" dt="2025-07-15T04:44:45.525" v="797"/>
          <ac:picMkLst>
            <pc:docMk/>
            <pc:sldMk cId="1010425698" sldId="2334"/>
            <ac:picMk id="6" creationId="{3727ACCA-BE77-D9D2-3CE9-F4B5FD044693}"/>
          </ac:picMkLst>
        </pc:picChg>
        <pc:picChg chg="add mod">
          <ac:chgData name="Richard Taylor" userId="fbfc1553-b23d-457b-a859-b112eb014c8c" providerId="ADAL" clId="{87CFA891-77F9-43AD-A107-BE6305742759}" dt="2025-07-15T04:44:45.525" v="797"/>
          <ac:picMkLst>
            <pc:docMk/>
            <pc:sldMk cId="1010425698" sldId="2334"/>
            <ac:picMk id="7" creationId="{E42157B7-BB49-9400-5AEB-DE12D22F4277}"/>
          </ac:picMkLst>
        </pc:picChg>
      </pc:sldChg>
      <pc:sldChg chg="addSp modSp add mod">
        <pc:chgData name="Richard Taylor" userId="fbfc1553-b23d-457b-a859-b112eb014c8c" providerId="ADAL" clId="{87CFA891-77F9-43AD-A107-BE6305742759}" dt="2025-07-15T04:47:44.571" v="805" actId="1076"/>
        <pc:sldMkLst>
          <pc:docMk/>
          <pc:sldMk cId="4157581530" sldId="2335"/>
        </pc:sldMkLst>
        <pc:spChg chg="mod">
          <ac:chgData name="Richard Taylor" userId="fbfc1553-b23d-457b-a859-b112eb014c8c" providerId="ADAL" clId="{87CFA891-77F9-43AD-A107-BE6305742759}" dt="2025-07-10T08:49:55.331" v="362" actId="114"/>
          <ac:spMkLst>
            <pc:docMk/>
            <pc:sldMk cId="4157581530" sldId="2335"/>
            <ac:spMk id="5" creationId="{935730D1-3A4D-C033-026A-20EF074EFF42}"/>
          </ac:spMkLst>
        </pc:spChg>
        <pc:spChg chg="mod">
          <ac:chgData name="Richard Taylor" userId="fbfc1553-b23d-457b-a859-b112eb014c8c" providerId="ADAL" clId="{87CFA891-77F9-43AD-A107-BE6305742759}" dt="2025-07-15T04:45:52.563" v="799" actId="20577"/>
          <ac:spMkLst>
            <pc:docMk/>
            <pc:sldMk cId="4157581530" sldId="2335"/>
            <ac:spMk id="9" creationId="{DA78A73C-7407-3C70-F033-1BA1151A388D}"/>
          </ac:spMkLst>
        </pc:spChg>
        <pc:picChg chg="add mod modCrop">
          <ac:chgData name="Richard Taylor" userId="fbfc1553-b23d-457b-a859-b112eb014c8c" providerId="ADAL" clId="{87CFA891-77F9-43AD-A107-BE6305742759}" dt="2025-07-15T04:47:44.571" v="805" actId="1076"/>
          <ac:picMkLst>
            <pc:docMk/>
            <pc:sldMk cId="4157581530" sldId="2335"/>
            <ac:picMk id="6" creationId="{958175D2-FCAC-4D8C-7FC4-92C8E3254997}"/>
          </ac:picMkLst>
        </pc:picChg>
      </pc:sldChg>
      <pc:sldChg chg="addSp modSp add mod">
        <pc:chgData name="Richard Taylor" userId="fbfc1553-b23d-457b-a859-b112eb014c8c" providerId="ADAL" clId="{87CFA891-77F9-43AD-A107-BE6305742759}" dt="2025-07-15T04:49:56.514" v="833" actId="1076"/>
        <pc:sldMkLst>
          <pc:docMk/>
          <pc:sldMk cId="1443184814" sldId="2336"/>
        </pc:sldMkLst>
        <pc:spChg chg="mod">
          <ac:chgData name="Richard Taylor" userId="fbfc1553-b23d-457b-a859-b112eb014c8c" providerId="ADAL" clId="{87CFA891-77F9-43AD-A107-BE6305742759}" dt="2025-07-15T04:47:53.872" v="806" actId="20577"/>
          <ac:spMkLst>
            <pc:docMk/>
            <pc:sldMk cId="1443184814" sldId="2336"/>
            <ac:spMk id="5" creationId="{76088639-75A6-5B8D-90A3-9149DC39A845}"/>
          </ac:spMkLst>
        </pc:spChg>
        <pc:spChg chg="mod">
          <ac:chgData name="Richard Taylor" userId="fbfc1553-b23d-457b-a859-b112eb014c8c" providerId="ADAL" clId="{87CFA891-77F9-43AD-A107-BE6305742759}" dt="2025-07-15T04:49:15" v="822" actId="14100"/>
          <ac:spMkLst>
            <pc:docMk/>
            <pc:sldMk cId="1443184814" sldId="2336"/>
            <ac:spMk id="9" creationId="{60B70974-2676-4BE6-3508-CEA5F9BECCD9}"/>
          </ac:spMkLst>
        </pc:spChg>
        <pc:picChg chg="add mod">
          <ac:chgData name="Richard Taylor" userId="fbfc1553-b23d-457b-a859-b112eb014c8c" providerId="ADAL" clId="{87CFA891-77F9-43AD-A107-BE6305742759}" dt="2025-07-15T04:49:56.514" v="833" actId="1076"/>
          <ac:picMkLst>
            <pc:docMk/>
            <pc:sldMk cId="1443184814" sldId="2336"/>
            <ac:picMk id="5122" creationId="{FFD87C28-2FA9-E5B9-3AC3-1E8041E7BB93}"/>
          </ac:picMkLst>
        </pc:picChg>
      </pc:sldChg>
      <pc:sldChg chg="addSp modSp add mod">
        <pc:chgData name="Richard Taylor" userId="fbfc1553-b23d-457b-a859-b112eb014c8c" providerId="ADAL" clId="{87CFA891-77F9-43AD-A107-BE6305742759}" dt="2025-07-15T04:54:28.640" v="850" actId="14100"/>
        <pc:sldMkLst>
          <pc:docMk/>
          <pc:sldMk cId="3007076231" sldId="2337"/>
        </pc:sldMkLst>
        <pc:spChg chg="mod">
          <ac:chgData name="Richard Taylor" userId="fbfc1553-b23d-457b-a859-b112eb014c8c" providerId="ADAL" clId="{87CFA891-77F9-43AD-A107-BE6305742759}" dt="2025-07-15T04:52:37.123" v="835" actId="14100"/>
          <ac:spMkLst>
            <pc:docMk/>
            <pc:sldMk cId="3007076231" sldId="2337"/>
            <ac:spMk id="9" creationId="{30123847-FCA8-EAD1-D2F9-B77EA9961602}"/>
          </ac:spMkLst>
        </pc:spChg>
        <pc:picChg chg="add mod">
          <ac:chgData name="Richard Taylor" userId="fbfc1553-b23d-457b-a859-b112eb014c8c" providerId="ADAL" clId="{87CFA891-77F9-43AD-A107-BE6305742759}" dt="2025-07-15T04:53:21.186" v="844" actId="1076"/>
          <ac:picMkLst>
            <pc:docMk/>
            <pc:sldMk cId="3007076231" sldId="2337"/>
            <ac:picMk id="4" creationId="{CA9967B8-902D-85A1-F985-0122723AA3E3}"/>
          </ac:picMkLst>
        </pc:picChg>
        <pc:picChg chg="add mod">
          <ac:chgData name="Richard Taylor" userId="fbfc1553-b23d-457b-a859-b112eb014c8c" providerId="ADAL" clId="{87CFA891-77F9-43AD-A107-BE6305742759}" dt="2025-07-15T04:54:28.640" v="850" actId="14100"/>
          <ac:picMkLst>
            <pc:docMk/>
            <pc:sldMk cId="3007076231" sldId="2337"/>
            <ac:picMk id="8194" creationId="{C804F3B1-953D-E1E2-AFC8-BA41AA698851}"/>
          </ac:picMkLst>
        </pc:picChg>
      </pc:sldChg>
      <pc:sldChg chg="modSp add mod">
        <pc:chgData name="Richard Taylor" userId="fbfc1553-b23d-457b-a859-b112eb014c8c" providerId="ADAL" clId="{87CFA891-77F9-43AD-A107-BE6305742759}" dt="2025-07-10T09:00:35.787" v="472" actId="114"/>
        <pc:sldMkLst>
          <pc:docMk/>
          <pc:sldMk cId="2456152692" sldId="2338"/>
        </pc:sldMkLst>
        <pc:spChg chg="mod">
          <ac:chgData name="Richard Taylor" userId="fbfc1553-b23d-457b-a859-b112eb014c8c" providerId="ADAL" clId="{87CFA891-77F9-43AD-A107-BE6305742759}" dt="2025-07-10T08:58:59.532" v="437" actId="20577"/>
          <ac:spMkLst>
            <pc:docMk/>
            <pc:sldMk cId="2456152692" sldId="2338"/>
            <ac:spMk id="5" creationId="{F3503C09-ED06-9A53-3BAE-EC382ABC28E7}"/>
          </ac:spMkLst>
        </pc:spChg>
        <pc:spChg chg="mod">
          <ac:chgData name="Richard Taylor" userId="fbfc1553-b23d-457b-a859-b112eb014c8c" providerId="ADAL" clId="{87CFA891-77F9-43AD-A107-BE6305742759}" dt="2025-07-10T09:00:35.787" v="472" actId="114"/>
          <ac:spMkLst>
            <pc:docMk/>
            <pc:sldMk cId="2456152692" sldId="2338"/>
            <ac:spMk id="9" creationId="{EF114305-1086-FCD9-C08A-92436485E059}"/>
          </ac:spMkLst>
        </pc:spChg>
      </pc:sldChg>
      <pc:sldChg chg="modSp add mod">
        <pc:chgData name="Richard Taylor" userId="fbfc1553-b23d-457b-a859-b112eb014c8c" providerId="ADAL" clId="{87CFA891-77F9-43AD-A107-BE6305742759}" dt="2025-07-15T04:55:29.200" v="853" actId="948"/>
        <pc:sldMkLst>
          <pc:docMk/>
          <pc:sldMk cId="821328414" sldId="2339"/>
        </pc:sldMkLst>
        <pc:spChg chg="mod">
          <ac:chgData name="Richard Taylor" userId="fbfc1553-b23d-457b-a859-b112eb014c8c" providerId="ADAL" clId="{87CFA891-77F9-43AD-A107-BE6305742759}" dt="2025-07-10T09:02:02.360" v="486"/>
          <ac:spMkLst>
            <pc:docMk/>
            <pc:sldMk cId="821328414" sldId="2339"/>
            <ac:spMk id="5" creationId="{B7376349-5699-1787-DD82-757A23AB779B}"/>
          </ac:spMkLst>
        </pc:spChg>
        <pc:spChg chg="mod">
          <ac:chgData name="Richard Taylor" userId="fbfc1553-b23d-457b-a859-b112eb014c8c" providerId="ADAL" clId="{87CFA891-77F9-43AD-A107-BE6305742759}" dt="2025-07-15T04:55:29.200" v="853" actId="948"/>
          <ac:spMkLst>
            <pc:docMk/>
            <pc:sldMk cId="821328414" sldId="2339"/>
            <ac:spMk id="9" creationId="{7691C554-A9D6-9E54-96BE-23999368D3D7}"/>
          </ac:spMkLst>
        </pc:spChg>
      </pc:sldChg>
      <pc:sldChg chg="addSp modSp add mod">
        <pc:chgData name="Richard Taylor" userId="fbfc1553-b23d-457b-a859-b112eb014c8c" providerId="ADAL" clId="{87CFA891-77F9-43AD-A107-BE6305742759}" dt="2025-07-15T04:56:06.074" v="871" actId="20577"/>
        <pc:sldMkLst>
          <pc:docMk/>
          <pc:sldMk cId="1428385855" sldId="2340"/>
        </pc:sldMkLst>
        <pc:spChg chg="mod">
          <ac:chgData name="Richard Taylor" userId="fbfc1553-b23d-457b-a859-b112eb014c8c" providerId="ADAL" clId="{87CFA891-77F9-43AD-A107-BE6305742759}" dt="2025-07-10T09:03:07.382" v="488"/>
          <ac:spMkLst>
            <pc:docMk/>
            <pc:sldMk cId="1428385855" sldId="2340"/>
            <ac:spMk id="5" creationId="{DF9C8C84-91E4-F241-1F9C-8FDAFE524AFF}"/>
          </ac:spMkLst>
        </pc:spChg>
        <pc:spChg chg="mod">
          <ac:chgData name="Richard Taylor" userId="fbfc1553-b23d-457b-a859-b112eb014c8c" providerId="ADAL" clId="{87CFA891-77F9-43AD-A107-BE6305742759}" dt="2025-07-15T04:56:06.074" v="871" actId="20577"/>
          <ac:spMkLst>
            <pc:docMk/>
            <pc:sldMk cId="1428385855" sldId="2340"/>
            <ac:spMk id="9" creationId="{62648B81-533E-0A7E-97B8-A4F02DE1C5DA}"/>
          </ac:spMkLst>
        </pc:spChg>
        <pc:picChg chg="add mod">
          <ac:chgData name="Richard Taylor" userId="fbfc1553-b23d-457b-a859-b112eb014c8c" providerId="ADAL" clId="{87CFA891-77F9-43AD-A107-BE6305742759}" dt="2025-07-15T04:55:48.766" v="855" actId="1076"/>
          <ac:picMkLst>
            <pc:docMk/>
            <pc:sldMk cId="1428385855" sldId="2340"/>
            <ac:picMk id="4" creationId="{57315048-B729-723F-4238-786A25DB7D47}"/>
          </ac:picMkLst>
        </pc:picChg>
      </pc:sldChg>
      <pc:sldChg chg="addSp modSp add mod ord">
        <pc:chgData name="Richard Taylor" userId="fbfc1553-b23d-457b-a859-b112eb014c8c" providerId="ADAL" clId="{87CFA891-77F9-43AD-A107-BE6305742759}" dt="2025-07-15T04:58:31.409" v="907" actId="5793"/>
        <pc:sldMkLst>
          <pc:docMk/>
          <pc:sldMk cId="426724475" sldId="2341"/>
        </pc:sldMkLst>
        <pc:spChg chg="mod">
          <ac:chgData name="Richard Taylor" userId="fbfc1553-b23d-457b-a859-b112eb014c8c" providerId="ADAL" clId="{87CFA891-77F9-43AD-A107-BE6305742759}" dt="2025-07-10T09:06:09.052" v="517"/>
          <ac:spMkLst>
            <pc:docMk/>
            <pc:sldMk cId="426724475" sldId="2341"/>
            <ac:spMk id="5" creationId="{B5DDAFDA-1C3D-B6A5-310A-D8D201608B6A}"/>
          </ac:spMkLst>
        </pc:spChg>
        <pc:spChg chg="mod">
          <ac:chgData name="Richard Taylor" userId="fbfc1553-b23d-457b-a859-b112eb014c8c" providerId="ADAL" clId="{87CFA891-77F9-43AD-A107-BE6305742759}" dt="2025-07-15T04:58:31.409" v="907" actId="5793"/>
          <ac:spMkLst>
            <pc:docMk/>
            <pc:sldMk cId="426724475" sldId="2341"/>
            <ac:spMk id="9" creationId="{FE733A67-830F-36D0-6AE9-FEE81F046A5F}"/>
          </ac:spMkLst>
        </pc:spChg>
        <pc:picChg chg="add mod">
          <ac:chgData name="Richard Taylor" userId="fbfc1553-b23d-457b-a859-b112eb014c8c" providerId="ADAL" clId="{87CFA891-77F9-43AD-A107-BE6305742759}" dt="2025-07-15T04:56:40.280" v="874" actId="14100"/>
          <ac:picMkLst>
            <pc:docMk/>
            <pc:sldMk cId="426724475" sldId="2341"/>
            <ac:picMk id="4" creationId="{09B90DAB-D492-930D-9208-20244269C2D2}"/>
          </ac:picMkLst>
        </pc:picChg>
      </pc:sldChg>
      <pc:sldChg chg="addSp modSp mod">
        <pc:chgData name="Richard Taylor" userId="fbfc1553-b23d-457b-a859-b112eb014c8c" providerId="ADAL" clId="{87CFA891-77F9-43AD-A107-BE6305742759}" dt="2025-07-15T05:02:21.793" v="954"/>
        <pc:sldMkLst>
          <pc:docMk/>
          <pc:sldMk cId="2075497383" sldId="2342"/>
        </pc:sldMkLst>
        <pc:spChg chg="mod">
          <ac:chgData name="Richard Taylor" userId="fbfc1553-b23d-457b-a859-b112eb014c8c" providerId="ADAL" clId="{87CFA891-77F9-43AD-A107-BE6305742759}" dt="2025-07-15T04:57:53.716" v="898" actId="114"/>
          <ac:spMkLst>
            <pc:docMk/>
            <pc:sldMk cId="2075497383" sldId="2342"/>
            <ac:spMk id="9" creationId="{BED77696-9309-5CC6-195A-31349E963494}"/>
          </ac:spMkLst>
        </pc:spChg>
        <pc:picChg chg="add mod">
          <ac:chgData name="Richard Taylor" userId="fbfc1553-b23d-457b-a859-b112eb014c8c" providerId="ADAL" clId="{87CFA891-77F9-43AD-A107-BE6305742759}" dt="2025-07-15T05:02:21.793" v="954"/>
          <ac:picMkLst>
            <pc:docMk/>
            <pc:sldMk cId="2075497383" sldId="2342"/>
            <ac:picMk id="6" creationId="{136C10C7-1038-80D1-6DFD-B73DD939D81D}"/>
          </ac:picMkLst>
        </pc:picChg>
      </pc:sldChg>
      <pc:sldChg chg="modSp mod">
        <pc:chgData name="Richard Taylor" userId="fbfc1553-b23d-457b-a859-b112eb014c8c" providerId="ADAL" clId="{87CFA891-77F9-43AD-A107-BE6305742759}" dt="2025-07-15T04:59:14.951" v="914" actId="20577"/>
        <pc:sldMkLst>
          <pc:docMk/>
          <pc:sldMk cId="1898351872" sldId="2343"/>
        </pc:sldMkLst>
        <pc:spChg chg="mod">
          <ac:chgData name="Richard Taylor" userId="fbfc1553-b23d-457b-a859-b112eb014c8c" providerId="ADAL" clId="{87CFA891-77F9-43AD-A107-BE6305742759}" dt="2025-07-15T04:59:14.951" v="914" actId="20577"/>
          <ac:spMkLst>
            <pc:docMk/>
            <pc:sldMk cId="1898351872" sldId="2343"/>
            <ac:spMk id="5" creationId="{C3648445-6071-9CCE-3EF3-01CB33FA9AD8}"/>
          </ac:spMkLst>
        </pc:spChg>
        <pc:spChg chg="mod">
          <ac:chgData name="Richard Taylor" userId="fbfc1553-b23d-457b-a859-b112eb014c8c" providerId="ADAL" clId="{87CFA891-77F9-43AD-A107-BE6305742759}" dt="2025-07-15T04:59:03.254" v="911" actId="20577"/>
          <ac:spMkLst>
            <pc:docMk/>
            <pc:sldMk cId="1898351872" sldId="2343"/>
            <ac:spMk id="9" creationId="{7EA27130-0C66-81AE-060F-E1913EF457B1}"/>
          </ac:spMkLst>
        </pc:spChg>
        <pc:picChg chg="mod">
          <ac:chgData name="Richard Taylor" userId="fbfc1553-b23d-457b-a859-b112eb014c8c" providerId="ADAL" clId="{87CFA891-77F9-43AD-A107-BE6305742759}" dt="2025-07-15T04:59:07.491" v="912" actId="14100"/>
          <ac:picMkLst>
            <pc:docMk/>
            <pc:sldMk cId="1898351872" sldId="2343"/>
            <ac:picMk id="6" creationId="{7B6429C8-FCB2-34A9-8316-8D55257AB084}"/>
          </ac:picMkLst>
        </pc:picChg>
      </pc:sldChg>
      <pc:sldChg chg="modSp mod">
        <pc:chgData name="Richard Taylor" userId="fbfc1553-b23d-457b-a859-b112eb014c8c" providerId="ADAL" clId="{87CFA891-77F9-43AD-A107-BE6305742759}" dt="2025-07-15T05:00:20.850" v="934" actId="20577"/>
        <pc:sldMkLst>
          <pc:docMk/>
          <pc:sldMk cId="3441767695" sldId="2344"/>
        </pc:sldMkLst>
        <pc:spChg chg="mod">
          <ac:chgData name="Richard Taylor" userId="fbfc1553-b23d-457b-a859-b112eb014c8c" providerId="ADAL" clId="{87CFA891-77F9-43AD-A107-BE6305742759}" dt="2025-07-15T05:00:20.850" v="934" actId="20577"/>
          <ac:spMkLst>
            <pc:docMk/>
            <pc:sldMk cId="3441767695" sldId="2344"/>
            <ac:spMk id="9" creationId="{E34FAD6B-AB9A-0014-13FD-E323B76D2E80}"/>
          </ac:spMkLst>
        </pc:spChg>
        <pc:picChg chg="mod">
          <ac:chgData name="Richard Taylor" userId="fbfc1553-b23d-457b-a859-b112eb014c8c" providerId="ADAL" clId="{87CFA891-77F9-43AD-A107-BE6305742759}" dt="2025-07-15T05:00:06.678" v="919" actId="1076"/>
          <ac:picMkLst>
            <pc:docMk/>
            <pc:sldMk cId="3441767695" sldId="2344"/>
            <ac:picMk id="4" creationId="{CC72A0B4-BEAD-BF3E-38AD-5F3744C1E2F2}"/>
          </ac:picMkLst>
        </pc:picChg>
      </pc:sldChg>
      <pc:sldChg chg="modSp mod">
        <pc:chgData name="Richard Taylor" userId="fbfc1553-b23d-457b-a859-b112eb014c8c" providerId="ADAL" clId="{87CFA891-77F9-43AD-A107-BE6305742759}" dt="2025-07-15T05:01:55.795" v="950" actId="20577"/>
        <pc:sldMkLst>
          <pc:docMk/>
          <pc:sldMk cId="1052790391" sldId="2345"/>
        </pc:sldMkLst>
        <pc:spChg chg="mod">
          <ac:chgData name="Richard Taylor" userId="fbfc1553-b23d-457b-a859-b112eb014c8c" providerId="ADAL" clId="{87CFA891-77F9-43AD-A107-BE6305742759}" dt="2025-07-15T05:01:55.795" v="950" actId="20577"/>
          <ac:spMkLst>
            <pc:docMk/>
            <pc:sldMk cId="1052790391" sldId="2345"/>
            <ac:spMk id="9" creationId="{ACA3974F-7C22-DDBD-5B0E-D956379408EA}"/>
          </ac:spMkLst>
        </pc:spChg>
        <pc:picChg chg="mod">
          <ac:chgData name="Richard Taylor" userId="fbfc1553-b23d-457b-a859-b112eb014c8c" providerId="ADAL" clId="{87CFA891-77F9-43AD-A107-BE6305742759}" dt="2025-07-15T05:00:37.370" v="937" actId="1076"/>
          <ac:picMkLst>
            <pc:docMk/>
            <pc:sldMk cId="1052790391" sldId="2345"/>
            <ac:picMk id="4" creationId="{44207BDD-92E8-6AED-D176-2F0251003778}"/>
          </ac:picMkLst>
        </pc:picChg>
        <pc:picChg chg="mod">
          <ac:chgData name="Richard Taylor" userId="fbfc1553-b23d-457b-a859-b112eb014c8c" providerId="ADAL" clId="{87CFA891-77F9-43AD-A107-BE6305742759}" dt="2025-07-15T05:00:34.877" v="936" actId="1076"/>
          <ac:picMkLst>
            <pc:docMk/>
            <pc:sldMk cId="1052790391" sldId="2345"/>
            <ac:picMk id="6" creationId="{24C073F8-2EA0-8369-D730-C40323B12764}"/>
          </ac:picMkLst>
        </pc:picChg>
        <pc:picChg chg="mod">
          <ac:chgData name="Richard Taylor" userId="fbfc1553-b23d-457b-a859-b112eb014c8c" providerId="ADAL" clId="{87CFA891-77F9-43AD-A107-BE6305742759}" dt="2025-07-15T05:00:50.207" v="938" actId="1076"/>
          <ac:picMkLst>
            <pc:docMk/>
            <pc:sldMk cId="1052790391" sldId="2345"/>
            <ac:picMk id="7" creationId="{E3719571-41F6-D826-A72F-770ED851B2BF}"/>
          </ac:picMkLst>
        </pc:picChg>
      </pc:sldChg>
      <pc:sldChg chg="addSp delSp modSp mod">
        <pc:chgData name="Richard Taylor" userId="fbfc1553-b23d-457b-a859-b112eb014c8c" providerId="ADAL" clId="{87CFA891-77F9-43AD-A107-BE6305742759}" dt="2025-07-15T23:09:41.817" v="1439" actId="5793"/>
        <pc:sldMkLst>
          <pc:docMk/>
          <pc:sldMk cId="1969514942" sldId="2346"/>
        </pc:sldMkLst>
        <pc:spChg chg="mod">
          <ac:chgData name="Richard Taylor" userId="fbfc1553-b23d-457b-a859-b112eb014c8c" providerId="ADAL" clId="{87CFA891-77F9-43AD-A107-BE6305742759}" dt="2025-07-15T23:09:41.817" v="1439" actId="5793"/>
          <ac:spMkLst>
            <pc:docMk/>
            <pc:sldMk cId="1969514942" sldId="2346"/>
            <ac:spMk id="9" creationId="{1705528B-29A1-C418-FC73-6267879EE5FE}"/>
          </ac:spMkLst>
        </pc:spChg>
        <pc:picChg chg="add mod">
          <ac:chgData name="Richard Taylor" userId="fbfc1553-b23d-457b-a859-b112eb014c8c" providerId="ADAL" clId="{87CFA891-77F9-43AD-A107-BE6305742759}" dt="2025-07-15T05:03:51.581" v="961" actId="14100"/>
          <ac:picMkLst>
            <pc:docMk/>
            <pc:sldMk cId="1969514942" sldId="2346"/>
            <ac:picMk id="9218" creationId="{32147841-86B2-802C-0633-4559577831C6}"/>
          </ac:picMkLst>
        </pc:picChg>
      </pc:sldChg>
      <pc:sldChg chg="addSp modSp mod">
        <pc:chgData name="Richard Taylor" userId="fbfc1553-b23d-457b-a859-b112eb014c8c" providerId="ADAL" clId="{87CFA891-77F9-43AD-A107-BE6305742759}" dt="2025-07-15T23:10:26.125" v="1440" actId="114"/>
        <pc:sldMkLst>
          <pc:docMk/>
          <pc:sldMk cId="1719787237" sldId="2347"/>
        </pc:sldMkLst>
        <pc:spChg chg="add mod">
          <ac:chgData name="Richard Taylor" userId="fbfc1553-b23d-457b-a859-b112eb014c8c" providerId="ADAL" clId="{87CFA891-77F9-43AD-A107-BE6305742759}" dt="2025-07-15T05:06:21.365" v="996" actId="1076"/>
          <ac:spMkLst>
            <pc:docMk/>
            <pc:sldMk cId="1719787237" sldId="2347"/>
            <ac:spMk id="4" creationId="{10F9A34E-0647-3D58-C2BA-05598C66937F}"/>
          </ac:spMkLst>
        </pc:spChg>
        <pc:spChg chg="mod">
          <ac:chgData name="Richard Taylor" userId="fbfc1553-b23d-457b-a859-b112eb014c8c" providerId="ADAL" clId="{87CFA891-77F9-43AD-A107-BE6305742759}" dt="2025-07-15T05:04:31.714" v="965" actId="114"/>
          <ac:spMkLst>
            <pc:docMk/>
            <pc:sldMk cId="1719787237" sldId="2347"/>
            <ac:spMk id="5" creationId="{DC30CB2F-CCB1-4C15-878C-229EC0D56193}"/>
          </ac:spMkLst>
        </pc:spChg>
        <pc:spChg chg="mod">
          <ac:chgData name="Richard Taylor" userId="fbfc1553-b23d-457b-a859-b112eb014c8c" providerId="ADAL" clId="{87CFA891-77F9-43AD-A107-BE6305742759}" dt="2025-07-15T23:10:26.125" v="1440" actId="114"/>
          <ac:spMkLst>
            <pc:docMk/>
            <pc:sldMk cId="1719787237" sldId="2347"/>
            <ac:spMk id="9" creationId="{172439CA-0252-A7A5-95B6-D06BF69488E2}"/>
          </ac:spMkLst>
        </pc:spChg>
        <pc:picChg chg="add mod">
          <ac:chgData name="Richard Taylor" userId="fbfc1553-b23d-457b-a859-b112eb014c8c" providerId="ADAL" clId="{87CFA891-77F9-43AD-A107-BE6305742759}" dt="2025-07-15T05:06:18.984" v="995" actId="1076"/>
          <ac:picMkLst>
            <pc:docMk/>
            <pc:sldMk cId="1719787237" sldId="2347"/>
            <ac:picMk id="10242" creationId="{A1C69F8F-011B-9F01-D5E2-31446206AE7A}"/>
          </ac:picMkLst>
        </pc:picChg>
      </pc:sldChg>
      <pc:sldChg chg="modSp del mod">
        <pc:chgData name="Richard Taylor" userId="fbfc1553-b23d-457b-a859-b112eb014c8c" providerId="ADAL" clId="{87CFA891-77F9-43AD-A107-BE6305742759}" dt="2025-07-15T05:08:58.484" v="1000" actId="47"/>
        <pc:sldMkLst>
          <pc:docMk/>
          <pc:sldMk cId="1112516296" sldId="2348"/>
        </pc:sldMkLst>
      </pc:sldChg>
      <pc:sldChg chg="modSp mod">
        <pc:chgData name="Richard Taylor" userId="fbfc1553-b23d-457b-a859-b112eb014c8c" providerId="ADAL" clId="{87CFA891-77F9-43AD-A107-BE6305742759}" dt="2025-07-15T05:08:55.797" v="999"/>
        <pc:sldMkLst>
          <pc:docMk/>
          <pc:sldMk cId="2699520628" sldId="2349"/>
        </pc:sldMkLst>
        <pc:spChg chg="mod">
          <ac:chgData name="Richard Taylor" userId="fbfc1553-b23d-457b-a859-b112eb014c8c" providerId="ADAL" clId="{87CFA891-77F9-43AD-A107-BE6305742759}" dt="2025-07-15T05:08:42.867" v="998"/>
          <ac:spMkLst>
            <pc:docMk/>
            <pc:sldMk cId="2699520628" sldId="2349"/>
            <ac:spMk id="5" creationId="{12A4DBB0-25D4-591B-8AAD-D54549C89828}"/>
          </ac:spMkLst>
        </pc:spChg>
        <pc:spChg chg="mod">
          <ac:chgData name="Richard Taylor" userId="fbfc1553-b23d-457b-a859-b112eb014c8c" providerId="ADAL" clId="{87CFA891-77F9-43AD-A107-BE6305742759}" dt="2025-07-15T05:08:55.797" v="999"/>
          <ac:spMkLst>
            <pc:docMk/>
            <pc:sldMk cId="2699520628" sldId="2349"/>
            <ac:spMk id="9" creationId="{93DFAD3A-7DF9-E48F-35B9-871998B1EEDB}"/>
          </ac:spMkLst>
        </pc:spChg>
      </pc:sldChg>
      <pc:sldChg chg="modSp mod">
        <pc:chgData name="Richard Taylor" userId="fbfc1553-b23d-457b-a859-b112eb014c8c" providerId="ADAL" clId="{87CFA891-77F9-43AD-A107-BE6305742759}" dt="2025-07-15T05:10:04.270" v="1031" actId="1076"/>
        <pc:sldMkLst>
          <pc:docMk/>
          <pc:sldMk cId="3406341541" sldId="2350"/>
        </pc:sldMkLst>
        <pc:spChg chg="mod">
          <ac:chgData name="Richard Taylor" userId="fbfc1553-b23d-457b-a859-b112eb014c8c" providerId="ADAL" clId="{87CFA891-77F9-43AD-A107-BE6305742759}" dt="2025-07-15T05:09:55.872" v="1028" actId="20577"/>
          <ac:spMkLst>
            <pc:docMk/>
            <pc:sldMk cId="3406341541" sldId="2350"/>
            <ac:spMk id="9" creationId="{B00BA5EE-93A6-8BDB-4A52-F204BDA7DCCD}"/>
          </ac:spMkLst>
        </pc:spChg>
        <pc:picChg chg="mod">
          <ac:chgData name="Richard Taylor" userId="fbfc1553-b23d-457b-a859-b112eb014c8c" providerId="ADAL" clId="{87CFA891-77F9-43AD-A107-BE6305742759}" dt="2025-07-15T05:10:00.749" v="1030" actId="1076"/>
          <ac:picMkLst>
            <pc:docMk/>
            <pc:sldMk cId="3406341541" sldId="2350"/>
            <ac:picMk id="4" creationId="{B456B67D-A572-71E3-031B-5BAA753DFBEC}"/>
          </ac:picMkLst>
        </pc:picChg>
        <pc:picChg chg="mod">
          <ac:chgData name="Richard Taylor" userId="fbfc1553-b23d-457b-a859-b112eb014c8c" providerId="ADAL" clId="{87CFA891-77F9-43AD-A107-BE6305742759}" dt="2025-07-15T05:10:04.270" v="1031" actId="1076"/>
          <ac:picMkLst>
            <pc:docMk/>
            <pc:sldMk cId="3406341541" sldId="2350"/>
            <ac:picMk id="6" creationId="{7BADA77C-BED1-E8BC-9DB1-8DA7F1E7F511}"/>
          </ac:picMkLst>
        </pc:picChg>
      </pc:sldChg>
      <pc:sldChg chg="modSp mod">
        <pc:chgData name="Richard Taylor" userId="fbfc1553-b23d-457b-a859-b112eb014c8c" providerId="ADAL" clId="{87CFA891-77F9-43AD-A107-BE6305742759}" dt="2025-07-15T23:10:43.089" v="1441" actId="114"/>
        <pc:sldMkLst>
          <pc:docMk/>
          <pc:sldMk cId="1802688514" sldId="2351"/>
        </pc:sldMkLst>
        <pc:spChg chg="mod">
          <ac:chgData name="Richard Taylor" userId="fbfc1553-b23d-457b-a859-b112eb014c8c" providerId="ADAL" clId="{87CFA891-77F9-43AD-A107-BE6305742759}" dt="2025-07-15T23:10:43.089" v="1441" actId="114"/>
          <ac:spMkLst>
            <pc:docMk/>
            <pc:sldMk cId="1802688514" sldId="2351"/>
            <ac:spMk id="5" creationId="{1D81008F-F27E-EBE2-F6A7-1B18F07A9017}"/>
          </ac:spMkLst>
        </pc:spChg>
        <pc:spChg chg="mod">
          <ac:chgData name="Richard Taylor" userId="fbfc1553-b23d-457b-a859-b112eb014c8c" providerId="ADAL" clId="{87CFA891-77F9-43AD-A107-BE6305742759}" dt="2025-07-15T05:10:32.041" v="1037" actId="255"/>
          <ac:spMkLst>
            <pc:docMk/>
            <pc:sldMk cId="1802688514" sldId="2351"/>
            <ac:spMk id="9" creationId="{A88C38F5-22C7-0DAD-B06F-CA8CDEAA2A30}"/>
          </ac:spMkLst>
        </pc:spChg>
      </pc:sldChg>
      <pc:sldChg chg="addSp delSp modSp add del mod">
        <pc:chgData name="Richard Taylor" userId="fbfc1553-b23d-457b-a859-b112eb014c8c" providerId="ADAL" clId="{87CFA891-77F9-43AD-A107-BE6305742759}" dt="2025-07-15T05:13:58.817" v="1060" actId="1076"/>
        <pc:sldMkLst>
          <pc:docMk/>
          <pc:sldMk cId="2613038157" sldId="2352"/>
        </pc:sldMkLst>
        <pc:spChg chg="mod">
          <ac:chgData name="Richard Taylor" userId="fbfc1553-b23d-457b-a859-b112eb014c8c" providerId="ADAL" clId="{87CFA891-77F9-43AD-A107-BE6305742759}" dt="2025-07-15T05:12:12.553" v="1058" actId="20577"/>
          <ac:spMkLst>
            <pc:docMk/>
            <pc:sldMk cId="2613038157" sldId="2352"/>
            <ac:spMk id="9" creationId="{F7921C0F-ADEE-8C8B-E387-4FD1AEC3DDD0}"/>
          </ac:spMkLst>
        </pc:spChg>
        <pc:picChg chg="add mod modCrop">
          <ac:chgData name="Richard Taylor" userId="fbfc1553-b23d-457b-a859-b112eb014c8c" providerId="ADAL" clId="{87CFA891-77F9-43AD-A107-BE6305742759}" dt="2025-07-15T05:12:07.670" v="1050" actId="1076"/>
          <ac:picMkLst>
            <pc:docMk/>
            <pc:sldMk cId="2613038157" sldId="2352"/>
            <ac:picMk id="8" creationId="{41435CEB-C849-2356-BFEB-5219955DF414}"/>
          </ac:picMkLst>
        </pc:picChg>
        <pc:picChg chg="add mod">
          <ac:chgData name="Richard Taylor" userId="fbfc1553-b23d-457b-a859-b112eb014c8c" providerId="ADAL" clId="{87CFA891-77F9-43AD-A107-BE6305742759}" dt="2025-07-15T05:13:58.817" v="1060" actId="1076"/>
          <ac:picMkLst>
            <pc:docMk/>
            <pc:sldMk cId="2613038157" sldId="2352"/>
            <ac:picMk id="11266" creationId="{26FB98FF-BD3D-5E84-AA2A-1A4EB0BA90C9}"/>
          </ac:picMkLst>
        </pc:picChg>
      </pc:sldChg>
      <pc:sldChg chg="modSp mod">
        <pc:chgData name="Richard Taylor" userId="fbfc1553-b23d-457b-a859-b112eb014c8c" providerId="ADAL" clId="{87CFA891-77F9-43AD-A107-BE6305742759}" dt="2025-07-15T05:14:13.830" v="1061" actId="20577"/>
        <pc:sldMkLst>
          <pc:docMk/>
          <pc:sldMk cId="602493823" sldId="2353"/>
        </pc:sldMkLst>
        <pc:spChg chg="mod">
          <ac:chgData name="Richard Taylor" userId="fbfc1553-b23d-457b-a859-b112eb014c8c" providerId="ADAL" clId="{87CFA891-77F9-43AD-A107-BE6305742759}" dt="2025-07-15T05:14:13.830" v="1061" actId="20577"/>
          <ac:spMkLst>
            <pc:docMk/>
            <pc:sldMk cId="602493823" sldId="2353"/>
            <ac:spMk id="9" creationId="{A9ED866E-F82A-6ABE-C062-5348E8565E30}"/>
          </ac:spMkLst>
        </pc:spChg>
      </pc:sldChg>
      <pc:sldChg chg="del">
        <pc:chgData name="Richard Taylor" userId="fbfc1553-b23d-457b-a859-b112eb014c8c" providerId="ADAL" clId="{87CFA891-77F9-43AD-A107-BE6305742759}" dt="2025-07-15T05:15:03.367" v="1068" actId="47"/>
        <pc:sldMkLst>
          <pc:docMk/>
          <pc:sldMk cId="1597153981" sldId="2354"/>
        </pc:sldMkLst>
      </pc:sldChg>
      <pc:sldChg chg="modSp mod">
        <pc:chgData name="Richard Taylor" userId="fbfc1553-b23d-457b-a859-b112eb014c8c" providerId="ADAL" clId="{87CFA891-77F9-43AD-A107-BE6305742759}" dt="2025-07-15T05:15:00.430" v="1067" actId="1076"/>
        <pc:sldMkLst>
          <pc:docMk/>
          <pc:sldMk cId="1201376904" sldId="2355"/>
        </pc:sldMkLst>
        <pc:spChg chg="mod">
          <ac:chgData name="Richard Taylor" userId="fbfc1553-b23d-457b-a859-b112eb014c8c" providerId="ADAL" clId="{87CFA891-77F9-43AD-A107-BE6305742759}" dt="2025-07-15T05:14:56.046" v="1065" actId="20577"/>
          <ac:spMkLst>
            <pc:docMk/>
            <pc:sldMk cId="1201376904" sldId="2355"/>
            <ac:spMk id="9" creationId="{6097A25B-3F7D-66EA-E519-7D928F27E2C0}"/>
          </ac:spMkLst>
        </pc:spChg>
        <pc:picChg chg="mod">
          <ac:chgData name="Richard Taylor" userId="fbfc1553-b23d-457b-a859-b112eb014c8c" providerId="ADAL" clId="{87CFA891-77F9-43AD-A107-BE6305742759}" dt="2025-07-15T05:15:00.430" v="1067" actId="1076"/>
          <ac:picMkLst>
            <pc:docMk/>
            <pc:sldMk cId="1201376904" sldId="2355"/>
            <ac:picMk id="4" creationId="{C72C2964-E599-1CCF-BAEA-E786EE32BD67}"/>
          </ac:picMkLst>
        </pc:picChg>
      </pc:sldChg>
      <pc:sldChg chg="addSp modSp mod">
        <pc:chgData name="Richard Taylor" userId="fbfc1553-b23d-457b-a859-b112eb014c8c" providerId="ADAL" clId="{87CFA891-77F9-43AD-A107-BE6305742759}" dt="2025-07-15T05:37:42.595" v="1415" actId="20577"/>
        <pc:sldMkLst>
          <pc:docMk/>
          <pc:sldMk cId="773785674" sldId="2356"/>
        </pc:sldMkLst>
        <pc:spChg chg="add mod">
          <ac:chgData name="Richard Taylor" userId="fbfc1553-b23d-457b-a859-b112eb014c8c" providerId="ADAL" clId="{87CFA891-77F9-43AD-A107-BE6305742759}" dt="2025-07-15T05:24:49.257" v="1358" actId="1076"/>
          <ac:spMkLst>
            <pc:docMk/>
            <pc:sldMk cId="773785674" sldId="2356"/>
            <ac:spMk id="7" creationId="{DC3DDA28-9FCF-1834-37AB-8FC8E42377B5}"/>
          </ac:spMkLst>
        </pc:spChg>
        <pc:spChg chg="mod">
          <ac:chgData name="Richard Taylor" userId="fbfc1553-b23d-457b-a859-b112eb014c8c" providerId="ADAL" clId="{87CFA891-77F9-43AD-A107-BE6305742759}" dt="2025-07-15T05:37:42.595" v="1415" actId="20577"/>
          <ac:spMkLst>
            <pc:docMk/>
            <pc:sldMk cId="773785674" sldId="2356"/>
            <ac:spMk id="9" creationId="{B023916E-0030-3257-4D4A-B9E9FB3CE178}"/>
          </ac:spMkLst>
        </pc:spChg>
        <pc:picChg chg="add mod">
          <ac:chgData name="Richard Taylor" userId="fbfc1553-b23d-457b-a859-b112eb014c8c" providerId="ADAL" clId="{87CFA891-77F9-43AD-A107-BE6305742759}" dt="2025-07-15T05:20:43.929" v="1076" actId="1076"/>
          <ac:picMkLst>
            <pc:docMk/>
            <pc:sldMk cId="773785674" sldId="2356"/>
            <ac:picMk id="6" creationId="{D2284798-849B-C7B7-8D0A-EFF44A69DB2F}"/>
          </ac:picMkLst>
        </pc:picChg>
      </pc:sldChg>
      <pc:sldChg chg="modSp mod">
        <pc:chgData name="Richard Taylor" userId="fbfc1553-b23d-457b-a859-b112eb014c8c" providerId="ADAL" clId="{87CFA891-77F9-43AD-A107-BE6305742759}" dt="2025-07-15T05:38:02.323" v="1421" actId="114"/>
        <pc:sldMkLst>
          <pc:docMk/>
          <pc:sldMk cId="2493609151" sldId="2358"/>
        </pc:sldMkLst>
        <pc:spChg chg="mod">
          <ac:chgData name="Richard Taylor" userId="fbfc1553-b23d-457b-a859-b112eb014c8c" providerId="ADAL" clId="{87CFA891-77F9-43AD-A107-BE6305742759}" dt="2025-07-15T05:38:02.323" v="1421" actId="114"/>
          <ac:spMkLst>
            <pc:docMk/>
            <pc:sldMk cId="2493609151" sldId="2358"/>
            <ac:spMk id="9" creationId="{A723459F-795A-31E6-06EB-1FE0C92E5E86}"/>
          </ac:spMkLst>
        </pc:spChg>
      </pc:sldChg>
      <pc:sldChg chg="modSp mod">
        <pc:chgData name="Richard Taylor" userId="fbfc1553-b23d-457b-a859-b112eb014c8c" providerId="ADAL" clId="{87CFA891-77F9-43AD-A107-BE6305742759}" dt="2025-07-15T05:26:39.727" v="1382" actId="14100"/>
        <pc:sldMkLst>
          <pc:docMk/>
          <pc:sldMk cId="2034974797" sldId="2359"/>
        </pc:sldMkLst>
        <pc:spChg chg="mod">
          <ac:chgData name="Richard Taylor" userId="fbfc1553-b23d-457b-a859-b112eb014c8c" providerId="ADAL" clId="{87CFA891-77F9-43AD-A107-BE6305742759}" dt="2025-07-15T05:26:39.727" v="1382" actId="14100"/>
          <ac:spMkLst>
            <pc:docMk/>
            <pc:sldMk cId="2034974797" sldId="2359"/>
            <ac:spMk id="9" creationId="{69919D4F-A26D-374B-AE10-25A8345137C4}"/>
          </ac:spMkLst>
        </pc:spChg>
      </pc:sldChg>
      <pc:sldChg chg="modSp mod">
        <pc:chgData name="Richard Taylor" userId="fbfc1553-b23d-457b-a859-b112eb014c8c" providerId="ADAL" clId="{87CFA891-77F9-43AD-A107-BE6305742759}" dt="2025-07-15T05:27:15.458" v="1393" actId="20577"/>
        <pc:sldMkLst>
          <pc:docMk/>
          <pc:sldMk cId="1296566234" sldId="2360"/>
        </pc:sldMkLst>
        <pc:spChg chg="mod">
          <ac:chgData name="Richard Taylor" userId="fbfc1553-b23d-457b-a859-b112eb014c8c" providerId="ADAL" clId="{87CFA891-77F9-43AD-A107-BE6305742759}" dt="2025-07-15T05:27:15.458" v="1393" actId="20577"/>
          <ac:spMkLst>
            <pc:docMk/>
            <pc:sldMk cId="1296566234" sldId="2360"/>
            <ac:spMk id="9" creationId="{6377BF93-0BCC-F250-2502-D375529623A7}"/>
          </ac:spMkLst>
        </pc:spChg>
        <pc:picChg chg="mod">
          <ac:chgData name="Richard Taylor" userId="fbfc1553-b23d-457b-a859-b112eb014c8c" providerId="ADAL" clId="{87CFA891-77F9-43AD-A107-BE6305742759}" dt="2025-07-15T05:27:08.366" v="1387" actId="14100"/>
          <ac:picMkLst>
            <pc:docMk/>
            <pc:sldMk cId="1296566234" sldId="2360"/>
            <ac:picMk id="4098" creationId="{00000000-0000-0000-0000-000000000000}"/>
          </ac:picMkLst>
        </pc:picChg>
      </pc:sldChg>
      <pc:sldChg chg="addSp delSp modSp mod">
        <pc:chgData name="Richard Taylor" userId="fbfc1553-b23d-457b-a859-b112eb014c8c" providerId="ADAL" clId="{87CFA891-77F9-43AD-A107-BE6305742759}" dt="2025-07-15T05:34:33.140" v="1401" actId="1076"/>
        <pc:sldMkLst>
          <pc:docMk/>
          <pc:sldMk cId="1543654652" sldId="2362"/>
        </pc:sldMkLst>
        <pc:spChg chg="mod">
          <ac:chgData name="Richard Taylor" userId="fbfc1553-b23d-457b-a859-b112eb014c8c" providerId="ADAL" clId="{87CFA891-77F9-43AD-A107-BE6305742759}" dt="2025-07-15T05:34:30.119" v="1399" actId="14100"/>
          <ac:spMkLst>
            <pc:docMk/>
            <pc:sldMk cId="1543654652" sldId="2362"/>
            <ac:spMk id="9" creationId="{2F900486-85C0-123F-6CAA-0CA849BBC6DC}"/>
          </ac:spMkLst>
        </pc:spChg>
        <pc:picChg chg="add mod">
          <ac:chgData name="Richard Taylor" userId="fbfc1553-b23d-457b-a859-b112eb014c8c" providerId="ADAL" clId="{87CFA891-77F9-43AD-A107-BE6305742759}" dt="2025-07-15T05:34:33.140" v="1401" actId="1076"/>
          <ac:picMkLst>
            <pc:docMk/>
            <pc:sldMk cId="1543654652" sldId="2362"/>
            <ac:picMk id="4" creationId="{03BAA547-7CED-BB6A-C722-1AEB61B37084}"/>
          </ac:picMkLst>
        </pc:picChg>
      </pc:sldChg>
      <pc:sldChg chg="addSp modSp mod">
        <pc:chgData name="Richard Taylor" userId="fbfc1553-b23d-457b-a859-b112eb014c8c" providerId="ADAL" clId="{87CFA891-77F9-43AD-A107-BE6305742759}" dt="2025-07-15T05:37:01.783" v="1412" actId="1076"/>
        <pc:sldMkLst>
          <pc:docMk/>
          <pc:sldMk cId="739923143" sldId="2363"/>
        </pc:sldMkLst>
        <pc:spChg chg="mod">
          <ac:chgData name="Richard Taylor" userId="fbfc1553-b23d-457b-a859-b112eb014c8c" providerId="ADAL" clId="{87CFA891-77F9-43AD-A107-BE6305742759}" dt="2025-07-15T05:35:40.827" v="1403" actId="114"/>
          <ac:spMkLst>
            <pc:docMk/>
            <pc:sldMk cId="739923143" sldId="2363"/>
            <ac:spMk id="5" creationId="{AAC1C0D7-3DE1-207D-EA24-C36394ECB781}"/>
          </ac:spMkLst>
        </pc:spChg>
        <pc:spChg chg="mod">
          <ac:chgData name="Richard Taylor" userId="fbfc1553-b23d-457b-a859-b112eb014c8c" providerId="ADAL" clId="{87CFA891-77F9-43AD-A107-BE6305742759}" dt="2025-07-15T05:36:38.700" v="1407" actId="114"/>
          <ac:spMkLst>
            <pc:docMk/>
            <pc:sldMk cId="739923143" sldId="2363"/>
            <ac:spMk id="9" creationId="{C5DF4541-52C1-D77D-7700-12C1E0D635DF}"/>
          </ac:spMkLst>
        </pc:spChg>
        <pc:picChg chg="add mod modCrop">
          <ac:chgData name="Richard Taylor" userId="fbfc1553-b23d-457b-a859-b112eb014c8c" providerId="ADAL" clId="{87CFA891-77F9-43AD-A107-BE6305742759}" dt="2025-07-15T05:37:01.783" v="1412" actId="1076"/>
          <ac:picMkLst>
            <pc:docMk/>
            <pc:sldMk cId="739923143" sldId="2363"/>
            <ac:picMk id="6" creationId="{BE9AB97A-B3D5-2FE7-6A65-682A97455D99}"/>
          </ac:picMkLst>
        </pc:picChg>
      </pc:sldChg>
      <pc:sldChg chg="modSp">
        <pc:chgData name="Richard Taylor" userId="fbfc1553-b23d-457b-a859-b112eb014c8c" providerId="ADAL" clId="{87CFA891-77F9-43AD-A107-BE6305742759}" dt="2025-07-15T05:37:10.470" v="1414" actId="14100"/>
        <pc:sldMkLst>
          <pc:docMk/>
          <pc:sldMk cId="4113716063" sldId="2364"/>
        </pc:sldMkLst>
        <pc:picChg chg="mod">
          <ac:chgData name="Richard Taylor" userId="fbfc1553-b23d-457b-a859-b112eb014c8c" providerId="ADAL" clId="{87CFA891-77F9-43AD-A107-BE6305742759}" dt="2025-07-15T05:37:10.470" v="1414" actId="14100"/>
          <ac:picMkLst>
            <pc:docMk/>
            <pc:sldMk cId="4113716063" sldId="2364"/>
            <ac:picMk id="4" creationId="{5FA53DB4-11A8-09E6-E3C6-EFDD4BBBC7B3}"/>
          </ac:picMkLst>
        </pc:picChg>
      </pc:sldChg>
      <pc:sldChg chg="modSp mod">
        <pc:chgData name="Richard Taylor" userId="fbfc1553-b23d-457b-a859-b112eb014c8c" providerId="ADAL" clId="{87CFA891-77F9-43AD-A107-BE6305742759}" dt="2025-07-15T05:38:22.716" v="1423" actId="113"/>
        <pc:sldMkLst>
          <pc:docMk/>
          <pc:sldMk cId="2674705119" sldId="2365"/>
        </pc:sldMkLst>
        <pc:spChg chg="mod">
          <ac:chgData name="Richard Taylor" userId="fbfc1553-b23d-457b-a859-b112eb014c8c" providerId="ADAL" clId="{87CFA891-77F9-43AD-A107-BE6305742759}" dt="2025-07-15T05:38:22.716" v="1423" actId="113"/>
          <ac:spMkLst>
            <pc:docMk/>
            <pc:sldMk cId="2674705119" sldId="2365"/>
            <ac:spMk id="9" creationId="{3FB1E859-098D-17AC-3871-C6D3E0903C36}"/>
          </ac:spMkLst>
        </pc:spChg>
      </pc:sldChg>
      <pc:sldChg chg="addSp modSp mod">
        <pc:chgData name="Richard Taylor" userId="fbfc1553-b23d-457b-a859-b112eb014c8c" providerId="ADAL" clId="{87CFA891-77F9-43AD-A107-BE6305742759}" dt="2025-07-15T05:39:41.720" v="1432" actId="1076"/>
        <pc:sldMkLst>
          <pc:docMk/>
          <pc:sldMk cId="3491292168" sldId="2366"/>
        </pc:sldMkLst>
        <pc:spChg chg="mod">
          <ac:chgData name="Richard Taylor" userId="fbfc1553-b23d-457b-a859-b112eb014c8c" providerId="ADAL" clId="{87CFA891-77F9-43AD-A107-BE6305742759}" dt="2025-07-15T05:38:41.121" v="1424" actId="255"/>
          <ac:spMkLst>
            <pc:docMk/>
            <pc:sldMk cId="3491292168" sldId="2366"/>
            <ac:spMk id="9" creationId="{02EA595D-C2EF-84D0-7BC6-E876BAE2BD3B}"/>
          </ac:spMkLst>
        </pc:spChg>
        <pc:picChg chg="add mod">
          <ac:chgData name="Richard Taylor" userId="fbfc1553-b23d-457b-a859-b112eb014c8c" providerId="ADAL" clId="{87CFA891-77F9-43AD-A107-BE6305742759}" dt="2025-07-15T05:39:39.306" v="1431" actId="1076"/>
          <ac:picMkLst>
            <pc:docMk/>
            <pc:sldMk cId="3491292168" sldId="2366"/>
            <ac:picMk id="6" creationId="{888AEB41-C72D-057D-0D94-C41967993B2C}"/>
          </ac:picMkLst>
        </pc:picChg>
        <pc:picChg chg="add mod">
          <ac:chgData name="Richard Taylor" userId="fbfc1553-b23d-457b-a859-b112eb014c8c" providerId="ADAL" clId="{87CFA891-77F9-43AD-A107-BE6305742759}" dt="2025-07-15T05:39:41.720" v="1432" actId="1076"/>
          <ac:picMkLst>
            <pc:docMk/>
            <pc:sldMk cId="3491292168" sldId="2366"/>
            <ac:picMk id="8" creationId="{01325096-30D1-2A6C-A57C-00E0D75EE35F}"/>
          </ac:picMkLst>
        </pc:picChg>
      </pc:sldChg>
      <pc:sldMasterChg chg="delSldLayout">
        <pc:chgData name="Richard Taylor" userId="fbfc1553-b23d-457b-a859-b112eb014c8c" providerId="ADAL" clId="{87CFA891-77F9-43AD-A107-BE6305742759}" dt="2025-07-10T08:39:30.738" v="227" actId="47"/>
        <pc:sldMasterMkLst>
          <pc:docMk/>
          <pc:sldMasterMk cId="3949227224" sldId="2147483672"/>
        </pc:sldMasterMkLst>
        <pc:sldLayoutChg chg="del">
          <pc:chgData name="Richard Taylor" userId="fbfc1553-b23d-457b-a859-b112eb014c8c" providerId="ADAL" clId="{87CFA891-77F9-43AD-A107-BE6305742759}" dt="2025-07-10T08:39:30.738" v="227" actId="47"/>
          <pc:sldLayoutMkLst>
            <pc:docMk/>
            <pc:sldMasterMk cId="3949227224" sldId="2147483672"/>
            <pc:sldLayoutMk cId="1674370109" sldId="2147483711"/>
          </pc:sldLayoutMkLst>
        </pc:sldLayoutChg>
      </pc:sldMaster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AU"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26FACB9-5442-42CB-A03F-8E81835DABF7}" type="datetimeFigureOut">
              <a:rPr lang="en-AU" smtClean="0"/>
              <a:t>21/08/2025</a:t>
            </a:fld>
            <a:endParaRPr lang="en-AU"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AU"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AU"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A395630-C934-4A98-9A10-DCA406879285}" type="slidenum">
              <a:rPr lang="en-AU" smtClean="0"/>
              <a:t>‹#›</a:t>
            </a:fld>
            <a:endParaRPr lang="en-AU" dirty="0"/>
          </a:p>
        </p:txBody>
      </p:sp>
    </p:spTree>
    <p:extLst>
      <p:ext uri="{BB962C8B-B14F-4D97-AF65-F5344CB8AC3E}">
        <p14:creationId xmlns:p14="http://schemas.microsoft.com/office/powerpoint/2010/main" val="385430726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AA395630-C934-4A98-9A10-DCA406879285}" type="slidenum">
              <a:rPr kumimoji="0" lang="en-AU"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a:t>
            </a:fld>
            <a:endParaRPr kumimoji="0" lang="en-AU" sz="1200" b="0" i="0" u="none" strike="noStrike" kern="1200" cap="none" spc="0" normalizeH="0" baseline="0" noProof="0" dirty="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70738471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8/21/2025</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dirty="0"/>
          </a:p>
        </p:txBody>
      </p:sp>
      <p:grpSp>
        <p:nvGrpSpPr>
          <p:cNvPr id="15" name="Group 9">
            <a:extLst>
              <a:ext uri="{FF2B5EF4-FFF2-40B4-BE49-F238E27FC236}">
                <a16:creationId xmlns:a16="http://schemas.microsoft.com/office/drawing/2014/main" id="{68AAA168-4901-191E-C934-CE688E023730}"/>
              </a:ext>
            </a:extLst>
          </p:cNvPr>
          <p:cNvGrpSpPr/>
          <p:nvPr userDrawn="1"/>
        </p:nvGrpSpPr>
        <p:grpSpPr>
          <a:xfrm>
            <a:off x="0" y="0"/>
            <a:ext cx="12192000" cy="6858000"/>
            <a:chOff x="0" y="0"/>
            <a:chExt cx="17339733" cy="9753600"/>
          </a:xfrm>
        </p:grpSpPr>
        <p:sp>
          <p:nvSpPr>
            <p:cNvPr id="16" name="Freeform 10">
              <a:extLst>
                <a:ext uri="{FF2B5EF4-FFF2-40B4-BE49-F238E27FC236}">
                  <a16:creationId xmlns:a16="http://schemas.microsoft.com/office/drawing/2014/main" id="{D12B860B-08C4-0BC5-D35E-EBD0BEC55A3B}"/>
                </a:ext>
              </a:extLst>
            </p:cNvPr>
            <p:cNvSpPr/>
            <p:nvPr/>
          </p:nvSpPr>
          <p:spPr>
            <a:xfrm>
              <a:off x="0" y="0"/>
              <a:ext cx="17339734" cy="9753600"/>
            </a:xfrm>
            <a:custGeom>
              <a:avLst/>
              <a:gdLst/>
              <a:ahLst/>
              <a:cxnLst/>
              <a:rect l="l" t="t" r="r" b="b"/>
              <a:pathLst>
                <a:path w="17339734" h="9753600">
                  <a:moveTo>
                    <a:pt x="0" y="0"/>
                  </a:moveTo>
                  <a:lnTo>
                    <a:pt x="17339734" y="0"/>
                  </a:lnTo>
                  <a:lnTo>
                    <a:pt x="17339734" y="9753600"/>
                  </a:lnTo>
                  <a:lnTo>
                    <a:pt x="0" y="9753600"/>
                  </a:lnTo>
                  <a:close/>
                </a:path>
              </a:pathLst>
            </a:custGeom>
            <a:solidFill>
              <a:srgbClr val="000054"/>
            </a:solidFill>
          </p:spPr>
          <p:txBody>
            <a:bodyPr/>
            <a:lstStyle/>
            <a:p>
              <a:endParaRPr lang="en-AU" dirty="0"/>
            </a:p>
          </p:txBody>
        </p:sp>
      </p:grpSp>
      <p:grpSp>
        <p:nvGrpSpPr>
          <p:cNvPr id="17" name="Group 2">
            <a:extLst>
              <a:ext uri="{FF2B5EF4-FFF2-40B4-BE49-F238E27FC236}">
                <a16:creationId xmlns:a16="http://schemas.microsoft.com/office/drawing/2014/main" id="{58F146F9-4DB6-EF6B-7A93-1EB4AADC5B66}"/>
              </a:ext>
            </a:extLst>
          </p:cNvPr>
          <p:cNvGrpSpPr/>
          <p:nvPr userDrawn="1"/>
        </p:nvGrpSpPr>
        <p:grpSpPr>
          <a:xfrm rot="-10800000">
            <a:off x="11045567" y="-12700"/>
            <a:ext cx="1146433" cy="1146433"/>
            <a:chOff x="0" y="0"/>
            <a:chExt cx="1630482" cy="1630482"/>
          </a:xfrm>
        </p:grpSpPr>
        <p:sp>
          <p:nvSpPr>
            <p:cNvPr id="18" name="Freeform 3">
              <a:extLst>
                <a:ext uri="{FF2B5EF4-FFF2-40B4-BE49-F238E27FC236}">
                  <a16:creationId xmlns:a16="http://schemas.microsoft.com/office/drawing/2014/main" id="{308D6B99-6919-5AC9-813A-A6DFDBB8F046}"/>
                </a:ext>
              </a:extLst>
            </p:cNvPr>
            <p:cNvSpPr/>
            <p:nvPr/>
          </p:nvSpPr>
          <p:spPr>
            <a:xfrm>
              <a:off x="0" y="0"/>
              <a:ext cx="1630426" cy="1630426"/>
            </a:xfrm>
            <a:custGeom>
              <a:avLst/>
              <a:gdLst/>
              <a:ahLst/>
              <a:cxnLst/>
              <a:rect l="l" t="t" r="r" b="b"/>
              <a:pathLst>
                <a:path w="1630426" h="1630426">
                  <a:moveTo>
                    <a:pt x="0" y="0"/>
                  </a:moveTo>
                  <a:lnTo>
                    <a:pt x="543433" y="0"/>
                  </a:lnTo>
                  <a:lnTo>
                    <a:pt x="543433" y="543433"/>
                  </a:lnTo>
                  <a:lnTo>
                    <a:pt x="1086993" y="543433"/>
                  </a:lnTo>
                  <a:lnTo>
                    <a:pt x="1086993" y="1086993"/>
                  </a:lnTo>
                  <a:lnTo>
                    <a:pt x="1630426" y="1086993"/>
                  </a:lnTo>
                  <a:lnTo>
                    <a:pt x="1630426" y="1630426"/>
                  </a:lnTo>
                  <a:lnTo>
                    <a:pt x="0" y="1630426"/>
                  </a:lnTo>
                  <a:lnTo>
                    <a:pt x="0" y="1086993"/>
                  </a:lnTo>
                  <a:lnTo>
                    <a:pt x="0" y="543433"/>
                  </a:lnTo>
                  <a:close/>
                </a:path>
              </a:pathLst>
            </a:custGeom>
            <a:solidFill>
              <a:srgbClr val="FFFFFF"/>
            </a:solidFill>
          </p:spPr>
          <p:txBody>
            <a:bodyPr/>
            <a:lstStyle/>
            <a:p>
              <a:endParaRPr lang="en-AU" dirty="0"/>
            </a:p>
          </p:txBody>
        </p:sp>
      </p:grpSp>
      <p:sp>
        <p:nvSpPr>
          <p:cNvPr id="19" name="TextBox 10">
            <a:extLst>
              <a:ext uri="{FF2B5EF4-FFF2-40B4-BE49-F238E27FC236}">
                <a16:creationId xmlns:a16="http://schemas.microsoft.com/office/drawing/2014/main" id="{CC318079-065A-5C59-95AA-558BE0FFCA54}"/>
              </a:ext>
            </a:extLst>
          </p:cNvPr>
          <p:cNvSpPr txBox="1"/>
          <p:nvPr userDrawn="1"/>
        </p:nvSpPr>
        <p:spPr>
          <a:xfrm>
            <a:off x="10195446" y="6347803"/>
            <a:ext cx="1773879" cy="193258"/>
          </a:xfrm>
          <a:prstGeom prst="rect">
            <a:avLst/>
          </a:prstGeom>
        </p:spPr>
        <p:txBody>
          <a:bodyPr lIns="0" tIns="0" rIns="0" bIns="0" rtlCol="0" anchor="t">
            <a:spAutoFit/>
          </a:bodyPr>
          <a:lstStyle/>
          <a:p>
            <a:pPr algn="l">
              <a:lnSpc>
                <a:spcPts val="1422"/>
              </a:lnSpc>
            </a:pPr>
            <a:r>
              <a:rPr lang="en-US" sz="1016" dirty="0">
                <a:solidFill>
                  <a:srgbClr val="FFFFFF"/>
                </a:solidFill>
                <a:latin typeface="Arial"/>
                <a:ea typeface="Arial"/>
                <a:cs typeface="Arial"/>
                <a:sym typeface="Arial"/>
              </a:rPr>
              <a:t>Administrative Law –LAW1023</a:t>
            </a: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8/21/2025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8/21/2025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8/21/2025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8/21/2025</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8/21/2025</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8/21/2025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dirty="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8/21/2025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8/21/2025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8/21/2025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8/21/2025</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dirty="0"/>
          </a:p>
        </p:txBody>
      </p:sp>
      <p:grpSp>
        <p:nvGrpSpPr>
          <p:cNvPr id="15" name="Group 9">
            <a:extLst>
              <a:ext uri="{FF2B5EF4-FFF2-40B4-BE49-F238E27FC236}">
                <a16:creationId xmlns:a16="http://schemas.microsoft.com/office/drawing/2014/main" id="{68AAA168-4901-191E-C934-CE688E023730}"/>
              </a:ext>
            </a:extLst>
          </p:cNvPr>
          <p:cNvGrpSpPr/>
          <p:nvPr userDrawn="1"/>
        </p:nvGrpSpPr>
        <p:grpSpPr>
          <a:xfrm>
            <a:off x="0" y="0"/>
            <a:ext cx="12192000" cy="6858000"/>
            <a:chOff x="0" y="0"/>
            <a:chExt cx="17339733" cy="9753600"/>
          </a:xfrm>
        </p:grpSpPr>
        <p:sp>
          <p:nvSpPr>
            <p:cNvPr id="16" name="Freeform 10">
              <a:extLst>
                <a:ext uri="{FF2B5EF4-FFF2-40B4-BE49-F238E27FC236}">
                  <a16:creationId xmlns:a16="http://schemas.microsoft.com/office/drawing/2014/main" id="{D12B860B-08C4-0BC5-D35E-EBD0BEC55A3B}"/>
                </a:ext>
              </a:extLst>
            </p:cNvPr>
            <p:cNvSpPr/>
            <p:nvPr/>
          </p:nvSpPr>
          <p:spPr>
            <a:xfrm>
              <a:off x="0" y="0"/>
              <a:ext cx="17339734" cy="9753600"/>
            </a:xfrm>
            <a:custGeom>
              <a:avLst/>
              <a:gdLst/>
              <a:ahLst/>
              <a:cxnLst/>
              <a:rect l="l" t="t" r="r" b="b"/>
              <a:pathLst>
                <a:path w="17339734" h="9753600">
                  <a:moveTo>
                    <a:pt x="0" y="0"/>
                  </a:moveTo>
                  <a:lnTo>
                    <a:pt x="17339734" y="0"/>
                  </a:lnTo>
                  <a:lnTo>
                    <a:pt x="17339734" y="9753600"/>
                  </a:lnTo>
                  <a:lnTo>
                    <a:pt x="0" y="9753600"/>
                  </a:lnTo>
                  <a:close/>
                </a:path>
              </a:pathLst>
            </a:custGeom>
            <a:solidFill>
              <a:srgbClr val="000054"/>
            </a:solidFill>
          </p:spPr>
          <p:txBody>
            <a:bodyPr/>
            <a:lstStyle/>
            <a:p>
              <a:endParaRPr lang="en-AU" dirty="0"/>
            </a:p>
          </p:txBody>
        </p:sp>
      </p:grpSp>
      <p:grpSp>
        <p:nvGrpSpPr>
          <p:cNvPr id="17" name="Group 2">
            <a:extLst>
              <a:ext uri="{FF2B5EF4-FFF2-40B4-BE49-F238E27FC236}">
                <a16:creationId xmlns:a16="http://schemas.microsoft.com/office/drawing/2014/main" id="{58F146F9-4DB6-EF6B-7A93-1EB4AADC5B66}"/>
              </a:ext>
            </a:extLst>
          </p:cNvPr>
          <p:cNvGrpSpPr/>
          <p:nvPr userDrawn="1"/>
        </p:nvGrpSpPr>
        <p:grpSpPr>
          <a:xfrm rot="-10800000">
            <a:off x="11045567" y="-12700"/>
            <a:ext cx="1146433" cy="1146433"/>
            <a:chOff x="0" y="0"/>
            <a:chExt cx="1630482" cy="1630482"/>
          </a:xfrm>
        </p:grpSpPr>
        <p:sp>
          <p:nvSpPr>
            <p:cNvPr id="18" name="Freeform 3">
              <a:extLst>
                <a:ext uri="{FF2B5EF4-FFF2-40B4-BE49-F238E27FC236}">
                  <a16:creationId xmlns:a16="http://schemas.microsoft.com/office/drawing/2014/main" id="{308D6B99-6919-5AC9-813A-A6DFDBB8F046}"/>
                </a:ext>
              </a:extLst>
            </p:cNvPr>
            <p:cNvSpPr/>
            <p:nvPr/>
          </p:nvSpPr>
          <p:spPr>
            <a:xfrm>
              <a:off x="0" y="0"/>
              <a:ext cx="1630426" cy="1630426"/>
            </a:xfrm>
            <a:custGeom>
              <a:avLst/>
              <a:gdLst/>
              <a:ahLst/>
              <a:cxnLst/>
              <a:rect l="l" t="t" r="r" b="b"/>
              <a:pathLst>
                <a:path w="1630426" h="1630426">
                  <a:moveTo>
                    <a:pt x="0" y="0"/>
                  </a:moveTo>
                  <a:lnTo>
                    <a:pt x="543433" y="0"/>
                  </a:lnTo>
                  <a:lnTo>
                    <a:pt x="543433" y="543433"/>
                  </a:lnTo>
                  <a:lnTo>
                    <a:pt x="1086993" y="543433"/>
                  </a:lnTo>
                  <a:lnTo>
                    <a:pt x="1086993" y="1086993"/>
                  </a:lnTo>
                  <a:lnTo>
                    <a:pt x="1630426" y="1086993"/>
                  </a:lnTo>
                  <a:lnTo>
                    <a:pt x="1630426" y="1630426"/>
                  </a:lnTo>
                  <a:lnTo>
                    <a:pt x="0" y="1630426"/>
                  </a:lnTo>
                  <a:lnTo>
                    <a:pt x="0" y="1086993"/>
                  </a:lnTo>
                  <a:lnTo>
                    <a:pt x="0" y="543433"/>
                  </a:lnTo>
                  <a:close/>
                </a:path>
              </a:pathLst>
            </a:custGeom>
            <a:solidFill>
              <a:srgbClr val="FFFFFF"/>
            </a:solidFill>
          </p:spPr>
          <p:txBody>
            <a:bodyPr/>
            <a:lstStyle/>
            <a:p>
              <a:endParaRPr lang="en-AU" dirty="0"/>
            </a:p>
          </p:txBody>
        </p:sp>
      </p:grpSp>
      <p:sp>
        <p:nvSpPr>
          <p:cNvPr id="19" name="TextBox 10">
            <a:extLst>
              <a:ext uri="{FF2B5EF4-FFF2-40B4-BE49-F238E27FC236}">
                <a16:creationId xmlns:a16="http://schemas.microsoft.com/office/drawing/2014/main" id="{CC318079-065A-5C59-95AA-558BE0FFCA54}"/>
              </a:ext>
            </a:extLst>
          </p:cNvPr>
          <p:cNvSpPr txBox="1"/>
          <p:nvPr userDrawn="1"/>
        </p:nvSpPr>
        <p:spPr>
          <a:xfrm>
            <a:off x="10195446" y="6347803"/>
            <a:ext cx="1773879" cy="193258"/>
          </a:xfrm>
          <a:prstGeom prst="rect">
            <a:avLst/>
          </a:prstGeom>
        </p:spPr>
        <p:txBody>
          <a:bodyPr lIns="0" tIns="0" rIns="0" bIns="0" rtlCol="0" anchor="t">
            <a:spAutoFit/>
          </a:bodyPr>
          <a:lstStyle/>
          <a:p>
            <a:pPr algn="l">
              <a:lnSpc>
                <a:spcPts val="1422"/>
              </a:lnSpc>
            </a:pPr>
            <a:r>
              <a:rPr lang="en-US" sz="1016" dirty="0">
                <a:solidFill>
                  <a:srgbClr val="FFFFFF"/>
                </a:solidFill>
                <a:latin typeface="Arial"/>
                <a:ea typeface="Arial"/>
                <a:cs typeface="Arial"/>
                <a:sym typeface="Arial"/>
              </a:rPr>
              <a:t>Administrative Law –LAW1023</a:t>
            </a:r>
          </a:p>
        </p:txBody>
      </p:sp>
    </p:spTree>
    <p:extLst>
      <p:ext uri="{BB962C8B-B14F-4D97-AF65-F5344CB8AC3E}">
        <p14:creationId xmlns:p14="http://schemas.microsoft.com/office/powerpoint/2010/main" val="1208127219"/>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8/21/2025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dirty="0"/>
          </a:p>
        </p:txBody>
      </p:sp>
    </p:spTree>
    <p:extLst>
      <p:ext uri="{BB962C8B-B14F-4D97-AF65-F5344CB8AC3E}">
        <p14:creationId xmlns:p14="http://schemas.microsoft.com/office/powerpoint/2010/main" val="2118985879"/>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8/21/2025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dirty="0"/>
          </a:p>
        </p:txBody>
      </p:sp>
    </p:spTree>
    <p:extLst>
      <p:ext uri="{BB962C8B-B14F-4D97-AF65-F5344CB8AC3E}">
        <p14:creationId xmlns:p14="http://schemas.microsoft.com/office/powerpoint/2010/main" val="3890883254"/>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8/21/2025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dirty="0"/>
          </a:p>
        </p:txBody>
      </p:sp>
    </p:spTree>
    <p:extLst>
      <p:ext uri="{BB962C8B-B14F-4D97-AF65-F5344CB8AC3E}">
        <p14:creationId xmlns:p14="http://schemas.microsoft.com/office/powerpoint/2010/main" val="541859388"/>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8/21/2025</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dirty="0"/>
          </a:p>
        </p:txBody>
      </p:sp>
    </p:spTree>
    <p:extLst>
      <p:ext uri="{BB962C8B-B14F-4D97-AF65-F5344CB8AC3E}">
        <p14:creationId xmlns:p14="http://schemas.microsoft.com/office/powerpoint/2010/main" val="360850466"/>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8/21/2025</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dirty="0"/>
          </a:p>
        </p:txBody>
      </p:sp>
    </p:spTree>
    <p:extLst>
      <p:ext uri="{BB962C8B-B14F-4D97-AF65-F5344CB8AC3E}">
        <p14:creationId xmlns:p14="http://schemas.microsoft.com/office/powerpoint/2010/main" val="651347455"/>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8/21/2025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dirty="0"/>
          </a:p>
        </p:txBody>
      </p:sp>
    </p:spTree>
    <p:extLst>
      <p:ext uri="{BB962C8B-B14F-4D97-AF65-F5344CB8AC3E}">
        <p14:creationId xmlns:p14="http://schemas.microsoft.com/office/powerpoint/2010/main" val="3574380400"/>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dirty="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8/21/2025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dirty="0"/>
          </a:p>
        </p:txBody>
      </p:sp>
    </p:spTree>
    <p:extLst>
      <p:ext uri="{BB962C8B-B14F-4D97-AF65-F5344CB8AC3E}">
        <p14:creationId xmlns:p14="http://schemas.microsoft.com/office/powerpoint/2010/main" val="3160044078"/>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8/21/2025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dirty="0"/>
          </a:p>
        </p:txBody>
      </p:sp>
    </p:spTree>
    <p:extLst>
      <p:ext uri="{BB962C8B-B14F-4D97-AF65-F5344CB8AC3E}">
        <p14:creationId xmlns:p14="http://schemas.microsoft.com/office/powerpoint/2010/main" val="2403349500"/>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8/21/2025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dirty="0"/>
          </a:p>
        </p:txBody>
      </p:sp>
    </p:spTree>
    <p:extLst>
      <p:ext uri="{BB962C8B-B14F-4D97-AF65-F5344CB8AC3E}">
        <p14:creationId xmlns:p14="http://schemas.microsoft.com/office/powerpoint/2010/main" val="4250874607"/>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userDrawn="1">
  <p:cSld name="Plain - Orange">
    <p:spTree>
      <p:nvGrpSpPr>
        <p:cNvPr id="1" name=""/>
        <p:cNvGrpSpPr/>
        <p:nvPr/>
      </p:nvGrpSpPr>
      <p:grpSpPr>
        <a:xfrm>
          <a:off x="0" y="0"/>
          <a:ext cx="0" cy="0"/>
          <a:chOff x="0" y="0"/>
          <a:chExt cx="0" cy="0"/>
        </a:xfrm>
      </p:grpSpPr>
    </p:spTree>
    <p:extLst>
      <p:ext uri="{BB962C8B-B14F-4D97-AF65-F5344CB8AC3E}">
        <p14:creationId xmlns:p14="http://schemas.microsoft.com/office/powerpoint/2010/main" val="2502924307"/>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8/21/2025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dirty="0"/>
          </a:p>
        </p:txBody>
      </p:sp>
    </p:spTree>
    <p:extLst>
      <p:ext uri="{BB962C8B-B14F-4D97-AF65-F5344CB8AC3E}">
        <p14:creationId xmlns:p14="http://schemas.microsoft.com/office/powerpoint/2010/main" val="877209395"/>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8/21/2025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dirty="0"/>
          </a:p>
        </p:txBody>
      </p:sp>
    </p:spTree>
    <p:extLst>
      <p:ext uri="{BB962C8B-B14F-4D97-AF65-F5344CB8AC3E}">
        <p14:creationId xmlns:p14="http://schemas.microsoft.com/office/powerpoint/2010/main" val="2911719336"/>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8/21/2025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dirty="0"/>
          </a:p>
        </p:txBody>
      </p:sp>
    </p:spTree>
    <p:extLst>
      <p:ext uri="{BB962C8B-B14F-4D97-AF65-F5344CB8AC3E}">
        <p14:creationId xmlns:p14="http://schemas.microsoft.com/office/powerpoint/2010/main" val="1530755662"/>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8/21/2025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dirty="0"/>
          </a:p>
        </p:txBody>
      </p:sp>
    </p:spTree>
    <p:extLst>
      <p:ext uri="{BB962C8B-B14F-4D97-AF65-F5344CB8AC3E}">
        <p14:creationId xmlns:p14="http://schemas.microsoft.com/office/powerpoint/2010/main" val="1243257763"/>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8/21/2025</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dirty="0"/>
          </a:p>
        </p:txBody>
      </p:sp>
    </p:spTree>
    <p:extLst>
      <p:ext uri="{BB962C8B-B14F-4D97-AF65-F5344CB8AC3E}">
        <p14:creationId xmlns:p14="http://schemas.microsoft.com/office/powerpoint/2010/main" val="3048602544"/>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8/21/2025</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dirty="0"/>
          </a:p>
        </p:txBody>
      </p:sp>
    </p:spTree>
    <p:extLst>
      <p:ext uri="{BB962C8B-B14F-4D97-AF65-F5344CB8AC3E}">
        <p14:creationId xmlns:p14="http://schemas.microsoft.com/office/powerpoint/2010/main" val="3187806326"/>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8/21/2025</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dirty="0"/>
          </a:p>
        </p:txBody>
      </p:sp>
    </p:spTree>
    <p:extLst>
      <p:ext uri="{BB962C8B-B14F-4D97-AF65-F5344CB8AC3E}">
        <p14:creationId xmlns:p14="http://schemas.microsoft.com/office/powerpoint/2010/main" val="2486553316"/>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8/21/2025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dirty="0"/>
          </a:p>
        </p:txBody>
      </p:sp>
    </p:spTree>
    <p:extLst>
      <p:ext uri="{BB962C8B-B14F-4D97-AF65-F5344CB8AC3E}">
        <p14:creationId xmlns:p14="http://schemas.microsoft.com/office/powerpoint/2010/main" val="2369756530"/>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dirty="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8/21/2025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dirty="0"/>
          </a:p>
        </p:txBody>
      </p:sp>
    </p:spTree>
    <p:extLst>
      <p:ext uri="{BB962C8B-B14F-4D97-AF65-F5344CB8AC3E}">
        <p14:creationId xmlns:p14="http://schemas.microsoft.com/office/powerpoint/2010/main" val="1052481021"/>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8/21/2025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dirty="0"/>
          </a:p>
        </p:txBody>
      </p:sp>
    </p:spTree>
    <p:extLst>
      <p:ext uri="{BB962C8B-B14F-4D97-AF65-F5344CB8AC3E}">
        <p14:creationId xmlns:p14="http://schemas.microsoft.com/office/powerpoint/2010/main" val="2724832790"/>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8/21/2025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dirty="0"/>
          </a:p>
        </p:txBody>
      </p:sp>
    </p:spTree>
    <p:extLst>
      <p:ext uri="{BB962C8B-B14F-4D97-AF65-F5344CB8AC3E}">
        <p14:creationId xmlns:p14="http://schemas.microsoft.com/office/powerpoint/2010/main" val="280323370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theme" Target="../theme/theme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8.xml"/><Relationship Id="rId3" Type="http://schemas.openxmlformats.org/officeDocument/2006/relationships/slideLayout" Target="../slideLayouts/slideLayout13.xml"/><Relationship Id="rId7" Type="http://schemas.openxmlformats.org/officeDocument/2006/relationships/slideLayout" Target="../slideLayouts/slideLayout17.xml"/><Relationship Id="rId12" Type="http://schemas.openxmlformats.org/officeDocument/2006/relationships/theme" Target="../theme/theme2.xml"/><Relationship Id="rId2" Type="http://schemas.openxmlformats.org/officeDocument/2006/relationships/slideLayout" Target="../slideLayouts/slideLayout12.xml"/><Relationship Id="rId1" Type="http://schemas.openxmlformats.org/officeDocument/2006/relationships/slideLayout" Target="../slideLayouts/slideLayout11.xml"/><Relationship Id="rId6" Type="http://schemas.openxmlformats.org/officeDocument/2006/relationships/slideLayout" Target="../slideLayouts/slideLayout16.xml"/><Relationship Id="rId11" Type="http://schemas.openxmlformats.org/officeDocument/2006/relationships/slideLayout" Target="../slideLayouts/slideLayout21.xml"/><Relationship Id="rId5" Type="http://schemas.openxmlformats.org/officeDocument/2006/relationships/slideLayout" Target="../slideLayouts/slideLayout15.xml"/><Relationship Id="rId10" Type="http://schemas.openxmlformats.org/officeDocument/2006/relationships/slideLayout" Target="../slideLayouts/slideLayout20.xml"/><Relationship Id="rId4" Type="http://schemas.openxmlformats.org/officeDocument/2006/relationships/slideLayout" Target="../slideLayouts/slideLayout14.xml"/><Relationship Id="rId9" Type="http://schemas.openxmlformats.org/officeDocument/2006/relationships/slideLayout" Target="../slideLayouts/slideLayout19.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29.xml"/><Relationship Id="rId3" Type="http://schemas.openxmlformats.org/officeDocument/2006/relationships/slideLayout" Target="../slideLayouts/slideLayout24.xml"/><Relationship Id="rId7" Type="http://schemas.openxmlformats.org/officeDocument/2006/relationships/slideLayout" Target="../slideLayouts/slideLayout28.xml"/><Relationship Id="rId12" Type="http://schemas.openxmlformats.org/officeDocument/2006/relationships/theme" Target="../theme/theme3.xml"/><Relationship Id="rId2" Type="http://schemas.openxmlformats.org/officeDocument/2006/relationships/slideLayout" Target="../slideLayouts/slideLayout23.xml"/><Relationship Id="rId1" Type="http://schemas.openxmlformats.org/officeDocument/2006/relationships/slideLayout" Target="../slideLayouts/slideLayout22.xml"/><Relationship Id="rId6" Type="http://schemas.openxmlformats.org/officeDocument/2006/relationships/slideLayout" Target="../slideLayouts/slideLayout27.xml"/><Relationship Id="rId11" Type="http://schemas.openxmlformats.org/officeDocument/2006/relationships/slideLayout" Target="../slideLayouts/slideLayout32.xml"/><Relationship Id="rId5" Type="http://schemas.openxmlformats.org/officeDocument/2006/relationships/slideLayout" Target="../slideLayouts/slideLayout26.xml"/><Relationship Id="rId10" Type="http://schemas.openxmlformats.org/officeDocument/2006/relationships/slideLayout" Target="../slideLayouts/slideLayout31.xml"/><Relationship Id="rId4" Type="http://schemas.openxmlformats.org/officeDocument/2006/relationships/slideLayout" Target="../slideLayouts/slideLayout25.xml"/><Relationship Id="rId9" Type="http://schemas.openxmlformats.org/officeDocument/2006/relationships/slideLayout" Target="../slideLayouts/slideLayout3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8/21/2025</a:t>
            </a:fld>
            <a:endParaRPr lang="en-US" dirty="0"/>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dirty="0"/>
          </a:p>
        </p:txBody>
      </p:sp>
      <p:grpSp>
        <p:nvGrpSpPr>
          <p:cNvPr id="17" name="Group 9">
            <a:extLst>
              <a:ext uri="{FF2B5EF4-FFF2-40B4-BE49-F238E27FC236}">
                <a16:creationId xmlns:a16="http://schemas.microsoft.com/office/drawing/2014/main" id="{7546362F-7599-2FAA-AE78-AD91060003E0}"/>
              </a:ext>
            </a:extLst>
          </p:cNvPr>
          <p:cNvGrpSpPr/>
          <p:nvPr userDrawn="1"/>
        </p:nvGrpSpPr>
        <p:grpSpPr>
          <a:xfrm>
            <a:off x="0" y="0"/>
            <a:ext cx="12192000" cy="6858000"/>
            <a:chOff x="0" y="0"/>
            <a:chExt cx="17339733" cy="9753600"/>
          </a:xfrm>
        </p:grpSpPr>
        <p:sp>
          <p:nvSpPr>
            <p:cNvPr id="18" name="Freeform 10">
              <a:extLst>
                <a:ext uri="{FF2B5EF4-FFF2-40B4-BE49-F238E27FC236}">
                  <a16:creationId xmlns:a16="http://schemas.microsoft.com/office/drawing/2014/main" id="{B3DD606C-F406-A17C-80B2-0DEEAA13603E}"/>
                </a:ext>
              </a:extLst>
            </p:cNvPr>
            <p:cNvSpPr/>
            <p:nvPr/>
          </p:nvSpPr>
          <p:spPr>
            <a:xfrm>
              <a:off x="0" y="0"/>
              <a:ext cx="17339734" cy="9753600"/>
            </a:xfrm>
            <a:custGeom>
              <a:avLst/>
              <a:gdLst/>
              <a:ahLst/>
              <a:cxnLst/>
              <a:rect l="l" t="t" r="r" b="b"/>
              <a:pathLst>
                <a:path w="17339734" h="9753600">
                  <a:moveTo>
                    <a:pt x="0" y="0"/>
                  </a:moveTo>
                  <a:lnTo>
                    <a:pt x="17339734" y="0"/>
                  </a:lnTo>
                  <a:lnTo>
                    <a:pt x="17339734" y="9753600"/>
                  </a:lnTo>
                  <a:lnTo>
                    <a:pt x="0" y="9753600"/>
                  </a:lnTo>
                  <a:close/>
                </a:path>
              </a:pathLst>
            </a:custGeom>
            <a:solidFill>
              <a:srgbClr val="000054"/>
            </a:solidFill>
          </p:spPr>
          <p:txBody>
            <a:bodyPr/>
            <a:lstStyle/>
            <a:p>
              <a:endParaRPr lang="en-AU" dirty="0"/>
            </a:p>
          </p:txBody>
        </p:sp>
      </p:grpSp>
      <p:grpSp>
        <p:nvGrpSpPr>
          <p:cNvPr id="19" name="Group 2">
            <a:extLst>
              <a:ext uri="{FF2B5EF4-FFF2-40B4-BE49-F238E27FC236}">
                <a16:creationId xmlns:a16="http://schemas.microsoft.com/office/drawing/2014/main" id="{6809E054-5F6E-F5B9-1009-0EF30A82BAB9}"/>
              </a:ext>
            </a:extLst>
          </p:cNvPr>
          <p:cNvGrpSpPr/>
          <p:nvPr userDrawn="1"/>
        </p:nvGrpSpPr>
        <p:grpSpPr>
          <a:xfrm rot="-10800000">
            <a:off x="11045567" y="-12700"/>
            <a:ext cx="1146433" cy="1146433"/>
            <a:chOff x="0" y="0"/>
            <a:chExt cx="1630482" cy="1630482"/>
          </a:xfrm>
        </p:grpSpPr>
        <p:sp>
          <p:nvSpPr>
            <p:cNvPr id="20" name="Freeform 3">
              <a:extLst>
                <a:ext uri="{FF2B5EF4-FFF2-40B4-BE49-F238E27FC236}">
                  <a16:creationId xmlns:a16="http://schemas.microsoft.com/office/drawing/2014/main" id="{1F644548-D707-A840-998C-BA16B562847F}"/>
                </a:ext>
              </a:extLst>
            </p:cNvPr>
            <p:cNvSpPr/>
            <p:nvPr/>
          </p:nvSpPr>
          <p:spPr>
            <a:xfrm>
              <a:off x="0" y="0"/>
              <a:ext cx="1630426" cy="1630426"/>
            </a:xfrm>
            <a:custGeom>
              <a:avLst/>
              <a:gdLst/>
              <a:ahLst/>
              <a:cxnLst/>
              <a:rect l="l" t="t" r="r" b="b"/>
              <a:pathLst>
                <a:path w="1630426" h="1630426">
                  <a:moveTo>
                    <a:pt x="0" y="0"/>
                  </a:moveTo>
                  <a:lnTo>
                    <a:pt x="543433" y="0"/>
                  </a:lnTo>
                  <a:lnTo>
                    <a:pt x="543433" y="543433"/>
                  </a:lnTo>
                  <a:lnTo>
                    <a:pt x="1086993" y="543433"/>
                  </a:lnTo>
                  <a:lnTo>
                    <a:pt x="1086993" y="1086993"/>
                  </a:lnTo>
                  <a:lnTo>
                    <a:pt x="1630426" y="1086993"/>
                  </a:lnTo>
                  <a:lnTo>
                    <a:pt x="1630426" y="1630426"/>
                  </a:lnTo>
                  <a:lnTo>
                    <a:pt x="0" y="1630426"/>
                  </a:lnTo>
                  <a:lnTo>
                    <a:pt x="0" y="1086993"/>
                  </a:lnTo>
                  <a:lnTo>
                    <a:pt x="0" y="543433"/>
                  </a:lnTo>
                  <a:close/>
                </a:path>
              </a:pathLst>
            </a:custGeom>
            <a:solidFill>
              <a:srgbClr val="FFFFFF"/>
            </a:solidFill>
          </p:spPr>
          <p:txBody>
            <a:bodyPr/>
            <a:lstStyle/>
            <a:p>
              <a:endParaRPr lang="en-AU" dirty="0"/>
            </a:p>
          </p:txBody>
        </p:sp>
      </p:grpSp>
      <p:sp>
        <p:nvSpPr>
          <p:cNvPr id="21" name="TextBox 10">
            <a:extLst>
              <a:ext uri="{FF2B5EF4-FFF2-40B4-BE49-F238E27FC236}">
                <a16:creationId xmlns:a16="http://schemas.microsoft.com/office/drawing/2014/main" id="{86B5217A-2963-8ECD-A2C4-00DF5372F72B}"/>
              </a:ext>
            </a:extLst>
          </p:cNvPr>
          <p:cNvSpPr txBox="1"/>
          <p:nvPr userDrawn="1"/>
        </p:nvSpPr>
        <p:spPr>
          <a:xfrm>
            <a:off x="10195446" y="6347803"/>
            <a:ext cx="1773879" cy="193258"/>
          </a:xfrm>
          <a:prstGeom prst="rect">
            <a:avLst/>
          </a:prstGeom>
        </p:spPr>
        <p:txBody>
          <a:bodyPr lIns="0" tIns="0" rIns="0" bIns="0" rtlCol="0" anchor="t">
            <a:spAutoFit/>
          </a:bodyPr>
          <a:lstStyle/>
          <a:p>
            <a:pPr algn="l">
              <a:lnSpc>
                <a:spcPts val="1422"/>
              </a:lnSpc>
            </a:pPr>
            <a:r>
              <a:rPr lang="en-US" sz="1016" dirty="0">
                <a:solidFill>
                  <a:srgbClr val="FFFFFF"/>
                </a:solidFill>
                <a:latin typeface="Arial"/>
                <a:ea typeface="Arial"/>
                <a:cs typeface="Arial"/>
                <a:sym typeface="Arial"/>
              </a:rPr>
              <a:t>Administrative Law –LAW1023</a:t>
            </a:r>
          </a:p>
        </p:txBody>
      </p:sp>
    </p:spTree>
  </p:cSld>
  <p:clrMap bg1="lt1" tx1="dk1" bg2="lt2" tx2="dk2" accent1="accent1" accent2="accent2" accent3="accent3" accent4="accent4" accent5="accent5" accent6="accent6" hlink="hlink" folHlink="folHlink"/>
  <p:sldLayoutIdLst>
    <p:sldLayoutId id="2147483655" r:id="rId1"/>
    <p:sldLayoutId id="2147483650" r:id="rId2"/>
    <p:sldLayoutId id="2147483651" r:id="rId3"/>
    <p:sldLayoutId id="2147483652" r:id="rId4"/>
    <p:sldLayoutId id="2147483653" r:id="rId5"/>
    <p:sldLayoutId id="2147483654" r:id="rId6"/>
    <p:sldLayoutId id="2147483656" r:id="rId7"/>
    <p:sldLayoutId id="2147483657" r:id="rId8"/>
    <p:sldLayoutId id="2147483658" r:id="rId9"/>
    <p:sldLayoutId id="2147483659" r:id="rId10"/>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8/21/2025</a:t>
            </a:fld>
            <a:endParaRPr lang="en-US" dirty="0"/>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dirty="0"/>
          </a:p>
        </p:txBody>
      </p:sp>
      <p:grpSp>
        <p:nvGrpSpPr>
          <p:cNvPr id="17" name="Group 9">
            <a:extLst>
              <a:ext uri="{FF2B5EF4-FFF2-40B4-BE49-F238E27FC236}">
                <a16:creationId xmlns:a16="http://schemas.microsoft.com/office/drawing/2014/main" id="{7546362F-7599-2FAA-AE78-AD91060003E0}"/>
              </a:ext>
            </a:extLst>
          </p:cNvPr>
          <p:cNvGrpSpPr/>
          <p:nvPr userDrawn="1"/>
        </p:nvGrpSpPr>
        <p:grpSpPr>
          <a:xfrm>
            <a:off x="0" y="0"/>
            <a:ext cx="12192000" cy="6858000"/>
            <a:chOff x="0" y="0"/>
            <a:chExt cx="17339733" cy="9753600"/>
          </a:xfrm>
        </p:grpSpPr>
        <p:sp>
          <p:nvSpPr>
            <p:cNvPr id="18" name="Freeform 10">
              <a:extLst>
                <a:ext uri="{FF2B5EF4-FFF2-40B4-BE49-F238E27FC236}">
                  <a16:creationId xmlns:a16="http://schemas.microsoft.com/office/drawing/2014/main" id="{B3DD606C-F406-A17C-80B2-0DEEAA13603E}"/>
                </a:ext>
              </a:extLst>
            </p:cNvPr>
            <p:cNvSpPr/>
            <p:nvPr/>
          </p:nvSpPr>
          <p:spPr>
            <a:xfrm>
              <a:off x="0" y="0"/>
              <a:ext cx="17339734" cy="9753600"/>
            </a:xfrm>
            <a:custGeom>
              <a:avLst/>
              <a:gdLst/>
              <a:ahLst/>
              <a:cxnLst/>
              <a:rect l="l" t="t" r="r" b="b"/>
              <a:pathLst>
                <a:path w="17339734" h="9753600">
                  <a:moveTo>
                    <a:pt x="0" y="0"/>
                  </a:moveTo>
                  <a:lnTo>
                    <a:pt x="17339734" y="0"/>
                  </a:lnTo>
                  <a:lnTo>
                    <a:pt x="17339734" y="9753600"/>
                  </a:lnTo>
                  <a:lnTo>
                    <a:pt x="0" y="9753600"/>
                  </a:lnTo>
                  <a:close/>
                </a:path>
              </a:pathLst>
            </a:custGeom>
            <a:solidFill>
              <a:srgbClr val="000054"/>
            </a:solidFill>
          </p:spPr>
          <p:txBody>
            <a:bodyPr/>
            <a:lstStyle/>
            <a:p>
              <a:endParaRPr lang="en-AU" dirty="0"/>
            </a:p>
          </p:txBody>
        </p:sp>
      </p:grpSp>
      <p:grpSp>
        <p:nvGrpSpPr>
          <p:cNvPr id="19" name="Group 2">
            <a:extLst>
              <a:ext uri="{FF2B5EF4-FFF2-40B4-BE49-F238E27FC236}">
                <a16:creationId xmlns:a16="http://schemas.microsoft.com/office/drawing/2014/main" id="{6809E054-5F6E-F5B9-1009-0EF30A82BAB9}"/>
              </a:ext>
            </a:extLst>
          </p:cNvPr>
          <p:cNvGrpSpPr/>
          <p:nvPr userDrawn="1"/>
        </p:nvGrpSpPr>
        <p:grpSpPr>
          <a:xfrm rot="-10800000">
            <a:off x="11045567" y="-12700"/>
            <a:ext cx="1146433" cy="1146433"/>
            <a:chOff x="0" y="0"/>
            <a:chExt cx="1630482" cy="1630482"/>
          </a:xfrm>
        </p:grpSpPr>
        <p:sp>
          <p:nvSpPr>
            <p:cNvPr id="20" name="Freeform 3">
              <a:extLst>
                <a:ext uri="{FF2B5EF4-FFF2-40B4-BE49-F238E27FC236}">
                  <a16:creationId xmlns:a16="http://schemas.microsoft.com/office/drawing/2014/main" id="{1F644548-D707-A840-998C-BA16B562847F}"/>
                </a:ext>
              </a:extLst>
            </p:cNvPr>
            <p:cNvSpPr/>
            <p:nvPr/>
          </p:nvSpPr>
          <p:spPr>
            <a:xfrm>
              <a:off x="0" y="0"/>
              <a:ext cx="1630426" cy="1630426"/>
            </a:xfrm>
            <a:custGeom>
              <a:avLst/>
              <a:gdLst/>
              <a:ahLst/>
              <a:cxnLst/>
              <a:rect l="l" t="t" r="r" b="b"/>
              <a:pathLst>
                <a:path w="1630426" h="1630426">
                  <a:moveTo>
                    <a:pt x="0" y="0"/>
                  </a:moveTo>
                  <a:lnTo>
                    <a:pt x="543433" y="0"/>
                  </a:lnTo>
                  <a:lnTo>
                    <a:pt x="543433" y="543433"/>
                  </a:lnTo>
                  <a:lnTo>
                    <a:pt x="1086993" y="543433"/>
                  </a:lnTo>
                  <a:lnTo>
                    <a:pt x="1086993" y="1086993"/>
                  </a:lnTo>
                  <a:lnTo>
                    <a:pt x="1630426" y="1086993"/>
                  </a:lnTo>
                  <a:lnTo>
                    <a:pt x="1630426" y="1630426"/>
                  </a:lnTo>
                  <a:lnTo>
                    <a:pt x="0" y="1630426"/>
                  </a:lnTo>
                  <a:lnTo>
                    <a:pt x="0" y="1086993"/>
                  </a:lnTo>
                  <a:lnTo>
                    <a:pt x="0" y="543433"/>
                  </a:lnTo>
                  <a:close/>
                </a:path>
              </a:pathLst>
            </a:custGeom>
            <a:solidFill>
              <a:srgbClr val="FFFFFF"/>
            </a:solidFill>
          </p:spPr>
          <p:txBody>
            <a:bodyPr/>
            <a:lstStyle/>
            <a:p>
              <a:endParaRPr lang="en-AU" dirty="0"/>
            </a:p>
          </p:txBody>
        </p:sp>
      </p:grpSp>
      <p:sp>
        <p:nvSpPr>
          <p:cNvPr id="21" name="TextBox 10">
            <a:extLst>
              <a:ext uri="{FF2B5EF4-FFF2-40B4-BE49-F238E27FC236}">
                <a16:creationId xmlns:a16="http://schemas.microsoft.com/office/drawing/2014/main" id="{86B5217A-2963-8ECD-A2C4-00DF5372F72B}"/>
              </a:ext>
            </a:extLst>
          </p:cNvPr>
          <p:cNvSpPr txBox="1"/>
          <p:nvPr userDrawn="1"/>
        </p:nvSpPr>
        <p:spPr>
          <a:xfrm>
            <a:off x="10195446" y="6347803"/>
            <a:ext cx="1773879" cy="193258"/>
          </a:xfrm>
          <a:prstGeom prst="rect">
            <a:avLst/>
          </a:prstGeom>
        </p:spPr>
        <p:txBody>
          <a:bodyPr lIns="0" tIns="0" rIns="0" bIns="0" rtlCol="0" anchor="t">
            <a:spAutoFit/>
          </a:bodyPr>
          <a:lstStyle/>
          <a:p>
            <a:pPr algn="l">
              <a:lnSpc>
                <a:spcPts val="1422"/>
              </a:lnSpc>
            </a:pPr>
            <a:r>
              <a:rPr lang="en-US" sz="1016" dirty="0">
                <a:solidFill>
                  <a:srgbClr val="FFFFFF"/>
                </a:solidFill>
                <a:latin typeface="Arial"/>
                <a:ea typeface="Arial"/>
                <a:cs typeface="Arial"/>
                <a:sym typeface="Arial"/>
              </a:rPr>
              <a:t>Administrative Law –LAW1023</a:t>
            </a:r>
          </a:p>
        </p:txBody>
      </p:sp>
    </p:spTree>
    <p:extLst>
      <p:ext uri="{BB962C8B-B14F-4D97-AF65-F5344CB8AC3E}">
        <p14:creationId xmlns:p14="http://schemas.microsoft.com/office/powerpoint/2010/main" val="422399037"/>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8/21/2025</a:t>
            </a:fld>
            <a:endParaRPr lang="en-US" dirty="0"/>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dirty="0"/>
          </a:p>
        </p:txBody>
      </p:sp>
    </p:spTree>
    <p:extLst>
      <p:ext uri="{BB962C8B-B14F-4D97-AF65-F5344CB8AC3E}">
        <p14:creationId xmlns:p14="http://schemas.microsoft.com/office/powerpoint/2010/main" val="2817487011"/>
      </p:ext>
    </p:extLst>
  </p:cSld>
  <p:clrMap bg1="lt1" tx1="dk1" bg2="lt2" tx2="dk2" accent1="accent1" accent2="accent2" accent3="accent3" accent4="accent4" accent5="accent5" accent6="accent6" hlink="hlink" folHlink="folHlink"/>
  <p:sldLayoutIdLst>
    <p:sldLayoutId id="2147483713" r:id="rId1"/>
    <p:sldLayoutId id="2147483714" r:id="rId2"/>
    <p:sldLayoutId id="2147483715" r:id="rId3"/>
    <p:sldLayoutId id="2147483716" r:id="rId4"/>
    <p:sldLayoutId id="2147483717" r:id="rId5"/>
    <p:sldLayoutId id="2147483718" r:id="rId6"/>
    <p:sldLayoutId id="2147483719" r:id="rId7"/>
    <p:sldLayoutId id="2147483720" r:id="rId8"/>
    <p:sldLayoutId id="2147483721" r:id="rId9"/>
    <p:sldLayoutId id="2147483722" r:id="rId10"/>
    <p:sldLayoutId id="2147483723"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3.emf"/><Relationship Id="rId2" Type="http://schemas.openxmlformats.org/officeDocument/2006/relationships/notesSlide" Target="../notesSlides/notesSlide1.xml"/><Relationship Id="rId1" Type="http://schemas.openxmlformats.org/officeDocument/2006/relationships/slideLayout" Target="../slideLayouts/slideLayout21.xml"/><Relationship Id="rId4" Type="http://schemas.openxmlformats.org/officeDocument/2006/relationships/image" Target="../media/image4.emf"/></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8.xml"/></Relationships>
</file>

<file path=ppt/slides/_rels/slide4.xml.rels><?xml version="1.0" encoding="UTF-8" standalone="yes"?>
<Relationships xmlns="http://schemas.openxmlformats.org/package/2006/relationships"><Relationship Id="rId3" Type="http://schemas.openxmlformats.org/officeDocument/2006/relationships/image" Target="../media/image6.svg"/><Relationship Id="rId7" Type="http://schemas.openxmlformats.org/officeDocument/2006/relationships/image" Target="../media/image10.svg"/><Relationship Id="rId2" Type="http://schemas.openxmlformats.org/officeDocument/2006/relationships/image" Target="../media/image5.png"/><Relationship Id="rId1" Type="http://schemas.openxmlformats.org/officeDocument/2006/relationships/slideLayout" Target="../slideLayouts/slideLayout1.xml"/><Relationship Id="rId6" Type="http://schemas.openxmlformats.org/officeDocument/2006/relationships/image" Target="../media/image9.png"/><Relationship Id="rId5" Type="http://schemas.openxmlformats.org/officeDocument/2006/relationships/image" Target="../media/image8.svg"/><Relationship Id="rId4" Type="http://schemas.openxmlformats.org/officeDocument/2006/relationships/image" Target="../media/image7.png"/></Relationships>
</file>

<file path=ppt/slides/_rels/slide5.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1.png"/><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image" Target="../media/image12.jpeg"/><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image" Target="../media/image13.jpeg"/><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image" Target="../media/image14.jpeg"/><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image" Target="../media/image15.jpeg"/><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17.jpeg"/><Relationship Id="rId2" Type="http://schemas.openxmlformats.org/officeDocument/2006/relationships/image" Target="../media/image16.jpeg"/><Relationship Id="rId1" Type="http://schemas.openxmlformats.org/officeDocument/2006/relationships/slideLayout" Target="../slideLayouts/slideLayout1.xml"/><Relationship Id="rId4" Type="http://schemas.openxmlformats.org/officeDocument/2006/relationships/image" Target="../media/image18.jpeg"/></Relationships>
</file>

<file path=ppt/slides/_rels/slide12.xml.rels><?xml version="1.0" encoding="UTF-8" standalone="yes"?>
<Relationships xmlns="http://schemas.openxmlformats.org/package/2006/relationships"><Relationship Id="rId3" Type="http://schemas.openxmlformats.org/officeDocument/2006/relationships/image" Target="../media/image17.jpeg"/><Relationship Id="rId2" Type="http://schemas.openxmlformats.org/officeDocument/2006/relationships/image" Target="../media/image16.jpeg"/><Relationship Id="rId1" Type="http://schemas.openxmlformats.org/officeDocument/2006/relationships/slideLayout" Target="../slideLayouts/slideLayout1.xml"/><Relationship Id="rId4" Type="http://schemas.openxmlformats.org/officeDocument/2006/relationships/image" Target="../media/image18.jpeg"/></Relationships>
</file>

<file path=ppt/slides/_rels/slide13.xml.rels><?xml version="1.0" encoding="UTF-8" standalone="yes"?>
<Relationships xmlns="http://schemas.openxmlformats.org/package/2006/relationships"><Relationship Id="rId3" Type="http://schemas.openxmlformats.org/officeDocument/2006/relationships/image" Target="../media/image17.jpeg"/><Relationship Id="rId2" Type="http://schemas.openxmlformats.org/officeDocument/2006/relationships/image" Target="../media/image16.jpeg"/><Relationship Id="rId1" Type="http://schemas.openxmlformats.org/officeDocument/2006/relationships/slideLayout" Target="../slideLayouts/slideLayout1.xml"/><Relationship Id="rId4" Type="http://schemas.openxmlformats.org/officeDocument/2006/relationships/image" Target="../media/image18.jpeg"/></Relationships>
</file>

<file path=ppt/slides/_rels/slide14.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20.png"/><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21.jpeg"/><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image" Target="../media/image23.jpeg"/><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image" Target="../media/image24.jpg"/><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3" Type="http://schemas.openxmlformats.org/officeDocument/2006/relationships/image" Target="../media/image26.jpeg"/><Relationship Id="rId2" Type="http://schemas.openxmlformats.org/officeDocument/2006/relationships/image" Target="../media/image25.jpeg"/><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2" Type="http://schemas.openxmlformats.org/officeDocument/2006/relationships/image" Target="../media/image27.jpeg"/><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3" Type="http://schemas.openxmlformats.org/officeDocument/2006/relationships/image" Target="../media/image30.jpeg"/><Relationship Id="rId2" Type="http://schemas.openxmlformats.org/officeDocument/2006/relationships/image" Target="../media/image29.jpeg"/><Relationship Id="rId1" Type="http://schemas.openxmlformats.org/officeDocument/2006/relationships/slideLayout" Target="../slideLayouts/slideLayout1.xml"/><Relationship Id="rId4" Type="http://schemas.openxmlformats.org/officeDocument/2006/relationships/image" Target="../media/image31.jpeg"/></Relationships>
</file>

<file path=ppt/slides/_rels/slide25.xml.rels><?xml version="1.0" encoding="UTF-8" standalone="yes"?>
<Relationships xmlns="http://schemas.openxmlformats.org/package/2006/relationships"><Relationship Id="rId2" Type="http://schemas.openxmlformats.org/officeDocument/2006/relationships/image" Target="../media/image32.jpeg"/><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2" Type="http://schemas.openxmlformats.org/officeDocument/2006/relationships/image" Target="../media/image33.jpeg"/><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3" Type="http://schemas.openxmlformats.org/officeDocument/2006/relationships/image" Target="../media/image35.jpg"/><Relationship Id="rId2" Type="http://schemas.openxmlformats.org/officeDocument/2006/relationships/image" Target="../media/image34.jpg"/><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3" Type="http://schemas.openxmlformats.org/officeDocument/2006/relationships/image" Target="../media/image37.jpeg"/><Relationship Id="rId2" Type="http://schemas.openxmlformats.org/officeDocument/2006/relationships/image" Target="../media/image36.png"/><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2" Type="http://schemas.openxmlformats.org/officeDocument/2006/relationships/image" Target="../media/image38.jpeg"/><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2" Type="http://schemas.openxmlformats.org/officeDocument/2006/relationships/image" Target="../media/image39.jpeg"/><Relationship Id="rId1" Type="http://schemas.openxmlformats.org/officeDocument/2006/relationships/slideLayout" Target="../slideLayouts/slideLayout1.xml"/></Relationships>
</file>

<file path=ppt/slides/_rels/slide34.xml.rels><?xml version="1.0" encoding="UTF-8" standalone="yes"?>
<Relationships xmlns="http://schemas.openxmlformats.org/package/2006/relationships"><Relationship Id="rId2" Type="http://schemas.openxmlformats.org/officeDocument/2006/relationships/image" Target="../media/image40.png"/><Relationship Id="rId1" Type="http://schemas.openxmlformats.org/officeDocument/2006/relationships/slideLayout" Target="../slideLayouts/slideLayout1.xml"/></Relationships>
</file>

<file path=ppt/slides/_rels/slide35.xml.rels><?xml version="1.0" encoding="UTF-8" standalone="yes"?>
<Relationships xmlns="http://schemas.openxmlformats.org/package/2006/relationships"><Relationship Id="rId2" Type="http://schemas.openxmlformats.org/officeDocument/2006/relationships/image" Target="../media/image41.jpeg"/><Relationship Id="rId1" Type="http://schemas.openxmlformats.org/officeDocument/2006/relationships/slideLayout" Target="../slideLayouts/slideLayout1.xml"/></Relationships>
</file>

<file path=ppt/slides/_rels/slide36.xml.rels><?xml version="1.0" encoding="UTF-8" standalone="yes"?>
<Relationships xmlns="http://schemas.openxmlformats.org/package/2006/relationships"><Relationship Id="rId2" Type="http://schemas.openxmlformats.org/officeDocument/2006/relationships/image" Target="../media/image42.jpeg"/><Relationship Id="rId1" Type="http://schemas.openxmlformats.org/officeDocument/2006/relationships/slideLayout" Target="../slideLayouts/slideLayout1.xml"/></Relationships>
</file>

<file path=ppt/slides/_rels/slide37.xml.rels><?xml version="1.0" encoding="UTF-8" standalone="yes"?>
<Relationships xmlns="http://schemas.openxmlformats.org/package/2006/relationships"><Relationship Id="rId2" Type="http://schemas.openxmlformats.org/officeDocument/2006/relationships/image" Target="../media/image43.jpeg"/><Relationship Id="rId1" Type="http://schemas.openxmlformats.org/officeDocument/2006/relationships/slideLayout" Target="../slideLayouts/slideLayout1.xml"/></Relationships>
</file>

<file path=ppt/slides/_rels/slide38.xml.rels><?xml version="1.0" encoding="UTF-8" standalone="yes"?>
<Relationships xmlns="http://schemas.openxmlformats.org/package/2006/relationships"><Relationship Id="rId2" Type="http://schemas.openxmlformats.org/officeDocument/2006/relationships/image" Target="../media/image44.jpeg"/><Relationship Id="rId1" Type="http://schemas.openxmlformats.org/officeDocument/2006/relationships/slideLayout" Target="../slideLayouts/slideLayout1.xml"/></Relationships>
</file>

<file path=ppt/slides/_rels/slide39.xml.rels><?xml version="1.0" encoding="UTF-8" standalone="yes"?>
<Relationships xmlns="http://schemas.openxmlformats.org/package/2006/relationships"><Relationship Id="rId2" Type="http://schemas.openxmlformats.org/officeDocument/2006/relationships/image" Target="../media/image39.jpeg"/><Relationship Id="rId1" Type="http://schemas.openxmlformats.org/officeDocument/2006/relationships/slideLayout" Target="../slideLayouts/slideLayout1.xml"/></Relationships>
</file>

<file path=ppt/slides/_rels/slide40.xml.rels><?xml version="1.0" encoding="UTF-8" standalone="yes"?>
<Relationships xmlns="http://schemas.openxmlformats.org/package/2006/relationships"><Relationship Id="rId2" Type="http://schemas.openxmlformats.org/officeDocument/2006/relationships/image" Target="../media/image45.png"/><Relationship Id="rId1" Type="http://schemas.openxmlformats.org/officeDocument/2006/relationships/slideLayout" Target="../slideLayouts/slideLayout1.xml"/></Relationships>
</file>

<file path=ppt/slides/_rels/slide41.xml.rels><?xml version="1.0" encoding="UTF-8" standalone="yes"?>
<Relationships xmlns="http://schemas.openxmlformats.org/package/2006/relationships"><Relationship Id="rId2" Type="http://schemas.openxmlformats.org/officeDocument/2006/relationships/image" Target="../media/image46.png"/><Relationship Id="rId1" Type="http://schemas.openxmlformats.org/officeDocument/2006/relationships/slideLayout" Target="../slideLayouts/slideLayout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3.xml.rels><?xml version="1.0" encoding="UTF-8" standalone="yes"?>
<Relationships xmlns="http://schemas.openxmlformats.org/package/2006/relationships"><Relationship Id="rId3" Type="http://schemas.openxmlformats.org/officeDocument/2006/relationships/image" Target="../media/image48.svg"/><Relationship Id="rId2" Type="http://schemas.openxmlformats.org/officeDocument/2006/relationships/image" Target="../media/image47.png"/><Relationship Id="rId1" Type="http://schemas.openxmlformats.org/officeDocument/2006/relationships/slideLayout" Target="../slideLayouts/slideLayout1.xml"/><Relationship Id="rId5" Type="http://schemas.openxmlformats.org/officeDocument/2006/relationships/image" Target="../media/image50.svg"/><Relationship Id="rId4" Type="http://schemas.openxmlformats.org/officeDocument/2006/relationships/image" Target="../media/image49.png"/></Relationships>
</file>

<file path=ppt/slides/_rels/slide4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1524000" y="0"/>
            <a:ext cx="9144000" cy="1146433"/>
            <a:chOff x="0" y="0"/>
            <a:chExt cx="13004800" cy="1630482"/>
          </a:xfrm>
        </p:grpSpPr>
        <p:sp>
          <p:nvSpPr>
            <p:cNvPr id="3" name="Freeform 3"/>
            <p:cNvSpPr/>
            <p:nvPr/>
          </p:nvSpPr>
          <p:spPr>
            <a:xfrm>
              <a:off x="0" y="0"/>
              <a:ext cx="13004800" cy="1630426"/>
            </a:xfrm>
            <a:custGeom>
              <a:avLst/>
              <a:gdLst/>
              <a:ahLst/>
              <a:cxnLst/>
              <a:rect l="l" t="t" r="r" b="b"/>
              <a:pathLst>
                <a:path w="13004800" h="1630426">
                  <a:moveTo>
                    <a:pt x="0" y="0"/>
                  </a:moveTo>
                  <a:lnTo>
                    <a:pt x="13004800" y="0"/>
                  </a:lnTo>
                  <a:lnTo>
                    <a:pt x="13004800" y="1630426"/>
                  </a:lnTo>
                  <a:lnTo>
                    <a:pt x="0" y="1630426"/>
                  </a:lnTo>
                  <a:close/>
                </a:path>
              </a:pathLst>
            </a:custGeom>
            <a:solidFill>
              <a:srgbClr val="000054"/>
            </a:solidFill>
          </p:spPr>
          <p:txBody>
            <a:bodyPr/>
            <a:lstStyle/>
            <a:p>
              <a:endParaRPr lang="en-AU" dirty="0"/>
            </a:p>
          </p:txBody>
        </p:sp>
      </p:grpSp>
      <p:grpSp>
        <p:nvGrpSpPr>
          <p:cNvPr id="4" name="Group 4"/>
          <p:cNvGrpSpPr/>
          <p:nvPr/>
        </p:nvGrpSpPr>
        <p:grpSpPr>
          <a:xfrm>
            <a:off x="1524000" y="6065520"/>
            <a:ext cx="792480" cy="792480"/>
            <a:chOff x="0" y="0"/>
            <a:chExt cx="1127083" cy="1127083"/>
          </a:xfrm>
        </p:grpSpPr>
        <p:sp>
          <p:nvSpPr>
            <p:cNvPr id="5" name="Freeform 5"/>
            <p:cNvSpPr/>
            <p:nvPr/>
          </p:nvSpPr>
          <p:spPr>
            <a:xfrm>
              <a:off x="0" y="0"/>
              <a:ext cx="1127125" cy="1127125"/>
            </a:xfrm>
            <a:custGeom>
              <a:avLst/>
              <a:gdLst/>
              <a:ahLst/>
              <a:cxnLst/>
              <a:rect l="l" t="t" r="r" b="b"/>
              <a:pathLst>
                <a:path w="1127125" h="1127125">
                  <a:moveTo>
                    <a:pt x="0" y="0"/>
                  </a:moveTo>
                  <a:lnTo>
                    <a:pt x="563499" y="0"/>
                  </a:lnTo>
                  <a:lnTo>
                    <a:pt x="563499" y="563499"/>
                  </a:lnTo>
                  <a:lnTo>
                    <a:pt x="1127125" y="563499"/>
                  </a:lnTo>
                  <a:lnTo>
                    <a:pt x="1127125" y="1127125"/>
                  </a:lnTo>
                  <a:lnTo>
                    <a:pt x="0" y="1127125"/>
                  </a:lnTo>
                  <a:close/>
                </a:path>
              </a:pathLst>
            </a:custGeom>
            <a:solidFill>
              <a:srgbClr val="E60028"/>
            </a:solidFill>
          </p:spPr>
          <p:txBody>
            <a:bodyPr/>
            <a:lstStyle/>
            <a:p>
              <a:endParaRPr lang="en-AU" dirty="0"/>
            </a:p>
          </p:txBody>
        </p:sp>
      </p:grpSp>
      <p:grpSp>
        <p:nvGrpSpPr>
          <p:cNvPr id="6" name="Group 6"/>
          <p:cNvGrpSpPr/>
          <p:nvPr/>
        </p:nvGrpSpPr>
        <p:grpSpPr>
          <a:xfrm rot="-10800000">
            <a:off x="9521567" y="-12700"/>
            <a:ext cx="1146433" cy="1146433"/>
            <a:chOff x="0" y="0"/>
            <a:chExt cx="1630482" cy="1630482"/>
          </a:xfrm>
        </p:grpSpPr>
        <p:sp>
          <p:nvSpPr>
            <p:cNvPr id="7" name="Freeform 7"/>
            <p:cNvSpPr/>
            <p:nvPr/>
          </p:nvSpPr>
          <p:spPr>
            <a:xfrm>
              <a:off x="0" y="0"/>
              <a:ext cx="1630426" cy="1630426"/>
            </a:xfrm>
            <a:custGeom>
              <a:avLst/>
              <a:gdLst/>
              <a:ahLst/>
              <a:cxnLst/>
              <a:rect l="l" t="t" r="r" b="b"/>
              <a:pathLst>
                <a:path w="1630426" h="1630426">
                  <a:moveTo>
                    <a:pt x="0" y="0"/>
                  </a:moveTo>
                  <a:lnTo>
                    <a:pt x="543433" y="0"/>
                  </a:lnTo>
                  <a:lnTo>
                    <a:pt x="543433" y="543433"/>
                  </a:lnTo>
                  <a:lnTo>
                    <a:pt x="1086993" y="543433"/>
                  </a:lnTo>
                  <a:lnTo>
                    <a:pt x="1086993" y="1086993"/>
                  </a:lnTo>
                  <a:lnTo>
                    <a:pt x="1630426" y="1086993"/>
                  </a:lnTo>
                  <a:lnTo>
                    <a:pt x="1630426" y="1630426"/>
                  </a:lnTo>
                  <a:lnTo>
                    <a:pt x="0" y="1630426"/>
                  </a:lnTo>
                  <a:lnTo>
                    <a:pt x="0" y="1086993"/>
                  </a:lnTo>
                  <a:lnTo>
                    <a:pt x="0" y="543433"/>
                  </a:lnTo>
                  <a:close/>
                </a:path>
              </a:pathLst>
            </a:custGeom>
            <a:solidFill>
              <a:srgbClr val="AA00AA"/>
            </a:solidFill>
          </p:spPr>
          <p:txBody>
            <a:bodyPr/>
            <a:lstStyle/>
            <a:p>
              <a:endParaRPr lang="en-AU" dirty="0"/>
            </a:p>
          </p:txBody>
        </p:sp>
      </p:grpSp>
      <p:sp>
        <p:nvSpPr>
          <p:cNvPr id="8" name="Freeform 8"/>
          <p:cNvSpPr/>
          <p:nvPr/>
        </p:nvSpPr>
        <p:spPr>
          <a:xfrm>
            <a:off x="8815018" y="6096112"/>
            <a:ext cx="1405942" cy="629767"/>
          </a:xfrm>
          <a:custGeom>
            <a:avLst/>
            <a:gdLst/>
            <a:ahLst/>
            <a:cxnLst/>
            <a:rect l="l" t="t" r="r" b="b"/>
            <a:pathLst>
              <a:path w="1405942" h="629767">
                <a:moveTo>
                  <a:pt x="0" y="0"/>
                </a:moveTo>
                <a:lnTo>
                  <a:pt x="1405942" y="0"/>
                </a:lnTo>
                <a:lnTo>
                  <a:pt x="1405942" y="629767"/>
                </a:lnTo>
                <a:lnTo>
                  <a:pt x="0" y="629767"/>
                </a:lnTo>
                <a:lnTo>
                  <a:pt x="0" y="0"/>
                </a:lnTo>
                <a:close/>
              </a:path>
            </a:pathLst>
          </a:custGeom>
          <a:blipFill>
            <a:blip r:embed="rId2"/>
            <a:stretch>
              <a:fillRect l="-229" r="-229"/>
            </a:stretch>
          </a:blipFill>
        </p:spPr>
        <p:txBody>
          <a:bodyPr/>
          <a:lstStyle/>
          <a:p>
            <a:endParaRPr lang="en-AU" dirty="0"/>
          </a:p>
        </p:txBody>
      </p:sp>
      <p:grpSp>
        <p:nvGrpSpPr>
          <p:cNvPr id="9" name="Group 9"/>
          <p:cNvGrpSpPr/>
          <p:nvPr/>
        </p:nvGrpSpPr>
        <p:grpSpPr>
          <a:xfrm>
            <a:off x="0" y="0"/>
            <a:ext cx="12192000" cy="6858000"/>
            <a:chOff x="0" y="0"/>
            <a:chExt cx="17339733" cy="9753600"/>
          </a:xfrm>
        </p:grpSpPr>
        <p:sp>
          <p:nvSpPr>
            <p:cNvPr id="10" name="Freeform 10"/>
            <p:cNvSpPr/>
            <p:nvPr/>
          </p:nvSpPr>
          <p:spPr>
            <a:xfrm>
              <a:off x="0" y="0"/>
              <a:ext cx="17339734" cy="9753600"/>
            </a:xfrm>
            <a:custGeom>
              <a:avLst/>
              <a:gdLst/>
              <a:ahLst/>
              <a:cxnLst/>
              <a:rect l="l" t="t" r="r" b="b"/>
              <a:pathLst>
                <a:path w="17339734" h="9753600">
                  <a:moveTo>
                    <a:pt x="0" y="0"/>
                  </a:moveTo>
                  <a:lnTo>
                    <a:pt x="17339734" y="0"/>
                  </a:lnTo>
                  <a:lnTo>
                    <a:pt x="17339734" y="9753600"/>
                  </a:lnTo>
                  <a:lnTo>
                    <a:pt x="0" y="9753600"/>
                  </a:lnTo>
                  <a:close/>
                </a:path>
              </a:pathLst>
            </a:custGeom>
            <a:solidFill>
              <a:srgbClr val="000054"/>
            </a:solidFill>
          </p:spPr>
          <p:txBody>
            <a:bodyPr/>
            <a:lstStyle/>
            <a:p>
              <a:endParaRPr lang="en-AU" dirty="0"/>
            </a:p>
          </p:txBody>
        </p:sp>
      </p:grpSp>
      <p:grpSp>
        <p:nvGrpSpPr>
          <p:cNvPr id="11" name="Group 11"/>
          <p:cNvGrpSpPr/>
          <p:nvPr/>
        </p:nvGrpSpPr>
        <p:grpSpPr>
          <a:xfrm>
            <a:off x="0" y="6065521"/>
            <a:ext cx="792480" cy="792480"/>
            <a:chOff x="0" y="0"/>
            <a:chExt cx="1127083" cy="1127083"/>
          </a:xfrm>
        </p:grpSpPr>
        <p:sp>
          <p:nvSpPr>
            <p:cNvPr id="12" name="Freeform 12"/>
            <p:cNvSpPr/>
            <p:nvPr/>
          </p:nvSpPr>
          <p:spPr>
            <a:xfrm>
              <a:off x="0" y="0"/>
              <a:ext cx="1127125" cy="1127125"/>
            </a:xfrm>
            <a:custGeom>
              <a:avLst/>
              <a:gdLst/>
              <a:ahLst/>
              <a:cxnLst/>
              <a:rect l="l" t="t" r="r" b="b"/>
              <a:pathLst>
                <a:path w="1127125" h="1127125">
                  <a:moveTo>
                    <a:pt x="0" y="0"/>
                  </a:moveTo>
                  <a:lnTo>
                    <a:pt x="563499" y="0"/>
                  </a:lnTo>
                  <a:lnTo>
                    <a:pt x="563499" y="563499"/>
                  </a:lnTo>
                  <a:lnTo>
                    <a:pt x="1127125" y="563499"/>
                  </a:lnTo>
                  <a:lnTo>
                    <a:pt x="1127125" y="1127125"/>
                  </a:lnTo>
                  <a:lnTo>
                    <a:pt x="0" y="1127125"/>
                  </a:lnTo>
                  <a:close/>
                </a:path>
              </a:pathLst>
            </a:custGeom>
            <a:solidFill>
              <a:srgbClr val="E60028"/>
            </a:solidFill>
          </p:spPr>
          <p:txBody>
            <a:bodyPr/>
            <a:lstStyle/>
            <a:p>
              <a:endParaRPr lang="en-AU" dirty="0"/>
            </a:p>
          </p:txBody>
        </p:sp>
      </p:grpSp>
      <p:sp>
        <p:nvSpPr>
          <p:cNvPr id="13" name="Freeform 13"/>
          <p:cNvSpPr/>
          <p:nvPr/>
        </p:nvSpPr>
        <p:spPr>
          <a:xfrm>
            <a:off x="10786058" y="6228232"/>
            <a:ext cx="1405942" cy="629768"/>
          </a:xfrm>
          <a:custGeom>
            <a:avLst/>
            <a:gdLst/>
            <a:ahLst/>
            <a:cxnLst/>
            <a:rect l="l" t="t" r="r" b="b"/>
            <a:pathLst>
              <a:path w="1405942" h="629768">
                <a:moveTo>
                  <a:pt x="0" y="0"/>
                </a:moveTo>
                <a:lnTo>
                  <a:pt x="1405942" y="0"/>
                </a:lnTo>
                <a:lnTo>
                  <a:pt x="1405942" y="629768"/>
                </a:lnTo>
                <a:lnTo>
                  <a:pt x="0" y="629768"/>
                </a:lnTo>
                <a:lnTo>
                  <a:pt x="0" y="0"/>
                </a:lnTo>
                <a:close/>
              </a:path>
            </a:pathLst>
          </a:custGeom>
          <a:blipFill>
            <a:blip r:embed="rId3"/>
            <a:stretch>
              <a:fillRect l="-229" r="-229"/>
            </a:stretch>
          </a:blipFill>
        </p:spPr>
        <p:txBody>
          <a:bodyPr/>
          <a:lstStyle/>
          <a:p>
            <a:endParaRPr lang="en-AU" dirty="0"/>
          </a:p>
        </p:txBody>
      </p:sp>
      <p:grpSp>
        <p:nvGrpSpPr>
          <p:cNvPr id="14" name="Group 14"/>
          <p:cNvGrpSpPr/>
          <p:nvPr/>
        </p:nvGrpSpPr>
        <p:grpSpPr>
          <a:xfrm rot="5400000">
            <a:off x="8991603" y="0"/>
            <a:ext cx="3200396" cy="3200398"/>
            <a:chOff x="0" y="0"/>
            <a:chExt cx="4551674" cy="4551677"/>
          </a:xfrm>
        </p:grpSpPr>
        <p:sp>
          <p:nvSpPr>
            <p:cNvPr id="15" name="Freeform 15"/>
            <p:cNvSpPr/>
            <p:nvPr/>
          </p:nvSpPr>
          <p:spPr>
            <a:xfrm>
              <a:off x="0" y="0"/>
              <a:ext cx="4551680" cy="4551680"/>
            </a:xfrm>
            <a:custGeom>
              <a:avLst/>
              <a:gdLst/>
              <a:ahLst/>
              <a:cxnLst/>
              <a:rect l="l" t="t" r="r" b="b"/>
              <a:pathLst>
                <a:path w="4551680" h="4551680">
                  <a:moveTo>
                    <a:pt x="0" y="0"/>
                  </a:moveTo>
                  <a:lnTo>
                    <a:pt x="4551680" y="0"/>
                  </a:lnTo>
                  <a:cubicBezTo>
                    <a:pt x="4551680" y="2513838"/>
                    <a:pt x="2513838" y="4551680"/>
                    <a:pt x="0" y="4551680"/>
                  </a:cubicBezTo>
                  <a:close/>
                </a:path>
              </a:pathLst>
            </a:custGeom>
            <a:solidFill>
              <a:srgbClr val="7AE1AA"/>
            </a:solidFill>
          </p:spPr>
          <p:txBody>
            <a:bodyPr/>
            <a:lstStyle/>
            <a:p>
              <a:endParaRPr lang="en-AU" dirty="0"/>
            </a:p>
          </p:txBody>
        </p:sp>
      </p:grpSp>
      <p:sp>
        <p:nvSpPr>
          <p:cNvPr id="16" name="TextBox 16"/>
          <p:cNvSpPr txBox="1"/>
          <p:nvPr/>
        </p:nvSpPr>
        <p:spPr>
          <a:xfrm>
            <a:off x="2537900" y="1790291"/>
            <a:ext cx="6910899" cy="1863395"/>
          </a:xfrm>
          <a:prstGeom prst="rect">
            <a:avLst/>
          </a:prstGeom>
        </p:spPr>
        <p:txBody>
          <a:bodyPr wrap="square" lIns="0" tIns="0" rIns="0" bIns="0" rtlCol="0" anchor="t">
            <a:spAutoFit/>
          </a:bodyPr>
          <a:lstStyle/>
          <a:p>
            <a:pPr algn="l">
              <a:lnSpc>
                <a:spcPts val="4800"/>
              </a:lnSpc>
            </a:pPr>
            <a:r>
              <a:rPr lang="en-US" sz="4000" b="1" dirty="0">
                <a:solidFill>
                  <a:srgbClr val="7AE1AA"/>
                </a:solidFill>
                <a:latin typeface="Arial Bold"/>
                <a:ea typeface="Arial Bold"/>
                <a:cs typeface="Arial Bold"/>
                <a:sym typeface="Arial Bold"/>
              </a:rPr>
              <a:t>—</a:t>
            </a:r>
          </a:p>
          <a:p>
            <a:pPr algn="l">
              <a:lnSpc>
                <a:spcPts val="5280"/>
              </a:lnSpc>
            </a:pPr>
            <a:r>
              <a:rPr lang="en-US" sz="4400" b="1" dirty="0">
                <a:solidFill>
                  <a:srgbClr val="FFFFFF"/>
                </a:solidFill>
                <a:latin typeface="Arial Bold"/>
                <a:ea typeface="Arial Bold"/>
                <a:cs typeface="Arial Bold"/>
                <a:sym typeface="Arial Bold"/>
              </a:rPr>
              <a:t>Administrative Law 2025</a:t>
            </a:r>
          </a:p>
          <a:p>
            <a:pPr algn="l">
              <a:lnSpc>
                <a:spcPts val="5280"/>
              </a:lnSpc>
            </a:pPr>
            <a:r>
              <a:rPr lang="en-US" sz="2000" b="1" dirty="0">
                <a:solidFill>
                  <a:srgbClr val="FFFFFF"/>
                </a:solidFill>
                <a:latin typeface="Arial Bold"/>
                <a:ea typeface="Arial Bold"/>
                <a:cs typeface="Arial Bold"/>
                <a:sym typeface="Arial Bold"/>
              </a:rPr>
              <a:t>Week 7 Introduction to Grounds of Review</a:t>
            </a:r>
          </a:p>
        </p:txBody>
      </p:sp>
      <p:sp>
        <p:nvSpPr>
          <p:cNvPr id="17" name="TextBox 17"/>
          <p:cNvSpPr txBox="1"/>
          <p:nvPr/>
        </p:nvSpPr>
        <p:spPr>
          <a:xfrm>
            <a:off x="2537901" y="5133185"/>
            <a:ext cx="5407462" cy="636072"/>
          </a:xfrm>
          <a:prstGeom prst="rect">
            <a:avLst/>
          </a:prstGeom>
        </p:spPr>
        <p:txBody>
          <a:bodyPr lIns="0" tIns="0" rIns="0" bIns="0" rtlCol="0" anchor="t">
            <a:spAutoFit/>
          </a:bodyPr>
          <a:lstStyle/>
          <a:p>
            <a:pPr algn="l">
              <a:lnSpc>
                <a:spcPts val="2879"/>
              </a:lnSpc>
            </a:pPr>
            <a:r>
              <a:rPr lang="en-US" sz="2399" dirty="0">
                <a:solidFill>
                  <a:srgbClr val="FFFFFF"/>
                </a:solidFill>
                <a:latin typeface="Arial"/>
                <a:ea typeface="Arial"/>
                <a:cs typeface="Arial"/>
                <a:sym typeface="Arial"/>
              </a:rPr>
              <a:t>Dr Richard Taylor</a:t>
            </a:r>
          </a:p>
          <a:p>
            <a:pPr algn="l">
              <a:lnSpc>
                <a:spcPts val="2160"/>
              </a:lnSpc>
            </a:pPr>
            <a:r>
              <a:rPr lang="en-US" sz="1800" dirty="0">
                <a:solidFill>
                  <a:srgbClr val="FFFFFF"/>
                </a:solidFill>
                <a:latin typeface="Arial"/>
                <a:ea typeface="Arial"/>
                <a:cs typeface="Arial"/>
                <a:sym typeface="Arial"/>
              </a:rPr>
              <a:t>Lecturer, School of Law</a:t>
            </a:r>
          </a:p>
        </p:txBody>
      </p:sp>
      <p:sp>
        <p:nvSpPr>
          <p:cNvPr id="18" name="AutoShape 18"/>
          <p:cNvSpPr/>
          <p:nvPr/>
        </p:nvSpPr>
        <p:spPr>
          <a:xfrm rot="47869">
            <a:off x="2533397" y="5059348"/>
            <a:ext cx="1824172" cy="0"/>
          </a:xfrm>
          <a:prstGeom prst="line">
            <a:avLst/>
          </a:prstGeom>
          <a:ln w="19050" cap="rnd">
            <a:solidFill>
              <a:srgbClr val="7AE1AA"/>
            </a:solidFill>
            <a:prstDash val="solid"/>
            <a:headEnd type="none" w="sm" len="sm"/>
            <a:tailEnd type="none" w="sm" len="sm"/>
          </a:ln>
        </p:spPr>
        <p:txBody>
          <a:bodyPr/>
          <a:lstStyle/>
          <a:p>
            <a:endParaRPr lang="en-AU"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8" name="Picture 27">
            <a:extLst>
              <a:ext uri="{FF2B5EF4-FFF2-40B4-BE49-F238E27FC236}">
                <a16:creationId xmlns:a16="http://schemas.microsoft.com/office/drawing/2014/main" id="{5EF2CBD5-0A67-E6A2-047F-8806E66E89A9}"/>
              </a:ext>
            </a:extLst>
          </p:cNvPr>
          <p:cNvPicPr>
            <a:picLocks noChangeAspect="1"/>
          </p:cNvPicPr>
          <p:nvPr/>
        </p:nvPicPr>
        <p:blipFill rotWithShape="1">
          <a:blip r:embed="rId3" cstate="email">
            <a:alphaModFix/>
            <a:extLst>
              <a:ext uri="{28A0092B-C50C-407E-A947-70E740481C1C}">
                <a14:useLocalDpi xmlns:a14="http://schemas.microsoft.com/office/drawing/2010/main"/>
              </a:ext>
            </a:extLst>
          </a:blip>
          <a:srcRect l="-2953" t="27636" r="55397" b="21597"/>
          <a:stretch/>
        </p:blipFill>
        <p:spPr>
          <a:xfrm>
            <a:off x="3539614" y="0"/>
            <a:ext cx="8659956" cy="6864000"/>
          </a:xfrm>
          <a:prstGeom prst="rect">
            <a:avLst/>
          </a:prstGeom>
        </p:spPr>
      </p:pic>
      <p:sp>
        <p:nvSpPr>
          <p:cNvPr id="29" name="Rectangle 28">
            <a:extLst>
              <a:ext uri="{FF2B5EF4-FFF2-40B4-BE49-F238E27FC236}">
                <a16:creationId xmlns:a16="http://schemas.microsoft.com/office/drawing/2014/main" id="{FF59297F-6013-93D6-B12D-918F54AC9CA9}"/>
              </a:ext>
            </a:extLst>
          </p:cNvPr>
          <p:cNvSpPr/>
          <p:nvPr/>
        </p:nvSpPr>
        <p:spPr>
          <a:xfrm>
            <a:off x="11223062" y="0"/>
            <a:ext cx="968937" cy="6858000"/>
          </a:xfrm>
          <a:prstGeom prst="rect">
            <a:avLst/>
          </a:prstGeom>
          <a:solidFill>
            <a:schemeClr val="bg1">
              <a:lumMod val="95000"/>
              <a:alpha val="50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609585" rtl="0" eaLnBrk="1" fontAlgn="auto" latinLnBrk="0" hangingPunct="1">
              <a:lnSpc>
                <a:spcPct val="100000"/>
              </a:lnSpc>
              <a:spcBef>
                <a:spcPts val="0"/>
              </a:spcBef>
              <a:spcAft>
                <a:spcPts val="0"/>
              </a:spcAft>
              <a:buClrTx/>
              <a:buSzTx/>
              <a:buFontTx/>
              <a:buNone/>
              <a:tabLst/>
              <a:defRPr/>
            </a:pPr>
            <a:endParaRPr kumimoji="0" lang="en-AU" sz="2400" b="0" i="0" u="none" strike="noStrike" kern="1200" cap="none" spc="0" normalizeH="0" baseline="0" noProof="0" dirty="0">
              <a:ln>
                <a:noFill/>
              </a:ln>
              <a:solidFill>
                <a:prstClr val="white"/>
              </a:solidFill>
              <a:effectLst/>
              <a:uLnTx/>
              <a:uFillTx/>
              <a:latin typeface="Calibri"/>
              <a:ea typeface="+mn-ea"/>
              <a:cs typeface="+mn-cs"/>
            </a:endParaRPr>
          </a:p>
        </p:txBody>
      </p:sp>
      <p:sp>
        <p:nvSpPr>
          <p:cNvPr id="30" name="TextBox 29">
            <a:extLst>
              <a:ext uri="{FF2B5EF4-FFF2-40B4-BE49-F238E27FC236}">
                <a16:creationId xmlns:a16="http://schemas.microsoft.com/office/drawing/2014/main" id="{E055FDF7-9D3F-C8A0-15B7-12217ED441C3}"/>
              </a:ext>
            </a:extLst>
          </p:cNvPr>
          <p:cNvSpPr txBox="1"/>
          <p:nvPr/>
        </p:nvSpPr>
        <p:spPr>
          <a:xfrm>
            <a:off x="7544452" y="6072304"/>
            <a:ext cx="3626512" cy="348878"/>
          </a:xfrm>
          <a:prstGeom prst="rect">
            <a:avLst/>
          </a:prstGeom>
        </p:spPr>
        <p:txBody>
          <a:bodyPr wrap="square" anchor="t">
            <a:spAutoFit/>
          </a:bodyPr>
          <a:lstStyle>
            <a:defPPr>
              <a:defRPr lang="en-US"/>
            </a:defPPr>
            <a:lvl3pPr marL="1085850" lvl="2" indent="-171450">
              <a:lnSpc>
                <a:spcPct val="160000"/>
              </a:lnSpc>
              <a:spcBef>
                <a:spcPts val="900"/>
              </a:spcBef>
              <a:spcAft>
                <a:spcPts val="500"/>
              </a:spcAft>
              <a:buSzPct val="105000"/>
              <a:buFont typeface="Arial"/>
              <a:buChar char="•"/>
              <a:defRPr sz="1200" b="1">
                <a:solidFill>
                  <a:srgbClr val="FFFFFF"/>
                </a:solidFill>
                <a:latin typeface="Verdana"/>
                <a:cs typeface="Verdana"/>
              </a:defRPr>
            </a:lvl3pPr>
          </a:lstStyle>
          <a:p>
            <a:pPr marL="0" marR="0" lvl="0" indent="0" algn="r" defTabSz="609585" rtl="0" eaLnBrk="1" fontAlgn="auto" latinLnBrk="0" hangingPunct="1">
              <a:lnSpc>
                <a:spcPct val="100000"/>
              </a:lnSpc>
              <a:spcBef>
                <a:spcPts val="0"/>
              </a:spcBef>
              <a:spcAft>
                <a:spcPts val="0"/>
              </a:spcAft>
              <a:buClrTx/>
              <a:buSzTx/>
              <a:buFontTx/>
              <a:buNone/>
              <a:tabLst/>
              <a:defRPr/>
            </a:pPr>
            <a:r>
              <a:rPr kumimoji="0" lang="en-AU" sz="1667" b="1" i="0" u="none" strike="noStrike" kern="1200" cap="none" spc="0" normalizeH="0" baseline="0" noProof="0" dirty="0">
                <a:ln>
                  <a:noFill/>
                </a:ln>
                <a:solidFill>
                  <a:srgbClr val="442040"/>
                </a:solidFill>
                <a:effectLst/>
                <a:uLnTx/>
                <a:uFillTx/>
                <a:latin typeface="Calibri" panose="020F0502020204030204" pitchFamily="34" charset="0"/>
                <a:ea typeface="Verdana" panose="020B0604030504040204" pitchFamily="34" charset="0"/>
                <a:cs typeface="Calibri" panose="020F0502020204030204" pitchFamily="34" charset="0"/>
              </a:rPr>
              <a:t>Summary</a:t>
            </a:r>
          </a:p>
        </p:txBody>
      </p:sp>
      <p:sp>
        <p:nvSpPr>
          <p:cNvPr id="31" name="Rectangle 30">
            <a:extLst>
              <a:ext uri="{FF2B5EF4-FFF2-40B4-BE49-F238E27FC236}">
                <a16:creationId xmlns:a16="http://schemas.microsoft.com/office/drawing/2014/main" id="{9FC9EB19-4B63-EB47-C999-0D75B49ACF20}"/>
              </a:ext>
            </a:extLst>
          </p:cNvPr>
          <p:cNvSpPr/>
          <p:nvPr/>
        </p:nvSpPr>
        <p:spPr>
          <a:xfrm>
            <a:off x="5416306" y="596360"/>
            <a:ext cx="5754657" cy="348878"/>
          </a:xfrm>
          <a:prstGeom prst="rect">
            <a:avLst/>
          </a:prstGeom>
        </p:spPr>
        <p:txBody>
          <a:bodyPr wrap="square">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sz="1667" b="1" dirty="0">
                <a:solidFill>
                  <a:srgbClr val="442040"/>
                </a:solidFill>
                <a:latin typeface="Calibri" panose="020F0502020204030204" pitchFamily="34" charset="0"/>
                <a:ea typeface="Verdana" panose="020B0604030504040204" pitchFamily="34" charset="0"/>
                <a:cs typeface="Calibri" panose="020F0502020204030204" pitchFamily="34" charset="0"/>
              </a:rPr>
              <a:t>H</a:t>
            </a:r>
            <a:r>
              <a:rPr lang="en-AU" sz="1667" b="1" dirty="0">
                <a:solidFill>
                  <a:srgbClr val="442040"/>
                </a:solidFill>
                <a:latin typeface="Calibri" panose="020F0502020204030204" pitchFamily="34" charset="0"/>
                <a:ea typeface="Verdana" panose="020B0604030504040204" pitchFamily="34" charset="0"/>
                <a:cs typeface="Calibri" panose="020F0502020204030204" pitchFamily="34" charset="0"/>
              </a:rPr>
              <a:t>ow did we get here?</a:t>
            </a:r>
            <a:endParaRPr kumimoji="0" lang="en-AU" sz="1667" b="1" i="0" u="none" strike="noStrike" kern="1200" cap="none" spc="0" normalizeH="0" baseline="0" noProof="0" dirty="0">
              <a:ln>
                <a:noFill/>
              </a:ln>
              <a:solidFill>
                <a:srgbClr val="442040"/>
              </a:solidFill>
              <a:effectLst/>
              <a:uLnTx/>
              <a:uFillTx/>
              <a:latin typeface="Calibri" panose="020F0502020204030204" pitchFamily="34" charset="0"/>
              <a:ea typeface="Verdana" panose="020B0604030504040204" pitchFamily="34" charset="0"/>
              <a:cs typeface="Calibri" panose="020F0502020204030204" pitchFamily="34" charset="0"/>
            </a:endParaRPr>
          </a:p>
        </p:txBody>
      </p:sp>
      <p:sp>
        <p:nvSpPr>
          <p:cNvPr id="32" name="Rectangle 31">
            <a:extLst>
              <a:ext uri="{FF2B5EF4-FFF2-40B4-BE49-F238E27FC236}">
                <a16:creationId xmlns:a16="http://schemas.microsoft.com/office/drawing/2014/main" id="{4AA5C928-3D58-F717-8E65-BDAB6697489F}"/>
              </a:ext>
            </a:extLst>
          </p:cNvPr>
          <p:cNvSpPr/>
          <p:nvPr/>
        </p:nvSpPr>
        <p:spPr>
          <a:xfrm>
            <a:off x="4915799" y="3990497"/>
            <a:ext cx="6194916" cy="348878"/>
          </a:xfrm>
          <a:prstGeom prst="rect">
            <a:avLst/>
          </a:prstGeom>
        </p:spPr>
        <p:txBody>
          <a:bodyPr wrap="square">
            <a:spAutoFit/>
          </a:bodyPr>
          <a:lstStyle/>
          <a:p>
            <a:pPr marL="0" marR="0" lvl="0" indent="0" algn="r" defTabSz="609585" rtl="0" eaLnBrk="1" fontAlgn="auto" latinLnBrk="0" hangingPunct="1">
              <a:lnSpc>
                <a:spcPct val="100000"/>
              </a:lnSpc>
              <a:spcBef>
                <a:spcPts val="0"/>
              </a:spcBef>
              <a:spcAft>
                <a:spcPts val="0"/>
              </a:spcAft>
              <a:buClrTx/>
              <a:buSzTx/>
              <a:buFontTx/>
              <a:buNone/>
              <a:tabLst/>
              <a:defRPr/>
            </a:pPr>
            <a:r>
              <a:rPr kumimoji="0" lang="en-AU" sz="1667" b="1" i="0" u="none" strike="noStrike" kern="1200" cap="none" spc="0" normalizeH="0" baseline="0" noProof="0" dirty="0">
                <a:ln>
                  <a:noFill/>
                </a:ln>
                <a:solidFill>
                  <a:srgbClr val="442040"/>
                </a:solidFill>
                <a:effectLst/>
                <a:uLnTx/>
                <a:uFillTx/>
                <a:latin typeface="Calibri" panose="020F0502020204030204" pitchFamily="34" charset="0"/>
                <a:ea typeface="Verdana" panose="020B0604030504040204" pitchFamily="34" charset="0"/>
                <a:cs typeface="Calibri" panose="020F0502020204030204" pitchFamily="34" charset="0"/>
              </a:rPr>
              <a:t>Necessary and Convenient Clauses	</a:t>
            </a:r>
          </a:p>
        </p:txBody>
      </p:sp>
      <p:sp>
        <p:nvSpPr>
          <p:cNvPr id="33" name="Rectangle 32">
            <a:extLst>
              <a:ext uri="{FF2B5EF4-FFF2-40B4-BE49-F238E27FC236}">
                <a16:creationId xmlns:a16="http://schemas.microsoft.com/office/drawing/2014/main" id="{E7BAF03B-D725-FCE2-EF8B-84E6BD2860DB}"/>
              </a:ext>
            </a:extLst>
          </p:cNvPr>
          <p:cNvSpPr/>
          <p:nvPr/>
        </p:nvSpPr>
        <p:spPr>
          <a:xfrm>
            <a:off x="5908542" y="4698502"/>
            <a:ext cx="5202173" cy="348878"/>
          </a:xfrm>
          <a:prstGeom prst="rect">
            <a:avLst/>
          </a:prstGeom>
        </p:spPr>
        <p:txBody>
          <a:bodyPr wrap="square">
            <a:spAutoFit/>
          </a:bodyPr>
          <a:lstStyle/>
          <a:p>
            <a:pPr marL="0" marR="0" lvl="0" indent="0" algn="r" defTabSz="609585" rtl="0" eaLnBrk="1" fontAlgn="auto" latinLnBrk="0" hangingPunct="1">
              <a:lnSpc>
                <a:spcPct val="100000"/>
              </a:lnSpc>
              <a:spcBef>
                <a:spcPts val="0"/>
              </a:spcBef>
              <a:spcAft>
                <a:spcPts val="0"/>
              </a:spcAft>
              <a:buClrTx/>
              <a:buSzTx/>
              <a:buFontTx/>
              <a:buNone/>
              <a:tabLst/>
              <a:defRPr/>
            </a:pPr>
            <a:r>
              <a:rPr kumimoji="0" lang="en-AU" sz="1667" b="1" i="0" u="none" strike="noStrike" kern="1200" cap="none" spc="0" normalizeH="0" baseline="0" noProof="0" dirty="0">
                <a:ln>
                  <a:noFill/>
                </a:ln>
                <a:solidFill>
                  <a:srgbClr val="442040"/>
                </a:solidFill>
                <a:effectLst/>
                <a:uLnTx/>
                <a:uFillTx/>
                <a:latin typeface="Calibri" panose="020F0502020204030204" pitchFamily="34" charset="0"/>
                <a:ea typeface="Verdana"/>
                <a:cs typeface="Calibri" panose="020F0502020204030204" pitchFamily="34" charset="0"/>
              </a:rPr>
              <a:t>Subordinate Legislation</a:t>
            </a:r>
            <a:endParaRPr kumimoji="0" lang="en-AU" sz="1667" b="1" i="0" u="none" strike="noStrike" kern="1200" cap="none" spc="0" normalizeH="0" baseline="0" noProof="0" dirty="0">
              <a:ln>
                <a:noFill/>
              </a:ln>
              <a:solidFill>
                <a:srgbClr val="442040"/>
              </a:solidFill>
              <a:effectLst/>
              <a:uLnTx/>
              <a:uFillTx/>
              <a:latin typeface="Calibri" panose="020F0502020204030204" pitchFamily="34" charset="0"/>
              <a:ea typeface="Verdana" panose="020B0604030504040204" pitchFamily="34" charset="0"/>
              <a:cs typeface="Calibri" panose="020F0502020204030204" pitchFamily="34" charset="0"/>
            </a:endParaRPr>
          </a:p>
        </p:txBody>
      </p:sp>
      <p:sp>
        <p:nvSpPr>
          <p:cNvPr id="36" name="Rectangle 35">
            <a:extLst>
              <a:ext uri="{FF2B5EF4-FFF2-40B4-BE49-F238E27FC236}">
                <a16:creationId xmlns:a16="http://schemas.microsoft.com/office/drawing/2014/main" id="{C93188E5-237B-C7AD-B92E-1E6DA67F1A95}"/>
              </a:ext>
            </a:extLst>
          </p:cNvPr>
          <p:cNvSpPr/>
          <p:nvPr/>
        </p:nvSpPr>
        <p:spPr>
          <a:xfrm>
            <a:off x="5394841" y="1256188"/>
            <a:ext cx="5754657" cy="348878"/>
          </a:xfrm>
          <a:prstGeom prst="rect">
            <a:avLst/>
          </a:prstGeom>
        </p:spPr>
        <p:txBody>
          <a:bodyPr wrap="square">
            <a:spAutoFit/>
          </a:bodyPr>
          <a:lstStyle/>
          <a:p>
            <a:pPr marL="0" marR="0" lvl="0" indent="0" algn="r" defTabSz="609585" rtl="0" eaLnBrk="1" fontAlgn="auto" latinLnBrk="0" hangingPunct="1">
              <a:lnSpc>
                <a:spcPct val="100000"/>
              </a:lnSpc>
              <a:spcBef>
                <a:spcPts val="0"/>
              </a:spcBef>
              <a:spcAft>
                <a:spcPts val="0"/>
              </a:spcAft>
              <a:buClrTx/>
              <a:buSzTx/>
              <a:buFontTx/>
              <a:buNone/>
              <a:tabLst/>
              <a:defRPr/>
            </a:pPr>
            <a:r>
              <a:rPr kumimoji="0" lang="en-AU" sz="1667" b="1" i="0" u="none" strike="noStrike" kern="1200" cap="none" spc="0" normalizeH="0" baseline="0" noProof="0" dirty="0">
                <a:ln>
                  <a:noFill/>
                </a:ln>
                <a:solidFill>
                  <a:srgbClr val="442040"/>
                </a:solidFill>
                <a:effectLst/>
                <a:uLnTx/>
                <a:uFillTx/>
                <a:latin typeface="Calibri" panose="020F0502020204030204" pitchFamily="34" charset="0"/>
                <a:ea typeface="Verdana" panose="020B0604030504040204" pitchFamily="34" charset="0"/>
                <a:cs typeface="Calibri" panose="020F0502020204030204" pitchFamily="34" charset="0"/>
              </a:rPr>
              <a:t>Grounds of Review</a:t>
            </a:r>
          </a:p>
        </p:txBody>
      </p:sp>
      <p:sp>
        <p:nvSpPr>
          <p:cNvPr id="37" name="Rectangle 36">
            <a:extLst>
              <a:ext uri="{FF2B5EF4-FFF2-40B4-BE49-F238E27FC236}">
                <a16:creationId xmlns:a16="http://schemas.microsoft.com/office/drawing/2014/main" id="{BA2D6482-1E50-4BBA-1C2C-ED7FBF0C0A9A}"/>
              </a:ext>
            </a:extLst>
          </p:cNvPr>
          <p:cNvSpPr/>
          <p:nvPr/>
        </p:nvSpPr>
        <p:spPr>
          <a:xfrm>
            <a:off x="5151800" y="4692032"/>
            <a:ext cx="6019163" cy="348878"/>
          </a:xfrm>
          <a:prstGeom prst="rect">
            <a:avLst/>
          </a:prstGeom>
        </p:spPr>
        <p:txBody>
          <a:bodyPr wrap="square">
            <a:spAutoFit/>
          </a:bodyPr>
          <a:lstStyle/>
          <a:p>
            <a:pPr marL="0" marR="0" lvl="0" indent="0" algn="r" defTabSz="609585" rtl="0" eaLnBrk="1" fontAlgn="auto" latinLnBrk="0" hangingPunct="1">
              <a:lnSpc>
                <a:spcPct val="100000"/>
              </a:lnSpc>
              <a:spcBef>
                <a:spcPts val="0"/>
              </a:spcBef>
              <a:spcAft>
                <a:spcPts val="0"/>
              </a:spcAft>
              <a:buClrTx/>
              <a:buSzTx/>
              <a:buFontTx/>
              <a:buNone/>
              <a:tabLst/>
              <a:defRPr/>
            </a:pPr>
            <a:r>
              <a:rPr kumimoji="0" lang="en-AU" sz="1667" b="1" i="0" u="none" strike="noStrike" kern="1200" cap="none" spc="0" normalizeH="0" baseline="0" noProof="0" dirty="0">
                <a:ln>
                  <a:noFill/>
                </a:ln>
                <a:solidFill>
                  <a:srgbClr val="442040"/>
                </a:solidFill>
                <a:effectLst/>
                <a:uLnTx/>
                <a:uFillTx/>
                <a:latin typeface="Calibri" panose="020F0502020204030204" pitchFamily="34" charset="0"/>
                <a:ea typeface="Verdana" panose="020B0604030504040204" pitchFamily="34" charset="0"/>
                <a:cs typeface="Calibri" panose="020F0502020204030204" pitchFamily="34" charset="0"/>
              </a:rPr>
              <a:t> </a:t>
            </a:r>
          </a:p>
        </p:txBody>
      </p:sp>
      <p:sp>
        <p:nvSpPr>
          <p:cNvPr id="38" name="Rectangle 37">
            <a:extLst>
              <a:ext uri="{FF2B5EF4-FFF2-40B4-BE49-F238E27FC236}">
                <a16:creationId xmlns:a16="http://schemas.microsoft.com/office/drawing/2014/main" id="{49EAC151-A040-1556-957F-B08DF4D1E7C0}"/>
              </a:ext>
            </a:extLst>
          </p:cNvPr>
          <p:cNvSpPr/>
          <p:nvPr/>
        </p:nvSpPr>
        <p:spPr>
          <a:xfrm>
            <a:off x="5416306" y="5374644"/>
            <a:ext cx="5754657" cy="348878"/>
          </a:xfrm>
          <a:prstGeom prst="rect">
            <a:avLst/>
          </a:prstGeom>
        </p:spPr>
        <p:txBody>
          <a:bodyPr wrap="square">
            <a:spAutoFit/>
          </a:bodyPr>
          <a:lstStyle/>
          <a:p>
            <a:pPr marL="0" marR="0" lvl="0" indent="0" algn="r" defTabSz="609585" rtl="0" eaLnBrk="1" fontAlgn="auto" latinLnBrk="0" hangingPunct="1">
              <a:lnSpc>
                <a:spcPct val="100000"/>
              </a:lnSpc>
              <a:spcBef>
                <a:spcPts val="0"/>
              </a:spcBef>
              <a:spcAft>
                <a:spcPts val="0"/>
              </a:spcAft>
              <a:buClrTx/>
              <a:buSzTx/>
              <a:buFontTx/>
              <a:buNone/>
              <a:tabLst/>
              <a:defRPr/>
            </a:pPr>
            <a:r>
              <a:rPr kumimoji="0" lang="en-AU" sz="1667" b="1" i="0" u="none" strike="noStrike" kern="1200" cap="none" spc="0" normalizeH="0" baseline="0" noProof="0" dirty="0">
                <a:ln>
                  <a:noFill/>
                </a:ln>
                <a:solidFill>
                  <a:srgbClr val="442040"/>
                </a:solidFill>
                <a:effectLst/>
                <a:uLnTx/>
                <a:uFillTx/>
                <a:latin typeface="Calibri" panose="020F0502020204030204" pitchFamily="34" charset="0"/>
                <a:ea typeface="Verdana" panose="020B0604030504040204" pitchFamily="34" charset="0"/>
                <a:cs typeface="Calibri" panose="020F0502020204030204" pitchFamily="34" charset="0"/>
              </a:rPr>
              <a:t>Delegation and Agency</a:t>
            </a:r>
          </a:p>
        </p:txBody>
      </p:sp>
      <p:cxnSp>
        <p:nvCxnSpPr>
          <p:cNvPr id="39" name="Straight Connector 38">
            <a:extLst>
              <a:ext uri="{FF2B5EF4-FFF2-40B4-BE49-F238E27FC236}">
                <a16:creationId xmlns:a16="http://schemas.microsoft.com/office/drawing/2014/main" id="{2B78CF03-E25D-9B54-0FF7-B5B388B89826}"/>
              </a:ext>
            </a:extLst>
          </p:cNvPr>
          <p:cNvCxnSpPr>
            <a:cxnSpLocks/>
          </p:cNvCxnSpPr>
          <p:nvPr/>
        </p:nvCxnSpPr>
        <p:spPr>
          <a:xfrm>
            <a:off x="5796195" y="5922552"/>
            <a:ext cx="6395805" cy="0"/>
          </a:xfrm>
          <a:prstGeom prst="line">
            <a:avLst/>
          </a:prstGeom>
          <a:ln cap="rnd">
            <a:solidFill>
              <a:schemeClr val="accent2"/>
            </a:solidFill>
            <a:prstDash val="sysDot"/>
          </a:ln>
          <a:effectLst/>
        </p:spPr>
        <p:style>
          <a:lnRef idx="2">
            <a:schemeClr val="accent1"/>
          </a:lnRef>
          <a:fillRef idx="0">
            <a:schemeClr val="accent1"/>
          </a:fillRef>
          <a:effectRef idx="1">
            <a:schemeClr val="accent1"/>
          </a:effectRef>
          <a:fontRef idx="minor">
            <a:schemeClr val="tx1"/>
          </a:fontRef>
        </p:style>
      </p:cxnSp>
      <p:cxnSp>
        <p:nvCxnSpPr>
          <p:cNvPr id="40" name="Straight Connector 39">
            <a:extLst>
              <a:ext uri="{FF2B5EF4-FFF2-40B4-BE49-F238E27FC236}">
                <a16:creationId xmlns:a16="http://schemas.microsoft.com/office/drawing/2014/main" id="{7C472DA6-70B2-C24A-2579-2F62655DA412}"/>
              </a:ext>
            </a:extLst>
          </p:cNvPr>
          <p:cNvCxnSpPr>
            <a:cxnSpLocks/>
          </p:cNvCxnSpPr>
          <p:nvPr/>
        </p:nvCxnSpPr>
        <p:spPr>
          <a:xfrm>
            <a:off x="4986727" y="5233049"/>
            <a:ext cx="7185285" cy="0"/>
          </a:xfrm>
          <a:prstGeom prst="line">
            <a:avLst/>
          </a:prstGeom>
          <a:ln cap="rnd">
            <a:solidFill>
              <a:schemeClr val="accent2"/>
            </a:solidFill>
            <a:prstDash val="sysDot"/>
          </a:ln>
          <a:effectLst/>
        </p:spPr>
        <p:style>
          <a:lnRef idx="2">
            <a:schemeClr val="accent1"/>
          </a:lnRef>
          <a:fillRef idx="0">
            <a:schemeClr val="accent1"/>
          </a:fillRef>
          <a:effectRef idx="1">
            <a:schemeClr val="accent1"/>
          </a:effectRef>
          <a:fontRef idx="minor">
            <a:schemeClr val="tx1"/>
          </a:fontRef>
        </p:style>
      </p:cxnSp>
      <p:cxnSp>
        <p:nvCxnSpPr>
          <p:cNvPr id="41" name="Straight Connector 40">
            <a:extLst>
              <a:ext uri="{FF2B5EF4-FFF2-40B4-BE49-F238E27FC236}">
                <a16:creationId xmlns:a16="http://schemas.microsoft.com/office/drawing/2014/main" id="{63653960-4651-407C-22E6-36F606FAB622}"/>
              </a:ext>
            </a:extLst>
          </p:cNvPr>
          <p:cNvCxnSpPr>
            <a:cxnSpLocks/>
          </p:cNvCxnSpPr>
          <p:nvPr/>
        </p:nvCxnSpPr>
        <p:spPr>
          <a:xfrm>
            <a:off x="4633848" y="4543545"/>
            <a:ext cx="7558153" cy="0"/>
          </a:xfrm>
          <a:prstGeom prst="line">
            <a:avLst/>
          </a:prstGeom>
          <a:ln cap="rnd">
            <a:solidFill>
              <a:schemeClr val="accent2"/>
            </a:solidFill>
            <a:prstDash val="sysDot"/>
          </a:ln>
          <a:effectLst/>
        </p:spPr>
        <p:style>
          <a:lnRef idx="2">
            <a:schemeClr val="accent1"/>
          </a:lnRef>
          <a:fillRef idx="0">
            <a:schemeClr val="accent1"/>
          </a:fillRef>
          <a:effectRef idx="1">
            <a:schemeClr val="accent1"/>
          </a:effectRef>
          <a:fontRef idx="minor">
            <a:schemeClr val="tx1"/>
          </a:fontRef>
        </p:style>
      </p:cxnSp>
      <p:cxnSp>
        <p:nvCxnSpPr>
          <p:cNvPr id="42" name="Straight Connector 41">
            <a:extLst>
              <a:ext uri="{FF2B5EF4-FFF2-40B4-BE49-F238E27FC236}">
                <a16:creationId xmlns:a16="http://schemas.microsoft.com/office/drawing/2014/main" id="{E5270153-E65F-756F-B272-900ABD18FAE3}"/>
              </a:ext>
            </a:extLst>
          </p:cNvPr>
          <p:cNvCxnSpPr>
            <a:cxnSpLocks/>
          </p:cNvCxnSpPr>
          <p:nvPr/>
        </p:nvCxnSpPr>
        <p:spPr>
          <a:xfrm>
            <a:off x="4362914" y="3854041"/>
            <a:ext cx="7829087" cy="0"/>
          </a:xfrm>
          <a:prstGeom prst="line">
            <a:avLst/>
          </a:prstGeom>
          <a:ln cap="rnd">
            <a:solidFill>
              <a:schemeClr val="accent2"/>
            </a:solidFill>
            <a:prstDash val="sysDot"/>
          </a:ln>
          <a:effectLst/>
        </p:spPr>
        <p:style>
          <a:lnRef idx="2">
            <a:schemeClr val="accent1"/>
          </a:lnRef>
          <a:fillRef idx="0">
            <a:schemeClr val="accent1"/>
          </a:fillRef>
          <a:effectRef idx="1">
            <a:schemeClr val="accent1"/>
          </a:effectRef>
          <a:fontRef idx="minor">
            <a:schemeClr val="tx1"/>
          </a:fontRef>
        </p:style>
      </p:cxnSp>
      <p:cxnSp>
        <p:nvCxnSpPr>
          <p:cNvPr id="43" name="Straight Connector 42">
            <a:extLst>
              <a:ext uri="{FF2B5EF4-FFF2-40B4-BE49-F238E27FC236}">
                <a16:creationId xmlns:a16="http://schemas.microsoft.com/office/drawing/2014/main" id="{970D2BD9-B182-8DD2-5C5B-8873ED3947D2}"/>
              </a:ext>
            </a:extLst>
          </p:cNvPr>
          <p:cNvCxnSpPr>
            <a:cxnSpLocks/>
          </p:cNvCxnSpPr>
          <p:nvPr/>
        </p:nvCxnSpPr>
        <p:spPr>
          <a:xfrm>
            <a:off x="4362914" y="3164537"/>
            <a:ext cx="7829087" cy="0"/>
          </a:xfrm>
          <a:prstGeom prst="line">
            <a:avLst/>
          </a:prstGeom>
          <a:ln cap="rnd">
            <a:solidFill>
              <a:schemeClr val="accent2"/>
            </a:solidFill>
            <a:prstDash val="sysDot"/>
          </a:ln>
          <a:effectLst/>
        </p:spPr>
        <p:style>
          <a:lnRef idx="2">
            <a:schemeClr val="accent1"/>
          </a:lnRef>
          <a:fillRef idx="0">
            <a:schemeClr val="accent1"/>
          </a:fillRef>
          <a:effectRef idx="1">
            <a:schemeClr val="accent1"/>
          </a:effectRef>
          <a:fontRef idx="minor">
            <a:schemeClr val="tx1"/>
          </a:fontRef>
        </p:style>
      </p:cxnSp>
      <p:cxnSp>
        <p:nvCxnSpPr>
          <p:cNvPr id="44" name="Straight Connector 43">
            <a:extLst>
              <a:ext uri="{FF2B5EF4-FFF2-40B4-BE49-F238E27FC236}">
                <a16:creationId xmlns:a16="http://schemas.microsoft.com/office/drawing/2014/main" id="{CE630F6D-E122-5EF9-E976-074BBD295FD0}"/>
              </a:ext>
            </a:extLst>
          </p:cNvPr>
          <p:cNvCxnSpPr>
            <a:cxnSpLocks/>
          </p:cNvCxnSpPr>
          <p:nvPr/>
        </p:nvCxnSpPr>
        <p:spPr>
          <a:xfrm>
            <a:off x="4505487" y="2475033"/>
            <a:ext cx="7666527" cy="0"/>
          </a:xfrm>
          <a:prstGeom prst="line">
            <a:avLst/>
          </a:prstGeom>
          <a:ln cap="rnd">
            <a:solidFill>
              <a:schemeClr val="accent2"/>
            </a:solidFill>
            <a:prstDash val="sysDot"/>
          </a:ln>
          <a:effectLst/>
        </p:spPr>
        <p:style>
          <a:lnRef idx="2">
            <a:schemeClr val="accent1"/>
          </a:lnRef>
          <a:fillRef idx="0">
            <a:schemeClr val="accent1"/>
          </a:fillRef>
          <a:effectRef idx="1">
            <a:schemeClr val="accent1"/>
          </a:effectRef>
          <a:fontRef idx="minor">
            <a:schemeClr val="tx1"/>
          </a:fontRef>
        </p:style>
      </p:cxnSp>
      <p:cxnSp>
        <p:nvCxnSpPr>
          <p:cNvPr id="45" name="Straight Connector 44">
            <a:extLst>
              <a:ext uri="{FF2B5EF4-FFF2-40B4-BE49-F238E27FC236}">
                <a16:creationId xmlns:a16="http://schemas.microsoft.com/office/drawing/2014/main" id="{913C3214-AFCD-CC53-CFE4-584C9D14377D}"/>
              </a:ext>
            </a:extLst>
          </p:cNvPr>
          <p:cNvCxnSpPr>
            <a:cxnSpLocks/>
          </p:cNvCxnSpPr>
          <p:nvPr/>
        </p:nvCxnSpPr>
        <p:spPr>
          <a:xfrm>
            <a:off x="4856389" y="1785529"/>
            <a:ext cx="7335611" cy="0"/>
          </a:xfrm>
          <a:prstGeom prst="line">
            <a:avLst/>
          </a:prstGeom>
          <a:ln cap="rnd">
            <a:solidFill>
              <a:schemeClr val="accent2"/>
            </a:solidFill>
            <a:prstDash val="sysDot"/>
          </a:ln>
          <a:effectLst/>
        </p:spPr>
        <p:style>
          <a:lnRef idx="2">
            <a:schemeClr val="accent1"/>
          </a:lnRef>
          <a:fillRef idx="0">
            <a:schemeClr val="accent1"/>
          </a:fillRef>
          <a:effectRef idx="1">
            <a:schemeClr val="accent1"/>
          </a:effectRef>
          <a:fontRef idx="minor">
            <a:schemeClr val="tx1"/>
          </a:fontRef>
        </p:style>
      </p:cxnSp>
      <p:cxnSp>
        <p:nvCxnSpPr>
          <p:cNvPr id="46" name="Straight Connector 45">
            <a:extLst>
              <a:ext uri="{FF2B5EF4-FFF2-40B4-BE49-F238E27FC236}">
                <a16:creationId xmlns:a16="http://schemas.microsoft.com/office/drawing/2014/main" id="{294431BD-F568-8426-1D99-B7B03BADE878}"/>
              </a:ext>
            </a:extLst>
          </p:cNvPr>
          <p:cNvCxnSpPr>
            <a:cxnSpLocks/>
          </p:cNvCxnSpPr>
          <p:nvPr/>
        </p:nvCxnSpPr>
        <p:spPr>
          <a:xfrm>
            <a:off x="5536225" y="1096025"/>
            <a:ext cx="6625795" cy="0"/>
          </a:xfrm>
          <a:prstGeom prst="line">
            <a:avLst/>
          </a:prstGeom>
          <a:ln cap="rnd">
            <a:solidFill>
              <a:schemeClr val="accent2"/>
            </a:solidFill>
            <a:prstDash val="sysDot"/>
          </a:ln>
          <a:effectLst/>
        </p:spPr>
        <p:style>
          <a:lnRef idx="2">
            <a:schemeClr val="accent1"/>
          </a:lnRef>
          <a:fillRef idx="0">
            <a:schemeClr val="accent1"/>
          </a:fillRef>
          <a:effectRef idx="1">
            <a:schemeClr val="accent1"/>
          </a:effectRef>
          <a:fontRef idx="minor">
            <a:schemeClr val="tx1"/>
          </a:fontRef>
        </p:style>
      </p:cxnSp>
      <p:sp>
        <p:nvSpPr>
          <p:cNvPr id="47" name="Slide Number Placeholder 1">
            <a:extLst>
              <a:ext uri="{FF2B5EF4-FFF2-40B4-BE49-F238E27FC236}">
                <a16:creationId xmlns:a16="http://schemas.microsoft.com/office/drawing/2014/main" id="{64BA26F3-195E-00A7-CADB-26D33759C4D6}"/>
              </a:ext>
            </a:extLst>
          </p:cNvPr>
          <p:cNvSpPr>
            <a:spLocks noGrp="1"/>
          </p:cNvSpPr>
          <p:nvPr>
            <p:ph type="sldNum" sz="quarter" idx="12"/>
          </p:nvPr>
        </p:nvSpPr>
        <p:spPr>
          <a:xfrm>
            <a:off x="9220200" y="6491818"/>
            <a:ext cx="2971800" cy="366183"/>
          </a:xfrm>
          <a:prstGeom prst="rect">
            <a:avLst/>
          </a:prstGeom>
        </p:spPr>
        <p:txBody>
          <a:bodyPr vert="horz" lIns="121920" tIns="60960" rIns="121920" bIns="60960" rtlCol="0" anchor="ctr"/>
          <a:lstStyle>
            <a:defPPr>
              <a:defRPr lang="en-US"/>
            </a:defPPr>
            <a:lvl1pPr marL="0" algn="r" defTabSz="609585" rtl="0" eaLnBrk="1" latinLnBrk="0" hangingPunct="1">
              <a:defRPr sz="1067" kern="1200" baseline="0">
                <a:solidFill>
                  <a:srgbClr val="595959"/>
                </a:solidFill>
                <a:latin typeface="+mn-lt"/>
                <a:ea typeface="+mn-ea"/>
                <a:cs typeface="+mn-cs"/>
              </a:defRPr>
            </a:lvl1pPr>
            <a:lvl2pPr marL="609585" algn="l" defTabSz="609585" rtl="0" eaLnBrk="1" latinLnBrk="0" hangingPunct="1">
              <a:defRPr sz="2400" kern="1200">
                <a:solidFill>
                  <a:schemeClr val="tx1"/>
                </a:solidFill>
                <a:latin typeface="+mn-lt"/>
                <a:ea typeface="+mn-ea"/>
                <a:cs typeface="+mn-cs"/>
              </a:defRPr>
            </a:lvl2pPr>
            <a:lvl3pPr marL="1219170" algn="l" defTabSz="609585" rtl="0" eaLnBrk="1" latinLnBrk="0" hangingPunct="1">
              <a:defRPr sz="2400" kern="1200">
                <a:solidFill>
                  <a:schemeClr val="tx1"/>
                </a:solidFill>
                <a:latin typeface="+mn-lt"/>
                <a:ea typeface="+mn-ea"/>
                <a:cs typeface="+mn-cs"/>
              </a:defRPr>
            </a:lvl3pPr>
            <a:lvl4pPr marL="1828754" algn="l" defTabSz="609585" rtl="0" eaLnBrk="1" latinLnBrk="0" hangingPunct="1">
              <a:defRPr sz="2400" kern="1200">
                <a:solidFill>
                  <a:schemeClr val="tx1"/>
                </a:solidFill>
                <a:latin typeface="+mn-lt"/>
                <a:ea typeface="+mn-ea"/>
                <a:cs typeface="+mn-cs"/>
              </a:defRPr>
            </a:lvl4pPr>
            <a:lvl5pPr marL="2438339" algn="l" defTabSz="609585" rtl="0" eaLnBrk="1" latinLnBrk="0" hangingPunct="1">
              <a:defRPr sz="2400" kern="1200">
                <a:solidFill>
                  <a:schemeClr val="tx1"/>
                </a:solidFill>
                <a:latin typeface="+mn-lt"/>
                <a:ea typeface="+mn-ea"/>
                <a:cs typeface="+mn-cs"/>
              </a:defRPr>
            </a:lvl5pPr>
            <a:lvl6pPr marL="3047924" algn="l" defTabSz="609585" rtl="0" eaLnBrk="1" latinLnBrk="0" hangingPunct="1">
              <a:defRPr sz="2400" kern="1200">
                <a:solidFill>
                  <a:schemeClr val="tx1"/>
                </a:solidFill>
                <a:latin typeface="+mn-lt"/>
                <a:ea typeface="+mn-ea"/>
                <a:cs typeface="+mn-cs"/>
              </a:defRPr>
            </a:lvl6pPr>
            <a:lvl7pPr marL="3657509" algn="l" defTabSz="609585" rtl="0" eaLnBrk="1" latinLnBrk="0" hangingPunct="1">
              <a:defRPr sz="2400" kern="1200">
                <a:solidFill>
                  <a:schemeClr val="tx1"/>
                </a:solidFill>
                <a:latin typeface="+mn-lt"/>
                <a:ea typeface="+mn-ea"/>
                <a:cs typeface="+mn-cs"/>
              </a:defRPr>
            </a:lvl7pPr>
            <a:lvl8pPr marL="4267093" algn="l" defTabSz="609585" rtl="0" eaLnBrk="1" latinLnBrk="0" hangingPunct="1">
              <a:defRPr sz="2400" kern="1200">
                <a:solidFill>
                  <a:schemeClr val="tx1"/>
                </a:solidFill>
                <a:latin typeface="+mn-lt"/>
                <a:ea typeface="+mn-ea"/>
                <a:cs typeface="+mn-cs"/>
              </a:defRPr>
            </a:lvl8pPr>
            <a:lvl9pPr marL="4876678" algn="l" defTabSz="609585" rtl="0" eaLnBrk="1" latinLnBrk="0" hangingPunct="1">
              <a:defRPr sz="2400" kern="1200">
                <a:solidFill>
                  <a:schemeClr val="tx1"/>
                </a:solidFill>
                <a:latin typeface="+mn-lt"/>
                <a:ea typeface="+mn-ea"/>
                <a:cs typeface="+mn-cs"/>
              </a:defRPr>
            </a:lvl9pPr>
          </a:lstStyle>
          <a:p>
            <a:pPr marL="0" marR="0" lvl="0" indent="0" algn="r" defTabSz="609585" rtl="0" eaLnBrk="1" fontAlgn="auto" latinLnBrk="0" hangingPunct="1">
              <a:lnSpc>
                <a:spcPct val="100000"/>
              </a:lnSpc>
              <a:spcBef>
                <a:spcPts val="0"/>
              </a:spcBef>
              <a:spcAft>
                <a:spcPts val="0"/>
              </a:spcAft>
              <a:buClrTx/>
              <a:buSzTx/>
              <a:buFontTx/>
              <a:buNone/>
              <a:tabLst/>
              <a:defRPr/>
            </a:pPr>
            <a:fld id="{84F83467-E5B6-4227-88E2-267BBB6DACE9}" type="slidenum">
              <a:rPr kumimoji="0" lang="en-AU" sz="1067" b="0" i="0" u="none" strike="noStrike" kern="1200" cap="none" spc="0" normalizeH="0" baseline="0" noProof="0" smtClean="0">
                <a:ln>
                  <a:noFill/>
                </a:ln>
                <a:solidFill>
                  <a:srgbClr val="595959"/>
                </a:solidFill>
                <a:effectLst/>
                <a:uLnTx/>
                <a:uFillTx/>
                <a:latin typeface="Calibri"/>
                <a:ea typeface="+mn-ea"/>
                <a:cs typeface="+mn-cs"/>
              </a:rPr>
              <a:pPr marL="0" marR="0" lvl="0" indent="0" algn="r" defTabSz="609585" rtl="0" eaLnBrk="1" fontAlgn="auto" latinLnBrk="0" hangingPunct="1">
                <a:lnSpc>
                  <a:spcPct val="100000"/>
                </a:lnSpc>
                <a:spcBef>
                  <a:spcPts val="0"/>
                </a:spcBef>
                <a:spcAft>
                  <a:spcPts val="0"/>
                </a:spcAft>
                <a:buClrTx/>
                <a:buSzTx/>
                <a:buFontTx/>
                <a:buNone/>
                <a:tabLst/>
                <a:defRPr/>
              </a:pPr>
              <a:t>2</a:t>
            </a:fld>
            <a:endParaRPr kumimoji="0" lang="en-AU" sz="1067" b="0" i="0" u="none" strike="noStrike" kern="1200" cap="none" spc="0" normalizeH="0" baseline="0" noProof="0" dirty="0">
              <a:ln>
                <a:noFill/>
              </a:ln>
              <a:solidFill>
                <a:srgbClr val="595959"/>
              </a:solidFill>
              <a:effectLst/>
              <a:uLnTx/>
              <a:uFillTx/>
              <a:latin typeface="Calibri"/>
              <a:ea typeface="+mn-ea"/>
              <a:cs typeface="+mn-cs"/>
            </a:endParaRPr>
          </a:p>
        </p:txBody>
      </p:sp>
      <p:pic>
        <p:nvPicPr>
          <p:cNvPr id="48" name="Picture 47">
            <a:extLst>
              <a:ext uri="{FF2B5EF4-FFF2-40B4-BE49-F238E27FC236}">
                <a16:creationId xmlns:a16="http://schemas.microsoft.com/office/drawing/2014/main" id="{2CC9B863-23FD-C655-8B5C-41D4C75EB5EB}"/>
              </a:ext>
            </a:extLst>
          </p:cNvPr>
          <p:cNvPicPr>
            <a:picLocks noChangeAspect="1"/>
          </p:cNvPicPr>
          <p:nvPr/>
        </p:nvPicPr>
        <p:blipFill>
          <a:blip r:embed="rId4" cstate="email">
            <a:extLst>
              <a:ext uri="{28A0092B-C50C-407E-A947-70E740481C1C}">
                <a14:useLocalDpi xmlns:a14="http://schemas.microsoft.com/office/drawing/2010/main"/>
              </a:ext>
            </a:extLst>
          </a:blip>
          <a:stretch>
            <a:fillRect/>
          </a:stretch>
        </p:blipFill>
        <p:spPr>
          <a:xfrm>
            <a:off x="11499459" y="509779"/>
            <a:ext cx="446400" cy="5979979"/>
          </a:xfrm>
          <a:prstGeom prst="rect">
            <a:avLst/>
          </a:prstGeom>
        </p:spPr>
      </p:pic>
      <p:sp>
        <p:nvSpPr>
          <p:cNvPr id="2" name="Rectangle 1">
            <a:extLst>
              <a:ext uri="{FF2B5EF4-FFF2-40B4-BE49-F238E27FC236}">
                <a16:creationId xmlns:a16="http://schemas.microsoft.com/office/drawing/2014/main" id="{F9413B98-0319-74E3-38D3-EE0CB3C108D4}"/>
              </a:ext>
            </a:extLst>
          </p:cNvPr>
          <p:cNvSpPr/>
          <p:nvPr/>
        </p:nvSpPr>
        <p:spPr>
          <a:xfrm>
            <a:off x="4971051" y="1933173"/>
            <a:ext cx="6194916" cy="348878"/>
          </a:xfrm>
          <a:prstGeom prst="rect">
            <a:avLst/>
          </a:prstGeom>
        </p:spPr>
        <p:txBody>
          <a:bodyPr wrap="square">
            <a:spAutoFit/>
          </a:bodyPr>
          <a:lstStyle/>
          <a:p>
            <a:pPr marL="0" marR="0" lvl="0" indent="0" algn="r" defTabSz="609585" rtl="0" eaLnBrk="1" fontAlgn="auto" latinLnBrk="0" hangingPunct="1">
              <a:lnSpc>
                <a:spcPct val="100000"/>
              </a:lnSpc>
              <a:spcBef>
                <a:spcPts val="0"/>
              </a:spcBef>
              <a:spcAft>
                <a:spcPts val="0"/>
              </a:spcAft>
              <a:buClrTx/>
              <a:buSzTx/>
              <a:buFontTx/>
              <a:buNone/>
              <a:tabLst/>
              <a:defRPr/>
            </a:pPr>
            <a:r>
              <a:rPr lang="en-US" sz="1667" b="1" dirty="0">
                <a:solidFill>
                  <a:srgbClr val="442040"/>
                </a:solidFill>
                <a:latin typeface="Calibri" panose="020F0502020204030204" pitchFamily="34" charset="0"/>
                <a:ea typeface="Verdana" panose="020B0604030504040204" pitchFamily="34" charset="0"/>
                <a:cs typeface="Calibri" panose="020F0502020204030204" pitchFamily="34" charset="0"/>
              </a:rPr>
              <a:t>R</a:t>
            </a:r>
            <a:r>
              <a:rPr lang="en-AU" sz="1667" b="1" dirty="0" err="1">
                <a:solidFill>
                  <a:srgbClr val="442040"/>
                </a:solidFill>
                <a:latin typeface="Calibri" panose="020F0502020204030204" pitchFamily="34" charset="0"/>
                <a:ea typeface="Verdana" panose="020B0604030504040204" pitchFamily="34" charset="0"/>
                <a:cs typeface="Calibri" panose="020F0502020204030204" pitchFamily="34" charset="0"/>
              </a:rPr>
              <a:t>ecap</a:t>
            </a:r>
            <a:r>
              <a:rPr lang="en-AU" sz="1667" b="1" dirty="0">
                <a:solidFill>
                  <a:srgbClr val="442040"/>
                </a:solidFill>
                <a:latin typeface="Calibri" panose="020F0502020204030204" pitchFamily="34" charset="0"/>
                <a:ea typeface="Verdana" panose="020B0604030504040204" pitchFamily="34" charset="0"/>
                <a:cs typeface="Calibri" panose="020F0502020204030204" pitchFamily="34" charset="0"/>
              </a:rPr>
              <a:t> ADJR – Grounds of Review</a:t>
            </a:r>
            <a:endParaRPr kumimoji="0" lang="en-AU" sz="1667" b="1" i="0" u="none" strike="noStrike" kern="1200" cap="none" spc="0" normalizeH="0" baseline="0" noProof="0" dirty="0">
              <a:ln>
                <a:noFill/>
              </a:ln>
              <a:solidFill>
                <a:srgbClr val="442040"/>
              </a:solidFill>
              <a:effectLst/>
              <a:uLnTx/>
              <a:uFillTx/>
              <a:latin typeface="Calibri" panose="020F0502020204030204" pitchFamily="34" charset="0"/>
              <a:ea typeface="Verdana" panose="020B0604030504040204" pitchFamily="34" charset="0"/>
              <a:cs typeface="Calibri" panose="020F0502020204030204" pitchFamily="34" charset="0"/>
            </a:endParaRPr>
          </a:p>
        </p:txBody>
      </p:sp>
      <p:sp>
        <p:nvSpPr>
          <p:cNvPr id="3" name="Rectangle 2">
            <a:extLst>
              <a:ext uri="{FF2B5EF4-FFF2-40B4-BE49-F238E27FC236}">
                <a16:creationId xmlns:a16="http://schemas.microsoft.com/office/drawing/2014/main" id="{61127326-5322-2F0C-1D54-4F9FA6ADAF50}"/>
              </a:ext>
            </a:extLst>
          </p:cNvPr>
          <p:cNvSpPr/>
          <p:nvPr/>
        </p:nvSpPr>
        <p:spPr>
          <a:xfrm>
            <a:off x="4942269" y="2646792"/>
            <a:ext cx="6194916" cy="348878"/>
          </a:xfrm>
          <a:prstGeom prst="rect">
            <a:avLst/>
          </a:prstGeom>
        </p:spPr>
        <p:txBody>
          <a:bodyPr wrap="square">
            <a:spAutoFit/>
          </a:bodyPr>
          <a:lstStyle/>
          <a:p>
            <a:pPr marL="0" marR="0" lvl="0" indent="0" algn="r" defTabSz="609585" rtl="0" eaLnBrk="1" fontAlgn="auto" latinLnBrk="0" hangingPunct="1">
              <a:lnSpc>
                <a:spcPct val="100000"/>
              </a:lnSpc>
              <a:spcBef>
                <a:spcPts val="0"/>
              </a:spcBef>
              <a:spcAft>
                <a:spcPts val="0"/>
              </a:spcAft>
              <a:buClrTx/>
              <a:buSzTx/>
              <a:buFontTx/>
              <a:buNone/>
              <a:tabLst/>
              <a:defRPr/>
            </a:pPr>
            <a:r>
              <a:rPr kumimoji="0" lang="en-AU" sz="1667" b="1" i="0" u="none" strike="noStrike" kern="1200" cap="none" spc="0" normalizeH="0" baseline="0" noProof="0" dirty="0">
                <a:ln>
                  <a:noFill/>
                </a:ln>
                <a:solidFill>
                  <a:srgbClr val="442040"/>
                </a:solidFill>
                <a:effectLst/>
                <a:uLnTx/>
                <a:uFillTx/>
                <a:latin typeface="Calibri" panose="020F0502020204030204" pitchFamily="34" charset="0"/>
                <a:ea typeface="Verdana" panose="020B0604030504040204" pitchFamily="34" charset="0"/>
                <a:cs typeface="Calibri" panose="020F0502020204030204" pitchFamily="34" charset="0"/>
              </a:rPr>
              <a:t>Errors of Fact vs Law</a:t>
            </a:r>
          </a:p>
        </p:txBody>
      </p:sp>
      <p:sp>
        <p:nvSpPr>
          <p:cNvPr id="4" name="Rectangle 3">
            <a:extLst>
              <a:ext uri="{FF2B5EF4-FFF2-40B4-BE49-F238E27FC236}">
                <a16:creationId xmlns:a16="http://schemas.microsoft.com/office/drawing/2014/main" id="{5696B9A4-0494-4C06-00CE-1D1BB38100BD}"/>
              </a:ext>
            </a:extLst>
          </p:cNvPr>
          <p:cNvSpPr/>
          <p:nvPr/>
        </p:nvSpPr>
        <p:spPr>
          <a:xfrm>
            <a:off x="5520985" y="3322542"/>
            <a:ext cx="6194916" cy="348878"/>
          </a:xfrm>
          <a:prstGeom prst="rect">
            <a:avLst/>
          </a:prstGeom>
        </p:spPr>
        <p:txBody>
          <a:bodyPr wrap="square">
            <a:spAutoFit/>
          </a:bodyPr>
          <a:lstStyle/>
          <a:p>
            <a:pPr marL="0" marR="0" lvl="0" indent="0" algn="r" defTabSz="609585" rtl="0" eaLnBrk="1" fontAlgn="auto" latinLnBrk="0" hangingPunct="1">
              <a:lnSpc>
                <a:spcPct val="100000"/>
              </a:lnSpc>
              <a:spcBef>
                <a:spcPts val="0"/>
              </a:spcBef>
              <a:spcAft>
                <a:spcPts val="0"/>
              </a:spcAft>
              <a:buClrTx/>
              <a:buSzTx/>
              <a:buFontTx/>
              <a:buNone/>
              <a:tabLst/>
              <a:defRPr/>
            </a:pPr>
            <a:r>
              <a:rPr lang="en-AU" sz="1667" b="1" dirty="0">
                <a:solidFill>
                  <a:srgbClr val="442040"/>
                </a:solidFill>
                <a:latin typeface="Calibri" panose="020F0502020204030204" pitchFamily="34" charset="0"/>
                <a:ea typeface="Verdana" panose="020B0604030504040204" pitchFamily="34" charset="0"/>
                <a:cs typeface="Calibri" panose="020F0502020204030204" pitchFamily="34" charset="0"/>
              </a:rPr>
              <a:t>Acting Beyond Power</a:t>
            </a:r>
            <a:r>
              <a:rPr kumimoji="0" lang="en-AU" sz="1667" b="1" i="0" u="none" strike="noStrike" kern="1200" cap="none" spc="0" normalizeH="0" baseline="0" noProof="0" dirty="0">
                <a:ln>
                  <a:noFill/>
                </a:ln>
                <a:solidFill>
                  <a:srgbClr val="442040"/>
                </a:solidFill>
                <a:effectLst/>
                <a:uLnTx/>
                <a:uFillTx/>
                <a:latin typeface="Calibri" panose="020F0502020204030204" pitchFamily="34" charset="0"/>
                <a:ea typeface="Verdana" panose="020B0604030504040204" pitchFamily="34" charset="0"/>
                <a:cs typeface="Calibri" panose="020F0502020204030204" pitchFamily="34" charset="0"/>
              </a:rPr>
              <a:t>	</a:t>
            </a:r>
          </a:p>
        </p:txBody>
      </p:sp>
      <p:sp>
        <p:nvSpPr>
          <p:cNvPr id="5" name="TextBox 5">
            <a:extLst>
              <a:ext uri="{FF2B5EF4-FFF2-40B4-BE49-F238E27FC236}">
                <a16:creationId xmlns:a16="http://schemas.microsoft.com/office/drawing/2014/main" id="{BCCEE956-4087-9B7F-80AB-9C49CD2B0D0B}"/>
              </a:ext>
            </a:extLst>
          </p:cNvPr>
          <p:cNvSpPr txBox="1"/>
          <p:nvPr/>
        </p:nvSpPr>
        <p:spPr>
          <a:xfrm>
            <a:off x="392084" y="560536"/>
            <a:ext cx="7170696" cy="409471"/>
          </a:xfrm>
          <a:prstGeom prst="rect">
            <a:avLst/>
          </a:prstGeom>
        </p:spPr>
        <p:txBody>
          <a:bodyPr lIns="0" tIns="0" rIns="0" bIns="0" rtlCol="0" anchor="t">
            <a:spAutoFit/>
          </a:bodyPr>
          <a:lstStyle/>
          <a:p>
            <a:pPr marL="0" marR="0" lvl="0" indent="0" algn="l" defTabSz="914400" rtl="0" eaLnBrk="1" fontAlgn="auto" latinLnBrk="0" hangingPunct="1">
              <a:lnSpc>
                <a:spcPts val="3494"/>
              </a:lnSpc>
              <a:spcBef>
                <a:spcPts val="0"/>
              </a:spcBef>
              <a:spcAft>
                <a:spcPts val="0"/>
              </a:spcAft>
              <a:buClrTx/>
              <a:buSzTx/>
              <a:buFontTx/>
              <a:buNone/>
              <a:tabLst/>
              <a:defRPr/>
            </a:pPr>
            <a:r>
              <a:rPr kumimoji="0" lang="en-US" sz="2496" b="1" i="0" u="none" strike="noStrike" kern="1200" cap="none" spc="0" normalizeH="0" baseline="0" noProof="0" dirty="0">
                <a:ln>
                  <a:noFill/>
                </a:ln>
                <a:solidFill>
                  <a:srgbClr val="FFFFFF"/>
                </a:solidFill>
                <a:effectLst/>
                <a:uLnTx/>
                <a:uFillTx/>
                <a:latin typeface="Arial Bold"/>
                <a:ea typeface="Arial Bold"/>
                <a:cs typeface="Arial Bold"/>
                <a:sym typeface="Arial Bold"/>
              </a:rPr>
              <a:t>Week 7 Overview</a:t>
            </a:r>
          </a:p>
        </p:txBody>
      </p:sp>
      <p:sp>
        <p:nvSpPr>
          <p:cNvPr id="6" name="Rectangle 5">
            <a:extLst>
              <a:ext uri="{FF2B5EF4-FFF2-40B4-BE49-F238E27FC236}">
                <a16:creationId xmlns:a16="http://schemas.microsoft.com/office/drawing/2014/main" id="{2A99025E-5D7D-3E55-1C46-727A2DC96B80}"/>
              </a:ext>
            </a:extLst>
          </p:cNvPr>
          <p:cNvSpPr/>
          <p:nvPr/>
        </p:nvSpPr>
        <p:spPr>
          <a:xfrm>
            <a:off x="377800" y="2107612"/>
            <a:ext cx="2179597" cy="1200329"/>
          </a:xfrm>
          <a:prstGeom prst="rect">
            <a:avLst/>
          </a:prstGeom>
        </p:spPr>
        <p:txBody>
          <a:bodyPr wrap="square">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prstClr val="white"/>
                </a:solidFill>
                <a:effectLst/>
                <a:uLnTx/>
                <a:uFillTx/>
                <a:latin typeface="Arial" panose="020B0604020202020204" pitchFamily="34" charset="0"/>
                <a:ea typeface="+mn-ea"/>
                <a:cs typeface="Arial" panose="020B0604020202020204" pitchFamily="34" charset="0"/>
              </a:rPr>
              <a:t>I</a:t>
            </a:r>
            <a:r>
              <a:rPr kumimoji="0" lang="en-AU" sz="1800" b="1" i="0" u="none" strike="noStrike" kern="1200" cap="none" spc="0" normalizeH="0" baseline="0" noProof="0" dirty="0">
                <a:ln>
                  <a:noFill/>
                </a:ln>
                <a:solidFill>
                  <a:prstClr val="white"/>
                </a:solidFill>
                <a:effectLst/>
                <a:uLnTx/>
                <a:uFillTx/>
                <a:latin typeface="Arial" panose="020B0604020202020204" pitchFamily="34" charset="0"/>
                <a:ea typeface="+mn-ea"/>
                <a:cs typeface="Arial" panose="020B0604020202020204" pitchFamily="34" charset="0"/>
              </a:rPr>
              <a:t>n this week’s lecture, we look at grounds of review &amp; related issues </a:t>
            </a:r>
          </a:p>
        </p:txBody>
      </p:sp>
    </p:spTree>
    <p:extLst>
      <p:ext uri="{BB962C8B-B14F-4D97-AF65-F5344CB8AC3E}">
        <p14:creationId xmlns:p14="http://schemas.microsoft.com/office/powerpoint/2010/main" val="333320635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000054"/>
        </a:solidFill>
        <a:effectLst/>
      </p:bgPr>
    </p:bg>
    <p:spTree>
      <p:nvGrpSpPr>
        <p:cNvPr id="1" name="">
          <a:extLst>
            <a:ext uri="{FF2B5EF4-FFF2-40B4-BE49-F238E27FC236}">
              <a16:creationId xmlns:a16="http://schemas.microsoft.com/office/drawing/2014/main" id="{CA19B7A4-B4B1-BC96-F9C9-FBC0879E52D5}"/>
            </a:ext>
          </a:extLst>
        </p:cNvPr>
        <p:cNvGrpSpPr/>
        <p:nvPr/>
      </p:nvGrpSpPr>
      <p:grpSpPr>
        <a:xfrm>
          <a:off x="0" y="0"/>
          <a:ext cx="0" cy="0"/>
          <a:chOff x="0" y="0"/>
          <a:chExt cx="0" cy="0"/>
        </a:xfrm>
      </p:grpSpPr>
      <p:grpSp>
        <p:nvGrpSpPr>
          <p:cNvPr id="2" name="Group 2">
            <a:extLst>
              <a:ext uri="{FF2B5EF4-FFF2-40B4-BE49-F238E27FC236}">
                <a16:creationId xmlns:a16="http://schemas.microsoft.com/office/drawing/2014/main" id="{ABEAEE8E-6536-5EA2-4DA3-E4FA905250DB}"/>
              </a:ext>
            </a:extLst>
          </p:cNvPr>
          <p:cNvGrpSpPr/>
          <p:nvPr/>
        </p:nvGrpSpPr>
        <p:grpSpPr>
          <a:xfrm rot="-10800000">
            <a:off x="11045567" y="-12700"/>
            <a:ext cx="1146433" cy="1146433"/>
            <a:chOff x="0" y="0"/>
            <a:chExt cx="1630482" cy="1630482"/>
          </a:xfrm>
        </p:grpSpPr>
        <p:sp>
          <p:nvSpPr>
            <p:cNvPr id="3" name="Freeform 3">
              <a:extLst>
                <a:ext uri="{FF2B5EF4-FFF2-40B4-BE49-F238E27FC236}">
                  <a16:creationId xmlns:a16="http://schemas.microsoft.com/office/drawing/2014/main" id="{FC6A1858-3C99-DB90-0F41-B28C56D41196}"/>
                </a:ext>
              </a:extLst>
            </p:cNvPr>
            <p:cNvSpPr/>
            <p:nvPr/>
          </p:nvSpPr>
          <p:spPr>
            <a:xfrm>
              <a:off x="0" y="0"/>
              <a:ext cx="1630426" cy="1630426"/>
            </a:xfrm>
            <a:custGeom>
              <a:avLst/>
              <a:gdLst/>
              <a:ahLst/>
              <a:cxnLst/>
              <a:rect l="l" t="t" r="r" b="b"/>
              <a:pathLst>
                <a:path w="1630426" h="1630426">
                  <a:moveTo>
                    <a:pt x="0" y="0"/>
                  </a:moveTo>
                  <a:lnTo>
                    <a:pt x="543433" y="0"/>
                  </a:lnTo>
                  <a:lnTo>
                    <a:pt x="543433" y="543433"/>
                  </a:lnTo>
                  <a:lnTo>
                    <a:pt x="1086993" y="543433"/>
                  </a:lnTo>
                  <a:lnTo>
                    <a:pt x="1086993" y="1086993"/>
                  </a:lnTo>
                  <a:lnTo>
                    <a:pt x="1630426" y="1086993"/>
                  </a:lnTo>
                  <a:lnTo>
                    <a:pt x="1630426" y="1630426"/>
                  </a:lnTo>
                  <a:lnTo>
                    <a:pt x="0" y="1630426"/>
                  </a:lnTo>
                  <a:lnTo>
                    <a:pt x="0" y="1086993"/>
                  </a:lnTo>
                  <a:lnTo>
                    <a:pt x="0" y="543433"/>
                  </a:lnTo>
                  <a:close/>
                </a:path>
              </a:pathLst>
            </a:custGeom>
            <a:solidFill>
              <a:srgbClr val="FFFFFF"/>
            </a:solid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AU" sz="1800" b="0" i="0" u="none" strike="noStrike" kern="1200" cap="none" spc="0" normalizeH="0" baseline="0" noProof="0" dirty="0">
                <a:ln>
                  <a:noFill/>
                </a:ln>
                <a:solidFill>
                  <a:prstClr val="black"/>
                </a:solidFill>
                <a:effectLst/>
                <a:uLnTx/>
                <a:uFillTx/>
                <a:latin typeface="Calibri"/>
                <a:ea typeface="+mn-ea"/>
                <a:cs typeface="+mn-cs"/>
              </a:endParaRPr>
            </a:p>
          </p:txBody>
        </p:sp>
      </p:grpSp>
      <p:sp>
        <p:nvSpPr>
          <p:cNvPr id="8" name="TextBox 8">
            <a:extLst>
              <a:ext uri="{FF2B5EF4-FFF2-40B4-BE49-F238E27FC236}">
                <a16:creationId xmlns:a16="http://schemas.microsoft.com/office/drawing/2014/main" id="{0E486E41-A4FD-BB8C-28B6-97E21E7562BD}"/>
              </a:ext>
            </a:extLst>
          </p:cNvPr>
          <p:cNvSpPr txBox="1"/>
          <p:nvPr/>
        </p:nvSpPr>
        <p:spPr>
          <a:xfrm>
            <a:off x="685800" y="613314"/>
            <a:ext cx="5242284" cy="455702"/>
          </a:xfrm>
          <a:prstGeom prst="rect">
            <a:avLst/>
          </a:prstGeom>
        </p:spPr>
        <p:txBody>
          <a:bodyPr lIns="0" tIns="0" rIns="0" bIns="0" rtlCol="0" anchor="t">
            <a:spAutoFit/>
          </a:bodyPr>
          <a:lstStyle/>
          <a:p>
            <a:pPr marL="0" marR="0" lvl="0" indent="0" algn="l" defTabSz="914400" rtl="0" eaLnBrk="1" fontAlgn="auto" latinLnBrk="0" hangingPunct="1">
              <a:lnSpc>
                <a:spcPts val="3865"/>
              </a:lnSpc>
              <a:spcBef>
                <a:spcPts val="0"/>
              </a:spcBef>
              <a:spcAft>
                <a:spcPts val="0"/>
              </a:spcAft>
              <a:buClrTx/>
              <a:buSzTx/>
              <a:buFontTx/>
              <a:buNone/>
              <a:tabLst/>
              <a:defRPr/>
            </a:pPr>
            <a:r>
              <a:rPr kumimoji="0" lang="en-US" sz="2761" b="1" i="0" u="none" strike="noStrike" kern="1200" cap="none" spc="0" normalizeH="0" baseline="0" noProof="0" dirty="0">
                <a:ln>
                  <a:noFill/>
                </a:ln>
                <a:solidFill>
                  <a:srgbClr val="FFFFFF"/>
                </a:solidFill>
                <a:effectLst/>
                <a:uLnTx/>
                <a:uFillTx/>
                <a:latin typeface="Arial Bold"/>
                <a:ea typeface="Arial Bold"/>
                <a:cs typeface="Arial Bold"/>
                <a:sym typeface="Arial Bold"/>
              </a:rPr>
              <a:t>How did we get here?</a:t>
            </a:r>
          </a:p>
        </p:txBody>
      </p:sp>
      <p:sp>
        <p:nvSpPr>
          <p:cNvPr id="14" name="TextBox 14">
            <a:extLst>
              <a:ext uri="{FF2B5EF4-FFF2-40B4-BE49-F238E27FC236}">
                <a16:creationId xmlns:a16="http://schemas.microsoft.com/office/drawing/2014/main" id="{DFB19102-83E8-49D6-FF8E-F921EF15116A}"/>
              </a:ext>
            </a:extLst>
          </p:cNvPr>
          <p:cNvSpPr txBox="1"/>
          <p:nvPr/>
        </p:nvSpPr>
        <p:spPr>
          <a:xfrm>
            <a:off x="9875691" y="6403400"/>
            <a:ext cx="1994402" cy="218504"/>
          </a:xfrm>
          <a:prstGeom prst="rect">
            <a:avLst/>
          </a:prstGeom>
        </p:spPr>
        <p:txBody>
          <a:bodyPr lIns="0" tIns="0" rIns="0" bIns="0" rtlCol="0" anchor="t">
            <a:spAutoFit/>
          </a:bodyPr>
          <a:lstStyle/>
          <a:p>
            <a:pPr marL="0" marR="0" lvl="0" indent="0" algn="l" defTabSz="914400" rtl="0" eaLnBrk="1" fontAlgn="auto" latinLnBrk="0" hangingPunct="1">
              <a:lnSpc>
                <a:spcPts val="1606"/>
              </a:lnSpc>
              <a:spcBef>
                <a:spcPts val="0"/>
              </a:spcBef>
              <a:spcAft>
                <a:spcPts val="0"/>
              </a:spcAft>
              <a:buClrTx/>
              <a:buSzTx/>
              <a:buFontTx/>
              <a:buNone/>
              <a:tabLst/>
              <a:defRPr/>
            </a:pPr>
            <a:r>
              <a:rPr kumimoji="0" lang="en-US" sz="1147" b="0" i="0" u="none" strike="noStrike" kern="1200" cap="none" spc="0" normalizeH="0" baseline="0" noProof="0" dirty="0">
                <a:ln>
                  <a:noFill/>
                </a:ln>
                <a:solidFill>
                  <a:srgbClr val="FFFFFF"/>
                </a:solidFill>
                <a:effectLst/>
                <a:uLnTx/>
                <a:uFillTx/>
                <a:latin typeface="Arial"/>
                <a:ea typeface="Arial"/>
                <a:cs typeface="Arial"/>
                <a:sym typeface="Arial"/>
              </a:rPr>
              <a:t>Administrative Law –LAW1023</a:t>
            </a:r>
          </a:p>
        </p:txBody>
      </p:sp>
      <p:sp>
        <p:nvSpPr>
          <p:cNvPr id="4" name="AutoShape 2">
            <a:extLst>
              <a:ext uri="{FF2B5EF4-FFF2-40B4-BE49-F238E27FC236}">
                <a16:creationId xmlns:a16="http://schemas.microsoft.com/office/drawing/2014/main" id="{EA957535-06F4-36BC-6BC0-C01909396912}"/>
              </a:ext>
            </a:extLst>
          </p:cNvPr>
          <p:cNvSpPr/>
          <p:nvPr/>
        </p:nvSpPr>
        <p:spPr>
          <a:xfrm flipV="1">
            <a:off x="1491622" y="5164708"/>
            <a:ext cx="8127061" cy="8415"/>
          </a:xfrm>
          <a:prstGeom prst="line">
            <a:avLst/>
          </a:prstGeom>
          <a:ln w="28575" cap="flat">
            <a:solidFill>
              <a:schemeClr val="bg1"/>
            </a:solidFill>
            <a:prstDash val="sysDash"/>
            <a:headEnd type="none" w="sm" len="sm"/>
            <a:tailEnd type="arrow" w="med" len="sm"/>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AU" sz="1800" b="0" i="0" u="none" strike="noStrike" kern="1200" cap="none" spc="0" normalizeH="0" baseline="0" noProof="0" dirty="0">
              <a:ln>
                <a:noFill/>
              </a:ln>
              <a:solidFill>
                <a:prstClr val="white"/>
              </a:solidFill>
              <a:effectLst/>
              <a:uLnTx/>
              <a:uFillTx/>
              <a:latin typeface="Calibri"/>
              <a:ea typeface="+mn-ea"/>
              <a:cs typeface="+mn-cs"/>
            </a:endParaRPr>
          </a:p>
        </p:txBody>
      </p:sp>
      <p:sp>
        <p:nvSpPr>
          <p:cNvPr id="5" name="AutoShape 2">
            <a:extLst>
              <a:ext uri="{FF2B5EF4-FFF2-40B4-BE49-F238E27FC236}">
                <a16:creationId xmlns:a16="http://schemas.microsoft.com/office/drawing/2014/main" id="{14916D2D-E420-BDD1-6EEB-A12F8854E335}"/>
              </a:ext>
            </a:extLst>
          </p:cNvPr>
          <p:cNvSpPr/>
          <p:nvPr/>
        </p:nvSpPr>
        <p:spPr>
          <a:xfrm flipH="1">
            <a:off x="1480990" y="3364682"/>
            <a:ext cx="8692561" cy="24280"/>
          </a:xfrm>
          <a:prstGeom prst="line">
            <a:avLst/>
          </a:prstGeom>
          <a:ln w="28575" cap="flat">
            <a:solidFill>
              <a:schemeClr val="bg1"/>
            </a:solidFill>
            <a:prstDash val="sysDash"/>
            <a:headEnd type="none" w="sm" len="sm"/>
            <a:tailEnd type="arrow" w="med" len="sm"/>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AU" sz="1800" b="0" i="0" u="none" strike="noStrike" kern="1200" cap="none" spc="0" normalizeH="0" baseline="0" noProof="0" dirty="0">
              <a:ln>
                <a:noFill/>
              </a:ln>
              <a:solidFill>
                <a:prstClr val="white"/>
              </a:solidFill>
              <a:effectLst/>
              <a:uLnTx/>
              <a:uFillTx/>
              <a:latin typeface="Calibri"/>
              <a:ea typeface="+mn-ea"/>
              <a:cs typeface="+mn-cs"/>
            </a:endParaRPr>
          </a:p>
        </p:txBody>
      </p:sp>
      <p:sp>
        <p:nvSpPr>
          <p:cNvPr id="7" name="AutoShape 2">
            <a:extLst>
              <a:ext uri="{FF2B5EF4-FFF2-40B4-BE49-F238E27FC236}">
                <a16:creationId xmlns:a16="http://schemas.microsoft.com/office/drawing/2014/main" id="{D52F230C-82CE-F314-0D8D-440A98E3E214}"/>
              </a:ext>
            </a:extLst>
          </p:cNvPr>
          <p:cNvSpPr/>
          <p:nvPr/>
        </p:nvSpPr>
        <p:spPr>
          <a:xfrm flipV="1">
            <a:off x="2050080" y="1580520"/>
            <a:ext cx="8127061" cy="8415"/>
          </a:xfrm>
          <a:prstGeom prst="line">
            <a:avLst/>
          </a:prstGeom>
          <a:ln w="28575" cap="flat">
            <a:solidFill>
              <a:schemeClr val="bg1"/>
            </a:solidFill>
            <a:prstDash val="sysDash"/>
            <a:headEnd type="none" w="sm" len="sm"/>
            <a:tailEnd type="arrow" w="med" len="sm"/>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AU" sz="1800" b="0" i="0" u="none" strike="noStrike" kern="1200" cap="none" spc="0" normalizeH="0" baseline="0" noProof="0" dirty="0">
              <a:ln>
                <a:noFill/>
              </a:ln>
              <a:solidFill>
                <a:prstClr val="white"/>
              </a:solidFill>
              <a:effectLst/>
              <a:uLnTx/>
              <a:uFillTx/>
              <a:latin typeface="Calibri"/>
              <a:ea typeface="+mn-ea"/>
              <a:cs typeface="+mn-cs"/>
            </a:endParaRPr>
          </a:p>
        </p:txBody>
      </p:sp>
      <p:grpSp>
        <p:nvGrpSpPr>
          <p:cNvPr id="9" name="Group 3">
            <a:extLst>
              <a:ext uri="{FF2B5EF4-FFF2-40B4-BE49-F238E27FC236}">
                <a16:creationId xmlns:a16="http://schemas.microsoft.com/office/drawing/2014/main" id="{16BC69C1-8FF8-7829-7C08-7D59AAE2077E}"/>
              </a:ext>
            </a:extLst>
          </p:cNvPr>
          <p:cNvGrpSpPr/>
          <p:nvPr/>
        </p:nvGrpSpPr>
        <p:grpSpPr>
          <a:xfrm>
            <a:off x="4153761" y="1420788"/>
            <a:ext cx="687071" cy="343536"/>
            <a:chOff x="0" y="0"/>
            <a:chExt cx="812800" cy="406400"/>
          </a:xfrm>
        </p:grpSpPr>
        <p:sp>
          <p:nvSpPr>
            <p:cNvPr id="10" name="Freeform 4">
              <a:extLst>
                <a:ext uri="{FF2B5EF4-FFF2-40B4-BE49-F238E27FC236}">
                  <a16:creationId xmlns:a16="http://schemas.microsoft.com/office/drawing/2014/main" id="{17EA5D52-23B7-7438-5B23-B3C5491DC074}"/>
                </a:ext>
              </a:extLst>
            </p:cNvPr>
            <p:cNvSpPr/>
            <p:nvPr/>
          </p:nvSpPr>
          <p:spPr>
            <a:xfrm>
              <a:off x="0" y="0"/>
              <a:ext cx="812800" cy="406400"/>
            </a:xfrm>
            <a:custGeom>
              <a:avLst/>
              <a:gdLst/>
              <a:ahLst/>
              <a:cxnLst/>
              <a:rect l="l" t="t" r="r" b="b"/>
              <a:pathLst>
                <a:path w="812800" h="406400">
                  <a:moveTo>
                    <a:pt x="609600" y="0"/>
                  </a:moveTo>
                  <a:cubicBezTo>
                    <a:pt x="721824" y="0"/>
                    <a:pt x="812800" y="90976"/>
                    <a:pt x="812800" y="203200"/>
                  </a:cubicBezTo>
                  <a:cubicBezTo>
                    <a:pt x="812800" y="315424"/>
                    <a:pt x="721824" y="406400"/>
                    <a:pt x="609600" y="406400"/>
                  </a:cubicBezTo>
                  <a:lnTo>
                    <a:pt x="203200" y="406400"/>
                  </a:lnTo>
                  <a:cubicBezTo>
                    <a:pt x="90976" y="406400"/>
                    <a:pt x="0" y="315424"/>
                    <a:pt x="0" y="203200"/>
                  </a:cubicBezTo>
                  <a:cubicBezTo>
                    <a:pt x="0" y="90976"/>
                    <a:pt x="90976" y="0"/>
                    <a:pt x="203200" y="0"/>
                  </a:cubicBezTo>
                  <a:close/>
                </a:path>
              </a:pathLst>
            </a:custGeom>
            <a:solidFill>
              <a:srgbClr val="EDC0FF"/>
            </a:solidFill>
            <a:ln w="19050" cap="sq">
              <a:solidFill>
                <a:srgbClr val="141414"/>
              </a:solidFill>
              <a:prstDash val="solid"/>
              <a:miter/>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AU" sz="1800" b="0" i="0" u="none" strike="noStrike" kern="1200" cap="none" spc="0" normalizeH="0" baseline="0" noProof="0" dirty="0">
                <a:ln>
                  <a:noFill/>
                </a:ln>
                <a:solidFill>
                  <a:prstClr val="white"/>
                </a:solidFill>
                <a:effectLst/>
                <a:uLnTx/>
                <a:uFillTx/>
                <a:latin typeface="Calibri"/>
                <a:ea typeface="+mn-ea"/>
                <a:cs typeface="+mn-cs"/>
              </a:endParaRPr>
            </a:p>
          </p:txBody>
        </p:sp>
        <p:sp>
          <p:nvSpPr>
            <p:cNvPr id="11" name="TextBox 5">
              <a:extLst>
                <a:ext uri="{FF2B5EF4-FFF2-40B4-BE49-F238E27FC236}">
                  <a16:creationId xmlns:a16="http://schemas.microsoft.com/office/drawing/2014/main" id="{2DFACCD4-CC22-7157-3F45-3F5F67D85F18}"/>
                </a:ext>
              </a:extLst>
            </p:cNvPr>
            <p:cNvSpPr txBox="1"/>
            <p:nvPr/>
          </p:nvSpPr>
          <p:spPr>
            <a:xfrm>
              <a:off x="0" y="-19050"/>
              <a:ext cx="812800" cy="425450"/>
            </a:xfrm>
            <a:prstGeom prst="rect">
              <a:avLst/>
            </a:prstGeom>
          </p:spPr>
          <p:txBody>
            <a:bodyPr lIns="13422" tIns="13422" rIns="13422" bIns="13422" rtlCol="0" anchor="ctr"/>
            <a:lstStyle/>
            <a:p>
              <a:pPr marL="0" marR="0" lvl="0" indent="0" algn="ctr" defTabSz="914400" rtl="0" eaLnBrk="1" fontAlgn="auto" latinLnBrk="0" hangingPunct="1">
                <a:lnSpc>
                  <a:spcPts val="943"/>
                </a:lnSpc>
                <a:spcBef>
                  <a:spcPct val="0"/>
                </a:spcBef>
                <a:spcAft>
                  <a:spcPts val="0"/>
                </a:spcAft>
                <a:buClrTx/>
                <a:buSzTx/>
                <a:buFontTx/>
                <a:buNone/>
                <a:tabLst/>
                <a:defRPr/>
              </a:pPr>
              <a:endParaRPr kumimoji="0" sz="1800" b="0" i="0" u="none" strike="noStrike" kern="1200" cap="none" spc="0" normalizeH="0" baseline="0" noProof="0" dirty="0">
                <a:ln>
                  <a:noFill/>
                </a:ln>
                <a:solidFill>
                  <a:prstClr val="white"/>
                </a:solidFill>
                <a:effectLst/>
                <a:uLnTx/>
                <a:uFillTx/>
                <a:latin typeface="Calibri"/>
                <a:ea typeface="+mn-ea"/>
                <a:cs typeface="+mn-cs"/>
              </a:endParaRPr>
            </a:p>
          </p:txBody>
        </p:sp>
      </p:grpSp>
      <p:grpSp>
        <p:nvGrpSpPr>
          <p:cNvPr id="12" name="Group 6">
            <a:extLst>
              <a:ext uri="{FF2B5EF4-FFF2-40B4-BE49-F238E27FC236}">
                <a16:creationId xmlns:a16="http://schemas.microsoft.com/office/drawing/2014/main" id="{0FC5DB66-C641-4845-546F-115FA555E6BD}"/>
              </a:ext>
            </a:extLst>
          </p:cNvPr>
          <p:cNvGrpSpPr/>
          <p:nvPr/>
        </p:nvGrpSpPr>
        <p:grpSpPr>
          <a:xfrm>
            <a:off x="6448033" y="1420788"/>
            <a:ext cx="687071" cy="343536"/>
            <a:chOff x="0" y="0"/>
            <a:chExt cx="812800" cy="406400"/>
          </a:xfrm>
        </p:grpSpPr>
        <p:sp>
          <p:nvSpPr>
            <p:cNvPr id="15" name="Freeform 7">
              <a:extLst>
                <a:ext uri="{FF2B5EF4-FFF2-40B4-BE49-F238E27FC236}">
                  <a16:creationId xmlns:a16="http://schemas.microsoft.com/office/drawing/2014/main" id="{5C8EBC69-74DD-FE24-88F4-54D9D4A6D684}"/>
                </a:ext>
              </a:extLst>
            </p:cNvPr>
            <p:cNvSpPr/>
            <p:nvPr/>
          </p:nvSpPr>
          <p:spPr>
            <a:xfrm>
              <a:off x="0" y="0"/>
              <a:ext cx="812800" cy="406400"/>
            </a:xfrm>
            <a:custGeom>
              <a:avLst/>
              <a:gdLst/>
              <a:ahLst/>
              <a:cxnLst/>
              <a:rect l="l" t="t" r="r" b="b"/>
              <a:pathLst>
                <a:path w="812800" h="406400">
                  <a:moveTo>
                    <a:pt x="609600" y="0"/>
                  </a:moveTo>
                  <a:cubicBezTo>
                    <a:pt x="721824" y="0"/>
                    <a:pt x="812800" y="90976"/>
                    <a:pt x="812800" y="203200"/>
                  </a:cubicBezTo>
                  <a:cubicBezTo>
                    <a:pt x="812800" y="315424"/>
                    <a:pt x="721824" y="406400"/>
                    <a:pt x="609600" y="406400"/>
                  </a:cubicBezTo>
                  <a:lnTo>
                    <a:pt x="203200" y="406400"/>
                  </a:lnTo>
                  <a:cubicBezTo>
                    <a:pt x="90976" y="406400"/>
                    <a:pt x="0" y="315424"/>
                    <a:pt x="0" y="203200"/>
                  </a:cubicBezTo>
                  <a:cubicBezTo>
                    <a:pt x="0" y="90976"/>
                    <a:pt x="90976" y="0"/>
                    <a:pt x="203200" y="0"/>
                  </a:cubicBezTo>
                  <a:close/>
                </a:path>
              </a:pathLst>
            </a:custGeom>
            <a:solidFill>
              <a:srgbClr val="FFBBE6"/>
            </a:solidFill>
            <a:ln w="19050" cap="sq">
              <a:solidFill>
                <a:srgbClr val="141414"/>
              </a:solidFill>
              <a:prstDash val="solid"/>
              <a:miter/>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AU" sz="1800" b="0" i="0" u="none" strike="noStrike" kern="1200" cap="none" spc="0" normalizeH="0" baseline="0" noProof="0" dirty="0">
                <a:ln>
                  <a:noFill/>
                </a:ln>
                <a:solidFill>
                  <a:prstClr val="white"/>
                </a:solidFill>
                <a:effectLst/>
                <a:uLnTx/>
                <a:uFillTx/>
                <a:latin typeface="Calibri"/>
                <a:ea typeface="+mn-ea"/>
                <a:cs typeface="+mn-cs"/>
              </a:endParaRPr>
            </a:p>
          </p:txBody>
        </p:sp>
        <p:sp>
          <p:nvSpPr>
            <p:cNvPr id="16" name="TextBox 8">
              <a:extLst>
                <a:ext uri="{FF2B5EF4-FFF2-40B4-BE49-F238E27FC236}">
                  <a16:creationId xmlns:a16="http://schemas.microsoft.com/office/drawing/2014/main" id="{66790B9E-F99E-EC99-60FB-52CA708E5E5D}"/>
                </a:ext>
              </a:extLst>
            </p:cNvPr>
            <p:cNvSpPr txBox="1"/>
            <p:nvPr/>
          </p:nvSpPr>
          <p:spPr>
            <a:xfrm>
              <a:off x="0" y="-19050"/>
              <a:ext cx="812800" cy="425450"/>
            </a:xfrm>
            <a:prstGeom prst="rect">
              <a:avLst/>
            </a:prstGeom>
          </p:spPr>
          <p:txBody>
            <a:bodyPr lIns="13422" tIns="13422" rIns="13422" bIns="13422" rtlCol="0" anchor="ctr"/>
            <a:lstStyle/>
            <a:p>
              <a:pPr marL="0" marR="0" lvl="0" indent="0" algn="ctr" defTabSz="914400" rtl="0" eaLnBrk="1" fontAlgn="auto" latinLnBrk="0" hangingPunct="1">
                <a:lnSpc>
                  <a:spcPts val="943"/>
                </a:lnSpc>
                <a:spcBef>
                  <a:spcPct val="0"/>
                </a:spcBef>
                <a:spcAft>
                  <a:spcPts val="0"/>
                </a:spcAft>
                <a:buClrTx/>
                <a:buSzTx/>
                <a:buFontTx/>
                <a:buNone/>
                <a:tabLst/>
                <a:defRPr/>
              </a:pPr>
              <a:endParaRPr kumimoji="0" sz="1800" b="0" i="0" u="none" strike="noStrike" kern="1200" cap="none" spc="0" normalizeH="0" baseline="0" noProof="0" dirty="0">
                <a:ln>
                  <a:noFill/>
                </a:ln>
                <a:solidFill>
                  <a:prstClr val="white"/>
                </a:solidFill>
                <a:effectLst/>
                <a:uLnTx/>
                <a:uFillTx/>
                <a:latin typeface="Calibri"/>
                <a:ea typeface="+mn-ea"/>
                <a:cs typeface="+mn-cs"/>
              </a:endParaRPr>
            </a:p>
          </p:txBody>
        </p:sp>
      </p:grpSp>
      <p:grpSp>
        <p:nvGrpSpPr>
          <p:cNvPr id="17" name="Group 9">
            <a:extLst>
              <a:ext uri="{FF2B5EF4-FFF2-40B4-BE49-F238E27FC236}">
                <a16:creationId xmlns:a16="http://schemas.microsoft.com/office/drawing/2014/main" id="{FC17F55F-6DEB-9E0B-F941-D4B583A1731B}"/>
              </a:ext>
            </a:extLst>
          </p:cNvPr>
          <p:cNvGrpSpPr/>
          <p:nvPr/>
        </p:nvGrpSpPr>
        <p:grpSpPr>
          <a:xfrm>
            <a:off x="8742305" y="1420788"/>
            <a:ext cx="687071" cy="343536"/>
            <a:chOff x="0" y="0"/>
            <a:chExt cx="812800" cy="406400"/>
          </a:xfrm>
        </p:grpSpPr>
        <p:sp>
          <p:nvSpPr>
            <p:cNvPr id="18" name="Freeform 10">
              <a:extLst>
                <a:ext uri="{FF2B5EF4-FFF2-40B4-BE49-F238E27FC236}">
                  <a16:creationId xmlns:a16="http://schemas.microsoft.com/office/drawing/2014/main" id="{3D11489C-0A49-8A90-0C36-C9057C3254E3}"/>
                </a:ext>
              </a:extLst>
            </p:cNvPr>
            <p:cNvSpPr/>
            <p:nvPr/>
          </p:nvSpPr>
          <p:spPr>
            <a:xfrm>
              <a:off x="0" y="0"/>
              <a:ext cx="812800" cy="406400"/>
            </a:xfrm>
            <a:custGeom>
              <a:avLst/>
              <a:gdLst/>
              <a:ahLst/>
              <a:cxnLst/>
              <a:rect l="l" t="t" r="r" b="b"/>
              <a:pathLst>
                <a:path w="812800" h="406400">
                  <a:moveTo>
                    <a:pt x="609600" y="0"/>
                  </a:moveTo>
                  <a:cubicBezTo>
                    <a:pt x="721824" y="0"/>
                    <a:pt x="812800" y="90976"/>
                    <a:pt x="812800" y="203200"/>
                  </a:cubicBezTo>
                  <a:cubicBezTo>
                    <a:pt x="812800" y="315424"/>
                    <a:pt x="721824" y="406400"/>
                    <a:pt x="609600" y="406400"/>
                  </a:cubicBezTo>
                  <a:lnTo>
                    <a:pt x="203200" y="406400"/>
                  </a:lnTo>
                  <a:cubicBezTo>
                    <a:pt x="90976" y="406400"/>
                    <a:pt x="0" y="315424"/>
                    <a:pt x="0" y="203200"/>
                  </a:cubicBezTo>
                  <a:cubicBezTo>
                    <a:pt x="0" y="90976"/>
                    <a:pt x="90976" y="0"/>
                    <a:pt x="203200" y="0"/>
                  </a:cubicBezTo>
                  <a:close/>
                </a:path>
              </a:pathLst>
            </a:custGeom>
            <a:solidFill>
              <a:srgbClr val="FFD6C5"/>
            </a:solidFill>
            <a:ln w="19050" cap="sq">
              <a:solidFill>
                <a:srgbClr val="141414"/>
              </a:solidFill>
              <a:prstDash val="solid"/>
              <a:miter/>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AU" sz="1800" b="0" i="0" u="none" strike="noStrike" kern="1200" cap="none" spc="0" normalizeH="0" baseline="0" noProof="0" dirty="0">
                <a:ln>
                  <a:noFill/>
                </a:ln>
                <a:solidFill>
                  <a:prstClr val="white"/>
                </a:solidFill>
                <a:effectLst/>
                <a:uLnTx/>
                <a:uFillTx/>
                <a:latin typeface="Calibri"/>
                <a:ea typeface="+mn-ea"/>
                <a:cs typeface="+mn-cs"/>
              </a:endParaRPr>
            </a:p>
          </p:txBody>
        </p:sp>
        <p:sp>
          <p:nvSpPr>
            <p:cNvPr id="19" name="TextBox 11">
              <a:extLst>
                <a:ext uri="{FF2B5EF4-FFF2-40B4-BE49-F238E27FC236}">
                  <a16:creationId xmlns:a16="http://schemas.microsoft.com/office/drawing/2014/main" id="{AD61506A-60D1-0234-7D5B-E5E29FDB6454}"/>
                </a:ext>
              </a:extLst>
            </p:cNvPr>
            <p:cNvSpPr txBox="1"/>
            <p:nvPr/>
          </p:nvSpPr>
          <p:spPr>
            <a:xfrm>
              <a:off x="0" y="-19050"/>
              <a:ext cx="812800" cy="425450"/>
            </a:xfrm>
            <a:prstGeom prst="rect">
              <a:avLst/>
            </a:prstGeom>
          </p:spPr>
          <p:txBody>
            <a:bodyPr lIns="13422" tIns="13422" rIns="13422" bIns="13422" rtlCol="0" anchor="ctr"/>
            <a:lstStyle/>
            <a:p>
              <a:pPr marL="0" marR="0" lvl="0" indent="0" algn="ctr" defTabSz="914400" rtl="0" eaLnBrk="1" fontAlgn="auto" latinLnBrk="0" hangingPunct="1">
                <a:lnSpc>
                  <a:spcPts val="943"/>
                </a:lnSpc>
                <a:spcBef>
                  <a:spcPct val="0"/>
                </a:spcBef>
                <a:spcAft>
                  <a:spcPts val="0"/>
                </a:spcAft>
                <a:buClrTx/>
                <a:buSzTx/>
                <a:buFontTx/>
                <a:buNone/>
                <a:tabLst/>
                <a:defRPr/>
              </a:pPr>
              <a:endParaRPr kumimoji="0" sz="1800" b="0" i="0" u="none" strike="noStrike" kern="1200" cap="none" spc="0" normalizeH="0" baseline="0" noProof="0" dirty="0">
                <a:ln>
                  <a:noFill/>
                </a:ln>
                <a:solidFill>
                  <a:prstClr val="white"/>
                </a:solidFill>
                <a:effectLst/>
                <a:uLnTx/>
                <a:uFillTx/>
                <a:latin typeface="Calibri"/>
                <a:ea typeface="+mn-ea"/>
                <a:cs typeface="+mn-cs"/>
              </a:endParaRPr>
            </a:p>
          </p:txBody>
        </p:sp>
      </p:grpSp>
      <p:grpSp>
        <p:nvGrpSpPr>
          <p:cNvPr id="20" name="Group 12">
            <a:extLst>
              <a:ext uri="{FF2B5EF4-FFF2-40B4-BE49-F238E27FC236}">
                <a16:creationId xmlns:a16="http://schemas.microsoft.com/office/drawing/2014/main" id="{553A10B1-A8EF-7B48-F4A0-810DEA0A5BEA}"/>
              </a:ext>
            </a:extLst>
          </p:cNvPr>
          <p:cNvGrpSpPr/>
          <p:nvPr/>
        </p:nvGrpSpPr>
        <p:grpSpPr>
          <a:xfrm>
            <a:off x="1859489" y="4979269"/>
            <a:ext cx="687071" cy="343536"/>
            <a:chOff x="0" y="0"/>
            <a:chExt cx="812800" cy="406400"/>
          </a:xfrm>
        </p:grpSpPr>
        <p:sp>
          <p:nvSpPr>
            <p:cNvPr id="21" name="Freeform 13">
              <a:extLst>
                <a:ext uri="{FF2B5EF4-FFF2-40B4-BE49-F238E27FC236}">
                  <a16:creationId xmlns:a16="http://schemas.microsoft.com/office/drawing/2014/main" id="{22F646BC-D149-9CEA-A086-B072549026B8}"/>
                </a:ext>
              </a:extLst>
            </p:cNvPr>
            <p:cNvSpPr/>
            <p:nvPr/>
          </p:nvSpPr>
          <p:spPr>
            <a:xfrm>
              <a:off x="0" y="0"/>
              <a:ext cx="812800" cy="406400"/>
            </a:xfrm>
            <a:custGeom>
              <a:avLst/>
              <a:gdLst/>
              <a:ahLst/>
              <a:cxnLst/>
              <a:rect l="l" t="t" r="r" b="b"/>
              <a:pathLst>
                <a:path w="812800" h="406400">
                  <a:moveTo>
                    <a:pt x="609600" y="0"/>
                  </a:moveTo>
                  <a:cubicBezTo>
                    <a:pt x="721824" y="0"/>
                    <a:pt x="812800" y="90976"/>
                    <a:pt x="812800" y="203200"/>
                  </a:cubicBezTo>
                  <a:cubicBezTo>
                    <a:pt x="812800" y="315424"/>
                    <a:pt x="721824" y="406400"/>
                    <a:pt x="609600" y="406400"/>
                  </a:cubicBezTo>
                  <a:lnTo>
                    <a:pt x="203200" y="406400"/>
                  </a:lnTo>
                  <a:cubicBezTo>
                    <a:pt x="90976" y="406400"/>
                    <a:pt x="0" y="315424"/>
                    <a:pt x="0" y="203200"/>
                  </a:cubicBezTo>
                  <a:cubicBezTo>
                    <a:pt x="0" y="90976"/>
                    <a:pt x="90976" y="0"/>
                    <a:pt x="203200" y="0"/>
                  </a:cubicBezTo>
                  <a:close/>
                </a:path>
              </a:pathLst>
            </a:custGeom>
            <a:solidFill>
              <a:srgbClr val="92AAEF"/>
            </a:solidFill>
            <a:ln w="19050" cap="sq">
              <a:solidFill>
                <a:srgbClr val="141414"/>
              </a:solidFill>
              <a:prstDash val="solid"/>
              <a:miter/>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AU" sz="1800" b="0" i="0" u="none" strike="noStrike" kern="1200" cap="none" spc="0" normalizeH="0" baseline="0" noProof="0" dirty="0">
                <a:ln>
                  <a:noFill/>
                </a:ln>
                <a:solidFill>
                  <a:prstClr val="white"/>
                </a:solidFill>
                <a:effectLst/>
                <a:uLnTx/>
                <a:uFillTx/>
                <a:latin typeface="Calibri"/>
                <a:ea typeface="+mn-ea"/>
                <a:cs typeface="+mn-cs"/>
              </a:endParaRPr>
            </a:p>
          </p:txBody>
        </p:sp>
        <p:sp>
          <p:nvSpPr>
            <p:cNvPr id="22" name="TextBox 14">
              <a:extLst>
                <a:ext uri="{FF2B5EF4-FFF2-40B4-BE49-F238E27FC236}">
                  <a16:creationId xmlns:a16="http://schemas.microsoft.com/office/drawing/2014/main" id="{A7D08590-BC97-19CA-BEE7-5DA87B661953}"/>
                </a:ext>
              </a:extLst>
            </p:cNvPr>
            <p:cNvSpPr txBox="1"/>
            <p:nvPr/>
          </p:nvSpPr>
          <p:spPr>
            <a:xfrm>
              <a:off x="0" y="-19050"/>
              <a:ext cx="812800" cy="425450"/>
            </a:xfrm>
            <a:prstGeom prst="rect">
              <a:avLst/>
            </a:prstGeom>
          </p:spPr>
          <p:txBody>
            <a:bodyPr lIns="13422" tIns="13422" rIns="13422" bIns="13422" rtlCol="0" anchor="ctr"/>
            <a:lstStyle/>
            <a:p>
              <a:pPr marL="0" marR="0" lvl="0" indent="0" algn="ctr" defTabSz="914400" rtl="0" eaLnBrk="1" fontAlgn="auto" latinLnBrk="0" hangingPunct="1">
                <a:lnSpc>
                  <a:spcPts val="943"/>
                </a:lnSpc>
                <a:spcBef>
                  <a:spcPct val="0"/>
                </a:spcBef>
                <a:spcAft>
                  <a:spcPts val="0"/>
                </a:spcAft>
                <a:buClrTx/>
                <a:buSzTx/>
                <a:buFontTx/>
                <a:buNone/>
                <a:tabLst/>
                <a:defRPr/>
              </a:pPr>
              <a:endParaRPr kumimoji="0" sz="1800" b="0" i="0" u="none" strike="noStrike" kern="1200" cap="none" spc="0" normalizeH="0" baseline="0" noProof="0" dirty="0">
                <a:ln>
                  <a:noFill/>
                </a:ln>
                <a:solidFill>
                  <a:prstClr val="white"/>
                </a:solidFill>
                <a:effectLst/>
                <a:uLnTx/>
                <a:uFillTx/>
                <a:latin typeface="Calibri"/>
                <a:ea typeface="+mn-ea"/>
                <a:cs typeface="+mn-cs"/>
              </a:endParaRPr>
            </a:p>
          </p:txBody>
        </p:sp>
      </p:grpSp>
      <p:grpSp>
        <p:nvGrpSpPr>
          <p:cNvPr id="23" name="Group 15">
            <a:extLst>
              <a:ext uri="{FF2B5EF4-FFF2-40B4-BE49-F238E27FC236}">
                <a16:creationId xmlns:a16="http://schemas.microsoft.com/office/drawing/2014/main" id="{12744080-8EC9-4895-5ED8-8CAD6A7EB6A5}"/>
              </a:ext>
            </a:extLst>
          </p:cNvPr>
          <p:cNvGrpSpPr/>
          <p:nvPr/>
        </p:nvGrpSpPr>
        <p:grpSpPr>
          <a:xfrm>
            <a:off x="4134484" y="5019773"/>
            <a:ext cx="687071" cy="343536"/>
            <a:chOff x="0" y="0"/>
            <a:chExt cx="812800" cy="406400"/>
          </a:xfrm>
        </p:grpSpPr>
        <p:sp>
          <p:nvSpPr>
            <p:cNvPr id="24" name="Freeform 16">
              <a:extLst>
                <a:ext uri="{FF2B5EF4-FFF2-40B4-BE49-F238E27FC236}">
                  <a16:creationId xmlns:a16="http://schemas.microsoft.com/office/drawing/2014/main" id="{49C4AFDB-A454-9BC5-9FD2-EC0AFC116869}"/>
                </a:ext>
              </a:extLst>
            </p:cNvPr>
            <p:cNvSpPr/>
            <p:nvPr/>
          </p:nvSpPr>
          <p:spPr>
            <a:xfrm>
              <a:off x="0" y="0"/>
              <a:ext cx="812800" cy="406400"/>
            </a:xfrm>
            <a:custGeom>
              <a:avLst/>
              <a:gdLst/>
              <a:ahLst/>
              <a:cxnLst/>
              <a:rect l="l" t="t" r="r" b="b"/>
              <a:pathLst>
                <a:path w="812800" h="406400">
                  <a:moveTo>
                    <a:pt x="609600" y="0"/>
                  </a:moveTo>
                  <a:cubicBezTo>
                    <a:pt x="721824" y="0"/>
                    <a:pt x="812800" y="90976"/>
                    <a:pt x="812800" y="203200"/>
                  </a:cubicBezTo>
                  <a:cubicBezTo>
                    <a:pt x="812800" y="315424"/>
                    <a:pt x="721824" y="406400"/>
                    <a:pt x="609600" y="406400"/>
                  </a:cubicBezTo>
                  <a:lnTo>
                    <a:pt x="203200" y="406400"/>
                  </a:lnTo>
                  <a:cubicBezTo>
                    <a:pt x="90976" y="406400"/>
                    <a:pt x="0" y="315424"/>
                    <a:pt x="0" y="203200"/>
                  </a:cubicBezTo>
                  <a:cubicBezTo>
                    <a:pt x="0" y="90976"/>
                    <a:pt x="90976" y="0"/>
                    <a:pt x="203200" y="0"/>
                  </a:cubicBezTo>
                  <a:close/>
                </a:path>
              </a:pathLst>
            </a:custGeom>
            <a:solidFill>
              <a:srgbClr val="DDCBFF"/>
            </a:solidFill>
            <a:ln w="19050" cap="sq">
              <a:solidFill>
                <a:srgbClr val="141414"/>
              </a:solidFill>
              <a:prstDash val="solid"/>
              <a:miter/>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AU" sz="1800" b="0" i="0" u="none" strike="noStrike" kern="1200" cap="none" spc="0" normalizeH="0" baseline="0" noProof="0" dirty="0">
                <a:ln>
                  <a:noFill/>
                </a:ln>
                <a:solidFill>
                  <a:prstClr val="white"/>
                </a:solidFill>
                <a:effectLst/>
                <a:uLnTx/>
                <a:uFillTx/>
                <a:latin typeface="Calibri"/>
                <a:ea typeface="+mn-ea"/>
                <a:cs typeface="+mn-cs"/>
              </a:endParaRPr>
            </a:p>
          </p:txBody>
        </p:sp>
        <p:sp>
          <p:nvSpPr>
            <p:cNvPr id="25" name="TextBox 17">
              <a:extLst>
                <a:ext uri="{FF2B5EF4-FFF2-40B4-BE49-F238E27FC236}">
                  <a16:creationId xmlns:a16="http://schemas.microsoft.com/office/drawing/2014/main" id="{2A8794B8-334A-9C56-339F-57A1A873F98B}"/>
                </a:ext>
              </a:extLst>
            </p:cNvPr>
            <p:cNvSpPr txBox="1"/>
            <p:nvPr/>
          </p:nvSpPr>
          <p:spPr>
            <a:xfrm>
              <a:off x="0" y="-19050"/>
              <a:ext cx="812800" cy="425450"/>
            </a:xfrm>
            <a:prstGeom prst="rect">
              <a:avLst/>
            </a:prstGeom>
          </p:spPr>
          <p:txBody>
            <a:bodyPr lIns="13422" tIns="13422" rIns="13422" bIns="13422" rtlCol="0" anchor="ctr"/>
            <a:lstStyle/>
            <a:p>
              <a:pPr marL="0" marR="0" lvl="0" indent="0" algn="ctr" defTabSz="914400" rtl="0" eaLnBrk="1" fontAlgn="auto" latinLnBrk="0" hangingPunct="1">
                <a:lnSpc>
                  <a:spcPts val="943"/>
                </a:lnSpc>
                <a:spcBef>
                  <a:spcPct val="0"/>
                </a:spcBef>
                <a:spcAft>
                  <a:spcPts val="0"/>
                </a:spcAft>
                <a:buClrTx/>
                <a:buSzTx/>
                <a:buFontTx/>
                <a:buNone/>
                <a:tabLst/>
                <a:defRPr/>
              </a:pPr>
              <a:endParaRPr kumimoji="0" sz="1800" b="0" i="0" u="none" strike="noStrike" kern="1200" cap="none" spc="0" normalizeH="0" baseline="0" noProof="0" dirty="0">
                <a:ln>
                  <a:noFill/>
                </a:ln>
                <a:solidFill>
                  <a:prstClr val="white"/>
                </a:solidFill>
                <a:effectLst/>
                <a:uLnTx/>
                <a:uFillTx/>
                <a:latin typeface="Calibri"/>
                <a:ea typeface="+mn-ea"/>
                <a:cs typeface="+mn-cs"/>
              </a:endParaRPr>
            </a:p>
          </p:txBody>
        </p:sp>
      </p:grpSp>
      <p:grpSp>
        <p:nvGrpSpPr>
          <p:cNvPr id="26" name="Group 18">
            <a:extLst>
              <a:ext uri="{FF2B5EF4-FFF2-40B4-BE49-F238E27FC236}">
                <a16:creationId xmlns:a16="http://schemas.microsoft.com/office/drawing/2014/main" id="{C4B3A856-0E62-AA8B-8949-4A76BE70ABF6}"/>
              </a:ext>
            </a:extLst>
          </p:cNvPr>
          <p:cNvGrpSpPr/>
          <p:nvPr/>
        </p:nvGrpSpPr>
        <p:grpSpPr>
          <a:xfrm>
            <a:off x="5609409" y="4997147"/>
            <a:ext cx="687071" cy="343536"/>
            <a:chOff x="0" y="0"/>
            <a:chExt cx="812800" cy="406400"/>
          </a:xfrm>
        </p:grpSpPr>
        <p:sp>
          <p:nvSpPr>
            <p:cNvPr id="27" name="Freeform 19">
              <a:extLst>
                <a:ext uri="{FF2B5EF4-FFF2-40B4-BE49-F238E27FC236}">
                  <a16:creationId xmlns:a16="http://schemas.microsoft.com/office/drawing/2014/main" id="{114B3953-7E96-1BBB-AA52-7F25B268F6A6}"/>
                </a:ext>
              </a:extLst>
            </p:cNvPr>
            <p:cNvSpPr/>
            <p:nvPr/>
          </p:nvSpPr>
          <p:spPr>
            <a:xfrm>
              <a:off x="0" y="0"/>
              <a:ext cx="812800" cy="406400"/>
            </a:xfrm>
            <a:custGeom>
              <a:avLst/>
              <a:gdLst/>
              <a:ahLst/>
              <a:cxnLst/>
              <a:rect l="l" t="t" r="r" b="b"/>
              <a:pathLst>
                <a:path w="812800" h="406400">
                  <a:moveTo>
                    <a:pt x="609600" y="0"/>
                  </a:moveTo>
                  <a:cubicBezTo>
                    <a:pt x="721824" y="0"/>
                    <a:pt x="812800" y="90976"/>
                    <a:pt x="812800" y="203200"/>
                  </a:cubicBezTo>
                  <a:cubicBezTo>
                    <a:pt x="812800" y="315424"/>
                    <a:pt x="721824" y="406400"/>
                    <a:pt x="609600" y="406400"/>
                  </a:cubicBezTo>
                  <a:lnTo>
                    <a:pt x="203200" y="406400"/>
                  </a:lnTo>
                  <a:cubicBezTo>
                    <a:pt x="90976" y="406400"/>
                    <a:pt x="0" y="315424"/>
                    <a:pt x="0" y="203200"/>
                  </a:cubicBezTo>
                  <a:cubicBezTo>
                    <a:pt x="0" y="90976"/>
                    <a:pt x="90976" y="0"/>
                    <a:pt x="203200" y="0"/>
                  </a:cubicBezTo>
                  <a:close/>
                </a:path>
              </a:pathLst>
            </a:custGeom>
            <a:solidFill>
              <a:srgbClr val="EDC0FF"/>
            </a:solidFill>
            <a:ln w="19050" cap="sq">
              <a:solidFill>
                <a:srgbClr val="141414"/>
              </a:solidFill>
              <a:prstDash val="solid"/>
              <a:miter/>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AU" sz="1800" b="0" i="0" u="none" strike="noStrike" kern="1200" cap="none" spc="0" normalizeH="0" baseline="0" noProof="0" dirty="0">
                <a:ln>
                  <a:noFill/>
                </a:ln>
                <a:solidFill>
                  <a:prstClr val="white"/>
                </a:solidFill>
                <a:effectLst/>
                <a:uLnTx/>
                <a:uFillTx/>
                <a:latin typeface="Calibri"/>
                <a:ea typeface="+mn-ea"/>
                <a:cs typeface="+mn-cs"/>
              </a:endParaRPr>
            </a:p>
          </p:txBody>
        </p:sp>
        <p:sp>
          <p:nvSpPr>
            <p:cNvPr id="28" name="TextBox 20">
              <a:extLst>
                <a:ext uri="{FF2B5EF4-FFF2-40B4-BE49-F238E27FC236}">
                  <a16:creationId xmlns:a16="http://schemas.microsoft.com/office/drawing/2014/main" id="{96389B8D-FC18-79DB-3AC1-0619997E5076}"/>
                </a:ext>
              </a:extLst>
            </p:cNvPr>
            <p:cNvSpPr txBox="1"/>
            <p:nvPr/>
          </p:nvSpPr>
          <p:spPr>
            <a:xfrm>
              <a:off x="0" y="-19050"/>
              <a:ext cx="812800" cy="425450"/>
            </a:xfrm>
            <a:prstGeom prst="rect">
              <a:avLst/>
            </a:prstGeom>
          </p:spPr>
          <p:txBody>
            <a:bodyPr lIns="13422" tIns="13422" rIns="13422" bIns="13422" rtlCol="0" anchor="ctr"/>
            <a:lstStyle/>
            <a:p>
              <a:pPr marL="0" marR="0" lvl="0" indent="0" algn="ctr" defTabSz="914400" rtl="0" eaLnBrk="1" fontAlgn="auto" latinLnBrk="0" hangingPunct="1">
                <a:lnSpc>
                  <a:spcPts val="943"/>
                </a:lnSpc>
                <a:spcBef>
                  <a:spcPct val="0"/>
                </a:spcBef>
                <a:spcAft>
                  <a:spcPts val="0"/>
                </a:spcAft>
                <a:buClrTx/>
                <a:buSzTx/>
                <a:buFontTx/>
                <a:buNone/>
                <a:tabLst/>
                <a:defRPr/>
              </a:pPr>
              <a:endParaRPr kumimoji="0" sz="1800" b="0" i="0" u="none" strike="noStrike" kern="1200" cap="none" spc="0" normalizeH="0" baseline="0" noProof="0" dirty="0">
                <a:ln>
                  <a:noFill/>
                </a:ln>
                <a:solidFill>
                  <a:prstClr val="white"/>
                </a:solidFill>
                <a:effectLst/>
                <a:uLnTx/>
                <a:uFillTx/>
                <a:latin typeface="Calibri"/>
                <a:ea typeface="+mn-ea"/>
                <a:cs typeface="+mn-cs"/>
              </a:endParaRPr>
            </a:p>
          </p:txBody>
        </p:sp>
      </p:grpSp>
      <p:grpSp>
        <p:nvGrpSpPr>
          <p:cNvPr id="29" name="Group 21">
            <a:extLst>
              <a:ext uri="{FF2B5EF4-FFF2-40B4-BE49-F238E27FC236}">
                <a16:creationId xmlns:a16="http://schemas.microsoft.com/office/drawing/2014/main" id="{7029A4AF-A345-BA7B-5817-B7F65240B503}"/>
              </a:ext>
            </a:extLst>
          </p:cNvPr>
          <p:cNvGrpSpPr/>
          <p:nvPr/>
        </p:nvGrpSpPr>
        <p:grpSpPr>
          <a:xfrm>
            <a:off x="7382619" y="4997147"/>
            <a:ext cx="687071" cy="343536"/>
            <a:chOff x="0" y="0"/>
            <a:chExt cx="812800" cy="406400"/>
          </a:xfrm>
        </p:grpSpPr>
        <p:sp>
          <p:nvSpPr>
            <p:cNvPr id="30" name="Freeform 22">
              <a:extLst>
                <a:ext uri="{FF2B5EF4-FFF2-40B4-BE49-F238E27FC236}">
                  <a16:creationId xmlns:a16="http://schemas.microsoft.com/office/drawing/2014/main" id="{21DC611D-68C7-0388-AEC3-1916534726A8}"/>
                </a:ext>
              </a:extLst>
            </p:cNvPr>
            <p:cNvSpPr/>
            <p:nvPr/>
          </p:nvSpPr>
          <p:spPr>
            <a:xfrm>
              <a:off x="0" y="0"/>
              <a:ext cx="812800" cy="406400"/>
            </a:xfrm>
            <a:custGeom>
              <a:avLst/>
              <a:gdLst/>
              <a:ahLst/>
              <a:cxnLst/>
              <a:rect l="l" t="t" r="r" b="b"/>
              <a:pathLst>
                <a:path w="812800" h="406400">
                  <a:moveTo>
                    <a:pt x="609600" y="0"/>
                  </a:moveTo>
                  <a:cubicBezTo>
                    <a:pt x="721824" y="0"/>
                    <a:pt x="812800" y="90976"/>
                    <a:pt x="812800" y="203200"/>
                  </a:cubicBezTo>
                  <a:cubicBezTo>
                    <a:pt x="812800" y="315424"/>
                    <a:pt x="721824" y="406400"/>
                    <a:pt x="609600" y="406400"/>
                  </a:cubicBezTo>
                  <a:lnTo>
                    <a:pt x="203200" y="406400"/>
                  </a:lnTo>
                  <a:cubicBezTo>
                    <a:pt x="90976" y="406400"/>
                    <a:pt x="0" y="315424"/>
                    <a:pt x="0" y="203200"/>
                  </a:cubicBezTo>
                  <a:cubicBezTo>
                    <a:pt x="0" y="90976"/>
                    <a:pt x="90976" y="0"/>
                    <a:pt x="203200" y="0"/>
                  </a:cubicBezTo>
                  <a:close/>
                </a:path>
              </a:pathLst>
            </a:custGeom>
            <a:solidFill>
              <a:srgbClr val="FFBBE6"/>
            </a:solidFill>
            <a:ln w="19050" cap="sq">
              <a:solidFill>
                <a:srgbClr val="141414"/>
              </a:solidFill>
              <a:prstDash val="solid"/>
              <a:miter/>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AU" sz="1800" b="0" i="0" u="none" strike="noStrike" kern="1200" cap="none" spc="0" normalizeH="0" baseline="0" noProof="0" dirty="0">
                <a:ln>
                  <a:noFill/>
                </a:ln>
                <a:solidFill>
                  <a:prstClr val="white"/>
                </a:solidFill>
                <a:effectLst/>
                <a:uLnTx/>
                <a:uFillTx/>
                <a:latin typeface="Calibri"/>
                <a:ea typeface="+mn-ea"/>
                <a:cs typeface="+mn-cs"/>
              </a:endParaRPr>
            </a:p>
          </p:txBody>
        </p:sp>
        <p:sp>
          <p:nvSpPr>
            <p:cNvPr id="31" name="TextBox 23">
              <a:extLst>
                <a:ext uri="{FF2B5EF4-FFF2-40B4-BE49-F238E27FC236}">
                  <a16:creationId xmlns:a16="http://schemas.microsoft.com/office/drawing/2014/main" id="{A95368AE-8CAC-F673-C0EF-15FD09C99BAE}"/>
                </a:ext>
              </a:extLst>
            </p:cNvPr>
            <p:cNvSpPr txBox="1"/>
            <p:nvPr/>
          </p:nvSpPr>
          <p:spPr>
            <a:xfrm>
              <a:off x="0" y="-19050"/>
              <a:ext cx="812800" cy="425450"/>
            </a:xfrm>
            <a:prstGeom prst="rect">
              <a:avLst/>
            </a:prstGeom>
          </p:spPr>
          <p:txBody>
            <a:bodyPr lIns="13422" tIns="13422" rIns="13422" bIns="13422" rtlCol="0" anchor="ctr"/>
            <a:lstStyle/>
            <a:p>
              <a:pPr marL="0" marR="0" lvl="0" indent="0" algn="ctr" defTabSz="914400" rtl="0" eaLnBrk="1" fontAlgn="auto" latinLnBrk="0" hangingPunct="1">
                <a:lnSpc>
                  <a:spcPts val="943"/>
                </a:lnSpc>
                <a:spcBef>
                  <a:spcPct val="0"/>
                </a:spcBef>
                <a:spcAft>
                  <a:spcPts val="0"/>
                </a:spcAft>
                <a:buClrTx/>
                <a:buSzTx/>
                <a:buFontTx/>
                <a:buNone/>
                <a:tabLst/>
                <a:defRPr/>
              </a:pPr>
              <a:endParaRPr kumimoji="0" sz="1800" b="0" i="0" u="none" strike="noStrike" kern="1200" cap="none" spc="0" normalizeH="0" baseline="0" noProof="0" dirty="0">
                <a:ln>
                  <a:noFill/>
                </a:ln>
                <a:solidFill>
                  <a:prstClr val="white"/>
                </a:solidFill>
                <a:effectLst/>
                <a:uLnTx/>
                <a:uFillTx/>
                <a:latin typeface="Calibri"/>
                <a:ea typeface="+mn-ea"/>
                <a:cs typeface="+mn-cs"/>
              </a:endParaRPr>
            </a:p>
          </p:txBody>
        </p:sp>
      </p:grpSp>
      <p:grpSp>
        <p:nvGrpSpPr>
          <p:cNvPr id="32" name="Group 24">
            <a:extLst>
              <a:ext uri="{FF2B5EF4-FFF2-40B4-BE49-F238E27FC236}">
                <a16:creationId xmlns:a16="http://schemas.microsoft.com/office/drawing/2014/main" id="{4345BCC3-BC07-3FCF-4408-866B04208FFF}"/>
              </a:ext>
            </a:extLst>
          </p:cNvPr>
          <p:cNvGrpSpPr/>
          <p:nvPr/>
        </p:nvGrpSpPr>
        <p:grpSpPr>
          <a:xfrm>
            <a:off x="7367689" y="3200742"/>
            <a:ext cx="687071" cy="343536"/>
            <a:chOff x="0" y="0"/>
            <a:chExt cx="812800" cy="406400"/>
          </a:xfrm>
        </p:grpSpPr>
        <p:sp>
          <p:nvSpPr>
            <p:cNvPr id="33" name="Freeform 25">
              <a:extLst>
                <a:ext uri="{FF2B5EF4-FFF2-40B4-BE49-F238E27FC236}">
                  <a16:creationId xmlns:a16="http://schemas.microsoft.com/office/drawing/2014/main" id="{9E55CC22-93C9-E5EF-7750-01174E28BC85}"/>
                </a:ext>
              </a:extLst>
            </p:cNvPr>
            <p:cNvSpPr/>
            <p:nvPr/>
          </p:nvSpPr>
          <p:spPr>
            <a:xfrm>
              <a:off x="0" y="0"/>
              <a:ext cx="812800" cy="406400"/>
            </a:xfrm>
            <a:custGeom>
              <a:avLst/>
              <a:gdLst/>
              <a:ahLst/>
              <a:cxnLst/>
              <a:rect l="l" t="t" r="r" b="b"/>
              <a:pathLst>
                <a:path w="812800" h="406400">
                  <a:moveTo>
                    <a:pt x="609600" y="0"/>
                  </a:moveTo>
                  <a:cubicBezTo>
                    <a:pt x="721824" y="0"/>
                    <a:pt x="812800" y="90976"/>
                    <a:pt x="812800" y="203200"/>
                  </a:cubicBezTo>
                  <a:cubicBezTo>
                    <a:pt x="812800" y="315424"/>
                    <a:pt x="721824" y="406400"/>
                    <a:pt x="609600" y="406400"/>
                  </a:cubicBezTo>
                  <a:lnTo>
                    <a:pt x="203200" y="406400"/>
                  </a:lnTo>
                  <a:cubicBezTo>
                    <a:pt x="90976" y="406400"/>
                    <a:pt x="0" y="315424"/>
                    <a:pt x="0" y="203200"/>
                  </a:cubicBezTo>
                  <a:cubicBezTo>
                    <a:pt x="0" y="90976"/>
                    <a:pt x="90976" y="0"/>
                    <a:pt x="203200" y="0"/>
                  </a:cubicBezTo>
                  <a:close/>
                </a:path>
              </a:pathLst>
            </a:custGeom>
            <a:solidFill>
              <a:srgbClr val="FFDA68"/>
            </a:solidFill>
            <a:ln w="19050" cap="sq">
              <a:solidFill>
                <a:srgbClr val="141414"/>
              </a:solidFill>
              <a:prstDash val="solid"/>
              <a:miter/>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AU" sz="1800" b="0" i="0" u="none" strike="noStrike" kern="1200" cap="none" spc="0" normalizeH="0" baseline="0" noProof="0" dirty="0">
                <a:ln>
                  <a:noFill/>
                </a:ln>
                <a:solidFill>
                  <a:prstClr val="white"/>
                </a:solidFill>
                <a:effectLst/>
                <a:uLnTx/>
                <a:uFillTx/>
                <a:latin typeface="Calibri"/>
                <a:ea typeface="+mn-ea"/>
                <a:cs typeface="+mn-cs"/>
              </a:endParaRPr>
            </a:p>
          </p:txBody>
        </p:sp>
        <p:sp>
          <p:nvSpPr>
            <p:cNvPr id="34" name="TextBox 26">
              <a:extLst>
                <a:ext uri="{FF2B5EF4-FFF2-40B4-BE49-F238E27FC236}">
                  <a16:creationId xmlns:a16="http://schemas.microsoft.com/office/drawing/2014/main" id="{FB5682D5-B17A-F99A-8A45-5E086BCE7AF6}"/>
                </a:ext>
              </a:extLst>
            </p:cNvPr>
            <p:cNvSpPr txBox="1"/>
            <p:nvPr/>
          </p:nvSpPr>
          <p:spPr>
            <a:xfrm>
              <a:off x="0" y="-19050"/>
              <a:ext cx="812800" cy="425450"/>
            </a:xfrm>
            <a:prstGeom prst="rect">
              <a:avLst/>
            </a:prstGeom>
          </p:spPr>
          <p:txBody>
            <a:bodyPr lIns="13422" tIns="13422" rIns="13422" bIns="13422" rtlCol="0" anchor="ctr"/>
            <a:lstStyle/>
            <a:p>
              <a:pPr marL="0" marR="0" lvl="0" indent="0" algn="ctr" defTabSz="914400" rtl="0" eaLnBrk="1" fontAlgn="auto" latinLnBrk="0" hangingPunct="1">
                <a:lnSpc>
                  <a:spcPts val="943"/>
                </a:lnSpc>
                <a:spcBef>
                  <a:spcPct val="0"/>
                </a:spcBef>
                <a:spcAft>
                  <a:spcPts val="0"/>
                </a:spcAft>
                <a:buClrTx/>
                <a:buSzTx/>
                <a:buFontTx/>
                <a:buNone/>
                <a:tabLst/>
                <a:defRPr/>
              </a:pPr>
              <a:endParaRPr kumimoji="0" sz="1800" b="0" i="0" u="none" strike="noStrike" kern="1200" cap="none" spc="0" normalizeH="0" baseline="0" noProof="0" dirty="0">
                <a:ln>
                  <a:noFill/>
                </a:ln>
                <a:solidFill>
                  <a:prstClr val="white"/>
                </a:solidFill>
                <a:effectLst/>
                <a:uLnTx/>
                <a:uFillTx/>
                <a:latin typeface="Calibri"/>
                <a:ea typeface="+mn-ea"/>
                <a:cs typeface="+mn-cs"/>
              </a:endParaRPr>
            </a:p>
          </p:txBody>
        </p:sp>
      </p:grpSp>
      <p:grpSp>
        <p:nvGrpSpPr>
          <p:cNvPr id="35" name="Group 27">
            <a:extLst>
              <a:ext uri="{FF2B5EF4-FFF2-40B4-BE49-F238E27FC236}">
                <a16:creationId xmlns:a16="http://schemas.microsoft.com/office/drawing/2014/main" id="{1E0E8118-B918-9535-A6D9-84E8B88A5947}"/>
              </a:ext>
            </a:extLst>
          </p:cNvPr>
          <p:cNvGrpSpPr/>
          <p:nvPr/>
        </p:nvGrpSpPr>
        <p:grpSpPr>
          <a:xfrm>
            <a:off x="4997587" y="3200742"/>
            <a:ext cx="687071" cy="343536"/>
            <a:chOff x="0" y="0"/>
            <a:chExt cx="812800" cy="406400"/>
          </a:xfrm>
        </p:grpSpPr>
        <p:sp>
          <p:nvSpPr>
            <p:cNvPr id="36" name="Freeform 28">
              <a:extLst>
                <a:ext uri="{FF2B5EF4-FFF2-40B4-BE49-F238E27FC236}">
                  <a16:creationId xmlns:a16="http://schemas.microsoft.com/office/drawing/2014/main" id="{472FAE86-8EA9-FD70-EB7F-09AA50643EE9}"/>
                </a:ext>
              </a:extLst>
            </p:cNvPr>
            <p:cNvSpPr/>
            <p:nvPr/>
          </p:nvSpPr>
          <p:spPr>
            <a:xfrm>
              <a:off x="0" y="0"/>
              <a:ext cx="812800" cy="406400"/>
            </a:xfrm>
            <a:custGeom>
              <a:avLst/>
              <a:gdLst/>
              <a:ahLst/>
              <a:cxnLst/>
              <a:rect l="l" t="t" r="r" b="b"/>
              <a:pathLst>
                <a:path w="812800" h="406400">
                  <a:moveTo>
                    <a:pt x="609600" y="0"/>
                  </a:moveTo>
                  <a:cubicBezTo>
                    <a:pt x="721824" y="0"/>
                    <a:pt x="812800" y="90976"/>
                    <a:pt x="812800" y="203200"/>
                  </a:cubicBezTo>
                  <a:cubicBezTo>
                    <a:pt x="812800" y="315424"/>
                    <a:pt x="721824" y="406400"/>
                    <a:pt x="609600" y="406400"/>
                  </a:cubicBezTo>
                  <a:lnTo>
                    <a:pt x="203200" y="406400"/>
                  </a:lnTo>
                  <a:cubicBezTo>
                    <a:pt x="90976" y="406400"/>
                    <a:pt x="0" y="315424"/>
                    <a:pt x="0" y="203200"/>
                  </a:cubicBezTo>
                  <a:cubicBezTo>
                    <a:pt x="0" y="90976"/>
                    <a:pt x="90976" y="0"/>
                    <a:pt x="203200" y="0"/>
                  </a:cubicBezTo>
                  <a:close/>
                </a:path>
              </a:pathLst>
            </a:custGeom>
            <a:solidFill>
              <a:srgbClr val="ADE466"/>
            </a:solidFill>
            <a:ln w="19050" cap="sq">
              <a:solidFill>
                <a:srgbClr val="141414"/>
              </a:solidFill>
              <a:prstDash val="solid"/>
              <a:miter/>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AU" sz="1800" b="0" i="0" u="none" strike="noStrike" kern="1200" cap="none" spc="0" normalizeH="0" baseline="0" noProof="0" dirty="0">
                <a:ln>
                  <a:noFill/>
                </a:ln>
                <a:solidFill>
                  <a:prstClr val="white"/>
                </a:solidFill>
                <a:effectLst/>
                <a:uLnTx/>
                <a:uFillTx/>
                <a:latin typeface="Calibri"/>
                <a:ea typeface="+mn-ea"/>
                <a:cs typeface="+mn-cs"/>
              </a:endParaRPr>
            </a:p>
          </p:txBody>
        </p:sp>
        <p:sp>
          <p:nvSpPr>
            <p:cNvPr id="37" name="TextBox 29">
              <a:extLst>
                <a:ext uri="{FF2B5EF4-FFF2-40B4-BE49-F238E27FC236}">
                  <a16:creationId xmlns:a16="http://schemas.microsoft.com/office/drawing/2014/main" id="{7BCF2771-0540-A7A1-E3C3-D9E1035E10A9}"/>
                </a:ext>
              </a:extLst>
            </p:cNvPr>
            <p:cNvSpPr txBox="1"/>
            <p:nvPr/>
          </p:nvSpPr>
          <p:spPr>
            <a:xfrm>
              <a:off x="0" y="-19050"/>
              <a:ext cx="812800" cy="425450"/>
            </a:xfrm>
            <a:prstGeom prst="rect">
              <a:avLst/>
            </a:prstGeom>
          </p:spPr>
          <p:txBody>
            <a:bodyPr lIns="13422" tIns="13422" rIns="13422" bIns="13422" rtlCol="0" anchor="ctr"/>
            <a:lstStyle/>
            <a:p>
              <a:pPr marL="0" marR="0" lvl="0" indent="0" algn="ctr" defTabSz="914400" rtl="0" eaLnBrk="1" fontAlgn="auto" latinLnBrk="0" hangingPunct="1">
                <a:lnSpc>
                  <a:spcPts val="943"/>
                </a:lnSpc>
                <a:spcBef>
                  <a:spcPct val="0"/>
                </a:spcBef>
                <a:spcAft>
                  <a:spcPts val="0"/>
                </a:spcAft>
                <a:buClrTx/>
                <a:buSzTx/>
                <a:buFontTx/>
                <a:buNone/>
                <a:tabLst/>
                <a:defRPr/>
              </a:pPr>
              <a:endParaRPr kumimoji="0" sz="1800" b="0" i="0" u="none" strike="noStrike" kern="1200" cap="none" spc="0" normalizeH="0" baseline="0" noProof="0" dirty="0">
                <a:ln>
                  <a:noFill/>
                </a:ln>
                <a:solidFill>
                  <a:prstClr val="white"/>
                </a:solidFill>
                <a:effectLst/>
                <a:uLnTx/>
                <a:uFillTx/>
                <a:latin typeface="Calibri"/>
                <a:ea typeface="+mn-ea"/>
                <a:cs typeface="+mn-cs"/>
              </a:endParaRPr>
            </a:p>
          </p:txBody>
        </p:sp>
      </p:grpSp>
      <p:grpSp>
        <p:nvGrpSpPr>
          <p:cNvPr id="38" name="Group 34">
            <a:extLst>
              <a:ext uri="{FF2B5EF4-FFF2-40B4-BE49-F238E27FC236}">
                <a16:creationId xmlns:a16="http://schemas.microsoft.com/office/drawing/2014/main" id="{CDFA0B99-6927-253E-6651-68C336EDE0FD}"/>
              </a:ext>
            </a:extLst>
          </p:cNvPr>
          <p:cNvGrpSpPr/>
          <p:nvPr/>
        </p:nvGrpSpPr>
        <p:grpSpPr>
          <a:xfrm>
            <a:off x="1859489" y="1420788"/>
            <a:ext cx="687071" cy="343536"/>
            <a:chOff x="0" y="0"/>
            <a:chExt cx="812800" cy="406400"/>
          </a:xfrm>
        </p:grpSpPr>
        <p:sp>
          <p:nvSpPr>
            <p:cNvPr id="39" name="Freeform 35">
              <a:extLst>
                <a:ext uri="{FF2B5EF4-FFF2-40B4-BE49-F238E27FC236}">
                  <a16:creationId xmlns:a16="http://schemas.microsoft.com/office/drawing/2014/main" id="{7C6B460E-9054-EBAC-F036-84A7BDB281C7}"/>
                </a:ext>
              </a:extLst>
            </p:cNvPr>
            <p:cNvSpPr/>
            <p:nvPr/>
          </p:nvSpPr>
          <p:spPr>
            <a:xfrm>
              <a:off x="0" y="0"/>
              <a:ext cx="812800" cy="406400"/>
            </a:xfrm>
            <a:custGeom>
              <a:avLst/>
              <a:gdLst/>
              <a:ahLst/>
              <a:cxnLst/>
              <a:rect l="l" t="t" r="r" b="b"/>
              <a:pathLst>
                <a:path w="812800" h="406400">
                  <a:moveTo>
                    <a:pt x="609600" y="0"/>
                  </a:moveTo>
                  <a:cubicBezTo>
                    <a:pt x="721824" y="0"/>
                    <a:pt x="812800" y="90976"/>
                    <a:pt x="812800" y="203200"/>
                  </a:cubicBezTo>
                  <a:cubicBezTo>
                    <a:pt x="812800" y="315424"/>
                    <a:pt x="721824" y="406400"/>
                    <a:pt x="609600" y="406400"/>
                  </a:cubicBezTo>
                  <a:lnTo>
                    <a:pt x="203200" y="406400"/>
                  </a:lnTo>
                  <a:cubicBezTo>
                    <a:pt x="90976" y="406400"/>
                    <a:pt x="0" y="315424"/>
                    <a:pt x="0" y="203200"/>
                  </a:cubicBezTo>
                  <a:cubicBezTo>
                    <a:pt x="0" y="90976"/>
                    <a:pt x="90976" y="0"/>
                    <a:pt x="203200" y="0"/>
                  </a:cubicBezTo>
                  <a:close/>
                </a:path>
              </a:pathLst>
            </a:custGeom>
            <a:solidFill>
              <a:srgbClr val="DDCBFF"/>
            </a:solidFill>
            <a:ln w="19050" cap="sq">
              <a:solidFill>
                <a:srgbClr val="141414"/>
              </a:solidFill>
              <a:prstDash val="solid"/>
              <a:miter/>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AU" sz="1800" b="0" i="0" u="none" strike="noStrike" kern="1200" cap="none" spc="0" normalizeH="0" baseline="0" noProof="0" dirty="0">
                <a:ln>
                  <a:noFill/>
                </a:ln>
                <a:solidFill>
                  <a:prstClr val="white"/>
                </a:solidFill>
                <a:effectLst/>
                <a:uLnTx/>
                <a:uFillTx/>
                <a:latin typeface="Calibri"/>
                <a:ea typeface="+mn-ea"/>
                <a:cs typeface="+mn-cs"/>
              </a:endParaRPr>
            </a:p>
          </p:txBody>
        </p:sp>
        <p:sp>
          <p:nvSpPr>
            <p:cNvPr id="40" name="TextBox 36">
              <a:extLst>
                <a:ext uri="{FF2B5EF4-FFF2-40B4-BE49-F238E27FC236}">
                  <a16:creationId xmlns:a16="http://schemas.microsoft.com/office/drawing/2014/main" id="{C1AA682B-BDE4-37B7-97AD-77C68837FD87}"/>
                </a:ext>
              </a:extLst>
            </p:cNvPr>
            <p:cNvSpPr txBox="1"/>
            <p:nvPr/>
          </p:nvSpPr>
          <p:spPr>
            <a:xfrm>
              <a:off x="0" y="-19050"/>
              <a:ext cx="812800" cy="425450"/>
            </a:xfrm>
            <a:prstGeom prst="rect">
              <a:avLst/>
            </a:prstGeom>
          </p:spPr>
          <p:txBody>
            <a:bodyPr lIns="13422" tIns="13422" rIns="13422" bIns="13422" rtlCol="0" anchor="ctr"/>
            <a:lstStyle/>
            <a:p>
              <a:pPr marL="0" marR="0" lvl="0" indent="0" algn="ctr" defTabSz="914400" rtl="0" eaLnBrk="1" fontAlgn="auto" latinLnBrk="0" hangingPunct="1">
                <a:lnSpc>
                  <a:spcPts val="943"/>
                </a:lnSpc>
                <a:spcBef>
                  <a:spcPct val="0"/>
                </a:spcBef>
                <a:spcAft>
                  <a:spcPts val="0"/>
                </a:spcAft>
                <a:buClrTx/>
                <a:buSzTx/>
                <a:buFontTx/>
                <a:buNone/>
                <a:tabLst/>
                <a:defRPr/>
              </a:pPr>
              <a:endParaRPr kumimoji="0" sz="1800" b="0" i="0" u="none" strike="noStrike" kern="1200" cap="none" spc="0" normalizeH="0" baseline="0" noProof="0" dirty="0">
                <a:ln>
                  <a:noFill/>
                </a:ln>
                <a:solidFill>
                  <a:prstClr val="white"/>
                </a:solidFill>
                <a:effectLst/>
                <a:uLnTx/>
                <a:uFillTx/>
                <a:latin typeface="Calibri"/>
                <a:ea typeface="+mn-ea"/>
                <a:cs typeface="+mn-cs"/>
              </a:endParaRPr>
            </a:p>
          </p:txBody>
        </p:sp>
      </p:grpSp>
      <p:sp>
        <p:nvSpPr>
          <p:cNvPr id="41" name="TextBox 37">
            <a:extLst>
              <a:ext uri="{FF2B5EF4-FFF2-40B4-BE49-F238E27FC236}">
                <a16:creationId xmlns:a16="http://schemas.microsoft.com/office/drawing/2014/main" id="{6B34E04E-61D5-D555-E69D-1DB2EB4F6D6F}"/>
              </a:ext>
            </a:extLst>
          </p:cNvPr>
          <p:cNvSpPr txBox="1"/>
          <p:nvPr/>
        </p:nvSpPr>
        <p:spPr>
          <a:xfrm>
            <a:off x="1919451" y="1568322"/>
            <a:ext cx="560145" cy="90987"/>
          </a:xfrm>
          <a:prstGeom prst="rect">
            <a:avLst/>
          </a:prstGeom>
        </p:spPr>
        <p:txBody>
          <a:bodyPr wrap="square" lIns="0" tIns="0" rIns="0" bIns="0" rtlCol="0" anchor="t">
            <a:spAutoFit/>
          </a:bodyPr>
          <a:lstStyle/>
          <a:p>
            <a:pPr marL="0" marR="0" lvl="0" indent="0" algn="ctr" defTabSz="914400" rtl="0" eaLnBrk="1" fontAlgn="auto" latinLnBrk="0" hangingPunct="1">
              <a:lnSpc>
                <a:spcPts val="570"/>
              </a:lnSpc>
              <a:spcBef>
                <a:spcPts val="0"/>
              </a:spcBef>
              <a:spcAft>
                <a:spcPts val="0"/>
              </a:spcAft>
              <a:buClrTx/>
              <a:buSzTx/>
              <a:buFontTx/>
              <a:buNone/>
              <a:tabLst/>
              <a:defRPr/>
            </a:pPr>
            <a:r>
              <a:rPr kumimoji="0" lang="en-US" sz="1100" b="1" i="0" u="none" strike="noStrike" kern="1200" cap="none" spc="0" normalizeH="0" baseline="0" noProof="0" dirty="0">
                <a:ln>
                  <a:noFill/>
                </a:ln>
                <a:solidFill>
                  <a:prstClr val="white"/>
                </a:solidFill>
                <a:effectLst/>
                <a:uLnTx/>
                <a:uFillTx/>
                <a:latin typeface="Montserrat Bold"/>
                <a:ea typeface="Montserrat Bold"/>
                <a:cs typeface="Montserrat Bold"/>
                <a:sym typeface="Montserrat Bold"/>
              </a:rPr>
              <a:t>Week1</a:t>
            </a:r>
          </a:p>
        </p:txBody>
      </p:sp>
      <p:sp>
        <p:nvSpPr>
          <p:cNvPr id="42" name="TextBox 39">
            <a:extLst>
              <a:ext uri="{FF2B5EF4-FFF2-40B4-BE49-F238E27FC236}">
                <a16:creationId xmlns:a16="http://schemas.microsoft.com/office/drawing/2014/main" id="{AB5B2CAD-D9A2-95BB-37DC-4B0477597F21}"/>
              </a:ext>
            </a:extLst>
          </p:cNvPr>
          <p:cNvSpPr txBox="1"/>
          <p:nvPr/>
        </p:nvSpPr>
        <p:spPr>
          <a:xfrm>
            <a:off x="5064326" y="3366291"/>
            <a:ext cx="571758" cy="89833"/>
          </a:xfrm>
          <a:prstGeom prst="rect">
            <a:avLst/>
          </a:prstGeom>
        </p:spPr>
        <p:txBody>
          <a:bodyPr wrap="square" lIns="0" tIns="0" rIns="0" bIns="0" rtlCol="0" anchor="t">
            <a:spAutoFit/>
          </a:bodyPr>
          <a:lstStyle/>
          <a:p>
            <a:pPr marL="0" marR="0" lvl="0" indent="0" algn="ctr" defTabSz="914400" rtl="0" eaLnBrk="1" fontAlgn="auto" latinLnBrk="0" hangingPunct="1">
              <a:lnSpc>
                <a:spcPts val="570"/>
              </a:lnSpc>
              <a:spcBef>
                <a:spcPts val="0"/>
              </a:spcBef>
              <a:spcAft>
                <a:spcPts val="0"/>
              </a:spcAft>
              <a:buClrTx/>
              <a:buSzTx/>
              <a:buFontTx/>
              <a:buNone/>
              <a:tabLst/>
              <a:defRPr/>
            </a:pPr>
            <a:r>
              <a:rPr kumimoji="0" lang="en-US" sz="1100" b="1" i="0" u="none" strike="noStrike" kern="1200" cap="none" spc="0" normalizeH="0" baseline="0" noProof="0" dirty="0">
                <a:ln>
                  <a:noFill/>
                </a:ln>
                <a:solidFill>
                  <a:prstClr val="white"/>
                </a:solidFill>
                <a:effectLst/>
                <a:uLnTx/>
                <a:uFillTx/>
                <a:latin typeface="Montserrat Bold"/>
                <a:ea typeface="Montserrat Bold"/>
                <a:cs typeface="Montserrat Bold"/>
                <a:sym typeface="Montserrat Bold"/>
              </a:rPr>
              <a:t>Week 6</a:t>
            </a:r>
          </a:p>
        </p:txBody>
      </p:sp>
      <p:sp>
        <p:nvSpPr>
          <p:cNvPr id="43" name="TextBox 40">
            <a:extLst>
              <a:ext uri="{FF2B5EF4-FFF2-40B4-BE49-F238E27FC236}">
                <a16:creationId xmlns:a16="http://schemas.microsoft.com/office/drawing/2014/main" id="{05DC8E2C-5B3C-4EF9-3379-3792B9C5EA05}"/>
              </a:ext>
            </a:extLst>
          </p:cNvPr>
          <p:cNvSpPr txBox="1"/>
          <p:nvPr/>
        </p:nvSpPr>
        <p:spPr>
          <a:xfrm>
            <a:off x="1919451" y="5147126"/>
            <a:ext cx="549887" cy="90987"/>
          </a:xfrm>
          <a:prstGeom prst="rect">
            <a:avLst/>
          </a:prstGeom>
        </p:spPr>
        <p:txBody>
          <a:bodyPr wrap="square" lIns="0" tIns="0" rIns="0" bIns="0" rtlCol="0" anchor="t">
            <a:spAutoFit/>
          </a:bodyPr>
          <a:lstStyle/>
          <a:p>
            <a:pPr marL="0" marR="0" lvl="0" indent="0" algn="ctr" defTabSz="914400" rtl="0" eaLnBrk="1" fontAlgn="auto" latinLnBrk="0" hangingPunct="1">
              <a:lnSpc>
                <a:spcPts val="570"/>
              </a:lnSpc>
              <a:spcBef>
                <a:spcPts val="0"/>
              </a:spcBef>
              <a:spcAft>
                <a:spcPts val="0"/>
              </a:spcAft>
              <a:buClrTx/>
              <a:buSzTx/>
              <a:buFontTx/>
              <a:buNone/>
              <a:tabLst/>
              <a:defRPr/>
            </a:pPr>
            <a:r>
              <a:rPr kumimoji="0" lang="en-US" sz="1140" b="1" i="0" u="none" strike="noStrike" kern="1200" cap="none" spc="0" normalizeH="0" baseline="0" noProof="0" dirty="0">
                <a:ln>
                  <a:noFill/>
                </a:ln>
                <a:solidFill>
                  <a:prstClr val="white"/>
                </a:solidFill>
                <a:effectLst/>
                <a:uLnTx/>
                <a:uFillTx/>
                <a:latin typeface="Montserrat Bold"/>
                <a:ea typeface="Montserrat Bold"/>
                <a:cs typeface="Montserrat Bold"/>
                <a:sym typeface="Montserrat Bold"/>
              </a:rPr>
              <a:t>Week 8</a:t>
            </a:r>
          </a:p>
        </p:txBody>
      </p:sp>
      <p:sp>
        <p:nvSpPr>
          <p:cNvPr id="44" name="TextBox 41">
            <a:extLst>
              <a:ext uri="{FF2B5EF4-FFF2-40B4-BE49-F238E27FC236}">
                <a16:creationId xmlns:a16="http://schemas.microsoft.com/office/drawing/2014/main" id="{0DA8494C-1DB5-991F-F1FB-5B1A94987B0E}"/>
              </a:ext>
            </a:extLst>
          </p:cNvPr>
          <p:cNvSpPr txBox="1"/>
          <p:nvPr/>
        </p:nvSpPr>
        <p:spPr>
          <a:xfrm>
            <a:off x="4199492" y="1568322"/>
            <a:ext cx="595607" cy="86947"/>
          </a:xfrm>
          <a:prstGeom prst="rect">
            <a:avLst/>
          </a:prstGeom>
        </p:spPr>
        <p:txBody>
          <a:bodyPr wrap="square" lIns="0" tIns="0" rIns="0" bIns="0" rtlCol="0" anchor="t">
            <a:spAutoFit/>
          </a:bodyPr>
          <a:lstStyle/>
          <a:p>
            <a:pPr marL="0" marR="0" lvl="0" indent="0" algn="ctr" defTabSz="914400" rtl="0" eaLnBrk="1" fontAlgn="auto" latinLnBrk="0" hangingPunct="1">
              <a:lnSpc>
                <a:spcPts val="570"/>
              </a:lnSpc>
              <a:spcBef>
                <a:spcPts val="0"/>
              </a:spcBef>
              <a:spcAft>
                <a:spcPts val="0"/>
              </a:spcAft>
              <a:buClrTx/>
              <a:buSzTx/>
              <a:buFontTx/>
              <a:buNone/>
              <a:tabLst/>
              <a:defRPr/>
            </a:pPr>
            <a:r>
              <a:rPr kumimoji="0" lang="en-US" sz="1000" b="1" i="0" u="none" strike="noStrike" kern="1200" cap="none" spc="0" normalizeH="0" baseline="0" noProof="0" dirty="0">
                <a:ln>
                  <a:noFill/>
                </a:ln>
                <a:solidFill>
                  <a:prstClr val="white"/>
                </a:solidFill>
                <a:effectLst/>
                <a:uLnTx/>
                <a:uFillTx/>
                <a:latin typeface="Montserrat Bold"/>
                <a:ea typeface="Montserrat Bold"/>
                <a:cs typeface="Montserrat Bold"/>
                <a:sym typeface="Montserrat Bold"/>
              </a:rPr>
              <a:t>Week 2</a:t>
            </a:r>
          </a:p>
        </p:txBody>
      </p:sp>
      <p:sp>
        <p:nvSpPr>
          <p:cNvPr id="45" name="TextBox 42">
            <a:extLst>
              <a:ext uri="{FF2B5EF4-FFF2-40B4-BE49-F238E27FC236}">
                <a16:creationId xmlns:a16="http://schemas.microsoft.com/office/drawing/2014/main" id="{98A773B9-FA47-E9A3-17D8-4C06CA8EFFD3}"/>
              </a:ext>
            </a:extLst>
          </p:cNvPr>
          <p:cNvSpPr txBox="1"/>
          <p:nvPr/>
        </p:nvSpPr>
        <p:spPr>
          <a:xfrm>
            <a:off x="4210967" y="5191415"/>
            <a:ext cx="536946" cy="90987"/>
          </a:xfrm>
          <a:prstGeom prst="rect">
            <a:avLst/>
          </a:prstGeom>
        </p:spPr>
        <p:txBody>
          <a:bodyPr wrap="square" lIns="0" tIns="0" rIns="0" bIns="0" rtlCol="0" anchor="t">
            <a:spAutoFit/>
          </a:bodyPr>
          <a:lstStyle/>
          <a:p>
            <a:pPr marL="0" marR="0" lvl="0" indent="0" algn="ctr" defTabSz="914400" rtl="0" eaLnBrk="1" fontAlgn="auto" latinLnBrk="0" hangingPunct="1">
              <a:lnSpc>
                <a:spcPts val="570"/>
              </a:lnSpc>
              <a:spcBef>
                <a:spcPts val="0"/>
              </a:spcBef>
              <a:spcAft>
                <a:spcPts val="0"/>
              </a:spcAft>
              <a:buClrTx/>
              <a:buSzTx/>
              <a:buFontTx/>
              <a:buNone/>
              <a:tabLst/>
              <a:defRPr/>
            </a:pPr>
            <a:r>
              <a:rPr kumimoji="0" lang="en-US" sz="1140" b="1" i="0" u="none" strike="noStrike" kern="1200" cap="none" spc="0" normalizeH="0" baseline="0" noProof="0" dirty="0">
                <a:ln>
                  <a:noFill/>
                </a:ln>
                <a:solidFill>
                  <a:prstClr val="white"/>
                </a:solidFill>
                <a:effectLst/>
                <a:uLnTx/>
                <a:uFillTx/>
                <a:latin typeface="Montserrat Bold"/>
                <a:ea typeface="Montserrat Bold"/>
                <a:cs typeface="Montserrat Bold"/>
                <a:sym typeface="Montserrat Bold"/>
              </a:rPr>
              <a:t>Week 9</a:t>
            </a:r>
          </a:p>
        </p:txBody>
      </p:sp>
      <p:sp>
        <p:nvSpPr>
          <p:cNvPr id="46" name="TextBox 43">
            <a:extLst>
              <a:ext uri="{FF2B5EF4-FFF2-40B4-BE49-F238E27FC236}">
                <a16:creationId xmlns:a16="http://schemas.microsoft.com/office/drawing/2014/main" id="{1D268690-3FFB-81D8-5846-278C4506A13D}"/>
              </a:ext>
            </a:extLst>
          </p:cNvPr>
          <p:cNvSpPr txBox="1"/>
          <p:nvPr/>
        </p:nvSpPr>
        <p:spPr>
          <a:xfrm>
            <a:off x="1214151" y="2020672"/>
            <a:ext cx="1977748" cy="153888"/>
          </a:xfrm>
          <a:prstGeom prst="rect">
            <a:avLst/>
          </a:prstGeom>
        </p:spPr>
        <p:txBody>
          <a:bodyPr lIns="0" tIns="0" rIns="0" bIns="0" rtlCol="0" anchor="t">
            <a:spAutoFit/>
          </a:bodyPr>
          <a:lstStyle/>
          <a:p>
            <a:pPr marL="0" marR="0" lvl="0" indent="0" algn="ctr" defTabSz="914400" rtl="0" eaLnBrk="1" fontAlgn="auto" latinLnBrk="0" hangingPunct="1">
              <a:lnSpc>
                <a:spcPts val="1200"/>
              </a:lnSpc>
              <a:spcBef>
                <a:spcPct val="0"/>
              </a:spcBef>
              <a:spcAft>
                <a:spcPts val="0"/>
              </a:spcAft>
              <a:buClrTx/>
              <a:buSzTx/>
              <a:buFontTx/>
              <a:buNone/>
              <a:tabLst/>
              <a:defRPr/>
            </a:pPr>
            <a:r>
              <a:rPr kumimoji="0" lang="en-US" sz="1000" b="1" i="0" u="none" strike="noStrike" kern="1200" cap="none" spc="22" normalizeH="0" baseline="0" noProof="0" dirty="0">
                <a:ln>
                  <a:noFill/>
                </a:ln>
                <a:solidFill>
                  <a:prstClr val="white"/>
                </a:solidFill>
                <a:effectLst/>
                <a:uLnTx/>
                <a:uFillTx/>
                <a:latin typeface="Montserrat Ultra-Bold"/>
                <a:ea typeface="Montserrat Ultra-Bold"/>
                <a:cs typeface="Montserrat Ultra-Bold"/>
                <a:sym typeface="Montserrat Ultra-Bold"/>
              </a:rPr>
              <a:t>Introduction to Admin Law</a:t>
            </a:r>
          </a:p>
        </p:txBody>
      </p:sp>
      <p:sp>
        <p:nvSpPr>
          <p:cNvPr id="47" name="TextBox 44">
            <a:extLst>
              <a:ext uri="{FF2B5EF4-FFF2-40B4-BE49-F238E27FC236}">
                <a16:creationId xmlns:a16="http://schemas.microsoft.com/office/drawing/2014/main" id="{7A6FDB0F-922C-71B1-8AFB-5F81E3B8ABFA}"/>
              </a:ext>
            </a:extLst>
          </p:cNvPr>
          <p:cNvSpPr txBox="1"/>
          <p:nvPr/>
        </p:nvSpPr>
        <p:spPr>
          <a:xfrm>
            <a:off x="1214151" y="5579979"/>
            <a:ext cx="1977748" cy="153888"/>
          </a:xfrm>
          <a:prstGeom prst="rect">
            <a:avLst/>
          </a:prstGeom>
        </p:spPr>
        <p:txBody>
          <a:bodyPr lIns="0" tIns="0" rIns="0" bIns="0" rtlCol="0" anchor="t">
            <a:spAutoFit/>
          </a:bodyPr>
          <a:lstStyle/>
          <a:p>
            <a:pPr marL="0" marR="0" lvl="0" indent="0" algn="ctr" defTabSz="914400" rtl="0" eaLnBrk="1" fontAlgn="auto" latinLnBrk="0" hangingPunct="1">
              <a:lnSpc>
                <a:spcPts val="1200"/>
              </a:lnSpc>
              <a:spcBef>
                <a:spcPct val="0"/>
              </a:spcBef>
              <a:spcAft>
                <a:spcPts val="0"/>
              </a:spcAft>
              <a:buClrTx/>
              <a:buSzTx/>
              <a:buFontTx/>
              <a:buNone/>
              <a:tabLst/>
              <a:defRPr/>
            </a:pPr>
            <a:r>
              <a:rPr kumimoji="0" lang="en-US" sz="1000" b="1" i="0" u="none" strike="noStrike" kern="1200" cap="none" spc="22" normalizeH="0" baseline="0" noProof="0" dirty="0">
                <a:ln>
                  <a:noFill/>
                </a:ln>
                <a:solidFill>
                  <a:prstClr val="white"/>
                </a:solidFill>
                <a:effectLst/>
                <a:uLnTx/>
                <a:uFillTx/>
                <a:latin typeface="Montserrat Ultra-Bold"/>
                <a:ea typeface="Montserrat Ultra-Bold"/>
                <a:cs typeface="Montserrat Ultra-Bold"/>
                <a:sym typeface="Montserrat Ultra-Bold"/>
              </a:rPr>
              <a:t>Procedural Fairness</a:t>
            </a:r>
          </a:p>
        </p:txBody>
      </p:sp>
      <p:sp>
        <p:nvSpPr>
          <p:cNvPr id="48" name="TextBox 45">
            <a:extLst>
              <a:ext uri="{FF2B5EF4-FFF2-40B4-BE49-F238E27FC236}">
                <a16:creationId xmlns:a16="http://schemas.microsoft.com/office/drawing/2014/main" id="{C0D33F32-902B-EEEB-FCEB-863A92BFB4CE}"/>
              </a:ext>
            </a:extLst>
          </p:cNvPr>
          <p:cNvSpPr txBox="1"/>
          <p:nvPr/>
        </p:nvSpPr>
        <p:spPr>
          <a:xfrm>
            <a:off x="2279170" y="3778144"/>
            <a:ext cx="1977748" cy="153888"/>
          </a:xfrm>
          <a:prstGeom prst="rect">
            <a:avLst/>
          </a:prstGeom>
        </p:spPr>
        <p:txBody>
          <a:bodyPr lIns="0" tIns="0" rIns="0" bIns="0" rtlCol="0" anchor="t">
            <a:spAutoFit/>
          </a:bodyPr>
          <a:lstStyle/>
          <a:p>
            <a:pPr marL="0" marR="0" lvl="0" indent="0" algn="ctr" defTabSz="914400" rtl="0" eaLnBrk="1" fontAlgn="auto" latinLnBrk="0" hangingPunct="1">
              <a:lnSpc>
                <a:spcPts val="1200"/>
              </a:lnSpc>
              <a:spcBef>
                <a:spcPct val="0"/>
              </a:spcBef>
              <a:spcAft>
                <a:spcPts val="0"/>
              </a:spcAft>
              <a:buClrTx/>
              <a:buSzTx/>
              <a:buFontTx/>
              <a:buNone/>
              <a:tabLst/>
              <a:defRPr/>
            </a:pPr>
            <a:r>
              <a:rPr kumimoji="0" lang="en-US" sz="1000" b="1" i="0" u="none" strike="noStrike" kern="1200" cap="none" spc="22" normalizeH="0" baseline="0" noProof="0" dirty="0">
                <a:ln>
                  <a:noFill/>
                </a:ln>
                <a:solidFill>
                  <a:prstClr val="white"/>
                </a:solidFill>
                <a:effectLst/>
                <a:uLnTx/>
                <a:uFillTx/>
                <a:latin typeface="Montserrat Ultra-Bold"/>
                <a:ea typeface="Montserrat Ultra-Bold"/>
                <a:cs typeface="Montserrat Ultra-Bold"/>
                <a:sym typeface="Montserrat Ultra-Bold"/>
              </a:rPr>
              <a:t>Grounds of  Review</a:t>
            </a:r>
          </a:p>
        </p:txBody>
      </p:sp>
      <p:sp>
        <p:nvSpPr>
          <p:cNvPr id="49" name="TextBox 46">
            <a:extLst>
              <a:ext uri="{FF2B5EF4-FFF2-40B4-BE49-F238E27FC236}">
                <a16:creationId xmlns:a16="http://schemas.microsoft.com/office/drawing/2014/main" id="{D4EFE158-E9CE-E90F-5A90-036C97E74753}"/>
              </a:ext>
            </a:extLst>
          </p:cNvPr>
          <p:cNvSpPr txBox="1"/>
          <p:nvPr/>
        </p:nvSpPr>
        <p:spPr>
          <a:xfrm>
            <a:off x="4647210" y="3747262"/>
            <a:ext cx="1977748" cy="153888"/>
          </a:xfrm>
          <a:prstGeom prst="rect">
            <a:avLst/>
          </a:prstGeom>
        </p:spPr>
        <p:txBody>
          <a:bodyPr lIns="0" tIns="0" rIns="0" bIns="0" rtlCol="0" anchor="t">
            <a:spAutoFit/>
          </a:bodyPr>
          <a:lstStyle/>
          <a:p>
            <a:pPr marL="0" marR="0" lvl="0" indent="0" algn="ctr" defTabSz="914400" rtl="0" eaLnBrk="1" fontAlgn="auto" latinLnBrk="0" hangingPunct="1">
              <a:lnSpc>
                <a:spcPts val="1200"/>
              </a:lnSpc>
              <a:spcBef>
                <a:spcPct val="0"/>
              </a:spcBef>
              <a:spcAft>
                <a:spcPts val="0"/>
              </a:spcAft>
              <a:buClrTx/>
              <a:buSzTx/>
              <a:buFontTx/>
              <a:buNone/>
              <a:tabLst/>
              <a:defRPr/>
            </a:pPr>
            <a:r>
              <a:rPr kumimoji="0" lang="en-US" sz="1000" b="1" i="0" u="none" strike="noStrike" kern="1200" cap="none" spc="22" normalizeH="0" baseline="0" noProof="0" dirty="0">
                <a:ln>
                  <a:noFill/>
                </a:ln>
                <a:solidFill>
                  <a:prstClr val="white"/>
                </a:solidFill>
                <a:effectLst/>
                <a:uLnTx/>
                <a:uFillTx/>
                <a:latin typeface="Montserrat Ultra-Bold"/>
                <a:ea typeface="Montserrat Ultra-Bold"/>
                <a:cs typeface="Montserrat Ultra-Bold"/>
                <a:sym typeface="Montserrat Ultra-Bold"/>
              </a:rPr>
              <a:t>Limits to Judicial Review</a:t>
            </a:r>
          </a:p>
        </p:txBody>
      </p:sp>
      <p:sp>
        <p:nvSpPr>
          <p:cNvPr id="50" name="TextBox 47">
            <a:extLst>
              <a:ext uri="{FF2B5EF4-FFF2-40B4-BE49-F238E27FC236}">
                <a16:creationId xmlns:a16="http://schemas.microsoft.com/office/drawing/2014/main" id="{A0471540-2DD2-0BED-9C60-F151B1101A10}"/>
              </a:ext>
            </a:extLst>
          </p:cNvPr>
          <p:cNvSpPr txBox="1"/>
          <p:nvPr/>
        </p:nvSpPr>
        <p:spPr>
          <a:xfrm>
            <a:off x="3508423" y="2020672"/>
            <a:ext cx="1977748" cy="307777"/>
          </a:xfrm>
          <a:prstGeom prst="rect">
            <a:avLst/>
          </a:prstGeom>
        </p:spPr>
        <p:txBody>
          <a:bodyPr lIns="0" tIns="0" rIns="0" bIns="0" rtlCol="0" anchor="t">
            <a:spAutoFit/>
          </a:bodyPr>
          <a:lstStyle/>
          <a:p>
            <a:pPr marL="0" marR="0" lvl="0" indent="0" algn="ctr" defTabSz="914400" rtl="0" eaLnBrk="1" fontAlgn="auto" latinLnBrk="0" hangingPunct="1">
              <a:lnSpc>
                <a:spcPts val="1200"/>
              </a:lnSpc>
              <a:spcBef>
                <a:spcPct val="0"/>
              </a:spcBef>
              <a:spcAft>
                <a:spcPts val="0"/>
              </a:spcAft>
              <a:buClrTx/>
              <a:buSzTx/>
              <a:buFontTx/>
              <a:buNone/>
              <a:tabLst/>
              <a:defRPr/>
            </a:pPr>
            <a:r>
              <a:rPr kumimoji="0" lang="en-US" sz="1000" b="1" i="0" u="none" strike="noStrike" kern="1200" cap="none" spc="22" normalizeH="0" baseline="0" noProof="0" dirty="0">
                <a:ln>
                  <a:noFill/>
                </a:ln>
                <a:solidFill>
                  <a:prstClr val="white"/>
                </a:solidFill>
                <a:effectLst/>
                <a:uLnTx/>
                <a:uFillTx/>
                <a:latin typeface="Montserrat Ultra-Bold"/>
                <a:ea typeface="Montserrat Ultra-Bold"/>
                <a:cs typeface="Montserrat Ultra-Bold"/>
                <a:sym typeface="Montserrat Ultra-Bold"/>
              </a:rPr>
              <a:t>Statutory Interpretation &amp;</a:t>
            </a:r>
          </a:p>
          <a:p>
            <a:pPr marL="0" marR="0" lvl="0" indent="0" algn="ctr" defTabSz="914400" rtl="0" eaLnBrk="1" fontAlgn="auto" latinLnBrk="0" hangingPunct="1">
              <a:lnSpc>
                <a:spcPts val="1200"/>
              </a:lnSpc>
              <a:spcBef>
                <a:spcPct val="0"/>
              </a:spcBef>
              <a:spcAft>
                <a:spcPts val="0"/>
              </a:spcAft>
              <a:buClrTx/>
              <a:buSzTx/>
              <a:buFontTx/>
              <a:buNone/>
              <a:tabLst/>
              <a:defRPr/>
            </a:pPr>
            <a:r>
              <a:rPr kumimoji="0" lang="en-US" sz="1000" b="1" i="0" u="none" strike="noStrike" kern="1200" cap="none" spc="22" normalizeH="0" baseline="0" noProof="0" dirty="0">
                <a:ln>
                  <a:noFill/>
                </a:ln>
                <a:solidFill>
                  <a:prstClr val="white"/>
                </a:solidFill>
                <a:effectLst/>
                <a:uLnTx/>
                <a:uFillTx/>
                <a:latin typeface="Montserrat Ultra-Bold"/>
                <a:ea typeface="Montserrat Ultra-Bold"/>
                <a:cs typeface="Montserrat Ultra-Bold"/>
                <a:sym typeface="Montserrat Ultra-Bold"/>
              </a:rPr>
              <a:t>Delegated Legislation</a:t>
            </a:r>
          </a:p>
        </p:txBody>
      </p:sp>
      <p:sp>
        <p:nvSpPr>
          <p:cNvPr id="51" name="TextBox 48">
            <a:extLst>
              <a:ext uri="{FF2B5EF4-FFF2-40B4-BE49-F238E27FC236}">
                <a16:creationId xmlns:a16="http://schemas.microsoft.com/office/drawing/2014/main" id="{9894400D-0BDB-9F27-3BEA-BCD9F375D0DA}"/>
              </a:ext>
            </a:extLst>
          </p:cNvPr>
          <p:cNvSpPr txBox="1"/>
          <p:nvPr/>
        </p:nvSpPr>
        <p:spPr>
          <a:xfrm>
            <a:off x="3434107" y="5551032"/>
            <a:ext cx="1977748" cy="153888"/>
          </a:xfrm>
          <a:prstGeom prst="rect">
            <a:avLst/>
          </a:prstGeom>
        </p:spPr>
        <p:txBody>
          <a:bodyPr lIns="0" tIns="0" rIns="0" bIns="0" rtlCol="0" anchor="t">
            <a:spAutoFit/>
          </a:bodyPr>
          <a:lstStyle/>
          <a:p>
            <a:pPr marL="0" marR="0" lvl="0" indent="0" algn="ctr" defTabSz="914400" rtl="0" eaLnBrk="1" fontAlgn="auto" latinLnBrk="0" hangingPunct="1">
              <a:lnSpc>
                <a:spcPts val="1200"/>
              </a:lnSpc>
              <a:spcBef>
                <a:spcPct val="0"/>
              </a:spcBef>
              <a:spcAft>
                <a:spcPts val="0"/>
              </a:spcAft>
              <a:buClrTx/>
              <a:buSzTx/>
              <a:buFontTx/>
              <a:buNone/>
              <a:tabLst/>
              <a:defRPr/>
            </a:pPr>
            <a:r>
              <a:rPr kumimoji="0" lang="en-US" sz="1000" b="1" i="0" u="none" strike="noStrike" kern="1200" cap="none" spc="22" normalizeH="0" baseline="0" noProof="0" dirty="0">
                <a:ln>
                  <a:noFill/>
                </a:ln>
                <a:solidFill>
                  <a:prstClr val="white"/>
                </a:solidFill>
                <a:effectLst/>
                <a:uLnTx/>
                <a:uFillTx/>
                <a:latin typeface="Montserrat Ultra-Bold"/>
                <a:ea typeface="Montserrat Ultra-Bold"/>
                <a:cs typeface="Montserrat Ultra-Bold"/>
                <a:sym typeface="Montserrat Ultra-Bold"/>
              </a:rPr>
              <a:t>Grounds from Statute</a:t>
            </a:r>
          </a:p>
        </p:txBody>
      </p:sp>
      <p:sp>
        <p:nvSpPr>
          <p:cNvPr id="52" name="TextBox 49">
            <a:extLst>
              <a:ext uri="{FF2B5EF4-FFF2-40B4-BE49-F238E27FC236}">
                <a16:creationId xmlns:a16="http://schemas.microsoft.com/office/drawing/2014/main" id="{72339F07-C79D-608C-575D-4933077AD1C7}"/>
              </a:ext>
            </a:extLst>
          </p:cNvPr>
          <p:cNvSpPr txBox="1"/>
          <p:nvPr/>
        </p:nvSpPr>
        <p:spPr>
          <a:xfrm>
            <a:off x="5802695" y="2020672"/>
            <a:ext cx="1977748" cy="461665"/>
          </a:xfrm>
          <a:prstGeom prst="rect">
            <a:avLst/>
          </a:prstGeom>
        </p:spPr>
        <p:txBody>
          <a:bodyPr lIns="0" tIns="0" rIns="0" bIns="0" rtlCol="0" anchor="t">
            <a:spAutoFit/>
          </a:bodyPr>
          <a:lstStyle/>
          <a:p>
            <a:pPr marL="0" marR="0" lvl="0" indent="0" algn="ctr" defTabSz="914400" rtl="0" eaLnBrk="1" fontAlgn="auto" latinLnBrk="0" hangingPunct="1">
              <a:lnSpc>
                <a:spcPts val="1200"/>
              </a:lnSpc>
              <a:spcBef>
                <a:spcPct val="0"/>
              </a:spcBef>
              <a:spcAft>
                <a:spcPts val="0"/>
              </a:spcAft>
              <a:buClrTx/>
              <a:buSzTx/>
              <a:buFontTx/>
              <a:buNone/>
              <a:tabLst/>
              <a:defRPr/>
            </a:pPr>
            <a:r>
              <a:rPr kumimoji="0" lang="en-US" sz="1000" b="1" i="0" u="none" strike="noStrike" kern="1200" cap="none" spc="22" normalizeH="0" baseline="0" noProof="0" dirty="0">
                <a:ln>
                  <a:noFill/>
                </a:ln>
                <a:solidFill>
                  <a:prstClr val="white"/>
                </a:solidFill>
                <a:effectLst/>
                <a:uLnTx/>
                <a:uFillTx/>
                <a:latin typeface="Montserrat Ultra-Bold"/>
                <a:ea typeface="Montserrat Ultra-Bold"/>
                <a:cs typeface="Montserrat Ultra-Bold"/>
                <a:sym typeface="Montserrat Ultra-Bold"/>
              </a:rPr>
              <a:t>Mechanisms of Transparency &amp; Accountability</a:t>
            </a:r>
          </a:p>
          <a:p>
            <a:pPr marL="0" marR="0" lvl="0" indent="0" algn="ctr" defTabSz="914400" rtl="0" eaLnBrk="1" fontAlgn="auto" latinLnBrk="0" hangingPunct="1">
              <a:lnSpc>
                <a:spcPts val="1200"/>
              </a:lnSpc>
              <a:spcBef>
                <a:spcPct val="0"/>
              </a:spcBef>
              <a:spcAft>
                <a:spcPts val="0"/>
              </a:spcAft>
              <a:buClrTx/>
              <a:buSzTx/>
              <a:buFontTx/>
              <a:buNone/>
              <a:tabLst/>
              <a:defRPr/>
            </a:pPr>
            <a:endParaRPr kumimoji="0" lang="en-US" sz="1000" b="1" i="0" u="none" strike="noStrike" kern="1200" cap="none" spc="22" normalizeH="0" baseline="0" noProof="0" dirty="0">
              <a:ln>
                <a:noFill/>
              </a:ln>
              <a:solidFill>
                <a:prstClr val="white"/>
              </a:solidFill>
              <a:effectLst/>
              <a:uLnTx/>
              <a:uFillTx/>
              <a:latin typeface="Montserrat Ultra-Bold"/>
              <a:ea typeface="Montserrat Ultra-Bold"/>
              <a:cs typeface="Montserrat Ultra-Bold"/>
              <a:sym typeface="Montserrat Ultra-Bold"/>
            </a:endParaRPr>
          </a:p>
        </p:txBody>
      </p:sp>
      <p:sp>
        <p:nvSpPr>
          <p:cNvPr id="53" name="TextBox 50">
            <a:extLst>
              <a:ext uri="{FF2B5EF4-FFF2-40B4-BE49-F238E27FC236}">
                <a16:creationId xmlns:a16="http://schemas.microsoft.com/office/drawing/2014/main" id="{7E7166D1-DB17-129D-4848-FCA22307E445}"/>
              </a:ext>
            </a:extLst>
          </p:cNvPr>
          <p:cNvSpPr txBox="1"/>
          <p:nvPr/>
        </p:nvSpPr>
        <p:spPr>
          <a:xfrm>
            <a:off x="4997587" y="5524909"/>
            <a:ext cx="1977748" cy="307777"/>
          </a:xfrm>
          <a:prstGeom prst="rect">
            <a:avLst/>
          </a:prstGeom>
        </p:spPr>
        <p:txBody>
          <a:bodyPr lIns="0" tIns="0" rIns="0" bIns="0" rtlCol="0" anchor="t">
            <a:spAutoFit/>
          </a:bodyPr>
          <a:lstStyle/>
          <a:p>
            <a:pPr marL="0" marR="0" lvl="0" indent="0" algn="ctr" defTabSz="914400" rtl="0" eaLnBrk="1" fontAlgn="auto" latinLnBrk="0" hangingPunct="1">
              <a:lnSpc>
                <a:spcPts val="1200"/>
              </a:lnSpc>
              <a:spcBef>
                <a:spcPct val="0"/>
              </a:spcBef>
              <a:spcAft>
                <a:spcPts val="0"/>
              </a:spcAft>
              <a:buClrTx/>
              <a:buSzTx/>
              <a:buFontTx/>
              <a:buNone/>
              <a:tabLst/>
              <a:defRPr/>
            </a:pPr>
            <a:r>
              <a:rPr kumimoji="0" lang="en-US" sz="1000" b="1" i="0" u="none" strike="noStrike" kern="1200" cap="none" spc="22" normalizeH="0" baseline="0" noProof="0" dirty="0">
                <a:ln>
                  <a:noFill/>
                </a:ln>
                <a:solidFill>
                  <a:prstClr val="white"/>
                </a:solidFill>
                <a:effectLst/>
                <a:uLnTx/>
                <a:uFillTx/>
                <a:latin typeface="Montserrat Ultra-Bold"/>
                <a:ea typeface="Montserrat Ultra-Bold"/>
                <a:cs typeface="Montserrat Ultra-Bold"/>
                <a:sym typeface="Montserrat Ultra-Bold"/>
              </a:rPr>
              <a:t>Grounds from </a:t>
            </a:r>
          </a:p>
          <a:p>
            <a:pPr marL="0" marR="0" lvl="0" indent="0" algn="ctr" defTabSz="914400" rtl="0" eaLnBrk="1" fontAlgn="auto" latinLnBrk="0" hangingPunct="1">
              <a:lnSpc>
                <a:spcPts val="1200"/>
              </a:lnSpc>
              <a:spcBef>
                <a:spcPct val="0"/>
              </a:spcBef>
              <a:spcAft>
                <a:spcPts val="0"/>
              </a:spcAft>
              <a:buClrTx/>
              <a:buSzTx/>
              <a:buFontTx/>
              <a:buNone/>
              <a:tabLst/>
              <a:defRPr/>
            </a:pPr>
            <a:r>
              <a:rPr kumimoji="0" lang="en-US" sz="1000" b="1" i="0" u="none" strike="noStrike" kern="1200" cap="none" spc="22" normalizeH="0" baseline="0" noProof="0" dirty="0">
                <a:ln>
                  <a:noFill/>
                </a:ln>
                <a:solidFill>
                  <a:prstClr val="white"/>
                </a:solidFill>
                <a:effectLst/>
                <a:uLnTx/>
                <a:uFillTx/>
                <a:latin typeface="Montserrat Ultra-Bold"/>
                <a:ea typeface="Montserrat Ultra-Bold"/>
                <a:cs typeface="Montserrat Ultra-Bold"/>
                <a:sym typeface="Montserrat Ultra-Bold"/>
              </a:rPr>
              <a:t>General Law</a:t>
            </a:r>
          </a:p>
        </p:txBody>
      </p:sp>
      <p:sp>
        <p:nvSpPr>
          <p:cNvPr id="54" name="TextBox 51">
            <a:extLst>
              <a:ext uri="{FF2B5EF4-FFF2-40B4-BE49-F238E27FC236}">
                <a16:creationId xmlns:a16="http://schemas.microsoft.com/office/drawing/2014/main" id="{1E8765D7-C5AD-BE59-F1A6-2C9E9381E873}"/>
              </a:ext>
            </a:extLst>
          </p:cNvPr>
          <p:cNvSpPr txBox="1"/>
          <p:nvPr/>
        </p:nvSpPr>
        <p:spPr>
          <a:xfrm>
            <a:off x="8096967" y="2020672"/>
            <a:ext cx="1977748" cy="153888"/>
          </a:xfrm>
          <a:prstGeom prst="rect">
            <a:avLst/>
          </a:prstGeom>
        </p:spPr>
        <p:txBody>
          <a:bodyPr lIns="0" tIns="0" rIns="0" bIns="0" rtlCol="0" anchor="t">
            <a:spAutoFit/>
          </a:bodyPr>
          <a:lstStyle/>
          <a:p>
            <a:pPr marL="0" marR="0" lvl="0" indent="0" algn="ctr" defTabSz="914400" rtl="0" eaLnBrk="1" fontAlgn="auto" latinLnBrk="0" hangingPunct="1">
              <a:lnSpc>
                <a:spcPts val="1200"/>
              </a:lnSpc>
              <a:spcBef>
                <a:spcPct val="0"/>
              </a:spcBef>
              <a:spcAft>
                <a:spcPts val="0"/>
              </a:spcAft>
              <a:buClrTx/>
              <a:buSzTx/>
              <a:buFontTx/>
              <a:buNone/>
              <a:tabLst/>
              <a:defRPr/>
            </a:pPr>
            <a:r>
              <a:rPr kumimoji="0" lang="en-US" sz="1000" b="1" i="0" u="none" strike="noStrike" kern="1200" cap="none" spc="22" normalizeH="0" baseline="0" noProof="0" dirty="0">
                <a:ln>
                  <a:noFill/>
                </a:ln>
                <a:solidFill>
                  <a:prstClr val="white"/>
                </a:solidFill>
                <a:effectLst/>
                <a:uLnTx/>
                <a:uFillTx/>
                <a:latin typeface="Montserrat Ultra-Bold"/>
                <a:ea typeface="Montserrat Ultra-Bold"/>
                <a:cs typeface="Montserrat Ultra-Bold"/>
                <a:sym typeface="Montserrat Ultra-Bold"/>
              </a:rPr>
              <a:t>Merits Review</a:t>
            </a:r>
          </a:p>
        </p:txBody>
      </p:sp>
      <p:sp>
        <p:nvSpPr>
          <p:cNvPr id="55" name="TextBox 52">
            <a:extLst>
              <a:ext uri="{FF2B5EF4-FFF2-40B4-BE49-F238E27FC236}">
                <a16:creationId xmlns:a16="http://schemas.microsoft.com/office/drawing/2014/main" id="{EC9A03B7-15C9-B21B-EAE1-4D063E314B34}"/>
              </a:ext>
            </a:extLst>
          </p:cNvPr>
          <p:cNvSpPr txBox="1"/>
          <p:nvPr/>
        </p:nvSpPr>
        <p:spPr>
          <a:xfrm>
            <a:off x="6914779" y="5576562"/>
            <a:ext cx="1977748" cy="153888"/>
          </a:xfrm>
          <a:prstGeom prst="rect">
            <a:avLst/>
          </a:prstGeom>
        </p:spPr>
        <p:txBody>
          <a:bodyPr lIns="0" tIns="0" rIns="0" bIns="0" rtlCol="0" anchor="t">
            <a:spAutoFit/>
          </a:bodyPr>
          <a:lstStyle/>
          <a:p>
            <a:pPr marL="0" marR="0" lvl="0" indent="0" algn="ctr" defTabSz="914400" rtl="0" eaLnBrk="1" fontAlgn="auto" latinLnBrk="0" hangingPunct="1">
              <a:lnSpc>
                <a:spcPts val="1200"/>
              </a:lnSpc>
              <a:spcBef>
                <a:spcPct val="0"/>
              </a:spcBef>
              <a:spcAft>
                <a:spcPts val="0"/>
              </a:spcAft>
              <a:buClrTx/>
              <a:buSzTx/>
              <a:buFontTx/>
              <a:buNone/>
              <a:tabLst/>
              <a:defRPr/>
            </a:pPr>
            <a:r>
              <a:rPr kumimoji="0" lang="en-US" sz="1000" b="1" i="0" u="none" strike="noStrike" kern="1200" cap="none" spc="22" normalizeH="0" baseline="0" noProof="0" dirty="0">
                <a:ln>
                  <a:noFill/>
                </a:ln>
                <a:solidFill>
                  <a:prstClr val="white"/>
                </a:solidFill>
                <a:effectLst/>
                <a:uLnTx/>
                <a:uFillTx/>
                <a:latin typeface="Montserrat Ultra-Bold"/>
                <a:ea typeface="Montserrat Ultra-Bold"/>
                <a:cs typeface="Montserrat Ultra-Bold"/>
                <a:sym typeface="Montserrat Ultra-Bold"/>
              </a:rPr>
              <a:t>Remedies</a:t>
            </a:r>
          </a:p>
        </p:txBody>
      </p:sp>
      <p:sp>
        <p:nvSpPr>
          <p:cNvPr id="56" name="TextBox 53">
            <a:extLst>
              <a:ext uri="{FF2B5EF4-FFF2-40B4-BE49-F238E27FC236}">
                <a16:creationId xmlns:a16="http://schemas.microsoft.com/office/drawing/2014/main" id="{AF585C82-65B9-7B79-7DAE-2B50734EE21D}"/>
              </a:ext>
            </a:extLst>
          </p:cNvPr>
          <p:cNvSpPr txBox="1"/>
          <p:nvPr/>
        </p:nvSpPr>
        <p:spPr>
          <a:xfrm>
            <a:off x="6993914" y="3756295"/>
            <a:ext cx="1977748" cy="153888"/>
          </a:xfrm>
          <a:prstGeom prst="rect">
            <a:avLst/>
          </a:prstGeom>
        </p:spPr>
        <p:txBody>
          <a:bodyPr lIns="0" tIns="0" rIns="0" bIns="0" rtlCol="0" anchor="t">
            <a:spAutoFit/>
          </a:bodyPr>
          <a:lstStyle/>
          <a:p>
            <a:pPr marL="0" marR="0" lvl="0" indent="0" algn="ctr" defTabSz="914400" rtl="0" eaLnBrk="1" fontAlgn="auto" latinLnBrk="0" hangingPunct="1">
              <a:lnSpc>
                <a:spcPts val="1200"/>
              </a:lnSpc>
              <a:spcBef>
                <a:spcPct val="0"/>
              </a:spcBef>
              <a:spcAft>
                <a:spcPts val="0"/>
              </a:spcAft>
              <a:buClrTx/>
              <a:buSzTx/>
              <a:buFontTx/>
              <a:buNone/>
              <a:tabLst/>
              <a:defRPr/>
            </a:pPr>
            <a:r>
              <a:rPr kumimoji="0" lang="en-US" sz="1000" b="1" i="0" u="none" strike="noStrike" kern="1200" cap="none" spc="22" normalizeH="0" baseline="0" noProof="0" dirty="0">
                <a:ln>
                  <a:noFill/>
                </a:ln>
                <a:solidFill>
                  <a:prstClr val="white"/>
                </a:solidFill>
                <a:effectLst/>
                <a:uLnTx/>
                <a:uFillTx/>
                <a:latin typeface="Montserrat Ultra-Bold"/>
                <a:ea typeface="Montserrat Ultra-Bold"/>
                <a:cs typeface="Montserrat Ultra-Bold"/>
                <a:sym typeface="Montserrat Ultra-Bold"/>
              </a:rPr>
              <a:t>Judicial Review</a:t>
            </a:r>
          </a:p>
        </p:txBody>
      </p:sp>
      <p:sp>
        <p:nvSpPr>
          <p:cNvPr id="57" name="TextBox 54">
            <a:extLst>
              <a:ext uri="{FF2B5EF4-FFF2-40B4-BE49-F238E27FC236}">
                <a16:creationId xmlns:a16="http://schemas.microsoft.com/office/drawing/2014/main" id="{2FDF657B-6F6A-86D7-FE70-229059BEEBB1}"/>
              </a:ext>
            </a:extLst>
          </p:cNvPr>
          <p:cNvSpPr txBox="1"/>
          <p:nvPr/>
        </p:nvSpPr>
        <p:spPr>
          <a:xfrm>
            <a:off x="6512031" y="1561350"/>
            <a:ext cx="560145" cy="89833"/>
          </a:xfrm>
          <a:prstGeom prst="rect">
            <a:avLst/>
          </a:prstGeom>
        </p:spPr>
        <p:txBody>
          <a:bodyPr wrap="square" lIns="0" tIns="0" rIns="0" bIns="0" rtlCol="0" anchor="t">
            <a:spAutoFit/>
          </a:bodyPr>
          <a:lstStyle/>
          <a:p>
            <a:pPr marL="0" marR="0" lvl="0" indent="0" algn="ctr" defTabSz="914400" rtl="0" eaLnBrk="1" fontAlgn="auto" latinLnBrk="0" hangingPunct="1">
              <a:lnSpc>
                <a:spcPts val="570"/>
              </a:lnSpc>
              <a:spcBef>
                <a:spcPts val="0"/>
              </a:spcBef>
              <a:spcAft>
                <a:spcPts val="0"/>
              </a:spcAft>
              <a:buClrTx/>
              <a:buSzTx/>
              <a:buFontTx/>
              <a:buNone/>
              <a:tabLst/>
              <a:defRPr/>
            </a:pPr>
            <a:r>
              <a:rPr kumimoji="0" lang="en-US" sz="1100" b="1" i="0" u="none" strike="noStrike" kern="1200" cap="none" spc="0" normalizeH="0" baseline="0" noProof="0" dirty="0">
                <a:ln>
                  <a:noFill/>
                </a:ln>
                <a:solidFill>
                  <a:prstClr val="white"/>
                </a:solidFill>
                <a:effectLst/>
                <a:uLnTx/>
                <a:uFillTx/>
                <a:latin typeface="Montserrat Bold"/>
                <a:ea typeface="Montserrat Bold"/>
                <a:cs typeface="Montserrat Bold"/>
                <a:sym typeface="Montserrat Bold"/>
              </a:rPr>
              <a:t>Week 3</a:t>
            </a:r>
          </a:p>
        </p:txBody>
      </p:sp>
      <p:sp>
        <p:nvSpPr>
          <p:cNvPr id="58" name="TextBox 55">
            <a:extLst>
              <a:ext uri="{FF2B5EF4-FFF2-40B4-BE49-F238E27FC236}">
                <a16:creationId xmlns:a16="http://schemas.microsoft.com/office/drawing/2014/main" id="{4FAFC052-F17C-425C-B24F-71E7B068BA23}"/>
              </a:ext>
            </a:extLst>
          </p:cNvPr>
          <p:cNvSpPr txBox="1"/>
          <p:nvPr/>
        </p:nvSpPr>
        <p:spPr>
          <a:xfrm>
            <a:off x="5555152" y="5164693"/>
            <a:ext cx="772348" cy="90987"/>
          </a:xfrm>
          <a:prstGeom prst="rect">
            <a:avLst/>
          </a:prstGeom>
        </p:spPr>
        <p:txBody>
          <a:bodyPr wrap="square" lIns="0" tIns="0" rIns="0" bIns="0" rtlCol="0" anchor="t">
            <a:spAutoFit/>
          </a:bodyPr>
          <a:lstStyle/>
          <a:p>
            <a:pPr marL="0" marR="0" lvl="0" indent="0" algn="ctr" defTabSz="914400" rtl="0" eaLnBrk="1" fontAlgn="auto" latinLnBrk="0" hangingPunct="1">
              <a:lnSpc>
                <a:spcPts val="570"/>
              </a:lnSpc>
              <a:spcBef>
                <a:spcPts val="0"/>
              </a:spcBef>
              <a:spcAft>
                <a:spcPts val="0"/>
              </a:spcAft>
              <a:buClrTx/>
              <a:buSzTx/>
              <a:buFontTx/>
              <a:buNone/>
              <a:tabLst/>
              <a:defRPr/>
            </a:pPr>
            <a:r>
              <a:rPr kumimoji="0" lang="en-US" sz="1140" b="1" i="0" u="none" strike="noStrike" kern="1200" cap="none" spc="0" normalizeH="0" baseline="0" noProof="0" dirty="0">
                <a:ln>
                  <a:noFill/>
                </a:ln>
                <a:solidFill>
                  <a:prstClr val="white"/>
                </a:solidFill>
                <a:effectLst/>
                <a:uLnTx/>
                <a:uFillTx/>
                <a:latin typeface="Montserrat Bold"/>
                <a:ea typeface="Montserrat Bold"/>
                <a:cs typeface="Montserrat Bold"/>
                <a:sym typeface="Montserrat Bold"/>
              </a:rPr>
              <a:t>Week 10</a:t>
            </a:r>
          </a:p>
        </p:txBody>
      </p:sp>
      <p:sp>
        <p:nvSpPr>
          <p:cNvPr id="59" name="TextBox 56">
            <a:extLst>
              <a:ext uri="{FF2B5EF4-FFF2-40B4-BE49-F238E27FC236}">
                <a16:creationId xmlns:a16="http://schemas.microsoft.com/office/drawing/2014/main" id="{68FEA5CB-9630-7B5E-5E2D-82F71C687D38}"/>
              </a:ext>
            </a:extLst>
          </p:cNvPr>
          <p:cNvSpPr txBox="1"/>
          <p:nvPr/>
        </p:nvSpPr>
        <p:spPr>
          <a:xfrm>
            <a:off x="8790364" y="1574475"/>
            <a:ext cx="602953" cy="90987"/>
          </a:xfrm>
          <a:prstGeom prst="rect">
            <a:avLst/>
          </a:prstGeom>
        </p:spPr>
        <p:txBody>
          <a:bodyPr wrap="square" lIns="0" tIns="0" rIns="0" bIns="0" rtlCol="0" anchor="t">
            <a:spAutoFit/>
          </a:bodyPr>
          <a:lstStyle/>
          <a:p>
            <a:pPr marL="0" marR="0" lvl="0" indent="0" algn="ctr" defTabSz="914400" rtl="0" eaLnBrk="1" fontAlgn="auto" latinLnBrk="0" hangingPunct="1">
              <a:lnSpc>
                <a:spcPts val="570"/>
              </a:lnSpc>
              <a:spcBef>
                <a:spcPts val="0"/>
              </a:spcBef>
              <a:spcAft>
                <a:spcPts val="0"/>
              </a:spcAft>
              <a:buClrTx/>
              <a:buSzTx/>
              <a:buFontTx/>
              <a:buNone/>
              <a:tabLst/>
              <a:defRPr/>
            </a:pPr>
            <a:r>
              <a:rPr kumimoji="0" lang="en-US" sz="1100" b="1" i="0" u="none" strike="noStrike" kern="1200" cap="none" spc="0" normalizeH="0" baseline="0" noProof="0" dirty="0">
                <a:ln>
                  <a:noFill/>
                </a:ln>
                <a:solidFill>
                  <a:prstClr val="white"/>
                </a:solidFill>
                <a:effectLst/>
                <a:uLnTx/>
                <a:uFillTx/>
                <a:latin typeface="Montserrat Bold"/>
                <a:ea typeface="Montserrat Bold"/>
                <a:cs typeface="Montserrat Bold"/>
                <a:sym typeface="Montserrat Bold"/>
              </a:rPr>
              <a:t>Week 4</a:t>
            </a:r>
          </a:p>
        </p:txBody>
      </p:sp>
      <p:sp>
        <p:nvSpPr>
          <p:cNvPr id="60" name="TextBox 57">
            <a:extLst>
              <a:ext uri="{FF2B5EF4-FFF2-40B4-BE49-F238E27FC236}">
                <a16:creationId xmlns:a16="http://schemas.microsoft.com/office/drawing/2014/main" id="{FB3B780C-ED15-A094-415B-6AB804B1B88F}"/>
              </a:ext>
            </a:extLst>
          </p:cNvPr>
          <p:cNvSpPr txBox="1"/>
          <p:nvPr/>
        </p:nvSpPr>
        <p:spPr>
          <a:xfrm>
            <a:off x="7417593" y="5166760"/>
            <a:ext cx="617125" cy="90987"/>
          </a:xfrm>
          <a:prstGeom prst="rect">
            <a:avLst/>
          </a:prstGeom>
        </p:spPr>
        <p:txBody>
          <a:bodyPr wrap="square" lIns="0" tIns="0" rIns="0" bIns="0" rtlCol="0" anchor="t">
            <a:spAutoFit/>
          </a:bodyPr>
          <a:lstStyle/>
          <a:p>
            <a:pPr marL="0" marR="0" lvl="0" indent="0" algn="ctr" defTabSz="914400" rtl="0" eaLnBrk="1" fontAlgn="auto" latinLnBrk="0" hangingPunct="1">
              <a:lnSpc>
                <a:spcPts val="570"/>
              </a:lnSpc>
              <a:spcBef>
                <a:spcPts val="0"/>
              </a:spcBef>
              <a:spcAft>
                <a:spcPts val="0"/>
              </a:spcAft>
              <a:buClrTx/>
              <a:buSzTx/>
              <a:buFontTx/>
              <a:buNone/>
              <a:tabLst/>
              <a:defRPr/>
            </a:pPr>
            <a:r>
              <a:rPr kumimoji="0" lang="en-US" sz="1140" b="1" i="0" u="none" strike="noStrike" kern="1200" cap="none" spc="0" normalizeH="0" baseline="0" noProof="0" dirty="0">
                <a:ln>
                  <a:noFill/>
                </a:ln>
                <a:solidFill>
                  <a:prstClr val="white"/>
                </a:solidFill>
                <a:effectLst/>
                <a:uLnTx/>
                <a:uFillTx/>
                <a:latin typeface="Montserrat Bold"/>
                <a:ea typeface="Montserrat Bold"/>
                <a:cs typeface="Montserrat Bold"/>
                <a:sym typeface="Montserrat Bold"/>
              </a:rPr>
              <a:t>Week 11</a:t>
            </a:r>
          </a:p>
        </p:txBody>
      </p:sp>
      <p:sp>
        <p:nvSpPr>
          <p:cNvPr id="61" name="TextBox 58">
            <a:extLst>
              <a:ext uri="{FF2B5EF4-FFF2-40B4-BE49-F238E27FC236}">
                <a16:creationId xmlns:a16="http://schemas.microsoft.com/office/drawing/2014/main" id="{5580DB9A-E618-1B0D-945F-E472B4F2384D}"/>
              </a:ext>
            </a:extLst>
          </p:cNvPr>
          <p:cNvSpPr txBox="1"/>
          <p:nvPr/>
        </p:nvSpPr>
        <p:spPr>
          <a:xfrm>
            <a:off x="7306851" y="3359388"/>
            <a:ext cx="747909" cy="89833"/>
          </a:xfrm>
          <a:prstGeom prst="rect">
            <a:avLst/>
          </a:prstGeom>
        </p:spPr>
        <p:txBody>
          <a:bodyPr wrap="square" lIns="0" tIns="0" rIns="0" bIns="0" rtlCol="0" anchor="t">
            <a:spAutoFit/>
          </a:bodyPr>
          <a:lstStyle/>
          <a:p>
            <a:pPr marL="0" marR="0" lvl="0" indent="0" algn="ctr" defTabSz="914400" rtl="0" eaLnBrk="1" fontAlgn="auto" latinLnBrk="0" hangingPunct="1">
              <a:lnSpc>
                <a:spcPts val="570"/>
              </a:lnSpc>
              <a:spcBef>
                <a:spcPts val="0"/>
              </a:spcBef>
              <a:spcAft>
                <a:spcPts val="0"/>
              </a:spcAft>
              <a:buClrTx/>
              <a:buSzTx/>
              <a:buFontTx/>
              <a:buNone/>
              <a:tabLst/>
              <a:defRPr/>
            </a:pPr>
            <a:r>
              <a:rPr kumimoji="0" lang="en-US" sz="1100" b="1" i="0" u="none" strike="noStrike" kern="1200" cap="none" spc="0" normalizeH="0" baseline="0" noProof="0" dirty="0">
                <a:ln>
                  <a:noFill/>
                </a:ln>
                <a:solidFill>
                  <a:prstClr val="white"/>
                </a:solidFill>
                <a:effectLst/>
                <a:uLnTx/>
                <a:uFillTx/>
                <a:latin typeface="Montserrat Bold"/>
                <a:ea typeface="Montserrat Bold"/>
                <a:cs typeface="Montserrat Bold"/>
                <a:sym typeface="Montserrat Bold"/>
              </a:rPr>
              <a:t>Week 5</a:t>
            </a:r>
          </a:p>
        </p:txBody>
      </p:sp>
      <p:sp>
        <p:nvSpPr>
          <p:cNvPr id="62" name="TextBox 59">
            <a:extLst>
              <a:ext uri="{FF2B5EF4-FFF2-40B4-BE49-F238E27FC236}">
                <a16:creationId xmlns:a16="http://schemas.microsoft.com/office/drawing/2014/main" id="{BC328A3C-2ADF-3272-C85A-FDC71E853DE7}"/>
              </a:ext>
            </a:extLst>
          </p:cNvPr>
          <p:cNvSpPr txBox="1"/>
          <p:nvPr/>
        </p:nvSpPr>
        <p:spPr>
          <a:xfrm>
            <a:off x="1217461" y="2299527"/>
            <a:ext cx="1971128" cy="293607"/>
          </a:xfrm>
          <a:prstGeom prst="rect">
            <a:avLst/>
          </a:prstGeom>
        </p:spPr>
        <p:txBody>
          <a:bodyPr lIns="0" tIns="0" rIns="0" bIns="0" rtlCol="0" anchor="t">
            <a:spAutoFit/>
          </a:bodyPr>
          <a:lstStyle/>
          <a:p>
            <a:pPr marL="0" marR="0" lvl="0" indent="0" algn="ctr" defTabSz="914400" rtl="0" eaLnBrk="1" fontAlgn="auto" latinLnBrk="0" hangingPunct="1">
              <a:lnSpc>
                <a:spcPts val="1191"/>
              </a:lnSpc>
              <a:spcBef>
                <a:spcPts val="0"/>
              </a:spcBef>
              <a:spcAft>
                <a:spcPts val="0"/>
              </a:spcAft>
              <a:buClrTx/>
              <a:buSzTx/>
              <a:buFontTx/>
              <a:buNone/>
              <a:tabLst/>
              <a:defRPr/>
            </a:pPr>
            <a:r>
              <a:rPr kumimoji="0" lang="en-US" sz="832" b="0" i="0" u="none" strike="noStrike" kern="1200" cap="none" spc="0" normalizeH="0" baseline="0" noProof="0" dirty="0">
                <a:ln>
                  <a:noFill/>
                </a:ln>
                <a:solidFill>
                  <a:prstClr val="white"/>
                </a:solidFill>
                <a:effectLst/>
                <a:uLnTx/>
                <a:uFillTx/>
                <a:latin typeface="Glacial Indifference"/>
                <a:ea typeface="Glacial Indifference"/>
                <a:cs typeface="Glacial Indifference"/>
                <a:sym typeface="Glacial Indifference"/>
              </a:rPr>
              <a:t>Examines the origins and importance of Admin law and covers key concepts</a:t>
            </a:r>
          </a:p>
        </p:txBody>
      </p:sp>
      <p:sp>
        <p:nvSpPr>
          <p:cNvPr id="63" name="TextBox 60">
            <a:extLst>
              <a:ext uri="{FF2B5EF4-FFF2-40B4-BE49-F238E27FC236}">
                <a16:creationId xmlns:a16="http://schemas.microsoft.com/office/drawing/2014/main" id="{08EB4CE7-D63C-A06A-249B-0ED05B10F0D4}"/>
              </a:ext>
            </a:extLst>
          </p:cNvPr>
          <p:cNvSpPr txBox="1"/>
          <p:nvPr/>
        </p:nvSpPr>
        <p:spPr>
          <a:xfrm>
            <a:off x="1217461" y="5858834"/>
            <a:ext cx="1971128" cy="601383"/>
          </a:xfrm>
          <a:prstGeom prst="rect">
            <a:avLst/>
          </a:prstGeom>
        </p:spPr>
        <p:txBody>
          <a:bodyPr lIns="0" tIns="0" rIns="0" bIns="0" rtlCol="0" anchor="t">
            <a:spAutoFit/>
          </a:bodyPr>
          <a:lstStyle/>
          <a:p>
            <a:pPr marL="0" marR="0" lvl="0" indent="0" algn="ctr" defTabSz="914400" rtl="0" eaLnBrk="1" fontAlgn="auto" latinLnBrk="0" hangingPunct="1">
              <a:lnSpc>
                <a:spcPts val="1191"/>
              </a:lnSpc>
              <a:spcBef>
                <a:spcPts val="0"/>
              </a:spcBef>
              <a:spcAft>
                <a:spcPts val="0"/>
              </a:spcAft>
              <a:buClrTx/>
              <a:buSzTx/>
              <a:buFontTx/>
              <a:buNone/>
              <a:tabLst/>
              <a:defRPr/>
            </a:pPr>
            <a:r>
              <a:rPr kumimoji="0" lang="en-US" sz="832" b="0" i="0" u="none" strike="noStrike" kern="1200" cap="none" spc="0" normalizeH="0" baseline="0" noProof="0" dirty="0">
                <a:ln>
                  <a:noFill/>
                </a:ln>
                <a:solidFill>
                  <a:prstClr val="white"/>
                </a:solidFill>
                <a:effectLst/>
                <a:uLnTx/>
                <a:uFillTx/>
                <a:latin typeface="Glacial Indifference"/>
                <a:ea typeface="Glacial Indifference"/>
                <a:cs typeface="Glacial Indifference"/>
                <a:sym typeface="Glacial Indifference"/>
              </a:rPr>
              <a:t>Provides a detailed examination of natural justice, procedural fairness, legitimate expectations, the hearing rule and the rule against bias  </a:t>
            </a:r>
          </a:p>
        </p:txBody>
      </p:sp>
      <p:sp>
        <p:nvSpPr>
          <p:cNvPr id="64" name="TextBox 61">
            <a:extLst>
              <a:ext uri="{FF2B5EF4-FFF2-40B4-BE49-F238E27FC236}">
                <a16:creationId xmlns:a16="http://schemas.microsoft.com/office/drawing/2014/main" id="{124CB31D-5EF0-60C4-F343-FB4AB8722F6D}"/>
              </a:ext>
            </a:extLst>
          </p:cNvPr>
          <p:cNvSpPr txBox="1"/>
          <p:nvPr/>
        </p:nvSpPr>
        <p:spPr>
          <a:xfrm>
            <a:off x="2247364" y="4007219"/>
            <a:ext cx="1971128" cy="447495"/>
          </a:xfrm>
          <a:prstGeom prst="rect">
            <a:avLst/>
          </a:prstGeom>
        </p:spPr>
        <p:txBody>
          <a:bodyPr lIns="0" tIns="0" rIns="0" bIns="0" rtlCol="0" anchor="t">
            <a:spAutoFit/>
          </a:bodyPr>
          <a:lstStyle/>
          <a:p>
            <a:pPr marL="0" marR="0" lvl="0" indent="0" algn="ctr" defTabSz="914400" rtl="0" eaLnBrk="1" fontAlgn="auto" latinLnBrk="0" hangingPunct="1">
              <a:lnSpc>
                <a:spcPts val="1191"/>
              </a:lnSpc>
              <a:spcBef>
                <a:spcPts val="0"/>
              </a:spcBef>
              <a:spcAft>
                <a:spcPts val="0"/>
              </a:spcAft>
              <a:buClrTx/>
              <a:buSzTx/>
              <a:buFontTx/>
              <a:buNone/>
              <a:tabLst/>
              <a:defRPr/>
            </a:pPr>
            <a:r>
              <a:rPr kumimoji="0" lang="en-US" sz="832" b="0" i="0" u="none" strike="noStrike" kern="1200" cap="none" spc="0" normalizeH="0" baseline="0" noProof="0" dirty="0">
                <a:ln>
                  <a:noFill/>
                </a:ln>
                <a:solidFill>
                  <a:prstClr val="white"/>
                </a:solidFill>
                <a:effectLst/>
                <a:uLnTx/>
                <a:uFillTx/>
                <a:latin typeface="Glacial Indifference"/>
                <a:ea typeface="Glacial Indifference"/>
                <a:cs typeface="Glacial Indifference"/>
                <a:sym typeface="Glacial Indifference"/>
              </a:rPr>
              <a:t>Introduces concepts of acting </a:t>
            </a:r>
            <a:r>
              <a:rPr kumimoji="0" lang="en-US" sz="832" b="0" i="0" u="none" strike="noStrike" kern="1200" cap="none" spc="0" normalizeH="0" baseline="0" noProof="0" dirty="0" err="1">
                <a:ln>
                  <a:noFill/>
                </a:ln>
                <a:solidFill>
                  <a:prstClr val="white"/>
                </a:solidFill>
                <a:effectLst/>
                <a:uLnTx/>
                <a:uFillTx/>
                <a:latin typeface="Glacial Indifference"/>
                <a:ea typeface="Glacial Indifference"/>
                <a:cs typeface="Glacial Indifference"/>
                <a:sym typeface="Glacial Indifference"/>
              </a:rPr>
              <a:t>beynd</a:t>
            </a:r>
            <a:r>
              <a:rPr kumimoji="0" lang="en-US" sz="832" b="0" i="0" u="none" strike="noStrike" kern="1200" cap="none" spc="0" normalizeH="0" baseline="0" noProof="0" dirty="0">
                <a:ln>
                  <a:noFill/>
                </a:ln>
                <a:solidFill>
                  <a:prstClr val="white"/>
                </a:solidFill>
                <a:effectLst/>
                <a:uLnTx/>
                <a:uFillTx/>
                <a:latin typeface="Glacial Indifference"/>
                <a:ea typeface="Glacial Indifference"/>
                <a:cs typeface="Glacial Indifference"/>
                <a:sym typeface="Glacial Indifference"/>
              </a:rPr>
              <a:t> </a:t>
            </a:r>
          </a:p>
          <a:p>
            <a:pPr marL="0" marR="0" lvl="0" indent="0" algn="ctr" defTabSz="914400" rtl="0" eaLnBrk="1" fontAlgn="auto" latinLnBrk="0" hangingPunct="1">
              <a:lnSpc>
                <a:spcPts val="1191"/>
              </a:lnSpc>
              <a:spcBef>
                <a:spcPts val="0"/>
              </a:spcBef>
              <a:spcAft>
                <a:spcPts val="0"/>
              </a:spcAft>
              <a:buClrTx/>
              <a:buSzTx/>
              <a:buFontTx/>
              <a:buNone/>
              <a:tabLst/>
              <a:defRPr/>
            </a:pPr>
            <a:r>
              <a:rPr kumimoji="0" lang="en-US" sz="832" b="0" i="0" u="none" strike="noStrike" kern="1200" cap="none" spc="0" normalizeH="0" baseline="0" noProof="0" dirty="0">
                <a:ln>
                  <a:noFill/>
                </a:ln>
                <a:solidFill>
                  <a:prstClr val="white"/>
                </a:solidFill>
                <a:effectLst/>
                <a:uLnTx/>
                <a:uFillTx/>
                <a:latin typeface="Glacial Indifference"/>
                <a:ea typeface="Glacial Indifference"/>
                <a:cs typeface="Glacial Indifference"/>
                <a:sym typeface="Glacial Indifference"/>
              </a:rPr>
              <a:t>Ones authority and procedural </a:t>
            </a:r>
            <a:r>
              <a:rPr kumimoji="0" lang="en-US" sz="832" b="0" i="0" u="none" strike="noStrike" kern="1200" cap="none" spc="0" normalizeH="0" baseline="0" noProof="0" dirty="0" err="1">
                <a:ln>
                  <a:noFill/>
                </a:ln>
                <a:solidFill>
                  <a:prstClr val="white"/>
                </a:solidFill>
                <a:effectLst/>
                <a:uLnTx/>
                <a:uFillTx/>
                <a:latin typeface="Glacial Indifference"/>
                <a:ea typeface="Glacial Indifference"/>
                <a:cs typeface="Glacial Indifference"/>
                <a:sym typeface="Glacial Indifference"/>
              </a:rPr>
              <a:t>rquiirements</a:t>
            </a:r>
            <a:r>
              <a:rPr kumimoji="0" lang="en-US" sz="832" b="0" i="0" u="none" strike="noStrike" kern="1200" cap="none" spc="0" normalizeH="0" baseline="0" noProof="0" dirty="0">
                <a:ln>
                  <a:noFill/>
                </a:ln>
                <a:solidFill>
                  <a:prstClr val="white"/>
                </a:solidFill>
                <a:effectLst/>
                <a:uLnTx/>
                <a:uFillTx/>
                <a:latin typeface="Glacial Indifference"/>
                <a:ea typeface="Glacial Indifference"/>
                <a:cs typeface="Glacial Indifference"/>
                <a:sym typeface="Glacial Indifference"/>
              </a:rPr>
              <a:t> for delegation to be effective</a:t>
            </a:r>
          </a:p>
        </p:txBody>
      </p:sp>
      <p:sp>
        <p:nvSpPr>
          <p:cNvPr id="65" name="TextBox 62">
            <a:extLst>
              <a:ext uri="{FF2B5EF4-FFF2-40B4-BE49-F238E27FC236}">
                <a16:creationId xmlns:a16="http://schemas.microsoft.com/office/drawing/2014/main" id="{A57CB119-8377-01DD-87E6-F121755D0BF3}"/>
              </a:ext>
            </a:extLst>
          </p:cNvPr>
          <p:cNvSpPr txBox="1"/>
          <p:nvPr/>
        </p:nvSpPr>
        <p:spPr>
          <a:xfrm>
            <a:off x="4653830" y="4035324"/>
            <a:ext cx="1971128" cy="447495"/>
          </a:xfrm>
          <a:prstGeom prst="rect">
            <a:avLst/>
          </a:prstGeom>
        </p:spPr>
        <p:txBody>
          <a:bodyPr lIns="0" tIns="0" rIns="0" bIns="0" rtlCol="0" anchor="t">
            <a:spAutoFit/>
          </a:bodyPr>
          <a:lstStyle/>
          <a:p>
            <a:pPr marL="0" marR="0" lvl="0" indent="0" algn="ctr" defTabSz="914400" rtl="0" eaLnBrk="1" fontAlgn="auto" latinLnBrk="0" hangingPunct="1">
              <a:lnSpc>
                <a:spcPts val="1191"/>
              </a:lnSpc>
              <a:spcBef>
                <a:spcPts val="0"/>
              </a:spcBef>
              <a:spcAft>
                <a:spcPts val="0"/>
              </a:spcAft>
              <a:buClrTx/>
              <a:buSzTx/>
              <a:buFontTx/>
              <a:buNone/>
              <a:tabLst/>
              <a:defRPr/>
            </a:pPr>
            <a:r>
              <a:rPr kumimoji="0" lang="en-US" sz="832" b="0" i="0" u="none" strike="noStrike" kern="1200" cap="none" spc="0" normalizeH="0" baseline="0" noProof="0" dirty="0">
                <a:ln>
                  <a:noFill/>
                </a:ln>
                <a:solidFill>
                  <a:prstClr val="white"/>
                </a:solidFill>
                <a:effectLst/>
                <a:uLnTx/>
                <a:uFillTx/>
                <a:latin typeface="Glacial Indifference"/>
                <a:ea typeface="Glacial Indifference"/>
                <a:cs typeface="Glacial Indifference"/>
                <a:sym typeface="Glacial Indifference"/>
              </a:rPr>
              <a:t>Explores the need for standing, </a:t>
            </a:r>
          </a:p>
          <a:p>
            <a:pPr marL="0" marR="0" lvl="0" indent="0" algn="ctr" defTabSz="914400" rtl="0" eaLnBrk="1" fontAlgn="auto" latinLnBrk="0" hangingPunct="1">
              <a:lnSpc>
                <a:spcPts val="1191"/>
              </a:lnSpc>
              <a:spcBef>
                <a:spcPts val="0"/>
              </a:spcBef>
              <a:spcAft>
                <a:spcPts val="0"/>
              </a:spcAft>
              <a:buClrTx/>
              <a:buSzTx/>
              <a:buFontTx/>
              <a:buNone/>
              <a:tabLst/>
              <a:defRPr/>
            </a:pPr>
            <a:r>
              <a:rPr kumimoji="0" lang="en-US" sz="832" b="0" i="0" u="none" strike="noStrike" kern="1200" cap="none" spc="0" normalizeH="0" baseline="0" noProof="0" dirty="0">
                <a:ln>
                  <a:noFill/>
                </a:ln>
                <a:solidFill>
                  <a:prstClr val="white"/>
                </a:solidFill>
                <a:effectLst/>
                <a:uLnTx/>
                <a:uFillTx/>
                <a:latin typeface="Glacial Indifference"/>
                <a:ea typeface="Glacial Indifference"/>
                <a:cs typeface="Glacial Indifference"/>
                <a:sym typeface="Glacial Indifference"/>
              </a:rPr>
              <a:t>persons aggrieved (ADJR Act)  </a:t>
            </a:r>
          </a:p>
          <a:p>
            <a:pPr marL="0" marR="0" lvl="0" indent="0" algn="ctr" defTabSz="914400" rtl="0" eaLnBrk="1" fontAlgn="auto" latinLnBrk="0" hangingPunct="1">
              <a:lnSpc>
                <a:spcPts val="1191"/>
              </a:lnSpc>
              <a:spcBef>
                <a:spcPts val="0"/>
              </a:spcBef>
              <a:spcAft>
                <a:spcPts val="0"/>
              </a:spcAft>
              <a:buClrTx/>
              <a:buSzTx/>
              <a:buFontTx/>
              <a:buNone/>
              <a:tabLst/>
              <a:defRPr/>
            </a:pPr>
            <a:r>
              <a:rPr kumimoji="0" lang="en-US" sz="832" b="0" i="0" u="none" strike="noStrike" kern="1200" cap="none" spc="0" normalizeH="0" baseline="0" noProof="0" dirty="0">
                <a:ln>
                  <a:noFill/>
                </a:ln>
                <a:solidFill>
                  <a:prstClr val="white"/>
                </a:solidFill>
                <a:effectLst/>
                <a:uLnTx/>
                <a:uFillTx/>
                <a:latin typeface="Glacial Indifference"/>
                <a:ea typeface="Glacial Indifference"/>
                <a:cs typeface="Glacial Indifference"/>
                <a:sym typeface="Glacial Indifference"/>
              </a:rPr>
              <a:t>and the AG’s fiat </a:t>
            </a:r>
          </a:p>
        </p:txBody>
      </p:sp>
      <p:sp>
        <p:nvSpPr>
          <p:cNvPr id="66" name="TextBox 63">
            <a:extLst>
              <a:ext uri="{FF2B5EF4-FFF2-40B4-BE49-F238E27FC236}">
                <a16:creationId xmlns:a16="http://schemas.microsoft.com/office/drawing/2014/main" id="{6CB5A530-F35C-C2BF-3FD4-6FFF29A09E33}"/>
              </a:ext>
            </a:extLst>
          </p:cNvPr>
          <p:cNvSpPr txBox="1"/>
          <p:nvPr/>
        </p:nvSpPr>
        <p:spPr>
          <a:xfrm>
            <a:off x="3479110" y="2372312"/>
            <a:ext cx="1971128" cy="447495"/>
          </a:xfrm>
          <a:prstGeom prst="rect">
            <a:avLst/>
          </a:prstGeom>
        </p:spPr>
        <p:txBody>
          <a:bodyPr lIns="0" tIns="0" rIns="0" bIns="0" rtlCol="0" anchor="t">
            <a:spAutoFit/>
          </a:bodyPr>
          <a:lstStyle/>
          <a:p>
            <a:pPr marL="0" marR="0" lvl="0" indent="0" algn="ctr" defTabSz="914400" rtl="0" eaLnBrk="1" fontAlgn="auto" latinLnBrk="0" hangingPunct="1">
              <a:lnSpc>
                <a:spcPts val="1191"/>
              </a:lnSpc>
              <a:spcBef>
                <a:spcPts val="0"/>
              </a:spcBef>
              <a:spcAft>
                <a:spcPts val="0"/>
              </a:spcAft>
              <a:buClrTx/>
              <a:buSzTx/>
              <a:buFontTx/>
              <a:buNone/>
              <a:tabLst/>
              <a:defRPr/>
            </a:pPr>
            <a:r>
              <a:rPr kumimoji="0" lang="en-US" sz="832" b="0" i="0" u="none" strike="noStrike" kern="1200" cap="none" spc="0" normalizeH="0" baseline="0" noProof="0" dirty="0">
                <a:ln>
                  <a:noFill/>
                </a:ln>
                <a:solidFill>
                  <a:prstClr val="white"/>
                </a:solidFill>
                <a:effectLst/>
                <a:uLnTx/>
                <a:uFillTx/>
                <a:latin typeface="Glacial Indifference"/>
                <a:ea typeface="Glacial Indifference"/>
                <a:cs typeface="Glacial Indifference"/>
                <a:sym typeface="Glacial Indifference"/>
              </a:rPr>
              <a:t>Concerns rules of statutory interpretation and the legal status of delegated legislation</a:t>
            </a:r>
          </a:p>
        </p:txBody>
      </p:sp>
      <p:sp>
        <p:nvSpPr>
          <p:cNvPr id="67" name="TextBox 65">
            <a:extLst>
              <a:ext uri="{FF2B5EF4-FFF2-40B4-BE49-F238E27FC236}">
                <a16:creationId xmlns:a16="http://schemas.microsoft.com/office/drawing/2014/main" id="{1EFAAD81-B3C1-D521-B708-B41484434243}"/>
              </a:ext>
            </a:extLst>
          </p:cNvPr>
          <p:cNvSpPr txBox="1"/>
          <p:nvPr/>
        </p:nvSpPr>
        <p:spPr>
          <a:xfrm>
            <a:off x="5799205" y="2350759"/>
            <a:ext cx="1971128" cy="447495"/>
          </a:xfrm>
          <a:prstGeom prst="rect">
            <a:avLst/>
          </a:prstGeom>
        </p:spPr>
        <p:txBody>
          <a:bodyPr lIns="0" tIns="0" rIns="0" bIns="0" rtlCol="0" anchor="t">
            <a:spAutoFit/>
          </a:bodyPr>
          <a:lstStyle/>
          <a:p>
            <a:pPr marL="0" marR="0" lvl="0" indent="0" algn="ctr" defTabSz="914400" rtl="0" eaLnBrk="1" fontAlgn="auto" latinLnBrk="0" hangingPunct="1">
              <a:lnSpc>
                <a:spcPts val="1191"/>
              </a:lnSpc>
              <a:spcBef>
                <a:spcPts val="0"/>
              </a:spcBef>
              <a:spcAft>
                <a:spcPts val="0"/>
              </a:spcAft>
              <a:buClrTx/>
              <a:buSzTx/>
              <a:buFontTx/>
              <a:buNone/>
              <a:tabLst/>
              <a:defRPr/>
            </a:pPr>
            <a:r>
              <a:rPr kumimoji="0" lang="en-US" sz="832" b="0" i="0" u="none" strike="noStrike" kern="1200" cap="none" spc="0" normalizeH="0" baseline="0" noProof="0" dirty="0">
                <a:ln>
                  <a:noFill/>
                </a:ln>
                <a:solidFill>
                  <a:prstClr val="white"/>
                </a:solidFill>
                <a:effectLst/>
                <a:uLnTx/>
                <a:uFillTx/>
                <a:latin typeface="Glacial Indifference"/>
                <a:ea typeface="Glacial Indifference"/>
                <a:cs typeface="Glacial Indifference"/>
                <a:sym typeface="Glacial Indifference"/>
              </a:rPr>
              <a:t>Mechanisms of accountability outside of more common  judicial and merits review</a:t>
            </a:r>
          </a:p>
          <a:p>
            <a:pPr marL="0" marR="0" lvl="0" indent="0" algn="ctr" defTabSz="914400" rtl="0" eaLnBrk="1" fontAlgn="auto" latinLnBrk="0" hangingPunct="1">
              <a:lnSpc>
                <a:spcPts val="1191"/>
              </a:lnSpc>
              <a:spcBef>
                <a:spcPts val="0"/>
              </a:spcBef>
              <a:spcAft>
                <a:spcPts val="0"/>
              </a:spcAft>
              <a:buClrTx/>
              <a:buSzTx/>
              <a:buFontTx/>
              <a:buNone/>
              <a:tabLst/>
              <a:defRPr/>
            </a:pPr>
            <a:r>
              <a:rPr kumimoji="0" lang="en-US" sz="832" b="0" i="0" u="none" strike="noStrike" kern="1200" cap="none" spc="0" normalizeH="0" baseline="0" noProof="0" dirty="0">
                <a:ln>
                  <a:noFill/>
                </a:ln>
                <a:solidFill>
                  <a:prstClr val="white"/>
                </a:solidFill>
                <a:effectLst/>
                <a:uLnTx/>
                <a:uFillTx/>
                <a:latin typeface="Glacial Indifference"/>
                <a:ea typeface="Glacial Indifference"/>
                <a:cs typeface="Glacial Indifference"/>
                <a:sym typeface="Glacial Indifference"/>
              </a:rPr>
              <a:t>Ombudsman=men/ Privacy</a:t>
            </a:r>
          </a:p>
        </p:txBody>
      </p:sp>
      <p:sp>
        <p:nvSpPr>
          <p:cNvPr id="68" name="TextBox 66">
            <a:extLst>
              <a:ext uri="{FF2B5EF4-FFF2-40B4-BE49-F238E27FC236}">
                <a16:creationId xmlns:a16="http://schemas.microsoft.com/office/drawing/2014/main" id="{B30EEDAC-CE2A-CD2E-D885-1B5AF2349A40}"/>
              </a:ext>
            </a:extLst>
          </p:cNvPr>
          <p:cNvSpPr txBox="1"/>
          <p:nvPr/>
        </p:nvSpPr>
        <p:spPr>
          <a:xfrm>
            <a:off x="5082512" y="5918457"/>
            <a:ext cx="1971128" cy="447495"/>
          </a:xfrm>
          <a:prstGeom prst="rect">
            <a:avLst/>
          </a:prstGeom>
        </p:spPr>
        <p:txBody>
          <a:bodyPr lIns="0" tIns="0" rIns="0" bIns="0" rtlCol="0" anchor="t">
            <a:spAutoFit/>
          </a:bodyPr>
          <a:lstStyle/>
          <a:p>
            <a:pPr marL="0" marR="0" lvl="0" indent="0" algn="ctr" defTabSz="914400" rtl="0" eaLnBrk="1" fontAlgn="auto" latinLnBrk="0" hangingPunct="1">
              <a:lnSpc>
                <a:spcPts val="1191"/>
              </a:lnSpc>
              <a:spcBef>
                <a:spcPts val="0"/>
              </a:spcBef>
              <a:spcAft>
                <a:spcPts val="0"/>
              </a:spcAft>
              <a:buClrTx/>
              <a:buSzTx/>
              <a:buFontTx/>
              <a:buNone/>
              <a:tabLst/>
              <a:defRPr/>
            </a:pPr>
            <a:r>
              <a:rPr kumimoji="0" lang="en-US" sz="832" b="0" i="0" u="none" strike="noStrike" kern="1200" cap="none" spc="0" normalizeH="0" baseline="0" noProof="0" dirty="0">
                <a:ln>
                  <a:noFill/>
                </a:ln>
                <a:solidFill>
                  <a:prstClr val="white"/>
                </a:solidFill>
                <a:effectLst/>
                <a:uLnTx/>
                <a:uFillTx/>
                <a:latin typeface="Glacial Indifference"/>
                <a:ea typeface="Glacial Indifference"/>
                <a:cs typeface="Glacial Indifference"/>
                <a:sym typeface="Glacial Indifference"/>
              </a:rPr>
              <a:t>The ‘no evidence’ and </a:t>
            </a:r>
          </a:p>
          <a:p>
            <a:pPr marL="0" marR="0" lvl="0" indent="0" algn="ctr" defTabSz="914400" rtl="0" eaLnBrk="1" fontAlgn="auto" latinLnBrk="0" hangingPunct="1">
              <a:lnSpc>
                <a:spcPts val="1191"/>
              </a:lnSpc>
              <a:spcBef>
                <a:spcPts val="0"/>
              </a:spcBef>
              <a:spcAft>
                <a:spcPts val="0"/>
              </a:spcAft>
              <a:buClrTx/>
              <a:buSzTx/>
              <a:buFontTx/>
              <a:buNone/>
              <a:tabLst/>
              <a:defRPr/>
            </a:pPr>
            <a:r>
              <a:rPr kumimoji="0" lang="en-US" sz="832" b="0" i="0" u="none" strike="noStrike" kern="1200" cap="none" spc="0" normalizeH="0" baseline="0" noProof="0" dirty="0">
                <a:ln>
                  <a:noFill/>
                </a:ln>
                <a:solidFill>
                  <a:prstClr val="white"/>
                </a:solidFill>
                <a:effectLst/>
                <a:uLnTx/>
                <a:uFillTx/>
                <a:latin typeface="Glacial Indifference"/>
                <a:ea typeface="Glacial Indifference"/>
                <a:cs typeface="Glacial Indifference"/>
                <a:sym typeface="Glacial Indifference"/>
              </a:rPr>
              <a:t>unreasonableness grounds </a:t>
            </a:r>
          </a:p>
          <a:p>
            <a:pPr marL="0" marR="0" lvl="0" indent="0" algn="ctr" defTabSz="914400" rtl="0" eaLnBrk="1" fontAlgn="auto" latinLnBrk="0" hangingPunct="1">
              <a:lnSpc>
                <a:spcPts val="1191"/>
              </a:lnSpc>
              <a:spcBef>
                <a:spcPts val="0"/>
              </a:spcBef>
              <a:spcAft>
                <a:spcPts val="0"/>
              </a:spcAft>
              <a:buClrTx/>
              <a:buSzTx/>
              <a:buFontTx/>
              <a:buNone/>
              <a:tabLst/>
              <a:defRPr/>
            </a:pPr>
            <a:r>
              <a:rPr kumimoji="0" lang="en-US" sz="832" b="0" i="0" u="none" strike="noStrike" kern="1200" cap="none" spc="0" normalizeH="0" baseline="0" noProof="0" dirty="0">
                <a:ln>
                  <a:noFill/>
                </a:ln>
                <a:solidFill>
                  <a:prstClr val="white"/>
                </a:solidFill>
                <a:effectLst/>
                <a:uLnTx/>
                <a:uFillTx/>
                <a:latin typeface="Glacial Indifference"/>
                <a:ea typeface="Glacial Indifference"/>
                <a:cs typeface="Glacial Indifference"/>
                <a:sym typeface="Glacial Indifference"/>
              </a:rPr>
              <a:t>arising under general law   </a:t>
            </a:r>
          </a:p>
        </p:txBody>
      </p:sp>
      <p:sp>
        <p:nvSpPr>
          <p:cNvPr id="69" name="TextBox 67">
            <a:extLst>
              <a:ext uri="{FF2B5EF4-FFF2-40B4-BE49-F238E27FC236}">
                <a16:creationId xmlns:a16="http://schemas.microsoft.com/office/drawing/2014/main" id="{38980597-A1C9-F79B-0D06-28A6B891C28D}"/>
              </a:ext>
            </a:extLst>
          </p:cNvPr>
          <p:cNvSpPr txBox="1"/>
          <p:nvPr/>
        </p:nvSpPr>
        <p:spPr>
          <a:xfrm>
            <a:off x="8100277" y="2299527"/>
            <a:ext cx="1971128" cy="447495"/>
          </a:xfrm>
          <a:prstGeom prst="rect">
            <a:avLst/>
          </a:prstGeom>
        </p:spPr>
        <p:txBody>
          <a:bodyPr lIns="0" tIns="0" rIns="0" bIns="0" rtlCol="0" anchor="t">
            <a:spAutoFit/>
          </a:bodyPr>
          <a:lstStyle/>
          <a:p>
            <a:pPr marL="0" marR="0" lvl="0" indent="0" algn="ctr" defTabSz="914400" rtl="0" eaLnBrk="1" fontAlgn="auto" latinLnBrk="0" hangingPunct="1">
              <a:lnSpc>
                <a:spcPts val="1191"/>
              </a:lnSpc>
              <a:spcBef>
                <a:spcPts val="0"/>
              </a:spcBef>
              <a:spcAft>
                <a:spcPts val="0"/>
              </a:spcAft>
              <a:buClrTx/>
              <a:buSzTx/>
              <a:buFontTx/>
              <a:buNone/>
              <a:tabLst/>
              <a:defRPr/>
            </a:pPr>
            <a:r>
              <a:rPr kumimoji="0" lang="en-US" sz="832" b="0" i="0" u="none" strike="noStrike" kern="1200" cap="none" spc="0" normalizeH="0" baseline="0" noProof="0" dirty="0">
                <a:ln>
                  <a:noFill/>
                </a:ln>
                <a:solidFill>
                  <a:prstClr val="white"/>
                </a:solidFill>
                <a:effectLst/>
                <a:uLnTx/>
                <a:uFillTx/>
                <a:latin typeface="Glacial Indifference"/>
                <a:ea typeface="Glacial Indifference"/>
                <a:cs typeface="Glacial Indifference"/>
                <a:sym typeface="Glacial Indifference"/>
              </a:rPr>
              <a:t>the power, legislation permitting, to have a full rehearing, fresh evidence, and ultimately, a determination  </a:t>
            </a:r>
          </a:p>
        </p:txBody>
      </p:sp>
      <p:sp>
        <p:nvSpPr>
          <p:cNvPr id="70" name="TextBox 68">
            <a:extLst>
              <a:ext uri="{FF2B5EF4-FFF2-40B4-BE49-F238E27FC236}">
                <a16:creationId xmlns:a16="http://schemas.microsoft.com/office/drawing/2014/main" id="{D7645140-860A-EE1B-C64B-EA14CD667A18}"/>
              </a:ext>
            </a:extLst>
          </p:cNvPr>
          <p:cNvSpPr txBox="1"/>
          <p:nvPr/>
        </p:nvSpPr>
        <p:spPr>
          <a:xfrm>
            <a:off x="6975335" y="5868962"/>
            <a:ext cx="2123864" cy="601383"/>
          </a:xfrm>
          <a:prstGeom prst="rect">
            <a:avLst/>
          </a:prstGeom>
        </p:spPr>
        <p:txBody>
          <a:bodyPr wrap="square" lIns="0" tIns="0" rIns="0" bIns="0" rtlCol="0" anchor="t">
            <a:spAutoFit/>
          </a:bodyPr>
          <a:lstStyle/>
          <a:p>
            <a:pPr marL="0" marR="0" lvl="0" indent="0" algn="ctr" defTabSz="914400" rtl="0" eaLnBrk="1" fontAlgn="auto" latinLnBrk="0" hangingPunct="1">
              <a:lnSpc>
                <a:spcPts val="1191"/>
              </a:lnSpc>
              <a:spcBef>
                <a:spcPts val="0"/>
              </a:spcBef>
              <a:spcAft>
                <a:spcPts val="0"/>
              </a:spcAft>
              <a:buClrTx/>
              <a:buSzTx/>
              <a:buFontTx/>
              <a:buNone/>
              <a:tabLst/>
              <a:defRPr/>
            </a:pPr>
            <a:r>
              <a:rPr kumimoji="0" lang="en-US" sz="832" b="0" i="0" u="none" strike="noStrike" kern="1200" cap="none" spc="0" normalizeH="0" baseline="0" noProof="0" dirty="0">
                <a:ln>
                  <a:noFill/>
                </a:ln>
                <a:solidFill>
                  <a:prstClr val="white"/>
                </a:solidFill>
                <a:effectLst/>
                <a:uLnTx/>
                <a:uFillTx/>
                <a:latin typeface="Glacial Indifference"/>
                <a:ea typeface="Glacial Indifference"/>
                <a:cs typeface="Glacial Indifference"/>
                <a:sym typeface="Glacial Indifference"/>
              </a:rPr>
              <a:t>Finally, we consider the remedies </a:t>
            </a:r>
          </a:p>
          <a:p>
            <a:pPr marL="0" marR="0" lvl="0" indent="0" algn="ctr" defTabSz="914400" rtl="0" eaLnBrk="1" fontAlgn="auto" latinLnBrk="0" hangingPunct="1">
              <a:lnSpc>
                <a:spcPts val="1191"/>
              </a:lnSpc>
              <a:spcBef>
                <a:spcPts val="0"/>
              </a:spcBef>
              <a:spcAft>
                <a:spcPts val="0"/>
              </a:spcAft>
              <a:buClrTx/>
              <a:buSzTx/>
              <a:buFontTx/>
              <a:buNone/>
              <a:tabLst/>
              <a:defRPr/>
            </a:pPr>
            <a:r>
              <a:rPr kumimoji="0" lang="en-US" sz="832" b="0" i="0" u="none" strike="noStrike" kern="1200" cap="none" spc="0" normalizeH="0" baseline="0" noProof="0" dirty="0">
                <a:ln>
                  <a:noFill/>
                </a:ln>
                <a:solidFill>
                  <a:prstClr val="white"/>
                </a:solidFill>
                <a:effectLst/>
                <a:uLnTx/>
                <a:uFillTx/>
                <a:latin typeface="Glacial Indifference"/>
                <a:ea typeface="Glacial Indifference"/>
                <a:cs typeface="Glacial Indifference"/>
                <a:sym typeface="Glacial Indifference"/>
              </a:rPr>
              <a:t>available such as prohibition, certiorari, mandamus, injunction, declaration and other remedies under the ADJR Act </a:t>
            </a:r>
          </a:p>
        </p:txBody>
      </p:sp>
      <p:sp>
        <p:nvSpPr>
          <p:cNvPr id="71" name="TextBox 69">
            <a:extLst>
              <a:ext uri="{FF2B5EF4-FFF2-40B4-BE49-F238E27FC236}">
                <a16:creationId xmlns:a16="http://schemas.microsoft.com/office/drawing/2014/main" id="{29C2E979-2FE6-A896-0DAC-DDED4C9E2DE5}"/>
              </a:ext>
            </a:extLst>
          </p:cNvPr>
          <p:cNvSpPr txBox="1"/>
          <p:nvPr/>
        </p:nvSpPr>
        <p:spPr>
          <a:xfrm>
            <a:off x="7065208" y="3996578"/>
            <a:ext cx="1971128" cy="601383"/>
          </a:xfrm>
          <a:prstGeom prst="rect">
            <a:avLst/>
          </a:prstGeom>
        </p:spPr>
        <p:txBody>
          <a:bodyPr lIns="0" tIns="0" rIns="0" bIns="0" rtlCol="0" anchor="t">
            <a:spAutoFit/>
          </a:bodyPr>
          <a:lstStyle/>
          <a:p>
            <a:pPr marL="0" marR="0" lvl="0" indent="0" algn="ctr" defTabSz="914400" rtl="0" eaLnBrk="1" fontAlgn="auto" latinLnBrk="0" hangingPunct="1">
              <a:lnSpc>
                <a:spcPts val="1191"/>
              </a:lnSpc>
              <a:spcBef>
                <a:spcPts val="0"/>
              </a:spcBef>
              <a:spcAft>
                <a:spcPts val="0"/>
              </a:spcAft>
              <a:buClrTx/>
              <a:buSzTx/>
              <a:buFontTx/>
              <a:buNone/>
              <a:tabLst/>
              <a:defRPr/>
            </a:pPr>
            <a:r>
              <a:rPr kumimoji="0" lang="en-US" sz="832" b="0" i="0" u="none" strike="noStrike" kern="1200" cap="none" spc="0" normalizeH="0" baseline="0" noProof="0" dirty="0">
                <a:ln>
                  <a:noFill/>
                </a:ln>
                <a:solidFill>
                  <a:prstClr val="white"/>
                </a:solidFill>
                <a:effectLst/>
                <a:uLnTx/>
                <a:uFillTx/>
                <a:latin typeface="Glacial Indifference"/>
                <a:ea typeface="Glacial Indifference"/>
                <a:cs typeface="Glacial Indifference"/>
                <a:sym typeface="Glacial Indifference"/>
              </a:rPr>
              <a:t>Introduce judicial review via s 75(v) of the Constitution, the common law and through statute., exploring concepts of justiciability and jurisdictional error.   </a:t>
            </a:r>
          </a:p>
        </p:txBody>
      </p:sp>
      <p:sp>
        <p:nvSpPr>
          <p:cNvPr id="72" name="AutoShape 2">
            <a:extLst>
              <a:ext uri="{FF2B5EF4-FFF2-40B4-BE49-F238E27FC236}">
                <a16:creationId xmlns:a16="http://schemas.microsoft.com/office/drawing/2014/main" id="{61900EA6-83D3-61D1-FF83-4573ED5103A4}"/>
              </a:ext>
            </a:extLst>
          </p:cNvPr>
          <p:cNvSpPr/>
          <p:nvPr/>
        </p:nvSpPr>
        <p:spPr>
          <a:xfrm>
            <a:off x="10177141" y="1580519"/>
            <a:ext cx="28444" cy="1784163"/>
          </a:xfrm>
          <a:prstGeom prst="line">
            <a:avLst/>
          </a:prstGeom>
          <a:ln w="28575" cap="flat">
            <a:solidFill>
              <a:schemeClr val="bg1"/>
            </a:solidFill>
            <a:prstDash val="sysDash"/>
            <a:headEnd type="none" w="sm" len="sm"/>
            <a:tailEnd type="arrow" w="med" len="sm"/>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AU" sz="1800" b="0" i="0" u="none" strike="noStrike" kern="1200" cap="none" spc="0" normalizeH="0" baseline="0" noProof="0">
              <a:ln>
                <a:noFill/>
              </a:ln>
              <a:solidFill>
                <a:prstClr val="white"/>
              </a:solidFill>
              <a:effectLst/>
              <a:uLnTx/>
              <a:uFillTx/>
              <a:latin typeface="Calibri"/>
              <a:ea typeface="+mn-ea"/>
              <a:cs typeface="+mn-cs"/>
            </a:endParaRPr>
          </a:p>
        </p:txBody>
      </p:sp>
      <p:sp>
        <p:nvSpPr>
          <p:cNvPr id="73" name="AutoShape 2">
            <a:extLst>
              <a:ext uri="{FF2B5EF4-FFF2-40B4-BE49-F238E27FC236}">
                <a16:creationId xmlns:a16="http://schemas.microsoft.com/office/drawing/2014/main" id="{E9E296F1-BDFA-1978-C85B-C272258DDCE2}"/>
              </a:ext>
            </a:extLst>
          </p:cNvPr>
          <p:cNvSpPr/>
          <p:nvPr/>
        </p:nvSpPr>
        <p:spPr>
          <a:xfrm>
            <a:off x="1477400" y="3348364"/>
            <a:ext cx="28444" cy="1816346"/>
          </a:xfrm>
          <a:prstGeom prst="line">
            <a:avLst/>
          </a:prstGeom>
          <a:ln w="28575" cap="flat">
            <a:solidFill>
              <a:schemeClr val="bg1"/>
            </a:solidFill>
            <a:prstDash val="sysDash"/>
            <a:headEnd type="none" w="sm" len="sm"/>
            <a:tailEnd type="arrow" w="med" len="sm"/>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AU" sz="1800" b="0" i="0" u="none" strike="noStrike" kern="1200" cap="none" spc="0" normalizeH="0" baseline="0" noProof="0">
              <a:ln>
                <a:noFill/>
              </a:ln>
              <a:solidFill>
                <a:prstClr val="white"/>
              </a:solidFill>
              <a:effectLst/>
              <a:uLnTx/>
              <a:uFillTx/>
              <a:latin typeface="Calibri"/>
              <a:ea typeface="+mn-ea"/>
              <a:cs typeface="+mn-cs"/>
            </a:endParaRPr>
          </a:p>
        </p:txBody>
      </p:sp>
      <p:grpSp>
        <p:nvGrpSpPr>
          <p:cNvPr id="74" name="Group 21">
            <a:extLst>
              <a:ext uri="{FF2B5EF4-FFF2-40B4-BE49-F238E27FC236}">
                <a16:creationId xmlns:a16="http://schemas.microsoft.com/office/drawing/2014/main" id="{D9739A51-083B-7A9B-A03C-A4B08EBF2D6C}"/>
              </a:ext>
            </a:extLst>
          </p:cNvPr>
          <p:cNvGrpSpPr/>
          <p:nvPr/>
        </p:nvGrpSpPr>
        <p:grpSpPr>
          <a:xfrm>
            <a:off x="8605597" y="4992940"/>
            <a:ext cx="1466802" cy="513825"/>
            <a:chOff x="0" y="-201451"/>
            <a:chExt cx="1735216" cy="607851"/>
          </a:xfrm>
        </p:grpSpPr>
        <p:sp>
          <p:nvSpPr>
            <p:cNvPr id="75" name="Freeform 22">
              <a:extLst>
                <a:ext uri="{FF2B5EF4-FFF2-40B4-BE49-F238E27FC236}">
                  <a16:creationId xmlns:a16="http://schemas.microsoft.com/office/drawing/2014/main" id="{B00D8393-F566-EAF6-61F0-78B1F29FFB7E}"/>
                </a:ext>
              </a:extLst>
            </p:cNvPr>
            <p:cNvSpPr/>
            <p:nvPr/>
          </p:nvSpPr>
          <p:spPr>
            <a:xfrm>
              <a:off x="922416" y="-201451"/>
              <a:ext cx="812800" cy="406400"/>
            </a:xfrm>
            <a:custGeom>
              <a:avLst/>
              <a:gdLst/>
              <a:ahLst/>
              <a:cxnLst/>
              <a:rect l="l" t="t" r="r" b="b"/>
              <a:pathLst>
                <a:path w="812800" h="406400">
                  <a:moveTo>
                    <a:pt x="609600" y="0"/>
                  </a:moveTo>
                  <a:cubicBezTo>
                    <a:pt x="721824" y="0"/>
                    <a:pt x="812800" y="90976"/>
                    <a:pt x="812800" y="203200"/>
                  </a:cubicBezTo>
                  <a:cubicBezTo>
                    <a:pt x="812800" y="315424"/>
                    <a:pt x="721824" y="406400"/>
                    <a:pt x="609600" y="406400"/>
                  </a:cubicBezTo>
                  <a:lnTo>
                    <a:pt x="203200" y="406400"/>
                  </a:lnTo>
                  <a:cubicBezTo>
                    <a:pt x="90976" y="406400"/>
                    <a:pt x="0" y="315424"/>
                    <a:pt x="0" y="203200"/>
                  </a:cubicBezTo>
                  <a:cubicBezTo>
                    <a:pt x="0" y="90976"/>
                    <a:pt x="90976" y="0"/>
                    <a:pt x="203200" y="0"/>
                  </a:cubicBezTo>
                  <a:close/>
                </a:path>
              </a:pathLst>
            </a:custGeom>
            <a:solidFill>
              <a:srgbClr val="FFBBE6"/>
            </a:solidFill>
            <a:ln w="19050" cap="sq">
              <a:solidFill>
                <a:srgbClr val="141414"/>
              </a:solidFill>
              <a:prstDash val="solid"/>
              <a:miter/>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AU" sz="1800" b="0" i="0" u="none" strike="noStrike" kern="1200" cap="none" spc="0" normalizeH="0" baseline="0" noProof="0">
                <a:ln>
                  <a:noFill/>
                </a:ln>
                <a:solidFill>
                  <a:prstClr val="white"/>
                </a:solidFill>
                <a:effectLst/>
                <a:uLnTx/>
                <a:uFillTx/>
                <a:latin typeface="Calibri"/>
                <a:ea typeface="+mn-ea"/>
                <a:cs typeface="+mn-cs"/>
              </a:endParaRPr>
            </a:p>
          </p:txBody>
        </p:sp>
        <p:sp>
          <p:nvSpPr>
            <p:cNvPr id="76" name="TextBox 23">
              <a:extLst>
                <a:ext uri="{FF2B5EF4-FFF2-40B4-BE49-F238E27FC236}">
                  <a16:creationId xmlns:a16="http://schemas.microsoft.com/office/drawing/2014/main" id="{AD94B729-0C92-56D5-FA99-9E617826E844}"/>
                </a:ext>
              </a:extLst>
            </p:cNvPr>
            <p:cNvSpPr txBox="1"/>
            <p:nvPr/>
          </p:nvSpPr>
          <p:spPr>
            <a:xfrm>
              <a:off x="0" y="-19050"/>
              <a:ext cx="812800" cy="425450"/>
            </a:xfrm>
            <a:prstGeom prst="rect">
              <a:avLst/>
            </a:prstGeom>
          </p:spPr>
          <p:txBody>
            <a:bodyPr lIns="13422" tIns="13422" rIns="13422" bIns="13422" rtlCol="0" anchor="ctr"/>
            <a:lstStyle/>
            <a:p>
              <a:pPr marL="0" marR="0" lvl="0" indent="0" algn="ctr" defTabSz="914400" rtl="0" eaLnBrk="1" fontAlgn="auto" latinLnBrk="0" hangingPunct="1">
                <a:lnSpc>
                  <a:spcPts val="943"/>
                </a:lnSpc>
                <a:spcBef>
                  <a:spcPct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grpSp>
      <p:sp>
        <p:nvSpPr>
          <p:cNvPr id="77" name="TextBox 57">
            <a:extLst>
              <a:ext uri="{FF2B5EF4-FFF2-40B4-BE49-F238E27FC236}">
                <a16:creationId xmlns:a16="http://schemas.microsoft.com/office/drawing/2014/main" id="{8A48724D-7150-6DDC-D235-3AC4493990F4}"/>
              </a:ext>
            </a:extLst>
          </p:cNvPr>
          <p:cNvSpPr txBox="1"/>
          <p:nvPr/>
        </p:nvSpPr>
        <p:spPr>
          <a:xfrm>
            <a:off x="9414466" y="5180426"/>
            <a:ext cx="617125" cy="90987"/>
          </a:xfrm>
          <a:prstGeom prst="rect">
            <a:avLst/>
          </a:prstGeom>
        </p:spPr>
        <p:txBody>
          <a:bodyPr wrap="square" lIns="0" tIns="0" rIns="0" bIns="0" rtlCol="0" anchor="t">
            <a:spAutoFit/>
          </a:bodyPr>
          <a:lstStyle/>
          <a:p>
            <a:pPr marL="0" marR="0" lvl="0" indent="0" algn="ctr" defTabSz="914400" rtl="0" eaLnBrk="1" fontAlgn="auto" latinLnBrk="0" hangingPunct="1">
              <a:lnSpc>
                <a:spcPts val="570"/>
              </a:lnSpc>
              <a:spcBef>
                <a:spcPts val="0"/>
              </a:spcBef>
              <a:spcAft>
                <a:spcPts val="0"/>
              </a:spcAft>
              <a:buClrTx/>
              <a:buSzTx/>
              <a:buFontTx/>
              <a:buNone/>
              <a:tabLst/>
              <a:defRPr/>
            </a:pPr>
            <a:r>
              <a:rPr kumimoji="0" lang="en-US" sz="1140" b="1" i="0" u="none" strike="noStrike" kern="1200" cap="none" spc="0" normalizeH="0" baseline="0" noProof="0" dirty="0">
                <a:ln>
                  <a:noFill/>
                </a:ln>
                <a:solidFill>
                  <a:prstClr val="white"/>
                </a:solidFill>
                <a:effectLst/>
                <a:uLnTx/>
                <a:uFillTx/>
                <a:latin typeface="Montserrat Bold"/>
                <a:ea typeface="Montserrat Bold"/>
                <a:cs typeface="Montserrat Bold"/>
                <a:sym typeface="Montserrat Bold"/>
              </a:rPr>
              <a:t>Week 12</a:t>
            </a:r>
          </a:p>
        </p:txBody>
      </p:sp>
      <p:sp>
        <p:nvSpPr>
          <p:cNvPr id="78" name="TextBox 52">
            <a:extLst>
              <a:ext uri="{FF2B5EF4-FFF2-40B4-BE49-F238E27FC236}">
                <a16:creationId xmlns:a16="http://schemas.microsoft.com/office/drawing/2014/main" id="{7B20014D-3600-EAD0-BBF1-F3B63445B2DB}"/>
              </a:ext>
            </a:extLst>
          </p:cNvPr>
          <p:cNvSpPr txBox="1"/>
          <p:nvPr/>
        </p:nvSpPr>
        <p:spPr>
          <a:xfrm>
            <a:off x="8762696" y="5562890"/>
            <a:ext cx="1977748" cy="153888"/>
          </a:xfrm>
          <a:prstGeom prst="rect">
            <a:avLst/>
          </a:prstGeom>
        </p:spPr>
        <p:txBody>
          <a:bodyPr lIns="0" tIns="0" rIns="0" bIns="0" rtlCol="0" anchor="t">
            <a:spAutoFit/>
          </a:bodyPr>
          <a:lstStyle/>
          <a:p>
            <a:pPr marL="0" marR="0" lvl="0" indent="0" algn="ctr" defTabSz="914400" rtl="0" eaLnBrk="1" fontAlgn="auto" latinLnBrk="0" hangingPunct="1">
              <a:lnSpc>
                <a:spcPts val="1200"/>
              </a:lnSpc>
              <a:spcBef>
                <a:spcPct val="0"/>
              </a:spcBef>
              <a:spcAft>
                <a:spcPts val="0"/>
              </a:spcAft>
              <a:buClrTx/>
              <a:buSzTx/>
              <a:buFontTx/>
              <a:buNone/>
              <a:tabLst/>
              <a:defRPr/>
            </a:pPr>
            <a:r>
              <a:rPr kumimoji="0" lang="en-US" sz="1000" b="1" i="0" u="none" strike="noStrike" kern="1200" cap="none" spc="22" normalizeH="0" baseline="0" noProof="0" dirty="0">
                <a:ln>
                  <a:noFill/>
                </a:ln>
                <a:solidFill>
                  <a:prstClr val="white"/>
                </a:solidFill>
                <a:effectLst/>
                <a:uLnTx/>
                <a:uFillTx/>
                <a:latin typeface="Montserrat Ultra-Bold"/>
                <a:ea typeface="Montserrat Ultra-Bold"/>
                <a:cs typeface="Montserrat Ultra-Bold"/>
                <a:sym typeface="Montserrat Ultra-Bold"/>
              </a:rPr>
              <a:t>Revision</a:t>
            </a:r>
          </a:p>
        </p:txBody>
      </p:sp>
      <p:sp>
        <p:nvSpPr>
          <p:cNvPr id="79" name="TextBox 68">
            <a:extLst>
              <a:ext uri="{FF2B5EF4-FFF2-40B4-BE49-F238E27FC236}">
                <a16:creationId xmlns:a16="http://schemas.microsoft.com/office/drawing/2014/main" id="{E8D4C8B4-5505-00E6-A156-867E1BEE2BAE}"/>
              </a:ext>
            </a:extLst>
          </p:cNvPr>
          <p:cNvSpPr txBox="1"/>
          <p:nvPr/>
        </p:nvSpPr>
        <p:spPr>
          <a:xfrm>
            <a:off x="8915432" y="5887927"/>
            <a:ext cx="1971128" cy="139718"/>
          </a:xfrm>
          <a:prstGeom prst="rect">
            <a:avLst/>
          </a:prstGeom>
        </p:spPr>
        <p:txBody>
          <a:bodyPr lIns="0" tIns="0" rIns="0" bIns="0" rtlCol="0" anchor="t">
            <a:spAutoFit/>
          </a:bodyPr>
          <a:lstStyle/>
          <a:p>
            <a:pPr marL="0" marR="0" lvl="0" indent="0" algn="ctr" defTabSz="914400" rtl="0" eaLnBrk="1" fontAlgn="auto" latinLnBrk="0" hangingPunct="1">
              <a:lnSpc>
                <a:spcPts val="1191"/>
              </a:lnSpc>
              <a:spcBef>
                <a:spcPts val="0"/>
              </a:spcBef>
              <a:spcAft>
                <a:spcPts val="0"/>
              </a:spcAft>
              <a:buClrTx/>
              <a:buSzTx/>
              <a:buFontTx/>
              <a:buNone/>
              <a:tabLst/>
              <a:defRPr/>
            </a:pPr>
            <a:r>
              <a:rPr kumimoji="0" lang="en-US" sz="832" b="0" i="0" u="none" strike="noStrike" kern="1200" cap="none" spc="0" normalizeH="0" baseline="0" noProof="0" dirty="0">
                <a:ln>
                  <a:noFill/>
                </a:ln>
                <a:solidFill>
                  <a:prstClr val="white"/>
                </a:solidFill>
                <a:effectLst/>
                <a:uLnTx/>
                <a:uFillTx/>
                <a:latin typeface="Glacial Indifference"/>
                <a:ea typeface="Glacial Indifference"/>
                <a:cs typeface="Glacial Indifference"/>
                <a:sym typeface="Glacial Indifference"/>
              </a:rPr>
              <a:t>Recap of the full course</a:t>
            </a:r>
          </a:p>
        </p:txBody>
      </p:sp>
      <p:sp>
        <p:nvSpPr>
          <p:cNvPr id="80" name="Star: 5 Points 79">
            <a:extLst>
              <a:ext uri="{FF2B5EF4-FFF2-40B4-BE49-F238E27FC236}">
                <a16:creationId xmlns:a16="http://schemas.microsoft.com/office/drawing/2014/main" id="{24C8791D-D8DF-DDEE-8CB4-87924F7E81AB}"/>
              </a:ext>
            </a:extLst>
          </p:cNvPr>
          <p:cNvSpPr/>
          <p:nvPr/>
        </p:nvSpPr>
        <p:spPr>
          <a:xfrm>
            <a:off x="9827097" y="2312334"/>
            <a:ext cx="728531" cy="599472"/>
          </a:xfrm>
          <a:prstGeom prst="star5">
            <a:avLst>
              <a:gd name="adj" fmla="val 19098"/>
              <a:gd name="hf" fmla="val 105146"/>
              <a:gd name="vf" fmla="val 110557"/>
            </a:avLst>
          </a:prstGeom>
          <a:solidFill>
            <a:srgbClr val="FFFF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600" b="0" i="0" u="none" strike="noStrike" kern="1200" cap="none" spc="0" normalizeH="0" baseline="0" noProof="0" dirty="0">
                <a:ln>
                  <a:noFill/>
                </a:ln>
                <a:solidFill>
                  <a:prstClr val="white"/>
                </a:solidFill>
                <a:effectLst/>
                <a:uLnTx/>
                <a:uFillTx/>
                <a:latin typeface="Calibri"/>
                <a:ea typeface="+mn-ea"/>
                <a:cs typeface="+mn-cs"/>
              </a:rPr>
              <a:t>A1</a:t>
            </a:r>
            <a:endParaRPr kumimoji="0" lang="en-AU" sz="600" b="0" i="0" u="none" strike="noStrike" kern="1200" cap="none" spc="0" normalizeH="0" baseline="0" noProof="0" dirty="0">
              <a:ln>
                <a:noFill/>
              </a:ln>
              <a:solidFill>
                <a:prstClr val="white"/>
              </a:solidFill>
              <a:effectLst/>
              <a:uLnTx/>
              <a:uFillTx/>
              <a:latin typeface="Calibri"/>
              <a:ea typeface="+mn-ea"/>
              <a:cs typeface="+mn-cs"/>
            </a:endParaRPr>
          </a:p>
        </p:txBody>
      </p:sp>
      <p:sp>
        <p:nvSpPr>
          <p:cNvPr id="81" name="Star: 5 Points 80">
            <a:extLst>
              <a:ext uri="{FF2B5EF4-FFF2-40B4-BE49-F238E27FC236}">
                <a16:creationId xmlns:a16="http://schemas.microsoft.com/office/drawing/2014/main" id="{7D9B217E-59FC-85B1-8CA4-AEB15206D0B7}"/>
              </a:ext>
            </a:extLst>
          </p:cNvPr>
          <p:cNvSpPr/>
          <p:nvPr/>
        </p:nvSpPr>
        <p:spPr>
          <a:xfrm>
            <a:off x="3048510" y="4826593"/>
            <a:ext cx="728531" cy="599472"/>
          </a:xfrm>
          <a:prstGeom prst="star5">
            <a:avLst>
              <a:gd name="adj" fmla="val 19098"/>
              <a:gd name="hf" fmla="val 105146"/>
              <a:gd name="vf" fmla="val 110557"/>
            </a:avLst>
          </a:prstGeom>
          <a:solidFill>
            <a:srgbClr val="FFFF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600" b="0" i="0" u="none" strike="noStrike" kern="1200" cap="none" spc="0" normalizeH="0" baseline="0" noProof="0" dirty="0">
                <a:ln>
                  <a:noFill/>
                </a:ln>
                <a:solidFill>
                  <a:prstClr val="white"/>
                </a:solidFill>
                <a:effectLst/>
                <a:uLnTx/>
                <a:uFillTx/>
                <a:latin typeface="Calibri"/>
                <a:ea typeface="+mn-ea"/>
                <a:cs typeface="+mn-cs"/>
              </a:rPr>
              <a:t>A2</a:t>
            </a:r>
            <a:endParaRPr kumimoji="0" lang="en-AU" sz="600" b="0" i="0" u="none" strike="noStrike" kern="1200" cap="none" spc="0" normalizeH="0" baseline="0" noProof="0" dirty="0">
              <a:ln>
                <a:noFill/>
              </a:ln>
              <a:solidFill>
                <a:prstClr val="white"/>
              </a:solidFill>
              <a:effectLst/>
              <a:uLnTx/>
              <a:uFillTx/>
              <a:latin typeface="Calibri"/>
              <a:ea typeface="+mn-ea"/>
              <a:cs typeface="+mn-cs"/>
            </a:endParaRPr>
          </a:p>
        </p:txBody>
      </p:sp>
      <p:sp>
        <p:nvSpPr>
          <p:cNvPr id="82" name="Freeform 10">
            <a:extLst>
              <a:ext uri="{FF2B5EF4-FFF2-40B4-BE49-F238E27FC236}">
                <a16:creationId xmlns:a16="http://schemas.microsoft.com/office/drawing/2014/main" id="{59E6FAE0-612B-3349-0822-C3B2D7C4D63A}"/>
              </a:ext>
            </a:extLst>
          </p:cNvPr>
          <p:cNvSpPr/>
          <p:nvPr/>
        </p:nvSpPr>
        <p:spPr>
          <a:xfrm>
            <a:off x="2826632" y="3210230"/>
            <a:ext cx="687071" cy="343536"/>
          </a:xfrm>
          <a:custGeom>
            <a:avLst/>
            <a:gdLst/>
            <a:ahLst/>
            <a:cxnLst/>
            <a:rect l="l" t="t" r="r" b="b"/>
            <a:pathLst>
              <a:path w="812800" h="406400">
                <a:moveTo>
                  <a:pt x="609600" y="0"/>
                </a:moveTo>
                <a:cubicBezTo>
                  <a:pt x="721824" y="0"/>
                  <a:pt x="812800" y="90976"/>
                  <a:pt x="812800" y="203200"/>
                </a:cubicBezTo>
                <a:cubicBezTo>
                  <a:pt x="812800" y="315424"/>
                  <a:pt x="721824" y="406400"/>
                  <a:pt x="609600" y="406400"/>
                </a:cubicBezTo>
                <a:lnTo>
                  <a:pt x="203200" y="406400"/>
                </a:lnTo>
                <a:cubicBezTo>
                  <a:pt x="90976" y="406400"/>
                  <a:pt x="0" y="315424"/>
                  <a:pt x="0" y="203200"/>
                </a:cubicBezTo>
                <a:cubicBezTo>
                  <a:pt x="0" y="90976"/>
                  <a:pt x="90976" y="0"/>
                  <a:pt x="203200" y="0"/>
                </a:cubicBezTo>
                <a:close/>
              </a:path>
            </a:pathLst>
          </a:custGeom>
          <a:solidFill>
            <a:srgbClr val="FFD6C5"/>
          </a:solidFill>
          <a:ln w="19050" cap="sq">
            <a:solidFill>
              <a:srgbClr val="141414"/>
            </a:solidFill>
            <a:prstDash val="solid"/>
            <a:miter/>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AU" sz="1800" b="0" i="0" u="none" strike="noStrike" kern="1200" cap="none" spc="0" normalizeH="0" baseline="0" noProof="0">
              <a:ln>
                <a:noFill/>
              </a:ln>
              <a:solidFill>
                <a:prstClr val="white"/>
              </a:solidFill>
              <a:effectLst/>
              <a:uLnTx/>
              <a:uFillTx/>
              <a:latin typeface="Calibri"/>
              <a:ea typeface="+mn-ea"/>
              <a:cs typeface="+mn-cs"/>
            </a:endParaRPr>
          </a:p>
        </p:txBody>
      </p:sp>
      <p:sp>
        <p:nvSpPr>
          <p:cNvPr id="83" name="Star: 5 Points 82">
            <a:extLst>
              <a:ext uri="{FF2B5EF4-FFF2-40B4-BE49-F238E27FC236}">
                <a16:creationId xmlns:a16="http://schemas.microsoft.com/office/drawing/2014/main" id="{F242D188-2515-47FD-BD10-0C8CF2B68501}"/>
              </a:ext>
            </a:extLst>
          </p:cNvPr>
          <p:cNvSpPr/>
          <p:nvPr/>
        </p:nvSpPr>
        <p:spPr>
          <a:xfrm>
            <a:off x="10434426" y="4835579"/>
            <a:ext cx="728531" cy="599472"/>
          </a:xfrm>
          <a:prstGeom prst="star5">
            <a:avLst>
              <a:gd name="adj" fmla="val 19098"/>
              <a:gd name="hf" fmla="val 105146"/>
              <a:gd name="vf" fmla="val 110557"/>
            </a:avLst>
          </a:prstGeom>
          <a:solidFill>
            <a:srgbClr val="FFFF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600" b="0" i="0" u="none" strike="noStrike" kern="1200" cap="none" spc="0" normalizeH="0" baseline="0" noProof="0" dirty="0">
                <a:ln>
                  <a:noFill/>
                </a:ln>
                <a:solidFill>
                  <a:prstClr val="white"/>
                </a:solidFill>
                <a:effectLst/>
                <a:uLnTx/>
                <a:uFillTx/>
                <a:latin typeface="Calibri"/>
                <a:ea typeface="+mn-ea"/>
                <a:cs typeface="+mn-cs"/>
              </a:rPr>
              <a:t>A3</a:t>
            </a:r>
            <a:endParaRPr kumimoji="0" lang="en-AU" sz="600" b="0" i="0" u="none" strike="noStrike" kern="1200" cap="none" spc="0" normalizeH="0" baseline="0" noProof="0" dirty="0">
              <a:ln>
                <a:noFill/>
              </a:ln>
              <a:solidFill>
                <a:prstClr val="white"/>
              </a:solidFill>
              <a:effectLst/>
              <a:uLnTx/>
              <a:uFillTx/>
              <a:latin typeface="Calibri"/>
              <a:ea typeface="+mn-ea"/>
              <a:cs typeface="+mn-cs"/>
            </a:endParaRPr>
          </a:p>
        </p:txBody>
      </p:sp>
      <p:sp>
        <p:nvSpPr>
          <p:cNvPr id="84" name="TextBox 38">
            <a:extLst>
              <a:ext uri="{FF2B5EF4-FFF2-40B4-BE49-F238E27FC236}">
                <a16:creationId xmlns:a16="http://schemas.microsoft.com/office/drawing/2014/main" id="{86961A52-3DF8-403E-FED0-A09A15A2F675}"/>
              </a:ext>
            </a:extLst>
          </p:cNvPr>
          <p:cNvSpPr txBox="1"/>
          <p:nvPr/>
        </p:nvSpPr>
        <p:spPr>
          <a:xfrm>
            <a:off x="2912832" y="3348364"/>
            <a:ext cx="560145" cy="89833"/>
          </a:xfrm>
          <a:prstGeom prst="rect">
            <a:avLst/>
          </a:prstGeom>
        </p:spPr>
        <p:txBody>
          <a:bodyPr wrap="square" lIns="0" tIns="0" rIns="0" bIns="0" rtlCol="0" anchor="t">
            <a:spAutoFit/>
          </a:bodyPr>
          <a:lstStyle/>
          <a:p>
            <a:pPr marL="0" marR="0" lvl="0" indent="0" algn="ctr" defTabSz="914400" rtl="0" eaLnBrk="1" fontAlgn="auto" latinLnBrk="0" hangingPunct="1">
              <a:lnSpc>
                <a:spcPts val="570"/>
              </a:lnSpc>
              <a:spcBef>
                <a:spcPts val="0"/>
              </a:spcBef>
              <a:spcAft>
                <a:spcPts val="0"/>
              </a:spcAft>
              <a:buClrTx/>
              <a:buSzTx/>
              <a:buFontTx/>
              <a:buNone/>
              <a:tabLst/>
              <a:defRPr/>
            </a:pPr>
            <a:r>
              <a:rPr kumimoji="0" lang="en-US" sz="1100" b="1" i="0" u="none" strike="noStrike" kern="1200" cap="none" spc="0" normalizeH="0" baseline="0" noProof="0" dirty="0">
                <a:ln>
                  <a:noFill/>
                </a:ln>
                <a:solidFill>
                  <a:prstClr val="white"/>
                </a:solidFill>
                <a:effectLst/>
                <a:uLnTx/>
                <a:uFillTx/>
                <a:latin typeface="Montserrat Bold"/>
                <a:ea typeface="Montserrat Bold"/>
                <a:cs typeface="Montserrat Bold"/>
                <a:sym typeface="Montserrat Bold"/>
              </a:rPr>
              <a:t>Week 7</a:t>
            </a:r>
          </a:p>
        </p:txBody>
      </p:sp>
      <p:sp>
        <p:nvSpPr>
          <p:cNvPr id="85" name="TextBox 66">
            <a:extLst>
              <a:ext uri="{FF2B5EF4-FFF2-40B4-BE49-F238E27FC236}">
                <a16:creationId xmlns:a16="http://schemas.microsoft.com/office/drawing/2014/main" id="{D6BE3982-6901-A004-56B4-4A3E9C42DAA9}"/>
              </a:ext>
            </a:extLst>
          </p:cNvPr>
          <p:cNvSpPr txBox="1"/>
          <p:nvPr/>
        </p:nvSpPr>
        <p:spPr>
          <a:xfrm>
            <a:off x="3369528" y="5868830"/>
            <a:ext cx="1836432" cy="447495"/>
          </a:xfrm>
          <a:prstGeom prst="rect">
            <a:avLst/>
          </a:prstGeom>
        </p:spPr>
        <p:txBody>
          <a:bodyPr wrap="square" lIns="0" tIns="0" rIns="0" bIns="0" rtlCol="0" anchor="t">
            <a:spAutoFit/>
          </a:bodyPr>
          <a:lstStyle/>
          <a:p>
            <a:pPr marL="0" marR="0" lvl="0" indent="0" algn="ctr" defTabSz="914400" rtl="0" eaLnBrk="1" fontAlgn="auto" latinLnBrk="0" hangingPunct="1">
              <a:lnSpc>
                <a:spcPts val="1191"/>
              </a:lnSpc>
              <a:spcBef>
                <a:spcPts val="0"/>
              </a:spcBef>
              <a:spcAft>
                <a:spcPts val="0"/>
              </a:spcAft>
              <a:buClrTx/>
              <a:buSzTx/>
              <a:buFontTx/>
              <a:buNone/>
              <a:tabLst/>
              <a:defRPr/>
            </a:pPr>
            <a:r>
              <a:rPr kumimoji="0" lang="en-US" sz="832" b="0" i="0" u="none" strike="noStrike" kern="1200" cap="none" spc="0" normalizeH="0" baseline="0" noProof="0" dirty="0">
                <a:ln>
                  <a:noFill/>
                </a:ln>
                <a:solidFill>
                  <a:prstClr val="white"/>
                </a:solidFill>
                <a:effectLst/>
                <a:uLnTx/>
                <a:uFillTx/>
                <a:latin typeface="Glacial Indifference"/>
                <a:ea typeface="Glacial Indifference"/>
                <a:cs typeface="Glacial Indifference"/>
                <a:sym typeface="Glacial Indifference"/>
              </a:rPr>
              <a:t>Explores  areas where authority has been granted by statute but errors made in the decision making process </a:t>
            </a:r>
          </a:p>
        </p:txBody>
      </p:sp>
    </p:spTree>
    <p:extLst>
      <p:ext uri="{BB962C8B-B14F-4D97-AF65-F5344CB8AC3E}">
        <p14:creationId xmlns:p14="http://schemas.microsoft.com/office/powerpoint/2010/main" val="285671744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000054"/>
        </a:solidFill>
        <a:effectLst/>
      </p:bgPr>
    </p:bg>
    <p:spTree>
      <p:nvGrpSpPr>
        <p:cNvPr id="1" name=""/>
        <p:cNvGrpSpPr/>
        <p:nvPr/>
      </p:nvGrpSpPr>
      <p:grpSpPr>
        <a:xfrm>
          <a:off x="0" y="0"/>
          <a:ext cx="0" cy="0"/>
          <a:chOff x="0" y="0"/>
          <a:chExt cx="0" cy="0"/>
        </a:xfrm>
      </p:grpSpPr>
      <p:grpSp>
        <p:nvGrpSpPr>
          <p:cNvPr id="2" name="Group 2"/>
          <p:cNvGrpSpPr/>
          <p:nvPr/>
        </p:nvGrpSpPr>
        <p:grpSpPr>
          <a:xfrm rot="-10800000">
            <a:off x="11045567" y="-12700"/>
            <a:ext cx="1146433" cy="1146433"/>
            <a:chOff x="0" y="0"/>
            <a:chExt cx="1630482" cy="1630482"/>
          </a:xfrm>
        </p:grpSpPr>
        <p:sp>
          <p:nvSpPr>
            <p:cNvPr id="3" name="Freeform 3"/>
            <p:cNvSpPr/>
            <p:nvPr/>
          </p:nvSpPr>
          <p:spPr>
            <a:xfrm>
              <a:off x="0" y="0"/>
              <a:ext cx="1630426" cy="1630426"/>
            </a:xfrm>
            <a:custGeom>
              <a:avLst/>
              <a:gdLst/>
              <a:ahLst/>
              <a:cxnLst/>
              <a:rect l="l" t="t" r="r" b="b"/>
              <a:pathLst>
                <a:path w="1630426" h="1630426">
                  <a:moveTo>
                    <a:pt x="0" y="0"/>
                  </a:moveTo>
                  <a:lnTo>
                    <a:pt x="543433" y="0"/>
                  </a:lnTo>
                  <a:lnTo>
                    <a:pt x="543433" y="543433"/>
                  </a:lnTo>
                  <a:lnTo>
                    <a:pt x="1086993" y="543433"/>
                  </a:lnTo>
                  <a:lnTo>
                    <a:pt x="1086993" y="1086993"/>
                  </a:lnTo>
                  <a:lnTo>
                    <a:pt x="1630426" y="1086993"/>
                  </a:lnTo>
                  <a:lnTo>
                    <a:pt x="1630426" y="1630426"/>
                  </a:lnTo>
                  <a:lnTo>
                    <a:pt x="0" y="1630426"/>
                  </a:lnTo>
                  <a:lnTo>
                    <a:pt x="0" y="1086993"/>
                  </a:lnTo>
                  <a:lnTo>
                    <a:pt x="0" y="543433"/>
                  </a:lnTo>
                  <a:close/>
                </a:path>
              </a:pathLst>
            </a:custGeom>
            <a:solidFill>
              <a:srgbClr val="FFFFFF"/>
            </a:solidFill>
          </p:spPr>
          <p:txBody>
            <a:bodyPr/>
            <a:lstStyle/>
            <a:p>
              <a:endParaRPr lang="en-AU"/>
            </a:p>
          </p:txBody>
        </p:sp>
      </p:grpSp>
      <p:sp>
        <p:nvSpPr>
          <p:cNvPr id="5" name="TextBox 5"/>
          <p:cNvSpPr txBox="1"/>
          <p:nvPr/>
        </p:nvSpPr>
        <p:spPr>
          <a:xfrm>
            <a:off x="392084" y="560536"/>
            <a:ext cx="7170696" cy="409471"/>
          </a:xfrm>
          <a:prstGeom prst="rect">
            <a:avLst/>
          </a:prstGeom>
        </p:spPr>
        <p:txBody>
          <a:bodyPr lIns="0" tIns="0" rIns="0" bIns="0" rtlCol="0" anchor="t">
            <a:spAutoFit/>
          </a:bodyPr>
          <a:lstStyle/>
          <a:p>
            <a:pPr algn="l">
              <a:lnSpc>
                <a:spcPts val="3494"/>
              </a:lnSpc>
            </a:pPr>
            <a:r>
              <a:rPr lang="en-US" sz="2496" b="1" dirty="0">
                <a:solidFill>
                  <a:srgbClr val="FFFFFF"/>
                </a:solidFill>
                <a:latin typeface="Arial Bold"/>
                <a:ea typeface="Arial Bold"/>
                <a:cs typeface="Arial Bold"/>
                <a:sym typeface="Arial Bold"/>
              </a:rPr>
              <a:t>What are the grounds of review? </a:t>
            </a:r>
          </a:p>
        </p:txBody>
      </p:sp>
      <p:sp>
        <p:nvSpPr>
          <p:cNvPr id="9" name="TextBox 9"/>
          <p:cNvSpPr txBox="1"/>
          <p:nvPr/>
        </p:nvSpPr>
        <p:spPr>
          <a:xfrm>
            <a:off x="381000" y="1524000"/>
            <a:ext cx="5257800" cy="2513509"/>
          </a:xfrm>
          <a:prstGeom prst="rect">
            <a:avLst/>
          </a:prstGeom>
        </p:spPr>
        <p:txBody>
          <a:bodyPr wrap="square" lIns="0" tIns="0" rIns="0" bIns="0" rtlCol="0" anchor="t">
            <a:spAutoFit/>
          </a:bodyPr>
          <a:lstStyle/>
          <a:p>
            <a:pPr marL="285750" indent="-285750">
              <a:lnSpc>
                <a:spcPts val="1957"/>
              </a:lnSpc>
              <a:spcAft>
                <a:spcPts val="1200"/>
              </a:spcAft>
              <a:buFont typeface="Arial" panose="020B0604020202020204" pitchFamily="34" charset="0"/>
              <a:buChar char="•"/>
            </a:pPr>
            <a:r>
              <a:rPr lang="en-US" sz="2000" dirty="0">
                <a:solidFill>
                  <a:srgbClr val="FFFFFF"/>
                </a:solidFill>
                <a:latin typeface="Arial" panose="020B0604020202020204" pitchFamily="34" charset="0"/>
                <a:ea typeface="Arial Bold"/>
                <a:cs typeface="Arial" panose="020B0604020202020204" pitchFamily="34" charset="0"/>
                <a:sym typeface="Arial Bold"/>
              </a:rPr>
              <a:t>The basis for arguing that the court should grant relief are the grounds for  arguing that a decision is affected by a reviewable error</a:t>
            </a:r>
          </a:p>
          <a:p>
            <a:pPr>
              <a:lnSpc>
                <a:spcPts val="1957"/>
              </a:lnSpc>
              <a:spcAft>
                <a:spcPts val="1200"/>
              </a:spcAft>
            </a:pPr>
            <a:r>
              <a:rPr lang="en-US" sz="2000" dirty="0">
                <a:solidFill>
                  <a:srgbClr val="FFFFFF"/>
                </a:solidFill>
                <a:latin typeface="Arial" panose="020B0604020202020204" pitchFamily="34" charset="0"/>
                <a:ea typeface="Arial Bold"/>
                <a:cs typeface="Arial" panose="020B0604020202020204" pitchFamily="34" charset="0"/>
                <a:sym typeface="Arial Bold"/>
              </a:rPr>
              <a:t>	– “an error of law”</a:t>
            </a:r>
          </a:p>
          <a:p>
            <a:pPr>
              <a:lnSpc>
                <a:spcPts val="1957"/>
              </a:lnSpc>
              <a:spcAft>
                <a:spcPts val="1200"/>
              </a:spcAft>
            </a:pPr>
            <a:r>
              <a:rPr lang="en-US" sz="2000" dirty="0">
                <a:solidFill>
                  <a:srgbClr val="FFFFFF"/>
                </a:solidFill>
                <a:latin typeface="Arial" panose="020B0604020202020204" pitchFamily="34" charset="0"/>
                <a:ea typeface="Arial Bold"/>
                <a:cs typeface="Arial" panose="020B0604020202020204" pitchFamily="34" charset="0"/>
                <a:sym typeface="Arial Bold"/>
              </a:rPr>
              <a:t>	– “ a ground for review”</a:t>
            </a:r>
          </a:p>
          <a:p>
            <a:pPr marL="285750" indent="-285750">
              <a:lnSpc>
                <a:spcPts val="1957"/>
              </a:lnSpc>
              <a:spcAft>
                <a:spcPts val="1200"/>
              </a:spcAft>
              <a:buFont typeface="Arial" panose="020B0604020202020204" pitchFamily="34" charset="0"/>
              <a:buChar char="•"/>
            </a:pPr>
            <a:r>
              <a:rPr lang="en-US" sz="2000" dirty="0">
                <a:solidFill>
                  <a:srgbClr val="FFFFFF"/>
                </a:solidFill>
                <a:latin typeface="Arial" panose="020B0604020202020204" pitchFamily="34" charset="0"/>
                <a:ea typeface="Arial Bold"/>
                <a:cs typeface="Arial" panose="020B0604020202020204" pitchFamily="34" charset="0"/>
                <a:sym typeface="Arial Bold"/>
              </a:rPr>
              <a:t>Common law grounds/constitutional grounds/statutory grounds contain  substantial overlap</a:t>
            </a:r>
          </a:p>
        </p:txBody>
      </p:sp>
      <p:sp>
        <p:nvSpPr>
          <p:cNvPr id="10" name="TextBox 10"/>
          <p:cNvSpPr txBox="1"/>
          <p:nvPr/>
        </p:nvSpPr>
        <p:spPr>
          <a:xfrm>
            <a:off x="10195446" y="6347803"/>
            <a:ext cx="1773879" cy="193258"/>
          </a:xfrm>
          <a:prstGeom prst="rect">
            <a:avLst/>
          </a:prstGeom>
        </p:spPr>
        <p:txBody>
          <a:bodyPr lIns="0" tIns="0" rIns="0" bIns="0" rtlCol="0" anchor="t">
            <a:spAutoFit/>
          </a:bodyPr>
          <a:lstStyle/>
          <a:p>
            <a:pPr algn="l">
              <a:lnSpc>
                <a:spcPts val="1422"/>
              </a:lnSpc>
            </a:pPr>
            <a:r>
              <a:rPr lang="en-US" sz="1016">
                <a:solidFill>
                  <a:srgbClr val="FFFFFF"/>
                </a:solidFill>
                <a:latin typeface="Arial"/>
                <a:ea typeface="Arial"/>
                <a:cs typeface="Arial"/>
                <a:sym typeface="Arial"/>
              </a:rPr>
              <a:t>Administrative Law –LAW1023</a:t>
            </a:r>
          </a:p>
        </p:txBody>
      </p:sp>
      <p:sp>
        <p:nvSpPr>
          <p:cNvPr id="4" name="Freeform: Shape 3">
            <a:extLst>
              <a:ext uri="{FF2B5EF4-FFF2-40B4-BE49-F238E27FC236}">
                <a16:creationId xmlns:a16="http://schemas.microsoft.com/office/drawing/2014/main" id="{62C3A65A-34F4-6B97-118F-50DF8B007FED}"/>
              </a:ext>
            </a:extLst>
          </p:cNvPr>
          <p:cNvSpPr/>
          <p:nvPr/>
        </p:nvSpPr>
        <p:spPr>
          <a:xfrm>
            <a:off x="7696200" y="1600200"/>
            <a:ext cx="2151935" cy="2137981"/>
          </a:xfrm>
          <a:custGeom>
            <a:avLst/>
            <a:gdLst>
              <a:gd name="connsiteX0" fmla="*/ 1008992 w 2017986"/>
              <a:gd name="connsiteY0" fmla="*/ 451848 h 2004901"/>
              <a:gd name="connsiteX1" fmla="*/ 451847 w 2017986"/>
              <a:gd name="connsiteY1" fmla="*/ 1008993 h 2004901"/>
              <a:gd name="connsiteX2" fmla="*/ 1008992 w 2017986"/>
              <a:gd name="connsiteY2" fmla="*/ 1566138 h 2004901"/>
              <a:gd name="connsiteX3" fmla="*/ 1566137 w 2017986"/>
              <a:gd name="connsiteY3" fmla="*/ 1008993 h 2004901"/>
              <a:gd name="connsiteX4" fmla="*/ 1008992 w 2017986"/>
              <a:gd name="connsiteY4" fmla="*/ 451848 h 2004901"/>
              <a:gd name="connsiteX5" fmla="*/ 1008993 w 2017986"/>
              <a:gd name="connsiteY5" fmla="*/ 0 h 2004901"/>
              <a:gd name="connsiteX6" fmla="*/ 2017986 w 2017986"/>
              <a:gd name="connsiteY6" fmla="*/ 1008993 h 2004901"/>
              <a:gd name="connsiteX7" fmla="*/ 1212340 w 2017986"/>
              <a:gd name="connsiteY7" fmla="*/ 1997487 h 2004901"/>
              <a:gd name="connsiteX8" fmla="*/ 1163759 w 2017986"/>
              <a:gd name="connsiteY8" fmla="*/ 2004901 h 2004901"/>
              <a:gd name="connsiteX9" fmla="*/ 1150665 w 2017986"/>
              <a:gd name="connsiteY9" fmla="*/ 1969126 h 2004901"/>
              <a:gd name="connsiteX10" fmla="*/ 220963 w 2017986"/>
              <a:gd name="connsiteY10" fmla="*/ 1352878 h 2004901"/>
              <a:gd name="connsiteX11" fmla="*/ 117800 w 2017986"/>
              <a:gd name="connsiteY11" fmla="*/ 1358087 h 2004901"/>
              <a:gd name="connsiteX12" fmla="*/ 66198 w 2017986"/>
              <a:gd name="connsiteY12" fmla="*/ 1365963 h 2004901"/>
              <a:gd name="connsiteX13" fmla="*/ 45363 w 2017986"/>
              <a:gd name="connsiteY13" fmla="*/ 1309037 h 2004901"/>
              <a:gd name="connsiteX14" fmla="*/ 0 w 2017986"/>
              <a:gd name="connsiteY14" fmla="*/ 1008993 h 2004901"/>
              <a:gd name="connsiteX15" fmla="*/ 1008993 w 2017986"/>
              <a:gd name="connsiteY15" fmla="*/ 0 h 20049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2017986" h="2004901">
                <a:moveTo>
                  <a:pt x="1008992" y="451848"/>
                </a:moveTo>
                <a:cubicBezTo>
                  <a:pt x="701289" y="451848"/>
                  <a:pt x="451847" y="701290"/>
                  <a:pt x="451847" y="1008993"/>
                </a:cubicBezTo>
                <a:cubicBezTo>
                  <a:pt x="451847" y="1316696"/>
                  <a:pt x="701289" y="1566138"/>
                  <a:pt x="1008992" y="1566138"/>
                </a:cubicBezTo>
                <a:cubicBezTo>
                  <a:pt x="1316695" y="1566138"/>
                  <a:pt x="1566137" y="1316696"/>
                  <a:pt x="1566137" y="1008993"/>
                </a:cubicBezTo>
                <a:cubicBezTo>
                  <a:pt x="1566137" y="701290"/>
                  <a:pt x="1316695" y="451848"/>
                  <a:pt x="1008992" y="451848"/>
                </a:cubicBezTo>
                <a:close/>
                <a:moveTo>
                  <a:pt x="1008993" y="0"/>
                </a:moveTo>
                <a:cubicBezTo>
                  <a:pt x="1566244" y="0"/>
                  <a:pt x="2017986" y="451742"/>
                  <a:pt x="2017986" y="1008993"/>
                </a:cubicBezTo>
                <a:cubicBezTo>
                  <a:pt x="2017986" y="1496588"/>
                  <a:pt x="1672121" y="1903402"/>
                  <a:pt x="1212340" y="1997487"/>
                </a:cubicBezTo>
                <a:lnTo>
                  <a:pt x="1163759" y="2004901"/>
                </a:lnTo>
                <a:lnTo>
                  <a:pt x="1150665" y="1969126"/>
                </a:lnTo>
                <a:cubicBezTo>
                  <a:pt x="997491" y="1606983"/>
                  <a:pt x="638902" y="1352878"/>
                  <a:pt x="220963" y="1352878"/>
                </a:cubicBezTo>
                <a:cubicBezTo>
                  <a:pt x="186135" y="1352878"/>
                  <a:pt x="151719" y="1354643"/>
                  <a:pt x="117800" y="1358087"/>
                </a:cubicBezTo>
                <a:lnTo>
                  <a:pt x="66198" y="1365963"/>
                </a:lnTo>
                <a:lnTo>
                  <a:pt x="45363" y="1309037"/>
                </a:lnTo>
                <a:cubicBezTo>
                  <a:pt x="15882" y="1214253"/>
                  <a:pt x="0" y="1113478"/>
                  <a:pt x="0" y="1008993"/>
                </a:cubicBezTo>
                <a:cubicBezTo>
                  <a:pt x="0" y="451742"/>
                  <a:pt x="451742" y="0"/>
                  <a:pt x="1008993" y="0"/>
                </a:cubicBezTo>
                <a:close/>
              </a:path>
            </a:pathLst>
          </a:custGeom>
          <a:solidFill>
            <a:schemeClr val="accent2"/>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sz="1350">
              <a:solidFill>
                <a:schemeClr val="tx1"/>
              </a:solidFill>
            </a:endParaRPr>
          </a:p>
        </p:txBody>
      </p:sp>
      <p:sp>
        <p:nvSpPr>
          <p:cNvPr id="6" name="Freeform: Shape 5">
            <a:extLst>
              <a:ext uri="{FF2B5EF4-FFF2-40B4-BE49-F238E27FC236}">
                <a16:creationId xmlns:a16="http://schemas.microsoft.com/office/drawing/2014/main" id="{73F4A283-7744-EA24-DB5C-542E0EE92749}"/>
              </a:ext>
            </a:extLst>
          </p:cNvPr>
          <p:cNvSpPr/>
          <p:nvPr/>
        </p:nvSpPr>
        <p:spPr>
          <a:xfrm>
            <a:off x="6855864" y="3042876"/>
            <a:ext cx="1916304" cy="2151935"/>
          </a:xfrm>
          <a:custGeom>
            <a:avLst/>
            <a:gdLst>
              <a:gd name="connsiteX0" fmla="*/ 1008992 w 1797023"/>
              <a:gd name="connsiteY0" fmla="*/ 451848 h 2017986"/>
              <a:gd name="connsiteX1" fmla="*/ 451847 w 1797023"/>
              <a:gd name="connsiteY1" fmla="*/ 1008993 h 2017986"/>
              <a:gd name="connsiteX2" fmla="*/ 1008992 w 1797023"/>
              <a:gd name="connsiteY2" fmla="*/ 1566138 h 2017986"/>
              <a:gd name="connsiteX3" fmla="*/ 1566137 w 1797023"/>
              <a:gd name="connsiteY3" fmla="*/ 1008993 h 2017986"/>
              <a:gd name="connsiteX4" fmla="*/ 1008992 w 1797023"/>
              <a:gd name="connsiteY4" fmla="*/ 451848 h 2017986"/>
              <a:gd name="connsiteX5" fmla="*/ 1008993 w 1797023"/>
              <a:gd name="connsiteY5" fmla="*/ 0 h 2017986"/>
              <a:gd name="connsiteX6" fmla="*/ 1722459 w 1797023"/>
              <a:gd name="connsiteY6" fmla="*/ 295528 h 2017986"/>
              <a:gd name="connsiteX7" fmla="*/ 1797023 w 1797023"/>
              <a:gd name="connsiteY7" fmla="*/ 385900 h 2017986"/>
              <a:gd name="connsiteX8" fmla="*/ 1748380 w 1797023"/>
              <a:gd name="connsiteY8" fmla="*/ 444856 h 2017986"/>
              <a:gd name="connsiteX9" fmla="*/ 1576059 w 1797023"/>
              <a:gd name="connsiteY9" fmla="*/ 1008993 h 2017986"/>
              <a:gd name="connsiteX10" fmla="*/ 1748380 w 1797023"/>
              <a:gd name="connsiteY10" fmla="*/ 1573131 h 2017986"/>
              <a:gd name="connsiteX11" fmla="*/ 1797023 w 1797023"/>
              <a:gd name="connsiteY11" fmla="*/ 1632087 h 2017986"/>
              <a:gd name="connsiteX12" fmla="*/ 1722459 w 1797023"/>
              <a:gd name="connsiteY12" fmla="*/ 1722459 h 2017986"/>
              <a:gd name="connsiteX13" fmla="*/ 1008993 w 1797023"/>
              <a:gd name="connsiteY13" fmla="*/ 2017986 h 2017986"/>
              <a:gd name="connsiteX14" fmla="*/ 0 w 1797023"/>
              <a:gd name="connsiteY14" fmla="*/ 1008993 h 2017986"/>
              <a:gd name="connsiteX15" fmla="*/ 1008993 w 1797023"/>
              <a:gd name="connsiteY15" fmla="*/ 0 h 20179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797023" h="2017986">
                <a:moveTo>
                  <a:pt x="1008992" y="451848"/>
                </a:moveTo>
                <a:cubicBezTo>
                  <a:pt x="701289" y="451848"/>
                  <a:pt x="451847" y="701290"/>
                  <a:pt x="451847" y="1008993"/>
                </a:cubicBezTo>
                <a:cubicBezTo>
                  <a:pt x="451847" y="1316696"/>
                  <a:pt x="701289" y="1566138"/>
                  <a:pt x="1008992" y="1566138"/>
                </a:cubicBezTo>
                <a:cubicBezTo>
                  <a:pt x="1316695" y="1566138"/>
                  <a:pt x="1566137" y="1316696"/>
                  <a:pt x="1566137" y="1008993"/>
                </a:cubicBezTo>
                <a:cubicBezTo>
                  <a:pt x="1566137" y="701290"/>
                  <a:pt x="1316695" y="451848"/>
                  <a:pt x="1008992" y="451848"/>
                </a:cubicBezTo>
                <a:close/>
                <a:moveTo>
                  <a:pt x="1008993" y="0"/>
                </a:moveTo>
                <a:cubicBezTo>
                  <a:pt x="1287619" y="0"/>
                  <a:pt x="1539867" y="112936"/>
                  <a:pt x="1722459" y="295528"/>
                </a:cubicBezTo>
                <a:lnTo>
                  <a:pt x="1797023" y="385900"/>
                </a:lnTo>
                <a:lnTo>
                  <a:pt x="1748380" y="444856"/>
                </a:lnTo>
                <a:cubicBezTo>
                  <a:pt x="1639585" y="605892"/>
                  <a:pt x="1576059" y="800024"/>
                  <a:pt x="1576059" y="1008993"/>
                </a:cubicBezTo>
                <a:cubicBezTo>
                  <a:pt x="1576059" y="1217962"/>
                  <a:pt x="1639585" y="1412094"/>
                  <a:pt x="1748380" y="1573131"/>
                </a:cubicBezTo>
                <a:lnTo>
                  <a:pt x="1797023" y="1632087"/>
                </a:lnTo>
                <a:lnTo>
                  <a:pt x="1722459" y="1722459"/>
                </a:lnTo>
                <a:cubicBezTo>
                  <a:pt x="1539867" y="1905051"/>
                  <a:pt x="1287619" y="2017986"/>
                  <a:pt x="1008993" y="2017986"/>
                </a:cubicBezTo>
                <a:cubicBezTo>
                  <a:pt x="451742" y="2017986"/>
                  <a:pt x="0" y="1566244"/>
                  <a:pt x="0" y="1008993"/>
                </a:cubicBezTo>
                <a:cubicBezTo>
                  <a:pt x="0" y="451742"/>
                  <a:pt x="451742" y="0"/>
                  <a:pt x="1008993" y="0"/>
                </a:cubicBezTo>
                <a:close/>
              </a:path>
            </a:pathLst>
          </a:custGeom>
          <a:solidFill>
            <a:schemeClr val="accent3"/>
          </a:solidFill>
          <a:ln>
            <a:solidFill>
              <a:schemeClr val="accent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sz="1350">
              <a:solidFill>
                <a:schemeClr val="tx1"/>
              </a:solidFill>
            </a:endParaRPr>
          </a:p>
        </p:txBody>
      </p:sp>
      <p:sp>
        <p:nvSpPr>
          <p:cNvPr id="7" name="Circle: Hollow 6">
            <a:extLst>
              <a:ext uri="{FF2B5EF4-FFF2-40B4-BE49-F238E27FC236}">
                <a16:creationId xmlns:a16="http://schemas.microsoft.com/office/drawing/2014/main" id="{A4B51CC4-2432-FD48-7854-D07D9EF09239}"/>
              </a:ext>
            </a:extLst>
          </p:cNvPr>
          <p:cNvSpPr/>
          <p:nvPr/>
        </p:nvSpPr>
        <p:spPr>
          <a:xfrm>
            <a:off x="8536537" y="3042878"/>
            <a:ext cx="2151933" cy="2151933"/>
          </a:xfrm>
          <a:prstGeom prst="donut">
            <a:avLst>
              <a:gd name="adj" fmla="val 22391"/>
            </a:avLst>
          </a:prstGeom>
          <a:solidFill>
            <a:schemeClr val="accent1"/>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sz="1350">
              <a:solidFill>
                <a:schemeClr val="tx1"/>
              </a:solidFill>
            </a:endParaRPr>
          </a:p>
        </p:txBody>
      </p:sp>
      <p:sp>
        <p:nvSpPr>
          <p:cNvPr id="8" name="Freeform: Shape 7">
            <a:extLst>
              <a:ext uri="{FF2B5EF4-FFF2-40B4-BE49-F238E27FC236}">
                <a16:creationId xmlns:a16="http://schemas.microsoft.com/office/drawing/2014/main" id="{9DE7A672-5201-E728-C72C-D99422FCF505}"/>
              </a:ext>
            </a:extLst>
          </p:cNvPr>
          <p:cNvSpPr/>
          <p:nvPr/>
        </p:nvSpPr>
        <p:spPr>
          <a:xfrm>
            <a:off x="8124739" y="3119354"/>
            <a:ext cx="1294854" cy="999490"/>
          </a:xfrm>
          <a:custGeom>
            <a:avLst/>
            <a:gdLst>
              <a:gd name="connsiteX0" fmla="*/ 239396 w 1214255"/>
              <a:gd name="connsiteY0" fmla="*/ 0 h 937276"/>
              <a:gd name="connsiteX1" fmla="*/ 295623 w 1214255"/>
              <a:gd name="connsiteY1" fmla="*/ 46392 h 937276"/>
              <a:gd name="connsiteX2" fmla="*/ 607128 w 1214255"/>
              <a:gd name="connsiteY2" fmla="*/ 141543 h 937276"/>
              <a:gd name="connsiteX3" fmla="*/ 918633 w 1214255"/>
              <a:gd name="connsiteY3" fmla="*/ 46392 h 937276"/>
              <a:gd name="connsiteX4" fmla="*/ 974860 w 1214255"/>
              <a:gd name="connsiteY4" fmla="*/ 0 h 937276"/>
              <a:gd name="connsiteX5" fmla="*/ 1214255 w 1214255"/>
              <a:gd name="connsiteY5" fmla="*/ 412750 h 937276"/>
              <a:gd name="connsiteX6" fmla="*/ 1178291 w 1214255"/>
              <a:gd name="connsiteY6" fmla="*/ 423914 h 937276"/>
              <a:gd name="connsiteX7" fmla="*/ 838012 w 1214255"/>
              <a:gd name="connsiteY7" fmla="*/ 937276 h 937276"/>
              <a:gd name="connsiteX8" fmla="*/ 376243 w 1214255"/>
              <a:gd name="connsiteY8" fmla="*/ 937276 h 937276"/>
              <a:gd name="connsiteX9" fmla="*/ 35964 w 1214255"/>
              <a:gd name="connsiteY9" fmla="*/ 423914 h 937276"/>
              <a:gd name="connsiteX10" fmla="*/ 0 w 1214255"/>
              <a:gd name="connsiteY10" fmla="*/ 412750 h 9372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214255" h="937276">
                <a:moveTo>
                  <a:pt x="239396" y="0"/>
                </a:moveTo>
                <a:lnTo>
                  <a:pt x="295623" y="46392"/>
                </a:lnTo>
                <a:cubicBezTo>
                  <a:pt x="384544" y="106465"/>
                  <a:pt x="491740" y="141543"/>
                  <a:pt x="607128" y="141543"/>
                </a:cubicBezTo>
                <a:cubicBezTo>
                  <a:pt x="722517" y="141543"/>
                  <a:pt x="829713" y="106465"/>
                  <a:pt x="918633" y="46392"/>
                </a:cubicBezTo>
                <a:lnTo>
                  <a:pt x="974860" y="0"/>
                </a:lnTo>
                <a:lnTo>
                  <a:pt x="1214255" y="412750"/>
                </a:lnTo>
                <a:lnTo>
                  <a:pt x="1178291" y="423914"/>
                </a:lnTo>
                <a:cubicBezTo>
                  <a:pt x="978323" y="508493"/>
                  <a:pt x="838012" y="706499"/>
                  <a:pt x="838012" y="937276"/>
                </a:cubicBezTo>
                <a:lnTo>
                  <a:pt x="376243" y="937276"/>
                </a:lnTo>
                <a:cubicBezTo>
                  <a:pt x="376243" y="706499"/>
                  <a:pt x="235932" y="508493"/>
                  <a:pt x="35964" y="423914"/>
                </a:cubicBezTo>
                <a:lnTo>
                  <a:pt x="0" y="412750"/>
                </a:lnTo>
                <a:close/>
              </a:path>
            </a:pathLst>
          </a:custGeom>
          <a:solidFill>
            <a:schemeClr val="bg1"/>
          </a:solidFill>
          <a:ln>
            <a:solidFill>
              <a:schemeClr val="bg2">
                <a:lumMod val="9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sz="1350">
              <a:solidFill>
                <a:schemeClr val="tx1"/>
              </a:solidFill>
            </a:endParaRPr>
          </a:p>
        </p:txBody>
      </p:sp>
      <p:sp>
        <p:nvSpPr>
          <p:cNvPr id="11" name="Freeform 304">
            <a:extLst>
              <a:ext uri="{FF2B5EF4-FFF2-40B4-BE49-F238E27FC236}">
                <a16:creationId xmlns:a16="http://schemas.microsoft.com/office/drawing/2014/main" id="{E072407F-2028-9B30-C83F-C8B6FFD9BA2A}"/>
              </a:ext>
            </a:extLst>
          </p:cNvPr>
          <p:cNvSpPr/>
          <p:nvPr/>
        </p:nvSpPr>
        <p:spPr>
          <a:xfrm>
            <a:off x="8501555" y="3403704"/>
            <a:ext cx="545942" cy="545663"/>
          </a:xfrm>
          <a:custGeom>
            <a:avLst/>
            <a:gdLst/>
            <a:ahLst/>
            <a:cxnLst/>
            <a:rect l="l" t="t" r="r" b="b"/>
            <a:pathLst>
              <a:path w="432707" h="432707">
                <a:moveTo>
                  <a:pt x="185084" y="0"/>
                </a:moveTo>
                <a:lnTo>
                  <a:pt x="247624" y="0"/>
                </a:lnTo>
                <a:cubicBezTo>
                  <a:pt x="250253" y="0"/>
                  <a:pt x="252554" y="798"/>
                  <a:pt x="254525" y="2394"/>
                </a:cubicBezTo>
                <a:cubicBezTo>
                  <a:pt x="256498" y="3991"/>
                  <a:pt x="257578" y="6010"/>
                  <a:pt x="257765" y="8451"/>
                </a:cubicBezTo>
                <a:lnTo>
                  <a:pt x="265653" y="60286"/>
                </a:lnTo>
                <a:cubicBezTo>
                  <a:pt x="274855" y="63291"/>
                  <a:pt x="283306" y="66765"/>
                  <a:pt x="291006" y="70709"/>
                </a:cubicBezTo>
                <a:lnTo>
                  <a:pt x="331010" y="40566"/>
                </a:lnTo>
                <a:cubicBezTo>
                  <a:pt x="332700" y="38876"/>
                  <a:pt x="334953" y="38031"/>
                  <a:pt x="337771" y="38031"/>
                </a:cubicBezTo>
                <a:cubicBezTo>
                  <a:pt x="340212" y="38031"/>
                  <a:pt x="342560" y="38970"/>
                  <a:pt x="344814" y="40848"/>
                </a:cubicBezTo>
                <a:cubicBezTo>
                  <a:pt x="369041" y="63197"/>
                  <a:pt x="384535" y="79161"/>
                  <a:pt x="391295" y="88739"/>
                </a:cubicBezTo>
                <a:cubicBezTo>
                  <a:pt x="392610" y="90241"/>
                  <a:pt x="393268" y="92307"/>
                  <a:pt x="393268" y="94936"/>
                </a:cubicBezTo>
                <a:cubicBezTo>
                  <a:pt x="393268" y="97190"/>
                  <a:pt x="392516" y="99350"/>
                  <a:pt x="391014" y="101416"/>
                </a:cubicBezTo>
                <a:cubicBezTo>
                  <a:pt x="388197" y="105360"/>
                  <a:pt x="383408" y="111604"/>
                  <a:pt x="376647" y="120149"/>
                </a:cubicBezTo>
                <a:cubicBezTo>
                  <a:pt x="369885" y="128695"/>
                  <a:pt x="364815" y="135315"/>
                  <a:pt x="361434" y="140010"/>
                </a:cubicBezTo>
                <a:cubicBezTo>
                  <a:pt x="366317" y="149400"/>
                  <a:pt x="370168" y="158603"/>
                  <a:pt x="372985" y="167618"/>
                </a:cubicBezTo>
                <a:lnTo>
                  <a:pt x="424537" y="175506"/>
                </a:lnTo>
                <a:cubicBezTo>
                  <a:pt x="426979" y="175881"/>
                  <a:pt x="428951" y="177055"/>
                  <a:pt x="430453" y="179027"/>
                </a:cubicBezTo>
                <a:cubicBezTo>
                  <a:pt x="431956" y="180999"/>
                  <a:pt x="432707" y="183206"/>
                  <a:pt x="432707" y="185647"/>
                </a:cubicBezTo>
                <a:lnTo>
                  <a:pt x="432707" y="248187"/>
                </a:lnTo>
                <a:cubicBezTo>
                  <a:pt x="432707" y="250440"/>
                  <a:pt x="431956" y="252600"/>
                  <a:pt x="430453" y="254666"/>
                </a:cubicBezTo>
                <a:cubicBezTo>
                  <a:pt x="428951" y="256732"/>
                  <a:pt x="427072" y="257953"/>
                  <a:pt x="424819" y="258328"/>
                </a:cubicBezTo>
                <a:lnTo>
                  <a:pt x="372703" y="266216"/>
                </a:lnTo>
                <a:cubicBezTo>
                  <a:pt x="369134" y="276358"/>
                  <a:pt x="365472" y="284903"/>
                  <a:pt x="361716" y="291852"/>
                </a:cubicBezTo>
                <a:cubicBezTo>
                  <a:pt x="368289" y="301242"/>
                  <a:pt x="378337" y="314201"/>
                  <a:pt x="391859" y="330728"/>
                </a:cubicBezTo>
                <a:cubicBezTo>
                  <a:pt x="393737" y="332982"/>
                  <a:pt x="394676" y="335329"/>
                  <a:pt x="394676" y="337771"/>
                </a:cubicBezTo>
                <a:cubicBezTo>
                  <a:pt x="394676" y="340212"/>
                  <a:pt x="393832" y="342372"/>
                  <a:pt x="392140" y="344250"/>
                </a:cubicBezTo>
                <a:cubicBezTo>
                  <a:pt x="387070" y="351199"/>
                  <a:pt x="377773" y="361340"/>
                  <a:pt x="364251" y="374675"/>
                </a:cubicBezTo>
                <a:cubicBezTo>
                  <a:pt x="350729" y="388009"/>
                  <a:pt x="341903" y="394676"/>
                  <a:pt x="337771" y="394676"/>
                </a:cubicBezTo>
                <a:cubicBezTo>
                  <a:pt x="335517" y="394676"/>
                  <a:pt x="333075" y="393831"/>
                  <a:pt x="330446" y="392141"/>
                </a:cubicBezTo>
                <a:lnTo>
                  <a:pt x="291570" y="361716"/>
                </a:lnTo>
                <a:cubicBezTo>
                  <a:pt x="283306" y="366036"/>
                  <a:pt x="274762" y="369604"/>
                  <a:pt x="265934" y="372421"/>
                </a:cubicBezTo>
                <a:cubicBezTo>
                  <a:pt x="262929" y="397963"/>
                  <a:pt x="260206" y="415429"/>
                  <a:pt x="257765" y="424819"/>
                </a:cubicBezTo>
                <a:cubicBezTo>
                  <a:pt x="256450" y="430078"/>
                  <a:pt x="253070" y="432707"/>
                  <a:pt x="247624" y="432707"/>
                </a:cubicBezTo>
                <a:lnTo>
                  <a:pt x="185084" y="432707"/>
                </a:lnTo>
                <a:cubicBezTo>
                  <a:pt x="182454" y="432707"/>
                  <a:pt x="180153" y="431909"/>
                  <a:pt x="178182" y="430313"/>
                </a:cubicBezTo>
                <a:cubicBezTo>
                  <a:pt x="176210" y="428716"/>
                  <a:pt x="175130" y="426697"/>
                  <a:pt x="174942" y="424256"/>
                </a:cubicBezTo>
                <a:lnTo>
                  <a:pt x="167054" y="372421"/>
                </a:lnTo>
                <a:cubicBezTo>
                  <a:pt x="157852" y="369416"/>
                  <a:pt x="149401" y="365942"/>
                  <a:pt x="141700" y="361998"/>
                </a:cubicBezTo>
                <a:lnTo>
                  <a:pt x="101979" y="392141"/>
                </a:lnTo>
                <a:cubicBezTo>
                  <a:pt x="100101" y="393831"/>
                  <a:pt x="97753" y="394676"/>
                  <a:pt x="94936" y="394676"/>
                </a:cubicBezTo>
                <a:cubicBezTo>
                  <a:pt x="92307" y="394676"/>
                  <a:pt x="89959" y="393643"/>
                  <a:pt x="87893" y="391577"/>
                </a:cubicBezTo>
                <a:cubicBezTo>
                  <a:pt x="64230" y="370167"/>
                  <a:pt x="48735" y="354392"/>
                  <a:pt x="41411" y="344250"/>
                </a:cubicBezTo>
                <a:cubicBezTo>
                  <a:pt x="40097" y="342372"/>
                  <a:pt x="39439" y="340212"/>
                  <a:pt x="39439" y="337771"/>
                </a:cubicBezTo>
                <a:cubicBezTo>
                  <a:pt x="39439" y="335517"/>
                  <a:pt x="40191" y="333357"/>
                  <a:pt x="41694" y="331291"/>
                </a:cubicBezTo>
                <a:cubicBezTo>
                  <a:pt x="44510" y="327347"/>
                  <a:pt x="49299" y="321103"/>
                  <a:pt x="56060" y="312558"/>
                </a:cubicBezTo>
                <a:cubicBezTo>
                  <a:pt x="62821" y="304012"/>
                  <a:pt x="67892" y="297392"/>
                  <a:pt x="71273" y="292697"/>
                </a:cubicBezTo>
                <a:cubicBezTo>
                  <a:pt x="66202" y="283307"/>
                  <a:pt x="62352" y="274010"/>
                  <a:pt x="59723" y="264808"/>
                </a:cubicBezTo>
                <a:lnTo>
                  <a:pt x="8169" y="257202"/>
                </a:lnTo>
                <a:cubicBezTo>
                  <a:pt x="5728" y="256826"/>
                  <a:pt x="3756" y="255652"/>
                  <a:pt x="2254" y="253680"/>
                </a:cubicBezTo>
                <a:cubicBezTo>
                  <a:pt x="751" y="251708"/>
                  <a:pt x="0" y="249501"/>
                  <a:pt x="0" y="247060"/>
                </a:cubicBezTo>
                <a:lnTo>
                  <a:pt x="0" y="184520"/>
                </a:lnTo>
                <a:cubicBezTo>
                  <a:pt x="0" y="182267"/>
                  <a:pt x="751" y="180107"/>
                  <a:pt x="2254" y="178041"/>
                </a:cubicBezTo>
                <a:cubicBezTo>
                  <a:pt x="3756" y="175975"/>
                  <a:pt x="5540" y="174754"/>
                  <a:pt x="7606" y="174379"/>
                </a:cubicBezTo>
                <a:lnTo>
                  <a:pt x="60004" y="166491"/>
                </a:lnTo>
                <a:cubicBezTo>
                  <a:pt x="62633" y="157852"/>
                  <a:pt x="66295" y="149213"/>
                  <a:pt x="70991" y="140573"/>
                </a:cubicBezTo>
                <a:cubicBezTo>
                  <a:pt x="63478" y="129868"/>
                  <a:pt x="53431" y="116910"/>
                  <a:pt x="40848" y="101697"/>
                </a:cubicBezTo>
                <a:cubicBezTo>
                  <a:pt x="38970" y="99444"/>
                  <a:pt x="38030" y="97190"/>
                  <a:pt x="38030" y="94936"/>
                </a:cubicBezTo>
                <a:cubicBezTo>
                  <a:pt x="38030" y="93058"/>
                  <a:pt x="38876" y="90898"/>
                  <a:pt x="40567" y="88457"/>
                </a:cubicBezTo>
                <a:cubicBezTo>
                  <a:pt x="45449" y="81696"/>
                  <a:pt x="54699" y="71601"/>
                  <a:pt x="68314" y="58173"/>
                </a:cubicBezTo>
                <a:cubicBezTo>
                  <a:pt x="81931" y="44745"/>
                  <a:pt x="90805" y="38031"/>
                  <a:pt x="94936" y="38031"/>
                </a:cubicBezTo>
                <a:cubicBezTo>
                  <a:pt x="97377" y="38031"/>
                  <a:pt x="99819" y="38970"/>
                  <a:pt x="102260" y="40848"/>
                </a:cubicBezTo>
                <a:lnTo>
                  <a:pt x="141137" y="70991"/>
                </a:lnTo>
                <a:cubicBezTo>
                  <a:pt x="149401" y="66671"/>
                  <a:pt x="157945" y="63103"/>
                  <a:pt x="166773" y="60286"/>
                </a:cubicBezTo>
                <a:cubicBezTo>
                  <a:pt x="169777" y="34744"/>
                  <a:pt x="172501" y="17278"/>
                  <a:pt x="174942" y="7888"/>
                </a:cubicBezTo>
                <a:cubicBezTo>
                  <a:pt x="176257" y="2629"/>
                  <a:pt x="179637" y="0"/>
                  <a:pt x="185084" y="0"/>
                </a:cubicBezTo>
                <a:close/>
                <a:moveTo>
                  <a:pt x="216354" y="144236"/>
                </a:moveTo>
                <a:cubicBezTo>
                  <a:pt x="196446" y="144236"/>
                  <a:pt x="179449" y="151278"/>
                  <a:pt x="165364" y="165364"/>
                </a:cubicBezTo>
                <a:cubicBezTo>
                  <a:pt x="151278" y="179449"/>
                  <a:pt x="144235" y="196446"/>
                  <a:pt x="144235" y="216354"/>
                </a:cubicBezTo>
                <a:cubicBezTo>
                  <a:pt x="144235" y="236261"/>
                  <a:pt x="151278" y="253258"/>
                  <a:pt x="165364" y="267343"/>
                </a:cubicBezTo>
                <a:cubicBezTo>
                  <a:pt x="179449" y="281429"/>
                  <a:pt x="196446" y="288471"/>
                  <a:pt x="216354" y="288471"/>
                </a:cubicBezTo>
                <a:cubicBezTo>
                  <a:pt x="236261" y="288471"/>
                  <a:pt x="253258" y="281429"/>
                  <a:pt x="267343" y="267343"/>
                </a:cubicBezTo>
                <a:cubicBezTo>
                  <a:pt x="281429" y="253258"/>
                  <a:pt x="288471" y="236261"/>
                  <a:pt x="288471" y="216354"/>
                </a:cubicBezTo>
                <a:cubicBezTo>
                  <a:pt x="288471" y="196446"/>
                  <a:pt x="281429" y="179449"/>
                  <a:pt x="267343" y="165364"/>
                </a:cubicBezTo>
                <a:cubicBezTo>
                  <a:pt x="253258" y="151278"/>
                  <a:pt x="236261" y="144236"/>
                  <a:pt x="216354" y="144236"/>
                </a:cubicBezTo>
                <a:close/>
              </a:path>
            </a:pathLst>
          </a:custGeom>
          <a:solidFill>
            <a:schemeClr val="bg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defTabSz="685800">
              <a:defRPr/>
            </a:pPr>
            <a:endParaRPr lang="en-US" sz="1013">
              <a:solidFill>
                <a:prstClr val="white"/>
              </a:solidFill>
              <a:latin typeface="Calibri" panose="020F0502020204030204"/>
            </a:endParaRPr>
          </a:p>
        </p:txBody>
      </p:sp>
      <p:pic>
        <p:nvPicPr>
          <p:cNvPr id="16" name="Graphic 15" descr="Judge female with solid fill">
            <a:extLst>
              <a:ext uri="{FF2B5EF4-FFF2-40B4-BE49-F238E27FC236}">
                <a16:creationId xmlns:a16="http://schemas.microsoft.com/office/drawing/2014/main" id="{F0382B0A-4188-ACA6-D1D6-EC2C44505636}"/>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8314966" y="2189714"/>
            <a:ext cx="914400" cy="914400"/>
          </a:xfrm>
          <a:prstGeom prst="rect">
            <a:avLst/>
          </a:prstGeom>
        </p:spPr>
      </p:pic>
      <p:pic>
        <p:nvPicPr>
          <p:cNvPr id="18" name="Graphic 17" descr="Court outline">
            <a:extLst>
              <a:ext uri="{FF2B5EF4-FFF2-40B4-BE49-F238E27FC236}">
                <a16:creationId xmlns:a16="http://schemas.microsoft.com/office/drawing/2014/main" id="{BCC452CE-EC45-43CB-3509-64656A7CDB39}"/>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7476370" y="3665918"/>
            <a:ext cx="914400" cy="914400"/>
          </a:xfrm>
          <a:prstGeom prst="rect">
            <a:avLst/>
          </a:prstGeom>
        </p:spPr>
      </p:pic>
      <p:pic>
        <p:nvPicPr>
          <p:cNvPr id="20" name="Graphic 19" descr="Paper outline">
            <a:extLst>
              <a:ext uri="{FF2B5EF4-FFF2-40B4-BE49-F238E27FC236}">
                <a16:creationId xmlns:a16="http://schemas.microsoft.com/office/drawing/2014/main" id="{A18F13AA-CB01-060B-186E-C70216839820}"/>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9279440" y="3764988"/>
            <a:ext cx="788522" cy="788522"/>
          </a:xfrm>
          <a:prstGeom prst="rect">
            <a:avLst/>
          </a:prstGeom>
        </p:spPr>
      </p:pic>
      <p:sp>
        <p:nvSpPr>
          <p:cNvPr id="22" name="TextBox 21">
            <a:extLst>
              <a:ext uri="{FF2B5EF4-FFF2-40B4-BE49-F238E27FC236}">
                <a16:creationId xmlns:a16="http://schemas.microsoft.com/office/drawing/2014/main" id="{5E1FE712-595F-EF5E-8561-429AFBE2EDFC}"/>
              </a:ext>
            </a:extLst>
          </p:cNvPr>
          <p:cNvSpPr txBox="1"/>
          <p:nvPr/>
        </p:nvSpPr>
        <p:spPr>
          <a:xfrm>
            <a:off x="8036270" y="810567"/>
            <a:ext cx="1471792" cy="646331"/>
          </a:xfrm>
          <a:prstGeom prst="rect">
            <a:avLst/>
          </a:prstGeom>
          <a:noFill/>
        </p:spPr>
        <p:txBody>
          <a:bodyPr wrap="square">
            <a:spAutoFit/>
          </a:bodyPr>
          <a:lstStyle/>
          <a:p>
            <a:pPr algn="ctr"/>
            <a:r>
              <a:rPr lang="en-US" sz="1800" b="1" dirty="0">
                <a:solidFill>
                  <a:schemeClr val="bg1"/>
                </a:solidFill>
              </a:rPr>
              <a:t>Common Law</a:t>
            </a:r>
          </a:p>
        </p:txBody>
      </p:sp>
      <p:sp>
        <p:nvSpPr>
          <p:cNvPr id="25" name="TextBox 24">
            <a:extLst>
              <a:ext uri="{FF2B5EF4-FFF2-40B4-BE49-F238E27FC236}">
                <a16:creationId xmlns:a16="http://schemas.microsoft.com/office/drawing/2014/main" id="{F0B7B42E-C387-48C9-8695-FC90FE558FAE}"/>
              </a:ext>
            </a:extLst>
          </p:cNvPr>
          <p:cNvSpPr txBox="1"/>
          <p:nvPr/>
        </p:nvSpPr>
        <p:spPr>
          <a:xfrm>
            <a:off x="6254888" y="5372043"/>
            <a:ext cx="1471792" cy="369332"/>
          </a:xfrm>
          <a:prstGeom prst="rect">
            <a:avLst/>
          </a:prstGeom>
          <a:noFill/>
        </p:spPr>
        <p:txBody>
          <a:bodyPr wrap="square">
            <a:spAutoFit/>
          </a:bodyPr>
          <a:lstStyle/>
          <a:p>
            <a:pPr algn="ctr"/>
            <a:r>
              <a:rPr lang="en-US" sz="1800" b="1" dirty="0">
                <a:solidFill>
                  <a:schemeClr val="bg1"/>
                </a:solidFill>
              </a:rPr>
              <a:t>Constitution</a:t>
            </a:r>
          </a:p>
        </p:txBody>
      </p:sp>
      <p:sp>
        <p:nvSpPr>
          <p:cNvPr id="26" name="TextBox 25">
            <a:extLst>
              <a:ext uri="{FF2B5EF4-FFF2-40B4-BE49-F238E27FC236}">
                <a16:creationId xmlns:a16="http://schemas.microsoft.com/office/drawing/2014/main" id="{A5460319-15C3-461C-7BEA-AFDC2F116414}"/>
              </a:ext>
            </a:extLst>
          </p:cNvPr>
          <p:cNvSpPr txBox="1"/>
          <p:nvPr/>
        </p:nvSpPr>
        <p:spPr>
          <a:xfrm>
            <a:off x="9863375" y="5380047"/>
            <a:ext cx="1471792" cy="369332"/>
          </a:xfrm>
          <a:prstGeom prst="rect">
            <a:avLst/>
          </a:prstGeom>
          <a:noFill/>
        </p:spPr>
        <p:txBody>
          <a:bodyPr wrap="square">
            <a:spAutoFit/>
          </a:bodyPr>
          <a:lstStyle/>
          <a:p>
            <a:pPr algn="ctr"/>
            <a:r>
              <a:rPr lang="en-US" sz="1800" b="1" dirty="0">
                <a:solidFill>
                  <a:schemeClr val="bg1"/>
                </a:solidFill>
              </a:rPr>
              <a:t>Statute</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000054"/>
        </a:solidFill>
        <a:effectLst/>
      </p:bgPr>
    </p:bg>
    <p:spTree>
      <p:nvGrpSpPr>
        <p:cNvPr id="1" name="">
          <a:extLst>
            <a:ext uri="{FF2B5EF4-FFF2-40B4-BE49-F238E27FC236}">
              <a16:creationId xmlns:a16="http://schemas.microsoft.com/office/drawing/2014/main" id="{8E1E67A5-1DA4-32EB-1BF5-3A93419B1816}"/>
            </a:ext>
          </a:extLst>
        </p:cNvPr>
        <p:cNvGrpSpPr/>
        <p:nvPr/>
      </p:nvGrpSpPr>
      <p:grpSpPr>
        <a:xfrm>
          <a:off x="0" y="0"/>
          <a:ext cx="0" cy="0"/>
          <a:chOff x="0" y="0"/>
          <a:chExt cx="0" cy="0"/>
        </a:xfrm>
      </p:grpSpPr>
      <p:grpSp>
        <p:nvGrpSpPr>
          <p:cNvPr id="2" name="Group 2">
            <a:extLst>
              <a:ext uri="{FF2B5EF4-FFF2-40B4-BE49-F238E27FC236}">
                <a16:creationId xmlns:a16="http://schemas.microsoft.com/office/drawing/2014/main" id="{41D814B2-2B89-24B1-62E3-ACA11ACC2C04}"/>
              </a:ext>
            </a:extLst>
          </p:cNvPr>
          <p:cNvGrpSpPr/>
          <p:nvPr/>
        </p:nvGrpSpPr>
        <p:grpSpPr>
          <a:xfrm rot="-10800000">
            <a:off x="11045567" y="-12700"/>
            <a:ext cx="1146433" cy="1146433"/>
            <a:chOff x="0" y="0"/>
            <a:chExt cx="1630482" cy="1630482"/>
          </a:xfrm>
        </p:grpSpPr>
        <p:sp>
          <p:nvSpPr>
            <p:cNvPr id="3" name="Freeform 3">
              <a:extLst>
                <a:ext uri="{FF2B5EF4-FFF2-40B4-BE49-F238E27FC236}">
                  <a16:creationId xmlns:a16="http://schemas.microsoft.com/office/drawing/2014/main" id="{D9350C6D-F483-BFEF-5D5C-A701AC74C7DF}"/>
                </a:ext>
              </a:extLst>
            </p:cNvPr>
            <p:cNvSpPr/>
            <p:nvPr/>
          </p:nvSpPr>
          <p:spPr>
            <a:xfrm>
              <a:off x="0" y="0"/>
              <a:ext cx="1630426" cy="1630426"/>
            </a:xfrm>
            <a:custGeom>
              <a:avLst/>
              <a:gdLst/>
              <a:ahLst/>
              <a:cxnLst/>
              <a:rect l="l" t="t" r="r" b="b"/>
              <a:pathLst>
                <a:path w="1630426" h="1630426">
                  <a:moveTo>
                    <a:pt x="0" y="0"/>
                  </a:moveTo>
                  <a:lnTo>
                    <a:pt x="543433" y="0"/>
                  </a:lnTo>
                  <a:lnTo>
                    <a:pt x="543433" y="543433"/>
                  </a:lnTo>
                  <a:lnTo>
                    <a:pt x="1086993" y="543433"/>
                  </a:lnTo>
                  <a:lnTo>
                    <a:pt x="1086993" y="1086993"/>
                  </a:lnTo>
                  <a:lnTo>
                    <a:pt x="1630426" y="1086993"/>
                  </a:lnTo>
                  <a:lnTo>
                    <a:pt x="1630426" y="1630426"/>
                  </a:lnTo>
                  <a:lnTo>
                    <a:pt x="0" y="1630426"/>
                  </a:lnTo>
                  <a:lnTo>
                    <a:pt x="0" y="1086993"/>
                  </a:lnTo>
                  <a:lnTo>
                    <a:pt x="0" y="543433"/>
                  </a:lnTo>
                  <a:close/>
                </a:path>
              </a:pathLst>
            </a:custGeom>
            <a:solidFill>
              <a:srgbClr val="FFFFFF"/>
            </a:solidFill>
          </p:spPr>
          <p:txBody>
            <a:bodyPr/>
            <a:lstStyle/>
            <a:p>
              <a:endParaRPr lang="en-AU"/>
            </a:p>
          </p:txBody>
        </p:sp>
      </p:grpSp>
      <p:sp>
        <p:nvSpPr>
          <p:cNvPr id="5" name="TextBox 5">
            <a:extLst>
              <a:ext uri="{FF2B5EF4-FFF2-40B4-BE49-F238E27FC236}">
                <a16:creationId xmlns:a16="http://schemas.microsoft.com/office/drawing/2014/main" id="{8CEA2A35-E032-27A6-D1EC-4F549A030CE3}"/>
              </a:ext>
            </a:extLst>
          </p:cNvPr>
          <p:cNvSpPr txBox="1"/>
          <p:nvPr/>
        </p:nvSpPr>
        <p:spPr>
          <a:xfrm>
            <a:off x="392084" y="560536"/>
            <a:ext cx="7170696" cy="409471"/>
          </a:xfrm>
          <a:prstGeom prst="rect">
            <a:avLst/>
          </a:prstGeom>
        </p:spPr>
        <p:txBody>
          <a:bodyPr lIns="0" tIns="0" rIns="0" bIns="0" rtlCol="0" anchor="t">
            <a:spAutoFit/>
          </a:bodyPr>
          <a:lstStyle/>
          <a:p>
            <a:pPr algn="l">
              <a:lnSpc>
                <a:spcPts val="3494"/>
              </a:lnSpc>
            </a:pPr>
            <a:r>
              <a:rPr lang="en-US" sz="2496" b="1" dirty="0">
                <a:solidFill>
                  <a:srgbClr val="FFFFFF"/>
                </a:solidFill>
                <a:latin typeface="Arial Bold"/>
                <a:ea typeface="Arial Bold"/>
                <a:cs typeface="Arial Bold"/>
                <a:sym typeface="Arial Bold"/>
              </a:rPr>
              <a:t>Grounds of review </a:t>
            </a:r>
          </a:p>
        </p:txBody>
      </p:sp>
      <p:sp>
        <p:nvSpPr>
          <p:cNvPr id="9" name="TextBox 9">
            <a:extLst>
              <a:ext uri="{FF2B5EF4-FFF2-40B4-BE49-F238E27FC236}">
                <a16:creationId xmlns:a16="http://schemas.microsoft.com/office/drawing/2014/main" id="{7E2F2C25-B2A1-1498-EC3A-36C8E52E5FE3}"/>
              </a:ext>
            </a:extLst>
          </p:cNvPr>
          <p:cNvSpPr txBox="1"/>
          <p:nvPr/>
        </p:nvSpPr>
        <p:spPr>
          <a:xfrm>
            <a:off x="381000" y="1524000"/>
            <a:ext cx="4953000" cy="3618748"/>
          </a:xfrm>
          <a:prstGeom prst="rect">
            <a:avLst/>
          </a:prstGeom>
        </p:spPr>
        <p:txBody>
          <a:bodyPr wrap="square" lIns="0" tIns="0" rIns="0" bIns="0" rtlCol="0" anchor="t">
            <a:spAutoFit/>
          </a:bodyPr>
          <a:lstStyle/>
          <a:p>
            <a:pPr marL="285750" indent="-285750">
              <a:lnSpc>
                <a:spcPts val="1957"/>
              </a:lnSpc>
              <a:spcAft>
                <a:spcPts val="1200"/>
              </a:spcAft>
              <a:buFont typeface="Arial" panose="020B0604020202020204" pitchFamily="34" charset="0"/>
              <a:buChar char="•"/>
            </a:pPr>
            <a:r>
              <a:rPr lang="en-US" sz="2000" dirty="0">
                <a:solidFill>
                  <a:srgbClr val="FFFFFF"/>
                </a:solidFill>
                <a:latin typeface="Arial" panose="020B0604020202020204" pitchFamily="34" charset="0"/>
                <a:ea typeface="Arial Bold"/>
                <a:cs typeface="Arial" panose="020B0604020202020204" pitchFamily="34" charset="0"/>
                <a:sym typeface="Arial Bold"/>
              </a:rPr>
              <a:t>‘Grounds of review’ so called because they encapsulate the ways in which decision makers might act without lawful authority (or contrary to the terms of their authority)</a:t>
            </a:r>
            <a:br>
              <a:rPr lang="en-US" sz="2000" dirty="0">
                <a:solidFill>
                  <a:srgbClr val="FFFFFF"/>
                </a:solidFill>
                <a:latin typeface="Arial" panose="020B0604020202020204" pitchFamily="34" charset="0"/>
                <a:ea typeface="Arial Bold"/>
                <a:cs typeface="Arial" panose="020B0604020202020204" pitchFamily="34" charset="0"/>
                <a:sym typeface="Arial Bold"/>
              </a:rPr>
            </a:br>
            <a:endParaRPr lang="en-US" sz="2000" dirty="0">
              <a:solidFill>
                <a:srgbClr val="FFFFFF"/>
              </a:solidFill>
              <a:latin typeface="Arial" panose="020B0604020202020204" pitchFamily="34" charset="0"/>
              <a:ea typeface="Arial Bold"/>
              <a:cs typeface="Arial" panose="020B0604020202020204" pitchFamily="34" charset="0"/>
              <a:sym typeface="Arial Bold"/>
            </a:endParaRPr>
          </a:p>
          <a:p>
            <a:pPr marL="285750" indent="-285750">
              <a:lnSpc>
                <a:spcPts val="1957"/>
              </a:lnSpc>
              <a:spcAft>
                <a:spcPts val="1200"/>
              </a:spcAft>
              <a:buFont typeface="Arial" panose="020B0604020202020204" pitchFamily="34" charset="0"/>
              <a:buChar char="•"/>
            </a:pPr>
            <a:r>
              <a:rPr lang="en-US" sz="2000" dirty="0">
                <a:solidFill>
                  <a:srgbClr val="FFFFFF"/>
                </a:solidFill>
                <a:latin typeface="Arial" panose="020B0604020202020204" pitchFamily="34" charset="0"/>
                <a:ea typeface="Arial Bold"/>
                <a:cs typeface="Arial" panose="020B0604020202020204" pitchFamily="34" charset="0"/>
                <a:sym typeface="Arial Bold"/>
              </a:rPr>
              <a:t>The Common Law grounds of review have now been essentially codified in the ADJR Act. Generally in parallel*.</a:t>
            </a:r>
            <a:br>
              <a:rPr lang="en-US" sz="2000" dirty="0">
                <a:solidFill>
                  <a:srgbClr val="FFFFFF"/>
                </a:solidFill>
                <a:latin typeface="Arial" panose="020B0604020202020204" pitchFamily="34" charset="0"/>
                <a:ea typeface="Arial Bold"/>
                <a:cs typeface="Arial" panose="020B0604020202020204" pitchFamily="34" charset="0"/>
                <a:sym typeface="Arial Bold"/>
              </a:rPr>
            </a:br>
            <a:endParaRPr lang="en-US" sz="2000" dirty="0">
              <a:solidFill>
                <a:srgbClr val="FFFFFF"/>
              </a:solidFill>
              <a:latin typeface="Arial" panose="020B0604020202020204" pitchFamily="34" charset="0"/>
              <a:ea typeface="Arial Bold"/>
              <a:cs typeface="Arial" panose="020B0604020202020204" pitchFamily="34" charset="0"/>
              <a:sym typeface="Arial Bold"/>
            </a:endParaRPr>
          </a:p>
          <a:p>
            <a:pPr>
              <a:lnSpc>
                <a:spcPts val="1957"/>
              </a:lnSpc>
              <a:spcAft>
                <a:spcPts val="1200"/>
              </a:spcAft>
            </a:pPr>
            <a:r>
              <a:rPr lang="en-US" sz="2000" dirty="0">
                <a:solidFill>
                  <a:srgbClr val="FFFFFF"/>
                </a:solidFill>
                <a:latin typeface="Arial" panose="020B0604020202020204" pitchFamily="34" charset="0"/>
                <a:ea typeface="Arial Bold"/>
                <a:cs typeface="Arial" panose="020B0604020202020204" pitchFamily="34" charset="0"/>
                <a:sym typeface="Arial Bold"/>
              </a:rPr>
              <a:t>*</a:t>
            </a:r>
            <a:r>
              <a:rPr lang="en-US" sz="1400" dirty="0">
                <a:solidFill>
                  <a:srgbClr val="FFFFFF"/>
                </a:solidFill>
                <a:latin typeface="Arial" panose="020B0604020202020204" pitchFamily="34" charset="0"/>
                <a:ea typeface="Arial Bold"/>
                <a:cs typeface="Arial" panose="020B0604020202020204" pitchFamily="34" charset="0"/>
                <a:sym typeface="Arial Bold"/>
              </a:rPr>
              <a:t>Note there are two ADJR Act grounds– ‘error of law’ and ‘no evidence’ –that are catchall provisions and are different from common law grounds</a:t>
            </a:r>
          </a:p>
        </p:txBody>
      </p:sp>
      <p:sp>
        <p:nvSpPr>
          <p:cNvPr id="10" name="TextBox 10">
            <a:extLst>
              <a:ext uri="{FF2B5EF4-FFF2-40B4-BE49-F238E27FC236}">
                <a16:creationId xmlns:a16="http://schemas.microsoft.com/office/drawing/2014/main" id="{B3D8FBDF-096E-F5E4-AF7C-BDB092917A99}"/>
              </a:ext>
            </a:extLst>
          </p:cNvPr>
          <p:cNvSpPr txBox="1"/>
          <p:nvPr/>
        </p:nvSpPr>
        <p:spPr>
          <a:xfrm>
            <a:off x="10195446" y="6347803"/>
            <a:ext cx="1773879" cy="193258"/>
          </a:xfrm>
          <a:prstGeom prst="rect">
            <a:avLst/>
          </a:prstGeom>
        </p:spPr>
        <p:txBody>
          <a:bodyPr lIns="0" tIns="0" rIns="0" bIns="0" rtlCol="0" anchor="t">
            <a:spAutoFit/>
          </a:bodyPr>
          <a:lstStyle/>
          <a:p>
            <a:pPr algn="l">
              <a:lnSpc>
                <a:spcPts val="1422"/>
              </a:lnSpc>
            </a:pPr>
            <a:r>
              <a:rPr lang="en-US" sz="1016">
                <a:solidFill>
                  <a:srgbClr val="FFFFFF"/>
                </a:solidFill>
                <a:latin typeface="Arial"/>
                <a:ea typeface="Arial"/>
                <a:cs typeface="Arial"/>
                <a:sym typeface="Arial"/>
              </a:rPr>
              <a:t>Administrative Law –LAW1023</a:t>
            </a:r>
          </a:p>
        </p:txBody>
      </p:sp>
      <p:pic>
        <p:nvPicPr>
          <p:cNvPr id="1026" name="Picture 2" descr="Flashing Wrong Way Sign - Wrong Way Sign - Free Transparent PNG Clipart  Images Download">
            <a:extLst>
              <a:ext uri="{FF2B5EF4-FFF2-40B4-BE49-F238E27FC236}">
                <a16:creationId xmlns:a16="http://schemas.microsoft.com/office/drawing/2014/main" id="{0648D4A4-437F-E802-68A6-89034F8884B0}"/>
              </a:ext>
            </a:extLst>
          </p:cNvPr>
          <p:cNvPicPr>
            <a:picLocks noChangeAspect="1" noChangeArrowheads="1"/>
          </p:cNvPicPr>
          <p:nvPr/>
        </p:nvPicPr>
        <p:blipFill>
          <a:blip r:embed="rId2">
            <a:extLst>
              <a:ext uri="{BEBA8EAE-BF5A-486C-A8C5-ECC9F3942E4B}">
                <a14:imgProps xmlns:a14="http://schemas.microsoft.com/office/drawing/2010/main">
                  <a14:imgLayer r:embed="rId3">
                    <a14:imgEffect>
                      <a14:backgroundRemoval t="10000" b="90000" l="10000" r="90000"/>
                    </a14:imgEffect>
                  </a14:imgLayer>
                </a14:imgProps>
              </a:ext>
              <a:ext uri="{28A0092B-C50C-407E-A947-70E740481C1C}">
                <a14:useLocalDpi xmlns:a14="http://schemas.microsoft.com/office/drawing/2010/main" val="0"/>
              </a:ext>
            </a:extLst>
          </a:blip>
          <a:srcRect/>
          <a:stretch>
            <a:fillRect/>
          </a:stretch>
        </p:blipFill>
        <p:spPr bwMode="auto">
          <a:xfrm>
            <a:off x="4953000" y="1133733"/>
            <a:ext cx="8001000" cy="340042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12743567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000054"/>
        </a:solidFill>
        <a:effectLst/>
      </p:bgPr>
    </p:bg>
    <p:spTree>
      <p:nvGrpSpPr>
        <p:cNvPr id="1" name="">
          <a:extLst>
            <a:ext uri="{FF2B5EF4-FFF2-40B4-BE49-F238E27FC236}">
              <a16:creationId xmlns:a16="http://schemas.microsoft.com/office/drawing/2014/main" id="{41031C80-D9DB-BCA3-D0B7-3BC214F3EB52}"/>
            </a:ext>
          </a:extLst>
        </p:cNvPr>
        <p:cNvGrpSpPr/>
        <p:nvPr/>
      </p:nvGrpSpPr>
      <p:grpSpPr>
        <a:xfrm>
          <a:off x="0" y="0"/>
          <a:ext cx="0" cy="0"/>
          <a:chOff x="0" y="0"/>
          <a:chExt cx="0" cy="0"/>
        </a:xfrm>
      </p:grpSpPr>
      <p:grpSp>
        <p:nvGrpSpPr>
          <p:cNvPr id="2" name="Group 2">
            <a:extLst>
              <a:ext uri="{FF2B5EF4-FFF2-40B4-BE49-F238E27FC236}">
                <a16:creationId xmlns:a16="http://schemas.microsoft.com/office/drawing/2014/main" id="{9317E9F0-41A6-9D5C-E3C8-E63DE14BBDDD}"/>
              </a:ext>
            </a:extLst>
          </p:cNvPr>
          <p:cNvGrpSpPr/>
          <p:nvPr/>
        </p:nvGrpSpPr>
        <p:grpSpPr>
          <a:xfrm rot="-10800000">
            <a:off x="11045567" y="-12700"/>
            <a:ext cx="1146433" cy="1146433"/>
            <a:chOff x="0" y="0"/>
            <a:chExt cx="1630482" cy="1630482"/>
          </a:xfrm>
        </p:grpSpPr>
        <p:sp>
          <p:nvSpPr>
            <p:cNvPr id="3" name="Freeform 3">
              <a:extLst>
                <a:ext uri="{FF2B5EF4-FFF2-40B4-BE49-F238E27FC236}">
                  <a16:creationId xmlns:a16="http://schemas.microsoft.com/office/drawing/2014/main" id="{C3E1AE82-174C-6E47-D158-940E768E58EA}"/>
                </a:ext>
              </a:extLst>
            </p:cNvPr>
            <p:cNvSpPr/>
            <p:nvPr/>
          </p:nvSpPr>
          <p:spPr>
            <a:xfrm>
              <a:off x="0" y="0"/>
              <a:ext cx="1630426" cy="1630426"/>
            </a:xfrm>
            <a:custGeom>
              <a:avLst/>
              <a:gdLst/>
              <a:ahLst/>
              <a:cxnLst/>
              <a:rect l="l" t="t" r="r" b="b"/>
              <a:pathLst>
                <a:path w="1630426" h="1630426">
                  <a:moveTo>
                    <a:pt x="0" y="0"/>
                  </a:moveTo>
                  <a:lnTo>
                    <a:pt x="543433" y="0"/>
                  </a:lnTo>
                  <a:lnTo>
                    <a:pt x="543433" y="543433"/>
                  </a:lnTo>
                  <a:lnTo>
                    <a:pt x="1086993" y="543433"/>
                  </a:lnTo>
                  <a:lnTo>
                    <a:pt x="1086993" y="1086993"/>
                  </a:lnTo>
                  <a:lnTo>
                    <a:pt x="1630426" y="1086993"/>
                  </a:lnTo>
                  <a:lnTo>
                    <a:pt x="1630426" y="1630426"/>
                  </a:lnTo>
                  <a:lnTo>
                    <a:pt x="0" y="1630426"/>
                  </a:lnTo>
                  <a:lnTo>
                    <a:pt x="0" y="1086993"/>
                  </a:lnTo>
                  <a:lnTo>
                    <a:pt x="0" y="543433"/>
                  </a:lnTo>
                  <a:close/>
                </a:path>
              </a:pathLst>
            </a:custGeom>
            <a:solidFill>
              <a:srgbClr val="FFFFFF"/>
            </a:solidFill>
          </p:spPr>
          <p:txBody>
            <a:bodyPr/>
            <a:lstStyle/>
            <a:p>
              <a:endParaRPr lang="en-AU"/>
            </a:p>
          </p:txBody>
        </p:sp>
      </p:grpSp>
      <p:sp>
        <p:nvSpPr>
          <p:cNvPr id="5" name="TextBox 5">
            <a:extLst>
              <a:ext uri="{FF2B5EF4-FFF2-40B4-BE49-F238E27FC236}">
                <a16:creationId xmlns:a16="http://schemas.microsoft.com/office/drawing/2014/main" id="{0CA6D1D6-25B3-32CB-B116-3DF619FAFA42}"/>
              </a:ext>
            </a:extLst>
          </p:cNvPr>
          <p:cNvSpPr txBox="1"/>
          <p:nvPr/>
        </p:nvSpPr>
        <p:spPr>
          <a:xfrm>
            <a:off x="392084" y="560536"/>
            <a:ext cx="7170696" cy="409471"/>
          </a:xfrm>
          <a:prstGeom prst="rect">
            <a:avLst/>
          </a:prstGeom>
        </p:spPr>
        <p:txBody>
          <a:bodyPr lIns="0" tIns="0" rIns="0" bIns="0" rtlCol="0" anchor="t">
            <a:spAutoFit/>
          </a:bodyPr>
          <a:lstStyle/>
          <a:p>
            <a:pPr algn="l">
              <a:lnSpc>
                <a:spcPts val="3494"/>
              </a:lnSpc>
            </a:pPr>
            <a:r>
              <a:rPr lang="en-US" sz="2496" b="1" dirty="0">
                <a:solidFill>
                  <a:srgbClr val="FFFFFF"/>
                </a:solidFill>
                <a:latin typeface="Arial Bold"/>
                <a:ea typeface="Arial Bold"/>
                <a:cs typeface="Arial Bold"/>
                <a:sym typeface="Arial Bold"/>
              </a:rPr>
              <a:t>Broad categories of grounds (not fixed) </a:t>
            </a:r>
          </a:p>
        </p:txBody>
      </p:sp>
      <p:sp>
        <p:nvSpPr>
          <p:cNvPr id="10" name="TextBox 10">
            <a:extLst>
              <a:ext uri="{FF2B5EF4-FFF2-40B4-BE49-F238E27FC236}">
                <a16:creationId xmlns:a16="http://schemas.microsoft.com/office/drawing/2014/main" id="{9F08E071-F248-D703-9BE9-8CEF5C0AA39C}"/>
              </a:ext>
            </a:extLst>
          </p:cNvPr>
          <p:cNvSpPr txBox="1"/>
          <p:nvPr/>
        </p:nvSpPr>
        <p:spPr>
          <a:xfrm>
            <a:off x="10195446" y="6347803"/>
            <a:ext cx="1773879" cy="193258"/>
          </a:xfrm>
          <a:prstGeom prst="rect">
            <a:avLst/>
          </a:prstGeom>
        </p:spPr>
        <p:txBody>
          <a:bodyPr lIns="0" tIns="0" rIns="0" bIns="0" rtlCol="0" anchor="t">
            <a:spAutoFit/>
          </a:bodyPr>
          <a:lstStyle/>
          <a:p>
            <a:pPr algn="l">
              <a:lnSpc>
                <a:spcPts val="1422"/>
              </a:lnSpc>
            </a:pPr>
            <a:r>
              <a:rPr lang="en-US" sz="1016">
                <a:solidFill>
                  <a:srgbClr val="FFFFFF"/>
                </a:solidFill>
                <a:latin typeface="Arial"/>
                <a:ea typeface="Arial"/>
                <a:cs typeface="Arial"/>
                <a:sym typeface="Arial"/>
              </a:rPr>
              <a:t>Administrative Law –LAW1023</a:t>
            </a:r>
          </a:p>
        </p:txBody>
      </p:sp>
      <p:sp>
        <p:nvSpPr>
          <p:cNvPr id="7" name="Content Placeholder 2">
            <a:extLst>
              <a:ext uri="{FF2B5EF4-FFF2-40B4-BE49-F238E27FC236}">
                <a16:creationId xmlns:a16="http://schemas.microsoft.com/office/drawing/2014/main" id="{A2CE85C4-6453-B071-FD6B-4CB885C2DEE7}"/>
              </a:ext>
            </a:extLst>
          </p:cNvPr>
          <p:cNvSpPr txBox="1">
            <a:spLocks/>
          </p:cNvSpPr>
          <p:nvPr/>
        </p:nvSpPr>
        <p:spPr>
          <a:xfrm>
            <a:off x="499533" y="1152940"/>
            <a:ext cx="5181600" cy="5024025"/>
          </a:xfrm>
          <a:prstGeom prst="rect">
            <a:avLst/>
          </a:prstGeom>
        </p:spPr>
        <p:txBody>
          <a:bodyPr vert="horz" lIns="91440" tIns="45720" rIns="91440" bIns="45720" rtlCol="0" anchor="t" anchorCtr="0">
            <a:noAutofit/>
          </a:bodyPr>
          <a:lstStyle>
            <a:lvl1pPr marL="0" indent="0" algn="l" defTabSz="914377" rtl="0" eaLnBrk="1" latinLnBrk="0" hangingPunct="1">
              <a:lnSpc>
                <a:spcPct val="100000"/>
              </a:lnSpc>
              <a:spcBef>
                <a:spcPts val="1000"/>
              </a:spcBef>
              <a:spcAft>
                <a:spcPts val="667"/>
              </a:spcAft>
              <a:buFont typeface="Arial" panose="020B0604020202020204" pitchFamily="34" charset="0"/>
              <a:buNone/>
              <a:defRPr sz="2400" kern="1200" baseline="0">
                <a:solidFill>
                  <a:schemeClr val="tx1"/>
                </a:solidFill>
                <a:latin typeface="+mn-lt"/>
                <a:ea typeface="+mn-ea"/>
                <a:cs typeface="+mn-cs"/>
              </a:defRPr>
            </a:lvl1pPr>
            <a:lvl2pPr marL="237061" indent="-237061" algn="l" defTabSz="914377" rtl="0" eaLnBrk="1" latinLnBrk="0" hangingPunct="1">
              <a:lnSpc>
                <a:spcPct val="100000"/>
              </a:lnSpc>
              <a:spcBef>
                <a:spcPts val="500"/>
              </a:spcBef>
              <a:spcAft>
                <a:spcPts val="267"/>
              </a:spcAft>
              <a:buClr>
                <a:schemeClr val="accent1"/>
              </a:buClr>
              <a:buFont typeface="Wingdings" pitchFamily="2" charset="2"/>
              <a:buChar char="§"/>
              <a:tabLst/>
              <a:defRPr sz="2400" kern="1200">
                <a:solidFill>
                  <a:schemeClr val="tx1"/>
                </a:solidFill>
                <a:latin typeface="+mn-lt"/>
                <a:ea typeface="+mn-ea"/>
                <a:cs typeface="+mn-cs"/>
              </a:defRPr>
            </a:lvl2pPr>
            <a:lvl3pPr marL="474121" indent="-237061" algn="l" defTabSz="914377" rtl="0" eaLnBrk="1" latinLnBrk="0" hangingPunct="1">
              <a:lnSpc>
                <a:spcPct val="90000"/>
              </a:lnSpc>
              <a:spcBef>
                <a:spcPts val="500"/>
              </a:spcBef>
              <a:buClr>
                <a:schemeClr val="tx2"/>
              </a:buClr>
              <a:buFont typeface="Wingdings" pitchFamily="2" charset="2"/>
              <a:buChar char="§"/>
              <a:tabLst/>
              <a:defRPr lang="en-US" sz="1867" kern="1200" baseline="0" dirty="0">
                <a:solidFill>
                  <a:schemeClr val="tx1"/>
                </a:solidFill>
                <a:latin typeface="+mn-lt"/>
                <a:ea typeface="+mn-ea"/>
                <a:cs typeface="+mn-cs"/>
              </a:defRPr>
            </a:lvl3pPr>
            <a:lvl4pPr marL="474121" indent="-237061" algn="l" defTabSz="914377" rtl="0" eaLnBrk="1" latinLnBrk="0" hangingPunct="1">
              <a:lnSpc>
                <a:spcPct val="90000"/>
              </a:lnSpc>
              <a:spcBef>
                <a:spcPts val="500"/>
              </a:spcBef>
              <a:buClr>
                <a:schemeClr val="accent4"/>
              </a:buClr>
              <a:buFont typeface="Wingdings" pitchFamily="2" charset="2"/>
              <a:buChar char="§"/>
              <a:defRPr sz="1800" kern="1200">
                <a:solidFill>
                  <a:schemeClr val="tx1"/>
                </a:solidFill>
                <a:latin typeface="+mn-lt"/>
                <a:ea typeface="+mn-ea"/>
                <a:cs typeface="+mn-cs"/>
              </a:defRPr>
            </a:lvl4pPr>
            <a:lvl5pPr marL="474121" indent="-237061"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380990" marR="0" lvl="0" indent="-380990" algn="l" defTabSz="914377" rtl="0" eaLnBrk="1" fontAlgn="auto" latinLnBrk="0" hangingPunct="1">
              <a:lnSpc>
                <a:spcPct val="100000"/>
              </a:lnSpc>
              <a:spcBef>
                <a:spcPts val="1000"/>
              </a:spcBef>
              <a:spcAft>
                <a:spcPts val="667"/>
              </a:spcAft>
              <a:buClrTx/>
              <a:buSzTx/>
              <a:buFont typeface="Arial" panose="020B0604020202020204" pitchFamily="34" charset="0"/>
              <a:buChar char="•"/>
              <a:tabLst/>
              <a:defRPr/>
            </a:pPr>
            <a:endParaRPr kumimoji="0" lang="en-AU" sz="2400" b="0" i="0" u="none" strike="noStrike" kern="1200" cap="none" spc="0" normalizeH="0" baseline="0" noProof="0">
              <a:ln>
                <a:noFill/>
              </a:ln>
              <a:solidFill>
                <a:schemeClr val="bg1"/>
              </a:solidFill>
              <a:effectLst/>
              <a:uLnTx/>
              <a:uFillTx/>
              <a:latin typeface="Arial" panose="020B0604020202020204"/>
              <a:ea typeface="+mn-ea"/>
              <a:cs typeface="+mn-cs"/>
            </a:endParaRPr>
          </a:p>
          <a:p>
            <a:pPr marL="380990" marR="0" lvl="0" indent="-380990" algn="l" defTabSz="914377" rtl="0" eaLnBrk="1" fontAlgn="auto" latinLnBrk="0" hangingPunct="1">
              <a:lnSpc>
                <a:spcPct val="100000"/>
              </a:lnSpc>
              <a:spcBef>
                <a:spcPts val="1000"/>
              </a:spcBef>
              <a:spcAft>
                <a:spcPts val="667"/>
              </a:spcAft>
              <a:buClrTx/>
              <a:buSzTx/>
              <a:buFont typeface="Arial" panose="020B0604020202020204" pitchFamily="34" charset="0"/>
              <a:buChar char="•"/>
              <a:tabLst/>
              <a:defRPr/>
            </a:pPr>
            <a:r>
              <a:rPr kumimoji="0" lang="en-AU" sz="2400" b="0" i="0" u="none" strike="noStrike" kern="1200" cap="none" spc="0" normalizeH="0" baseline="0" noProof="0">
                <a:ln>
                  <a:noFill/>
                </a:ln>
                <a:solidFill>
                  <a:schemeClr val="bg1"/>
                </a:solidFill>
                <a:effectLst/>
                <a:uLnTx/>
                <a:uFillTx/>
                <a:latin typeface="Arial" panose="020B0604020202020204"/>
                <a:ea typeface="+mn-ea"/>
                <a:cs typeface="+mn-cs"/>
              </a:rPr>
              <a:t>Acting beyond power</a:t>
            </a:r>
          </a:p>
          <a:p>
            <a:pPr marL="380990" marR="0" lvl="0" indent="-380990" algn="l" defTabSz="914377" rtl="0" eaLnBrk="1" fontAlgn="auto" latinLnBrk="0" hangingPunct="1">
              <a:lnSpc>
                <a:spcPct val="100000"/>
              </a:lnSpc>
              <a:spcBef>
                <a:spcPts val="1000"/>
              </a:spcBef>
              <a:spcAft>
                <a:spcPts val="667"/>
              </a:spcAft>
              <a:buClrTx/>
              <a:buSzTx/>
              <a:buFont typeface="Arial" panose="020B0604020202020204" pitchFamily="34" charset="0"/>
              <a:buChar char="•"/>
              <a:tabLst/>
              <a:defRPr/>
            </a:pPr>
            <a:r>
              <a:rPr kumimoji="0" lang="en-AU" sz="2400" b="0" i="0" u="none" strike="noStrike" kern="1200" cap="none" spc="0" normalizeH="0" baseline="0" noProof="0">
                <a:ln>
                  <a:noFill/>
                </a:ln>
                <a:solidFill>
                  <a:schemeClr val="bg1"/>
                </a:solidFill>
                <a:effectLst/>
                <a:uLnTx/>
                <a:uFillTx/>
                <a:latin typeface="Arial" panose="020B0604020202020204"/>
                <a:ea typeface="+mn-ea"/>
                <a:cs typeface="+mn-cs"/>
              </a:rPr>
              <a:t>Factual errors</a:t>
            </a:r>
          </a:p>
          <a:p>
            <a:pPr marL="380990" marR="0" lvl="0" indent="-380990" algn="l" defTabSz="914377" rtl="0" eaLnBrk="1" fontAlgn="auto" latinLnBrk="0" hangingPunct="1">
              <a:lnSpc>
                <a:spcPct val="100000"/>
              </a:lnSpc>
              <a:spcBef>
                <a:spcPts val="1000"/>
              </a:spcBef>
              <a:spcAft>
                <a:spcPts val="667"/>
              </a:spcAft>
              <a:buClrTx/>
              <a:buSzTx/>
              <a:buFont typeface="Arial" panose="020B0604020202020204" pitchFamily="34" charset="0"/>
              <a:buChar char="•"/>
              <a:tabLst/>
              <a:defRPr/>
            </a:pPr>
            <a:r>
              <a:rPr kumimoji="0" lang="en-AU" sz="2400" b="0" i="0" u="none" strike="noStrike" kern="1200" cap="none" spc="0" normalizeH="0" baseline="0" noProof="0">
                <a:ln>
                  <a:noFill/>
                </a:ln>
                <a:solidFill>
                  <a:schemeClr val="bg1"/>
                </a:solidFill>
                <a:effectLst/>
                <a:uLnTx/>
                <a:uFillTx/>
                <a:latin typeface="Arial" panose="020B0604020202020204"/>
                <a:ea typeface="+mn-ea"/>
                <a:cs typeface="+mn-cs"/>
              </a:rPr>
              <a:t>Disregard of express procedural requirement</a:t>
            </a:r>
          </a:p>
          <a:p>
            <a:pPr marL="380990" marR="0" lvl="0" indent="-380990" algn="l" defTabSz="914377" rtl="0" eaLnBrk="1" fontAlgn="auto" latinLnBrk="0" hangingPunct="1">
              <a:lnSpc>
                <a:spcPct val="100000"/>
              </a:lnSpc>
              <a:spcBef>
                <a:spcPts val="1000"/>
              </a:spcBef>
              <a:spcAft>
                <a:spcPts val="667"/>
              </a:spcAft>
              <a:buClrTx/>
              <a:buSzTx/>
              <a:buFont typeface="Arial" panose="020B0604020202020204" pitchFamily="34" charset="0"/>
              <a:buChar char="•"/>
              <a:tabLst/>
              <a:defRPr/>
            </a:pPr>
            <a:r>
              <a:rPr kumimoji="0" lang="en-AU" sz="2400" b="0" i="0" u="none" strike="noStrike" kern="1200" cap="none" spc="0" normalizeH="0" baseline="0" noProof="0">
                <a:ln>
                  <a:noFill/>
                </a:ln>
                <a:solidFill>
                  <a:schemeClr val="bg1"/>
                </a:solidFill>
                <a:effectLst/>
                <a:uLnTx/>
                <a:uFillTx/>
                <a:latin typeface="Arial" panose="020B0604020202020204"/>
                <a:ea typeface="+mn-ea"/>
                <a:cs typeface="+mn-cs"/>
              </a:rPr>
              <a:t>Improper delegation </a:t>
            </a:r>
          </a:p>
          <a:p>
            <a:pPr marL="380990" marR="0" lvl="0" indent="-380990" algn="l" defTabSz="914377" rtl="0" eaLnBrk="1" fontAlgn="auto" latinLnBrk="0" hangingPunct="1">
              <a:lnSpc>
                <a:spcPct val="100000"/>
              </a:lnSpc>
              <a:spcBef>
                <a:spcPts val="1000"/>
              </a:spcBef>
              <a:spcAft>
                <a:spcPts val="667"/>
              </a:spcAft>
              <a:buClrTx/>
              <a:buSzTx/>
              <a:buFont typeface="Arial" panose="020B0604020202020204" pitchFamily="34" charset="0"/>
              <a:buChar char="•"/>
              <a:tabLst/>
              <a:defRPr/>
            </a:pPr>
            <a:r>
              <a:rPr kumimoji="0" lang="en-AU" sz="2400" b="0" i="0" u="none" strike="noStrike" kern="1200" cap="none" spc="0" normalizeH="0" baseline="0" noProof="0">
                <a:ln>
                  <a:noFill/>
                </a:ln>
                <a:solidFill>
                  <a:schemeClr val="bg1"/>
                </a:solidFill>
                <a:effectLst/>
                <a:uLnTx/>
                <a:uFillTx/>
                <a:latin typeface="Arial" panose="020B0604020202020204"/>
                <a:ea typeface="+mn-ea"/>
                <a:cs typeface="+mn-cs"/>
              </a:rPr>
              <a:t>Failure to take account on mandatory considerations </a:t>
            </a:r>
          </a:p>
          <a:p>
            <a:pPr marL="380990" marR="0" lvl="0" indent="-380990" algn="l" defTabSz="914377" rtl="0" eaLnBrk="1" fontAlgn="auto" latinLnBrk="0" hangingPunct="1">
              <a:lnSpc>
                <a:spcPct val="100000"/>
              </a:lnSpc>
              <a:spcBef>
                <a:spcPts val="1000"/>
              </a:spcBef>
              <a:spcAft>
                <a:spcPts val="667"/>
              </a:spcAft>
              <a:buClrTx/>
              <a:buSzTx/>
              <a:buFont typeface="Arial" panose="020B0604020202020204" pitchFamily="34" charset="0"/>
              <a:buChar char="•"/>
              <a:tabLst/>
              <a:defRPr/>
            </a:pPr>
            <a:endParaRPr kumimoji="0" lang="en-AU" sz="2400" b="0" i="0" u="none" strike="noStrike" kern="1200" cap="none" spc="0" normalizeH="0" baseline="0" noProof="0" dirty="0">
              <a:ln>
                <a:noFill/>
              </a:ln>
              <a:solidFill>
                <a:schemeClr val="bg1"/>
              </a:solidFill>
              <a:effectLst/>
              <a:uLnTx/>
              <a:uFillTx/>
              <a:latin typeface="Arial" panose="020B0604020202020204"/>
              <a:ea typeface="+mn-ea"/>
              <a:cs typeface="+mn-cs"/>
            </a:endParaRPr>
          </a:p>
        </p:txBody>
      </p:sp>
      <p:sp>
        <p:nvSpPr>
          <p:cNvPr id="8" name="Content Placeholder 4">
            <a:extLst>
              <a:ext uri="{FF2B5EF4-FFF2-40B4-BE49-F238E27FC236}">
                <a16:creationId xmlns:a16="http://schemas.microsoft.com/office/drawing/2014/main" id="{B6A4A0B9-0CDC-9E8B-D6AF-53F9BE09D044}"/>
              </a:ext>
            </a:extLst>
          </p:cNvPr>
          <p:cNvSpPr txBox="1">
            <a:spLocks/>
          </p:cNvSpPr>
          <p:nvPr/>
        </p:nvSpPr>
        <p:spPr>
          <a:xfrm>
            <a:off x="6307667" y="1586895"/>
            <a:ext cx="5181600" cy="4838096"/>
          </a:xfrm>
          <a:prstGeom prst="rect">
            <a:avLst/>
          </a:prstGeom>
        </p:spPr>
        <p:txBody>
          <a:bodyPr vert="horz" lIns="91440" tIns="45720" rIns="91440" bIns="45720" rtlCol="0" anchor="t" anchorCtr="0">
            <a:noAutofit/>
          </a:bodyPr>
          <a:lstStyle>
            <a:lvl1pPr marL="0" indent="0" algn="l" defTabSz="914377" rtl="0" eaLnBrk="1" latinLnBrk="0" hangingPunct="1">
              <a:lnSpc>
                <a:spcPct val="100000"/>
              </a:lnSpc>
              <a:spcBef>
                <a:spcPts val="1000"/>
              </a:spcBef>
              <a:spcAft>
                <a:spcPts val="667"/>
              </a:spcAft>
              <a:buFont typeface="Arial" panose="020B0604020202020204" pitchFamily="34" charset="0"/>
              <a:buNone/>
              <a:defRPr sz="2400" kern="1200" baseline="0">
                <a:solidFill>
                  <a:schemeClr val="tx1"/>
                </a:solidFill>
                <a:latin typeface="+mn-lt"/>
                <a:ea typeface="+mn-ea"/>
                <a:cs typeface="+mn-cs"/>
              </a:defRPr>
            </a:lvl1pPr>
            <a:lvl2pPr marL="237061" indent="-237061" algn="l" defTabSz="914377" rtl="0" eaLnBrk="1" latinLnBrk="0" hangingPunct="1">
              <a:lnSpc>
                <a:spcPct val="100000"/>
              </a:lnSpc>
              <a:spcBef>
                <a:spcPts val="500"/>
              </a:spcBef>
              <a:spcAft>
                <a:spcPts val="267"/>
              </a:spcAft>
              <a:buClr>
                <a:schemeClr val="accent1"/>
              </a:buClr>
              <a:buFont typeface="Wingdings" pitchFamily="2" charset="2"/>
              <a:buChar char="§"/>
              <a:tabLst/>
              <a:defRPr sz="2400" kern="1200">
                <a:solidFill>
                  <a:schemeClr val="tx1"/>
                </a:solidFill>
                <a:latin typeface="+mn-lt"/>
                <a:ea typeface="+mn-ea"/>
                <a:cs typeface="+mn-cs"/>
              </a:defRPr>
            </a:lvl2pPr>
            <a:lvl3pPr marL="474121" indent="-237061" algn="l" defTabSz="914377" rtl="0" eaLnBrk="1" latinLnBrk="0" hangingPunct="1">
              <a:lnSpc>
                <a:spcPct val="90000"/>
              </a:lnSpc>
              <a:spcBef>
                <a:spcPts val="500"/>
              </a:spcBef>
              <a:buClr>
                <a:schemeClr val="tx2"/>
              </a:buClr>
              <a:buFont typeface="Wingdings" pitchFamily="2" charset="2"/>
              <a:buChar char="§"/>
              <a:tabLst/>
              <a:defRPr lang="en-US" sz="1867" kern="1200" baseline="0" dirty="0">
                <a:solidFill>
                  <a:schemeClr val="tx1"/>
                </a:solidFill>
                <a:latin typeface="+mn-lt"/>
                <a:ea typeface="+mn-ea"/>
                <a:cs typeface="+mn-cs"/>
              </a:defRPr>
            </a:lvl3pPr>
            <a:lvl4pPr marL="474121" indent="-237061" algn="l" defTabSz="914377" rtl="0" eaLnBrk="1" latinLnBrk="0" hangingPunct="1">
              <a:lnSpc>
                <a:spcPct val="90000"/>
              </a:lnSpc>
              <a:spcBef>
                <a:spcPts val="500"/>
              </a:spcBef>
              <a:buClr>
                <a:schemeClr val="accent4"/>
              </a:buClr>
              <a:buFont typeface="Wingdings" pitchFamily="2" charset="2"/>
              <a:buChar char="§"/>
              <a:defRPr sz="1800" kern="1200">
                <a:solidFill>
                  <a:schemeClr val="tx1"/>
                </a:solidFill>
                <a:latin typeface="+mn-lt"/>
                <a:ea typeface="+mn-ea"/>
                <a:cs typeface="+mn-cs"/>
              </a:defRPr>
            </a:lvl4pPr>
            <a:lvl5pPr marL="474121" indent="-237061"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380990" marR="0" lvl="0" indent="-380990" algn="l" defTabSz="914377" rtl="0" eaLnBrk="1" fontAlgn="auto" latinLnBrk="0" hangingPunct="1">
              <a:lnSpc>
                <a:spcPct val="100000"/>
              </a:lnSpc>
              <a:spcBef>
                <a:spcPts val="1000"/>
              </a:spcBef>
              <a:spcAft>
                <a:spcPts val="667"/>
              </a:spcAft>
              <a:buClrTx/>
              <a:buSzTx/>
              <a:buFont typeface="Arial" panose="020B0604020202020204" pitchFamily="34" charset="0"/>
              <a:buChar char="•"/>
              <a:tabLst/>
              <a:defRPr/>
            </a:pPr>
            <a:r>
              <a:rPr kumimoji="0" lang="en-AU" sz="2400" b="0" i="0" u="none" strike="noStrike" kern="1200" cap="none" spc="0" normalizeH="0" baseline="0" noProof="0" dirty="0">
                <a:ln>
                  <a:noFill/>
                </a:ln>
                <a:solidFill>
                  <a:schemeClr val="bg1"/>
                </a:solidFill>
                <a:effectLst/>
                <a:uLnTx/>
                <a:uFillTx/>
                <a:latin typeface="Arial" panose="020B0604020202020204"/>
                <a:ea typeface="+mn-ea"/>
                <a:cs typeface="+mn-cs"/>
              </a:rPr>
              <a:t>Failure to afford natural justice </a:t>
            </a:r>
          </a:p>
          <a:p>
            <a:pPr marL="380990" marR="0" lvl="0" indent="-380990" algn="l" defTabSz="914377" rtl="0" eaLnBrk="1" fontAlgn="auto" latinLnBrk="0" hangingPunct="1">
              <a:lnSpc>
                <a:spcPct val="100000"/>
              </a:lnSpc>
              <a:spcBef>
                <a:spcPts val="1000"/>
              </a:spcBef>
              <a:spcAft>
                <a:spcPts val="667"/>
              </a:spcAft>
              <a:buClrTx/>
              <a:buSzTx/>
              <a:buFont typeface="Arial" panose="020B0604020202020204" pitchFamily="34" charset="0"/>
              <a:buChar char="•"/>
              <a:tabLst/>
              <a:defRPr/>
            </a:pPr>
            <a:r>
              <a:rPr kumimoji="0" lang="en-AU" sz="2400" b="0" i="0" u="none" strike="noStrike" kern="1200" cap="none" spc="0" normalizeH="0" baseline="0" noProof="0" dirty="0">
                <a:ln>
                  <a:noFill/>
                </a:ln>
                <a:solidFill>
                  <a:schemeClr val="bg1"/>
                </a:solidFill>
                <a:effectLst/>
                <a:uLnTx/>
                <a:uFillTx/>
                <a:latin typeface="Arial" panose="020B0604020202020204"/>
                <a:ea typeface="+mn-ea"/>
                <a:cs typeface="+mn-cs"/>
              </a:rPr>
              <a:t>Improper purpose</a:t>
            </a:r>
          </a:p>
          <a:p>
            <a:pPr marL="380990" marR="0" lvl="0" indent="-380990" algn="l" defTabSz="914377" rtl="0" eaLnBrk="1" fontAlgn="auto" latinLnBrk="0" hangingPunct="1">
              <a:lnSpc>
                <a:spcPct val="100000"/>
              </a:lnSpc>
              <a:spcBef>
                <a:spcPts val="1000"/>
              </a:spcBef>
              <a:spcAft>
                <a:spcPts val="667"/>
              </a:spcAft>
              <a:buClrTx/>
              <a:buSzTx/>
              <a:buFont typeface="Arial" panose="020B0604020202020204" pitchFamily="34" charset="0"/>
              <a:buChar char="•"/>
              <a:tabLst/>
              <a:defRPr/>
            </a:pPr>
            <a:r>
              <a:rPr kumimoji="0" lang="en-AU" sz="2400" b="0" i="0" u="none" strike="noStrike" kern="1200" cap="none" spc="0" normalizeH="0" baseline="0" noProof="0" dirty="0">
                <a:ln>
                  <a:noFill/>
                </a:ln>
                <a:solidFill>
                  <a:schemeClr val="bg1"/>
                </a:solidFill>
                <a:effectLst/>
                <a:uLnTx/>
                <a:uFillTx/>
                <a:latin typeface="Arial" panose="020B0604020202020204"/>
                <a:ea typeface="+mn-ea"/>
                <a:cs typeface="+mn-cs"/>
              </a:rPr>
              <a:t>Fraud/Bad Faith</a:t>
            </a:r>
          </a:p>
          <a:p>
            <a:pPr marL="380990" marR="0" lvl="0" indent="-380990" algn="l" defTabSz="914377" rtl="0" eaLnBrk="1" fontAlgn="auto" latinLnBrk="0" hangingPunct="1">
              <a:lnSpc>
                <a:spcPct val="100000"/>
              </a:lnSpc>
              <a:spcBef>
                <a:spcPts val="1000"/>
              </a:spcBef>
              <a:spcAft>
                <a:spcPts val="667"/>
              </a:spcAft>
              <a:buClrTx/>
              <a:buSzTx/>
              <a:buFont typeface="Arial" panose="020B0604020202020204" pitchFamily="34" charset="0"/>
              <a:buChar char="•"/>
              <a:tabLst/>
              <a:defRPr/>
            </a:pPr>
            <a:r>
              <a:rPr kumimoji="0" lang="en-AU" sz="2400" b="0" i="0" u="none" strike="noStrike" kern="1200" cap="none" spc="0" normalizeH="0" baseline="0" noProof="0" dirty="0">
                <a:ln>
                  <a:noFill/>
                </a:ln>
                <a:solidFill>
                  <a:schemeClr val="bg1"/>
                </a:solidFill>
                <a:effectLst/>
                <a:uLnTx/>
                <a:uFillTx/>
                <a:latin typeface="Arial" panose="020B0604020202020204"/>
                <a:ea typeface="+mn-ea"/>
                <a:cs typeface="+mn-cs"/>
              </a:rPr>
              <a:t>Fettering of discretion;</a:t>
            </a:r>
          </a:p>
          <a:p>
            <a:pPr marL="380990" marR="0" lvl="0" indent="-380990" algn="l" defTabSz="914377" rtl="0" eaLnBrk="1" fontAlgn="auto" latinLnBrk="0" hangingPunct="1">
              <a:lnSpc>
                <a:spcPct val="100000"/>
              </a:lnSpc>
              <a:spcBef>
                <a:spcPts val="1000"/>
              </a:spcBef>
              <a:spcAft>
                <a:spcPts val="667"/>
              </a:spcAft>
              <a:buClrTx/>
              <a:buSzTx/>
              <a:buFont typeface="Arial" panose="020B0604020202020204" pitchFamily="34" charset="0"/>
              <a:buChar char="•"/>
              <a:tabLst/>
              <a:defRPr/>
            </a:pPr>
            <a:r>
              <a:rPr kumimoji="0" lang="en-AU" sz="2400" b="0" i="0" u="none" strike="noStrike" kern="1200" cap="none" spc="0" normalizeH="0" baseline="0" noProof="0" dirty="0">
                <a:ln>
                  <a:noFill/>
                </a:ln>
                <a:solidFill>
                  <a:schemeClr val="bg1"/>
                </a:solidFill>
                <a:effectLst/>
                <a:uLnTx/>
                <a:uFillTx/>
                <a:latin typeface="Arial" panose="020B0604020202020204"/>
                <a:ea typeface="+mn-ea"/>
                <a:cs typeface="+mn-cs"/>
              </a:rPr>
              <a:t> Failure to exercise discretion;</a:t>
            </a:r>
          </a:p>
          <a:p>
            <a:pPr marL="380990" marR="0" lvl="0" indent="-380990" algn="l" defTabSz="914377" rtl="0" eaLnBrk="1" fontAlgn="auto" latinLnBrk="0" hangingPunct="1">
              <a:lnSpc>
                <a:spcPct val="100000"/>
              </a:lnSpc>
              <a:spcBef>
                <a:spcPts val="1000"/>
              </a:spcBef>
              <a:spcAft>
                <a:spcPts val="667"/>
              </a:spcAft>
              <a:buClrTx/>
              <a:buSzTx/>
              <a:buFont typeface="Arial" panose="020B0604020202020204" pitchFamily="34" charset="0"/>
              <a:buChar char="•"/>
              <a:tabLst/>
              <a:defRPr/>
            </a:pPr>
            <a:r>
              <a:rPr kumimoji="0" lang="en-AU" sz="2400" b="0" i="0" u="none" strike="noStrike" kern="1200" cap="none" spc="0" normalizeH="0" baseline="0" noProof="0" dirty="0">
                <a:ln>
                  <a:noFill/>
                </a:ln>
                <a:solidFill>
                  <a:schemeClr val="bg1"/>
                </a:solidFill>
                <a:effectLst/>
                <a:uLnTx/>
                <a:uFillTx/>
                <a:latin typeface="Arial" panose="020B0604020202020204"/>
                <a:ea typeface="+mn-ea"/>
                <a:cs typeface="+mn-cs"/>
              </a:rPr>
              <a:t>Unreasonableness; </a:t>
            </a:r>
          </a:p>
          <a:p>
            <a:pPr marL="380990" marR="0" lvl="0" indent="-380990" algn="l" defTabSz="914377" rtl="0" eaLnBrk="1" fontAlgn="auto" latinLnBrk="0" hangingPunct="1">
              <a:lnSpc>
                <a:spcPct val="100000"/>
              </a:lnSpc>
              <a:spcBef>
                <a:spcPts val="1000"/>
              </a:spcBef>
              <a:spcAft>
                <a:spcPts val="667"/>
              </a:spcAft>
              <a:buClrTx/>
              <a:buSzTx/>
              <a:buFont typeface="Arial" panose="020B0604020202020204" pitchFamily="34" charset="0"/>
              <a:buChar char="•"/>
              <a:tabLst/>
              <a:defRPr/>
            </a:pPr>
            <a:r>
              <a:rPr kumimoji="0" lang="en-AU" sz="2400" b="0" i="0" u="none" strike="noStrike" kern="1200" cap="none" spc="0" normalizeH="0" baseline="0" noProof="0" dirty="0">
                <a:ln>
                  <a:noFill/>
                </a:ln>
                <a:solidFill>
                  <a:schemeClr val="bg1"/>
                </a:solidFill>
                <a:effectLst/>
                <a:uLnTx/>
                <a:uFillTx/>
                <a:latin typeface="Arial" panose="020B0604020202020204"/>
                <a:ea typeface="+mn-ea"/>
                <a:cs typeface="+mn-cs"/>
              </a:rPr>
              <a:t>Irrationality</a:t>
            </a:r>
          </a:p>
          <a:p>
            <a:pPr marL="380990" marR="0" lvl="0" indent="-380990" algn="l" defTabSz="914377" rtl="0" eaLnBrk="1" fontAlgn="auto" latinLnBrk="0" hangingPunct="1">
              <a:lnSpc>
                <a:spcPct val="100000"/>
              </a:lnSpc>
              <a:spcBef>
                <a:spcPts val="1000"/>
              </a:spcBef>
              <a:spcAft>
                <a:spcPts val="667"/>
              </a:spcAft>
              <a:buClrTx/>
              <a:buSzTx/>
              <a:buFont typeface="Arial" panose="020B0604020202020204" pitchFamily="34" charset="0"/>
              <a:buChar char="•"/>
              <a:tabLst/>
              <a:defRPr/>
            </a:pPr>
            <a:r>
              <a:rPr kumimoji="0" lang="en-AU" sz="2400" b="0" i="0" u="none" strike="noStrike" kern="1200" cap="none" spc="0" normalizeH="0" baseline="0" noProof="0" dirty="0">
                <a:ln>
                  <a:noFill/>
                </a:ln>
                <a:solidFill>
                  <a:schemeClr val="bg1"/>
                </a:solidFill>
                <a:effectLst/>
                <a:uLnTx/>
                <a:uFillTx/>
                <a:latin typeface="Arial" panose="020B0604020202020204"/>
                <a:ea typeface="+mn-ea"/>
                <a:cs typeface="+mn-cs"/>
              </a:rPr>
              <a:t>No evidence; </a:t>
            </a:r>
          </a:p>
        </p:txBody>
      </p:sp>
    </p:spTree>
    <p:extLst>
      <p:ext uri="{BB962C8B-B14F-4D97-AF65-F5344CB8AC3E}">
        <p14:creationId xmlns:p14="http://schemas.microsoft.com/office/powerpoint/2010/main" val="155405123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000054"/>
        </a:solidFill>
        <a:effectLst/>
      </p:bgPr>
    </p:bg>
    <p:spTree>
      <p:nvGrpSpPr>
        <p:cNvPr id="1" name="">
          <a:extLst>
            <a:ext uri="{FF2B5EF4-FFF2-40B4-BE49-F238E27FC236}">
              <a16:creationId xmlns:a16="http://schemas.microsoft.com/office/drawing/2014/main" id="{EC86DAD5-6CF2-166C-2DE1-6F63847BE906}"/>
            </a:ext>
          </a:extLst>
        </p:cNvPr>
        <p:cNvGrpSpPr/>
        <p:nvPr/>
      </p:nvGrpSpPr>
      <p:grpSpPr>
        <a:xfrm>
          <a:off x="0" y="0"/>
          <a:ext cx="0" cy="0"/>
          <a:chOff x="0" y="0"/>
          <a:chExt cx="0" cy="0"/>
        </a:xfrm>
      </p:grpSpPr>
      <p:grpSp>
        <p:nvGrpSpPr>
          <p:cNvPr id="2" name="Group 2">
            <a:extLst>
              <a:ext uri="{FF2B5EF4-FFF2-40B4-BE49-F238E27FC236}">
                <a16:creationId xmlns:a16="http://schemas.microsoft.com/office/drawing/2014/main" id="{5EF4ECDD-CAF3-6128-C579-F412D6025B6B}"/>
              </a:ext>
            </a:extLst>
          </p:cNvPr>
          <p:cNvGrpSpPr/>
          <p:nvPr/>
        </p:nvGrpSpPr>
        <p:grpSpPr>
          <a:xfrm rot="-10800000">
            <a:off x="11045567" y="-12700"/>
            <a:ext cx="1146433" cy="1146433"/>
            <a:chOff x="0" y="0"/>
            <a:chExt cx="1630482" cy="1630482"/>
          </a:xfrm>
        </p:grpSpPr>
        <p:sp>
          <p:nvSpPr>
            <p:cNvPr id="3" name="Freeform 3">
              <a:extLst>
                <a:ext uri="{FF2B5EF4-FFF2-40B4-BE49-F238E27FC236}">
                  <a16:creationId xmlns:a16="http://schemas.microsoft.com/office/drawing/2014/main" id="{C1F8597F-D49B-4BF3-0932-DF09FD801102}"/>
                </a:ext>
              </a:extLst>
            </p:cNvPr>
            <p:cNvSpPr/>
            <p:nvPr/>
          </p:nvSpPr>
          <p:spPr>
            <a:xfrm>
              <a:off x="0" y="0"/>
              <a:ext cx="1630426" cy="1630426"/>
            </a:xfrm>
            <a:custGeom>
              <a:avLst/>
              <a:gdLst/>
              <a:ahLst/>
              <a:cxnLst/>
              <a:rect l="l" t="t" r="r" b="b"/>
              <a:pathLst>
                <a:path w="1630426" h="1630426">
                  <a:moveTo>
                    <a:pt x="0" y="0"/>
                  </a:moveTo>
                  <a:lnTo>
                    <a:pt x="543433" y="0"/>
                  </a:lnTo>
                  <a:lnTo>
                    <a:pt x="543433" y="543433"/>
                  </a:lnTo>
                  <a:lnTo>
                    <a:pt x="1086993" y="543433"/>
                  </a:lnTo>
                  <a:lnTo>
                    <a:pt x="1086993" y="1086993"/>
                  </a:lnTo>
                  <a:lnTo>
                    <a:pt x="1630426" y="1086993"/>
                  </a:lnTo>
                  <a:lnTo>
                    <a:pt x="1630426" y="1630426"/>
                  </a:lnTo>
                  <a:lnTo>
                    <a:pt x="0" y="1630426"/>
                  </a:lnTo>
                  <a:lnTo>
                    <a:pt x="0" y="1086993"/>
                  </a:lnTo>
                  <a:lnTo>
                    <a:pt x="0" y="543433"/>
                  </a:lnTo>
                  <a:close/>
                </a:path>
              </a:pathLst>
            </a:custGeom>
            <a:solidFill>
              <a:srgbClr val="FFFFFF"/>
            </a:solid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AU" sz="1800" b="0" i="0" u="none" strike="noStrike" kern="1200" cap="none" spc="0" normalizeH="0" baseline="0" noProof="0">
                <a:ln>
                  <a:noFill/>
                </a:ln>
                <a:solidFill>
                  <a:prstClr val="black"/>
                </a:solidFill>
                <a:effectLst/>
                <a:uLnTx/>
                <a:uFillTx/>
                <a:latin typeface="Calibri"/>
                <a:ea typeface="+mn-ea"/>
                <a:cs typeface="+mn-cs"/>
              </a:endParaRPr>
            </a:p>
          </p:txBody>
        </p:sp>
      </p:grpSp>
      <p:sp>
        <p:nvSpPr>
          <p:cNvPr id="5" name="TextBox 5">
            <a:extLst>
              <a:ext uri="{FF2B5EF4-FFF2-40B4-BE49-F238E27FC236}">
                <a16:creationId xmlns:a16="http://schemas.microsoft.com/office/drawing/2014/main" id="{1DFBC168-C38E-9D5E-F6E0-9DBEE88DAF69}"/>
              </a:ext>
            </a:extLst>
          </p:cNvPr>
          <p:cNvSpPr txBox="1"/>
          <p:nvPr/>
        </p:nvSpPr>
        <p:spPr>
          <a:xfrm>
            <a:off x="392084" y="560536"/>
            <a:ext cx="11190316" cy="409471"/>
          </a:xfrm>
          <a:prstGeom prst="rect">
            <a:avLst/>
          </a:prstGeom>
        </p:spPr>
        <p:txBody>
          <a:bodyPr wrap="square" lIns="0" tIns="0" rIns="0" bIns="0" rtlCol="0" anchor="t">
            <a:spAutoFit/>
          </a:bodyPr>
          <a:lstStyle/>
          <a:p>
            <a:pPr marL="0" marR="0" lvl="0" indent="0" algn="l" defTabSz="914400" rtl="0" eaLnBrk="1" fontAlgn="auto" latinLnBrk="0" hangingPunct="1">
              <a:lnSpc>
                <a:spcPts val="3494"/>
              </a:lnSpc>
              <a:spcBef>
                <a:spcPts val="0"/>
              </a:spcBef>
              <a:spcAft>
                <a:spcPts val="0"/>
              </a:spcAft>
              <a:buClrTx/>
              <a:buSzTx/>
              <a:buFontTx/>
              <a:buNone/>
              <a:tabLst/>
              <a:defRPr/>
            </a:pPr>
            <a:r>
              <a:rPr kumimoji="0" lang="en-US" sz="2496" b="1" i="0" u="none" strike="noStrike" kern="1200" cap="none" spc="0" normalizeH="0" baseline="0" noProof="0" dirty="0">
                <a:ln>
                  <a:noFill/>
                </a:ln>
                <a:solidFill>
                  <a:srgbClr val="FFFFFF"/>
                </a:solidFill>
                <a:effectLst/>
                <a:uLnTx/>
                <a:uFillTx/>
                <a:latin typeface="Arial Bold"/>
                <a:ea typeface="Arial Bold"/>
                <a:cs typeface="Arial Bold"/>
                <a:sym typeface="Arial Bold"/>
              </a:rPr>
              <a:t>Statutory judicial review – ADJR Act (Recall)</a:t>
            </a:r>
          </a:p>
        </p:txBody>
      </p:sp>
      <p:sp>
        <p:nvSpPr>
          <p:cNvPr id="9" name="TextBox 9">
            <a:extLst>
              <a:ext uri="{FF2B5EF4-FFF2-40B4-BE49-F238E27FC236}">
                <a16:creationId xmlns:a16="http://schemas.microsoft.com/office/drawing/2014/main" id="{14F2CA5C-08FD-916E-580B-43DEC664D53A}"/>
              </a:ext>
            </a:extLst>
          </p:cNvPr>
          <p:cNvSpPr txBox="1"/>
          <p:nvPr/>
        </p:nvSpPr>
        <p:spPr>
          <a:xfrm>
            <a:off x="392084" y="1295400"/>
            <a:ext cx="9894916" cy="5352106"/>
          </a:xfrm>
          <a:prstGeom prst="rect">
            <a:avLst/>
          </a:prstGeom>
        </p:spPr>
        <p:txBody>
          <a:bodyPr wrap="square" lIns="0" tIns="0" rIns="0" bIns="0" rtlCol="0" anchor="t">
            <a:spAutoFit/>
          </a:bodyPr>
          <a:lstStyle/>
          <a:p>
            <a:pPr marL="0" marR="0" lvl="0" indent="0" algn="l" defTabSz="914400" rtl="0" eaLnBrk="1" fontAlgn="auto" latinLnBrk="0" hangingPunct="1">
              <a:lnSpc>
                <a:spcPct val="100000"/>
              </a:lnSpc>
              <a:spcBef>
                <a:spcPts val="0"/>
              </a:spcBef>
              <a:spcAft>
                <a:spcPts val="1200"/>
              </a:spcAft>
              <a:buClrTx/>
              <a:buSzTx/>
              <a:buFontTx/>
              <a:buNone/>
              <a:tabLst/>
              <a:defRPr/>
            </a:pPr>
            <a:r>
              <a:rPr kumimoji="0" lang="en-US" sz="1627" b="0" i="0" u="none" strike="noStrike" kern="1200" cap="none" spc="0" normalizeH="0" baseline="0" noProof="0" dirty="0">
                <a:ln>
                  <a:noFill/>
                </a:ln>
                <a:solidFill>
                  <a:srgbClr val="FFFFFF"/>
                </a:solidFill>
                <a:effectLst/>
                <a:uLnTx/>
                <a:uFillTx/>
                <a:latin typeface="Arial" panose="020B0604020202020204" pitchFamily="34" charset="0"/>
                <a:ea typeface="Arial Bold"/>
                <a:cs typeface="Arial" panose="020B0604020202020204" pitchFamily="34" charset="0"/>
                <a:sym typeface="Arial Bold"/>
              </a:rPr>
              <a:t>Section 5(1) – Grounds:</a:t>
            </a:r>
          </a:p>
          <a:p>
            <a:pPr marL="342900" marR="0" lvl="0" indent="-342900" algn="l" defTabSz="914400" rtl="0" eaLnBrk="1" fontAlgn="auto" latinLnBrk="0" hangingPunct="1">
              <a:lnSpc>
                <a:spcPct val="100000"/>
              </a:lnSpc>
              <a:spcBef>
                <a:spcPts val="0"/>
              </a:spcBef>
              <a:spcAft>
                <a:spcPts val="1200"/>
              </a:spcAft>
              <a:buClrTx/>
              <a:buSzTx/>
              <a:buFont typeface="+mj-lt"/>
              <a:buAutoNum type="alphaLcParenR"/>
              <a:tabLst/>
              <a:defRPr/>
            </a:pPr>
            <a:r>
              <a:rPr kumimoji="0" lang="en-US" sz="1627" b="0" i="0" u="none" strike="noStrike" kern="1200" cap="none" spc="0" normalizeH="0" baseline="0" noProof="0" dirty="0">
                <a:ln>
                  <a:noFill/>
                </a:ln>
                <a:solidFill>
                  <a:srgbClr val="FFFFFF"/>
                </a:solidFill>
                <a:effectLst/>
                <a:uLnTx/>
                <a:uFillTx/>
                <a:latin typeface="Arial" panose="020B0604020202020204" pitchFamily="34" charset="0"/>
                <a:ea typeface="Arial Bold"/>
                <a:cs typeface="Arial" panose="020B0604020202020204" pitchFamily="34" charset="0"/>
                <a:sym typeface="Arial Bold"/>
              </a:rPr>
              <a:t>Breach of rules of natural justice</a:t>
            </a:r>
          </a:p>
          <a:p>
            <a:pPr marL="342900" marR="0" lvl="0" indent="-342900" algn="l" defTabSz="914400" rtl="0" eaLnBrk="1" fontAlgn="auto" latinLnBrk="0" hangingPunct="1">
              <a:lnSpc>
                <a:spcPct val="100000"/>
              </a:lnSpc>
              <a:spcBef>
                <a:spcPts val="0"/>
              </a:spcBef>
              <a:spcAft>
                <a:spcPts val="1200"/>
              </a:spcAft>
              <a:buClrTx/>
              <a:buSzTx/>
              <a:buFont typeface="+mj-lt"/>
              <a:buAutoNum type="alphaLcParenR"/>
              <a:tabLst/>
              <a:defRPr/>
            </a:pPr>
            <a:r>
              <a:rPr kumimoji="0" lang="en-US" sz="1627" b="0" i="0" u="none" strike="noStrike" kern="1200" cap="none" spc="0" normalizeH="0" baseline="0" noProof="0" dirty="0">
                <a:ln>
                  <a:noFill/>
                </a:ln>
                <a:solidFill>
                  <a:srgbClr val="FFFFFF"/>
                </a:solidFill>
                <a:effectLst/>
                <a:uLnTx/>
                <a:uFillTx/>
                <a:latin typeface="Arial" panose="020B0604020202020204" pitchFamily="34" charset="0"/>
                <a:ea typeface="Arial Bold"/>
                <a:cs typeface="Arial" panose="020B0604020202020204" pitchFamily="34" charset="0"/>
                <a:sym typeface="Arial Bold"/>
              </a:rPr>
              <a:t>Required procedures not observed</a:t>
            </a:r>
          </a:p>
          <a:p>
            <a:pPr marL="342900" marR="0" lvl="0" indent="-342900" algn="l" defTabSz="914400" rtl="0" eaLnBrk="1" fontAlgn="auto" latinLnBrk="0" hangingPunct="1">
              <a:lnSpc>
                <a:spcPct val="100000"/>
              </a:lnSpc>
              <a:spcBef>
                <a:spcPts val="0"/>
              </a:spcBef>
              <a:spcAft>
                <a:spcPts val="1200"/>
              </a:spcAft>
              <a:buClrTx/>
              <a:buSzTx/>
              <a:buFont typeface="+mj-lt"/>
              <a:buAutoNum type="alphaLcParenR"/>
              <a:tabLst/>
              <a:defRPr/>
            </a:pPr>
            <a:r>
              <a:rPr kumimoji="0" lang="en-US" sz="1627" b="0" i="0" u="none" strike="noStrike" kern="1200" cap="none" spc="0" normalizeH="0" baseline="0" noProof="0" dirty="0">
                <a:ln>
                  <a:noFill/>
                </a:ln>
                <a:solidFill>
                  <a:srgbClr val="FFFFFF"/>
                </a:solidFill>
                <a:effectLst/>
                <a:uLnTx/>
                <a:uFillTx/>
                <a:latin typeface="Arial" panose="020B0604020202020204" pitchFamily="34" charset="0"/>
                <a:ea typeface="Arial Bold"/>
                <a:cs typeface="Arial" panose="020B0604020202020204" pitchFamily="34" charset="0"/>
                <a:sym typeface="Arial Bold"/>
              </a:rPr>
              <a:t>No jurisdiction (jurisdictional error)</a:t>
            </a:r>
          </a:p>
          <a:p>
            <a:pPr marL="342900" marR="0" lvl="0" indent="-342900" algn="l" defTabSz="914400" rtl="0" eaLnBrk="1" fontAlgn="auto" latinLnBrk="0" hangingPunct="1">
              <a:lnSpc>
                <a:spcPct val="100000"/>
              </a:lnSpc>
              <a:spcBef>
                <a:spcPts val="0"/>
              </a:spcBef>
              <a:spcAft>
                <a:spcPts val="1200"/>
              </a:spcAft>
              <a:buClrTx/>
              <a:buSzTx/>
              <a:buFont typeface="+mj-lt"/>
              <a:buAutoNum type="alphaLcParenR"/>
              <a:tabLst/>
              <a:defRPr/>
            </a:pPr>
            <a:r>
              <a:rPr kumimoji="0" lang="en-US" sz="1627" b="0" i="0" u="none" strike="noStrike" kern="1200" cap="none" spc="0" normalizeH="0" baseline="0" noProof="0" dirty="0">
                <a:ln>
                  <a:noFill/>
                </a:ln>
                <a:solidFill>
                  <a:srgbClr val="FFFFFF"/>
                </a:solidFill>
                <a:effectLst/>
                <a:uLnTx/>
                <a:uFillTx/>
                <a:latin typeface="Arial" panose="020B0604020202020204" pitchFamily="34" charset="0"/>
                <a:ea typeface="Arial Bold"/>
                <a:cs typeface="Arial" panose="020B0604020202020204" pitchFamily="34" charset="0"/>
                <a:sym typeface="Arial Bold"/>
              </a:rPr>
              <a:t>Decision not </a:t>
            </a:r>
            <a:r>
              <a:rPr kumimoji="0" lang="en-US" sz="1627" b="0" i="0" u="none" strike="noStrike" kern="1200" cap="none" spc="0" normalizeH="0" baseline="0" noProof="0" dirty="0" err="1">
                <a:ln>
                  <a:noFill/>
                </a:ln>
                <a:solidFill>
                  <a:srgbClr val="FFFFFF"/>
                </a:solidFill>
                <a:effectLst/>
                <a:uLnTx/>
                <a:uFillTx/>
                <a:latin typeface="Arial" panose="020B0604020202020204" pitchFamily="34" charset="0"/>
                <a:ea typeface="Arial Bold"/>
                <a:cs typeface="Arial" panose="020B0604020202020204" pitchFamily="34" charset="0"/>
                <a:sym typeface="Arial Bold"/>
              </a:rPr>
              <a:t>authorised</a:t>
            </a:r>
            <a:r>
              <a:rPr kumimoji="0" lang="en-US" sz="1627" b="0" i="0" u="none" strike="noStrike" kern="1200" cap="none" spc="0" normalizeH="0" baseline="0" noProof="0" dirty="0">
                <a:ln>
                  <a:noFill/>
                </a:ln>
                <a:solidFill>
                  <a:srgbClr val="FFFFFF"/>
                </a:solidFill>
                <a:effectLst/>
                <a:uLnTx/>
                <a:uFillTx/>
                <a:latin typeface="Arial" panose="020B0604020202020204" pitchFamily="34" charset="0"/>
                <a:ea typeface="Arial Bold"/>
                <a:cs typeface="Arial" panose="020B0604020202020204" pitchFamily="34" charset="0"/>
                <a:sym typeface="Arial Bold"/>
              </a:rPr>
              <a:t> by the enactment</a:t>
            </a:r>
          </a:p>
          <a:p>
            <a:pPr marL="342900" marR="0" lvl="0" indent="-342900" algn="l" defTabSz="914400" rtl="0" eaLnBrk="1" fontAlgn="auto" latinLnBrk="0" hangingPunct="1">
              <a:lnSpc>
                <a:spcPct val="100000"/>
              </a:lnSpc>
              <a:spcBef>
                <a:spcPts val="0"/>
              </a:spcBef>
              <a:spcAft>
                <a:spcPts val="1200"/>
              </a:spcAft>
              <a:buClrTx/>
              <a:buSzTx/>
              <a:buFont typeface="+mj-lt"/>
              <a:buAutoNum type="alphaLcParenR"/>
              <a:tabLst/>
              <a:defRPr/>
            </a:pPr>
            <a:r>
              <a:rPr kumimoji="0" lang="en-US" sz="1627" b="0" i="0" u="none" strike="noStrike" kern="1200" cap="none" spc="0" normalizeH="0" baseline="0" noProof="0" dirty="0">
                <a:ln>
                  <a:noFill/>
                </a:ln>
                <a:solidFill>
                  <a:srgbClr val="FFFFFF"/>
                </a:solidFill>
                <a:effectLst/>
                <a:uLnTx/>
                <a:uFillTx/>
                <a:latin typeface="Arial" panose="020B0604020202020204" pitchFamily="34" charset="0"/>
                <a:ea typeface="Arial Bold"/>
                <a:cs typeface="Arial" panose="020B0604020202020204" pitchFamily="34" charset="0"/>
                <a:sym typeface="Arial Bold"/>
              </a:rPr>
              <a:t>Improper exercise of power (see further s 5(2))</a:t>
            </a:r>
          </a:p>
          <a:p>
            <a:pPr marL="342900" marR="0" lvl="0" indent="-342900" algn="l" defTabSz="914400" rtl="0" eaLnBrk="1" fontAlgn="auto" latinLnBrk="0" hangingPunct="1">
              <a:lnSpc>
                <a:spcPct val="100000"/>
              </a:lnSpc>
              <a:spcBef>
                <a:spcPts val="0"/>
              </a:spcBef>
              <a:spcAft>
                <a:spcPts val="1200"/>
              </a:spcAft>
              <a:buClrTx/>
              <a:buSzTx/>
              <a:buFont typeface="+mj-lt"/>
              <a:buAutoNum type="alphaLcParenR"/>
              <a:tabLst/>
              <a:defRPr/>
            </a:pPr>
            <a:r>
              <a:rPr kumimoji="0" lang="en-US" sz="1627" b="0" i="0" u="none" strike="noStrike" kern="1200" cap="none" spc="0" normalizeH="0" baseline="0" noProof="0" dirty="0">
                <a:ln>
                  <a:noFill/>
                </a:ln>
                <a:solidFill>
                  <a:srgbClr val="FFFFFF"/>
                </a:solidFill>
                <a:effectLst/>
                <a:uLnTx/>
                <a:uFillTx/>
                <a:latin typeface="Arial" panose="020B0604020202020204" pitchFamily="34" charset="0"/>
                <a:ea typeface="Arial Bold"/>
                <a:cs typeface="Arial" panose="020B0604020202020204" pitchFamily="34" charset="0"/>
                <a:sym typeface="Arial Bold"/>
              </a:rPr>
              <a:t>Error of law whether or not on the record</a:t>
            </a:r>
          </a:p>
          <a:p>
            <a:pPr marL="342900" marR="0" lvl="0" indent="-342900" algn="l" defTabSz="914400" rtl="0" eaLnBrk="1" fontAlgn="auto" latinLnBrk="0" hangingPunct="1">
              <a:lnSpc>
                <a:spcPct val="100000"/>
              </a:lnSpc>
              <a:spcBef>
                <a:spcPts val="0"/>
              </a:spcBef>
              <a:spcAft>
                <a:spcPts val="1200"/>
              </a:spcAft>
              <a:buClrTx/>
              <a:buSzTx/>
              <a:buFont typeface="+mj-lt"/>
              <a:buAutoNum type="alphaLcParenR"/>
              <a:tabLst/>
              <a:defRPr/>
            </a:pPr>
            <a:r>
              <a:rPr kumimoji="0" lang="en-US" sz="1627" b="0" i="0" u="none" strike="noStrike" kern="1200" cap="none" spc="0" normalizeH="0" baseline="0" noProof="0" dirty="0">
                <a:ln>
                  <a:noFill/>
                </a:ln>
                <a:solidFill>
                  <a:srgbClr val="FFFFFF"/>
                </a:solidFill>
                <a:effectLst/>
                <a:uLnTx/>
                <a:uFillTx/>
                <a:latin typeface="Arial" panose="020B0604020202020204" pitchFamily="34" charset="0"/>
                <a:ea typeface="Arial Bold"/>
                <a:cs typeface="Arial" panose="020B0604020202020204" pitchFamily="34" charset="0"/>
                <a:sym typeface="Arial Bold"/>
              </a:rPr>
              <a:t>Fraud</a:t>
            </a:r>
          </a:p>
          <a:p>
            <a:pPr marL="342900" marR="0" lvl="0" indent="-342900" algn="l" defTabSz="914400" rtl="0" eaLnBrk="1" fontAlgn="auto" latinLnBrk="0" hangingPunct="1">
              <a:lnSpc>
                <a:spcPct val="100000"/>
              </a:lnSpc>
              <a:spcBef>
                <a:spcPts val="0"/>
              </a:spcBef>
              <a:spcAft>
                <a:spcPts val="1200"/>
              </a:spcAft>
              <a:buClrTx/>
              <a:buSzTx/>
              <a:buFont typeface="+mj-lt"/>
              <a:buAutoNum type="alphaLcParenR"/>
              <a:tabLst/>
              <a:defRPr/>
            </a:pPr>
            <a:r>
              <a:rPr kumimoji="0" lang="en-US" sz="1627" b="0" i="0" u="none" strike="noStrike" kern="1200" cap="none" spc="0" normalizeH="0" baseline="0" noProof="0" dirty="0">
                <a:ln>
                  <a:noFill/>
                </a:ln>
                <a:solidFill>
                  <a:srgbClr val="FFFFFF"/>
                </a:solidFill>
                <a:effectLst/>
                <a:uLnTx/>
                <a:uFillTx/>
                <a:latin typeface="Arial" panose="020B0604020202020204" pitchFamily="34" charset="0"/>
                <a:ea typeface="Arial Bold"/>
                <a:cs typeface="Arial" panose="020B0604020202020204" pitchFamily="34" charset="0"/>
                <a:sym typeface="Arial Bold"/>
              </a:rPr>
              <a:t>No evidence (see further s 5(3))</a:t>
            </a:r>
          </a:p>
          <a:p>
            <a:pPr marL="0" marR="0" lvl="0" indent="0" algn="l" defTabSz="914400" rtl="0" eaLnBrk="1" fontAlgn="auto" latinLnBrk="0" hangingPunct="1">
              <a:lnSpc>
                <a:spcPct val="100000"/>
              </a:lnSpc>
              <a:spcBef>
                <a:spcPts val="0"/>
              </a:spcBef>
              <a:spcAft>
                <a:spcPts val="1200"/>
              </a:spcAft>
              <a:buClrTx/>
              <a:buSzTx/>
              <a:buFontTx/>
              <a:buNone/>
              <a:tabLst/>
              <a:defRPr/>
            </a:pPr>
            <a:r>
              <a:rPr kumimoji="0" lang="en-US" sz="1627" b="0" i="0" u="none" strike="noStrike" kern="1200" cap="none" spc="0" normalizeH="0" baseline="0" noProof="0" dirty="0">
                <a:ln>
                  <a:noFill/>
                </a:ln>
                <a:solidFill>
                  <a:srgbClr val="FFFFFF"/>
                </a:solidFill>
                <a:effectLst/>
                <a:uLnTx/>
                <a:uFillTx/>
                <a:latin typeface="Arial" panose="020B0604020202020204" pitchFamily="34" charset="0"/>
                <a:ea typeface="Arial Bold"/>
                <a:cs typeface="Arial" panose="020B0604020202020204" pitchFamily="34" charset="0"/>
                <a:sym typeface="Arial Bold"/>
              </a:rPr>
              <a:t>j)    Contrary to law</a:t>
            </a:r>
          </a:p>
          <a:p>
            <a:pPr marL="0" marR="0" lvl="0" indent="0" algn="l" defTabSz="914400" rtl="0" eaLnBrk="1" fontAlgn="auto" latinLnBrk="0" hangingPunct="1">
              <a:lnSpc>
                <a:spcPct val="100000"/>
              </a:lnSpc>
              <a:spcBef>
                <a:spcPts val="0"/>
              </a:spcBef>
              <a:spcAft>
                <a:spcPts val="1200"/>
              </a:spcAft>
              <a:buClrTx/>
              <a:buSzTx/>
              <a:buFontTx/>
              <a:buNone/>
              <a:tabLst/>
              <a:defRPr/>
            </a:pPr>
            <a:endParaRPr kumimoji="0" lang="en-US" sz="1627" b="0" i="0" u="none" strike="noStrike" kern="1200" cap="none" spc="0" normalizeH="0" baseline="0" noProof="0" dirty="0">
              <a:ln>
                <a:noFill/>
              </a:ln>
              <a:solidFill>
                <a:srgbClr val="FFFFFF"/>
              </a:solidFill>
              <a:effectLst/>
              <a:uLnTx/>
              <a:uFillTx/>
              <a:latin typeface="Arial" panose="020B0604020202020204" pitchFamily="34" charset="0"/>
              <a:ea typeface="Arial Bold"/>
              <a:cs typeface="Arial" panose="020B0604020202020204" pitchFamily="34" charset="0"/>
              <a:sym typeface="Arial Bold"/>
            </a:endParaRPr>
          </a:p>
          <a:p>
            <a:pPr marL="0" marR="0" lvl="0" indent="0" algn="l" defTabSz="914400" rtl="0" eaLnBrk="1" fontAlgn="auto" latinLnBrk="0" hangingPunct="1">
              <a:lnSpc>
                <a:spcPct val="100000"/>
              </a:lnSpc>
              <a:spcBef>
                <a:spcPts val="0"/>
              </a:spcBef>
              <a:spcAft>
                <a:spcPts val="1200"/>
              </a:spcAft>
              <a:buClrTx/>
              <a:buSzTx/>
              <a:buFontTx/>
              <a:buNone/>
              <a:tabLst/>
              <a:defRPr/>
            </a:pPr>
            <a:r>
              <a:rPr kumimoji="0" lang="en-US" sz="1627" b="0" i="0" u="none" strike="noStrike" kern="1200" cap="none" spc="0" normalizeH="0" baseline="0" noProof="0" dirty="0">
                <a:ln>
                  <a:noFill/>
                </a:ln>
                <a:solidFill>
                  <a:srgbClr val="FFFFFF"/>
                </a:solidFill>
                <a:effectLst/>
                <a:uLnTx/>
                <a:uFillTx/>
                <a:latin typeface="Arial" panose="020B0604020202020204" pitchFamily="34" charset="0"/>
                <a:ea typeface="Arial Bold"/>
                <a:cs typeface="Arial" panose="020B0604020202020204" pitchFamily="34" charset="0"/>
                <a:sym typeface="Arial Bold"/>
              </a:rPr>
              <a:t>There is no (</a:t>
            </a:r>
            <a:r>
              <a:rPr kumimoji="0" lang="en-US" sz="1627" b="0" i="0" u="none" strike="noStrike" kern="1200" cap="none" spc="0" normalizeH="0" baseline="0" noProof="0" dirty="0" err="1">
                <a:ln>
                  <a:noFill/>
                </a:ln>
                <a:solidFill>
                  <a:srgbClr val="FFFFFF"/>
                </a:solidFill>
                <a:effectLst/>
                <a:uLnTx/>
                <a:uFillTx/>
                <a:latin typeface="Arial" panose="020B0604020202020204" pitchFamily="34" charset="0"/>
                <a:ea typeface="Arial Bold"/>
                <a:cs typeface="Arial" panose="020B0604020202020204" pitchFamily="34" charset="0"/>
                <a:sym typeface="Arial Bold"/>
              </a:rPr>
              <a:t>i</a:t>
            </a:r>
            <a:r>
              <a:rPr kumimoji="0" lang="en-US" sz="1627" b="0" i="0" u="none" strike="noStrike" kern="1200" cap="none" spc="0" normalizeH="0" baseline="0" noProof="0" dirty="0">
                <a:ln>
                  <a:noFill/>
                </a:ln>
                <a:solidFill>
                  <a:srgbClr val="FFFFFF"/>
                </a:solidFill>
                <a:effectLst/>
                <a:uLnTx/>
                <a:uFillTx/>
                <a:latin typeface="Arial" panose="020B0604020202020204" pitchFamily="34" charset="0"/>
                <a:ea typeface="Arial Bold"/>
                <a:cs typeface="Arial" panose="020B0604020202020204" pitchFamily="34" charset="0"/>
                <a:sym typeface="Arial Bold"/>
              </a:rPr>
              <a:t>)! This appears to have been a quirk in the drafting process – it wasn’t removed by an amendment – appears it simply never existed.</a:t>
            </a:r>
          </a:p>
          <a:p>
            <a:pPr marL="742950" marR="0" lvl="1" indent="-285750" algn="l" defTabSz="914400" rtl="0" eaLnBrk="1" fontAlgn="auto" latinLnBrk="0" hangingPunct="1">
              <a:lnSpc>
                <a:spcPct val="100000"/>
              </a:lnSpc>
              <a:spcBef>
                <a:spcPts val="0"/>
              </a:spcBef>
              <a:spcAft>
                <a:spcPts val="1200"/>
              </a:spcAft>
              <a:buClrTx/>
              <a:buSzTx/>
              <a:buFont typeface="Arial" panose="020B0604020202020204" pitchFamily="34" charset="0"/>
              <a:buChar char="•"/>
              <a:tabLst/>
              <a:defRPr/>
            </a:pPr>
            <a:endParaRPr kumimoji="0" lang="en-US" sz="1627" b="0" i="0" u="none" strike="noStrike" kern="1200" cap="none" spc="0" normalizeH="0" baseline="0" noProof="0" dirty="0">
              <a:ln>
                <a:noFill/>
              </a:ln>
              <a:solidFill>
                <a:srgbClr val="FFFFFF"/>
              </a:solidFill>
              <a:effectLst/>
              <a:uLnTx/>
              <a:uFillTx/>
              <a:latin typeface="Arial" panose="020B0604020202020204" pitchFamily="34" charset="0"/>
              <a:ea typeface="Arial Bold"/>
              <a:cs typeface="Arial" panose="020B0604020202020204" pitchFamily="34" charset="0"/>
              <a:sym typeface="Arial Bold"/>
            </a:endParaRPr>
          </a:p>
        </p:txBody>
      </p:sp>
      <p:sp>
        <p:nvSpPr>
          <p:cNvPr id="10" name="TextBox 10">
            <a:extLst>
              <a:ext uri="{FF2B5EF4-FFF2-40B4-BE49-F238E27FC236}">
                <a16:creationId xmlns:a16="http://schemas.microsoft.com/office/drawing/2014/main" id="{A598FE82-0BBB-E04F-4274-DE5B5A0223DA}"/>
              </a:ext>
            </a:extLst>
          </p:cNvPr>
          <p:cNvSpPr txBox="1"/>
          <p:nvPr/>
        </p:nvSpPr>
        <p:spPr>
          <a:xfrm>
            <a:off x="10195446" y="6347803"/>
            <a:ext cx="1773879" cy="193258"/>
          </a:xfrm>
          <a:prstGeom prst="rect">
            <a:avLst/>
          </a:prstGeom>
        </p:spPr>
        <p:txBody>
          <a:bodyPr lIns="0" tIns="0" rIns="0" bIns="0" rtlCol="0" anchor="t">
            <a:spAutoFit/>
          </a:bodyPr>
          <a:lstStyle/>
          <a:p>
            <a:pPr marL="0" marR="0" lvl="0" indent="0" algn="l" defTabSz="914400" rtl="0" eaLnBrk="1" fontAlgn="auto" latinLnBrk="0" hangingPunct="1">
              <a:lnSpc>
                <a:spcPts val="1422"/>
              </a:lnSpc>
              <a:spcBef>
                <a:spcPts val="0"/>
              </a:spcBef>
              <a:spcAft>
                <a:spcPts val="0"/>
              </a:spcAft>
              <a:buClrTx/>
              <a:buSzTx/>
              <a:buFontTx/>
              <a:buNone/>
              <a:tabLst/>
              <a:defRPr/>
            </a:pPr>
            <a:r>
              <a:rPr kumimoji="0" lang="en-US" sz="1016" b="0" i="0" u="none" strike="noStrike" kern="1200" cap="none" spc="0" normalizeH="0" baseline="0" noProof="0">
                <a:ln>
                  <a:noFill/>
                </a:ln>
                <a:solidFill>
                  <a:srgbClr val="FFFFFF"/>
                </a:solidFill>
                <a:effectLst/>
                <a:uLnTx/>
                <a:uFillTx/>
                <a:latin typeface="Arial"/>
                <a:ea typeface="Arial"/>
                <a:cs typeface="Arial"/>
                <a:sym typeface="Arial"/>
              </a:rPr>
              <a:t>Administrative Law –LAW1023</a:t>
            </a:r>
          </a:p>
        </p:txBody>
      </p:sp>
      <p:pic>
        <p:nvPicPr>
          <p:cNvPr id="5122" name="Picture 2" descr="Image result for no i in team">
            <a:extLst>
              <a:ext uri="{FF2B5EF4-FFF2-40B4-BE49-F238E27FC236}">
                <a16:creationId xmlns:a16="http://schemas.microsoft.com/office/drawing/2014/main" id="{27E86F32-A634-7795-8EA6-A7A470E0D9C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052446" y="1607011"/>
            <a:ext cx="2286000" cy="30480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4012005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000054"/>
        </a:solidFill>
        <a:effectLst/>
      </p:bgPr>
    </p:bg>
    <p:spTree>
      <p:nvGrpSpPr>
        <p:cNvPr id="1" name="">
          <a:extLst>
            <a:ext uri="{FF2B5EF4-FFF2-40B4-BE49-F238E27FC236}">
              <a16:creationId xmlns:a16="http://schemas.microsoft.com/office/drawing/2014/main" id="{95A19D9F-3961-2738-B44F-A608AD0D3892}"/>
            </a:ext>
          </a:extLst>
        </p:cNvPr>
        <p:cNvGrpSpPr/>
        <p:nvPr/>
      </p:nvGrpSpPr>
      <p:grpSpPr>
        <a:xfrm>
          <a:off x="0" y="0"/>
          <a:ext cx="0" cy="0"/>
          <a:chOff x="0" y="0"/>
          <a:chExt cx="0" cy="0"/>
        </a:xfrm>
      </p:grpSpPr>
      <p:sp>
        <p:nvSpPr>
          <p:cNvPr id="7" name="Speech Bubble: Rectangle 6">
            <a:extLst>
              <a:ext uri="{FF2B5EF4-FFF2-40B4-BE49-F238E27FC236}">
                <a16:creationId xmlns:a16="http://schemas.microsoft.com/office/drawing/2014/main" id="{F900376F-7887-5B27-CBD4-F279C665F985}"/>
              </a:ext>
            </a:extLst>
          </p:cNvPr>
          <p:cNvSpPr/>
          <p:nvPr/>
        </p:nvSpPr>
        <p:spPr>
          <a:xfrm>
            <a:off x="7543800" y="1447800"/>
            <a:ext cx="4114800" cy="2133600"/>
          </a:xfrm>
          <a:prstGeom prst="wedgeRectCallou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grpSp>
        <p:nvGrpSpPr>
          <p:cNvPr id="2" name="Group 2">
            <a:extLst>
              <a:ext uri="{FF2B5EF4-FFF2-40B4-BE49-F238E27FC236}">
                <a16:creationId xmlns:a16="http://schemas.microsoft.com/office/drawing/2014/main" id="{B0631079-EFED-8026-DBDB-EB616A99CCA0}"/>
              </a:ext>
            </a:extLst>
          </p:cNvPr>
          <p:cNvGrpSpPr/>
          <p:nvPr/>
        </p:nvGrpSpPr>
        <p:grpSpPr>
          <a:xfrm rot="-10800000">
            <a:off x="11045567" y="-12700"/>
            <a:ext cx="1146433" cy="1146433"/>
            <a:chOff x="0" y="0"/>
            <a:chExt cx="1630482" cy="1630482"/>
          </a:xfrm>
        </p:grpSpPr>
        <p:sp>
          <p:nvSpPr>
            <p:cNvPr id="3" name="Freeform 3">
              <a:extLst>
                <a:ext uri="{FF2B5EF4-FFF2-40B4-BE49-F238E27FC236}">
                  <a16:creationId xmlns:a16="http://schemas.microsoft.com/office/drawing/2014/main" id="{3853C6C7-109E-1A65-C4E2-CD517BFF9059}"/>
                </a:ext>
              </a:extLst>
            </p:cNvPr>
            <p:cNvSpPr/>
            <p:nvPr/>
          </p:nvSpPr>
          <p:spPr>
            <a:xfrm>
              <a:off x="0" y="0"/>
              <a:ext cx="1630426" cy="1630426"/>
            </a:xfrm>
            <a:custGeom>
              <a:avLst/>
              <a:gdLst/>
              <a:ahLst/>
              <a:cxnLst/>
              <a:rect l="l" t="t" r="r" b="b"/>
              <a:pathLst>
                <a:path w="1630426" h="1630426">
                  <a:moveTo>
                    <a:pt x="0" y="0"/>
                  </a:moveTo>
                  <a:lnTo>
                    <a:pt x="543433" y="0"/>
                  </a:lnTo>
                  <a:lnTo>
                    <a:pt x="543433" y="543433"/>
                  </a:lnTo>
                  <a:lnTo>
                    <a:pt x="1086993" y="543433"/>
                  </a:lnTo>
                  <a:lnTo>
                    <a:pt x="1086993" y="1086993"/>
                  </a:lnTo>
                  <a:lnTo>
                    <a:pt x="1630426" y="1086993"/>
                  </a:lnTo>
                  <a:lnTo>
                    <a:pt x="1630426" y="1630426"/>
                  </a:lnTo>
                  <a:lnTo>
                    <a:pt x="0" y="1630426"/>
                  </a:lnTo>
                  <a:lnTo>
                    <a:pt x="0" y="1086993"/>
                  </a:lnTo>
                  <a:lnTo>
                    <a:pt x="0" y="543433"/>
                  </a:lnTo>
                  <a:close/>
                </a:path>
              </a:pathLst>
            </a:custGeom>
            <a:solidFill>
              <a:srgbClr val="FFFFFF"/>
            </a:solid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AU" sz="1800" b="0" i="0" u="none" strike="noStrike" kern="1200" cap="none" spc="0" normalizeH="0" baseline="0" noProof="0">
                <a:ln>
                  <a:noFill/>
                </a:ln>
                <a:solidFill>
                  <a:prstClr val="black"/>
                </a:solidFill>
                <a:effectLst/>
                <a:uLnTx/>
                <a:uFillTx/>
                <a:latin typeface="Calibri"/>
                <a:ea typeface="+mn-ea"/>
                <a:cs typeface="+mn-cs"/>
              </a:endParaRPr>
            </a:p>
          </p:txBody>
        </p:sp>
      </p:grpSp>
      <p:sp>
        <p:nvSpPr>
          <p:cNvPr id="5" name="TextBox 5">
            <a:extLst>
              <a:ext uri="{FF2B5EF4-FFF2-40B4-BE49-F238E27FC236}">
                <a16:creationId xmlns:a16="http://schemas.microsoft.com/office/drawing/2014/main" id="{156A0EB1-28A5-6450-B46E-48C7D991C890}"/>
              </a:ext>
            </a:extLst>
          </p:cNvPr>
          <p:cNvSpPr txBox="1"/>
          <p:nvPr/>
        </p:nvSpPr>
        <p:spPr>
          <a:xfrm>
            <a:off x="392084" y="560536"/>
            <a:ext cx="11190316" cy="409471"/>
          </a:xfrm>
          <a:prstGeom prst="rect">
            <a:avLst/>
          </a:prstGeom>
        </p:spPr>
        <p:txBody>
          <a:bodyPr wrap="square" lIns="0" tIns="0" rIns="0" bIns="0" rtlCol="0" anchor="t">
            <a:spAutoFit/>
          </a:bodyPr>
          <a:lstStyle/>
          <a:p>
            <a:pPr marL="0" marR="0" lvl="0" indent="0" algn="l" defTabSz="914400" rtl="0" eaLnBrk="1" fontAlgn="auto" latinLnBrk="0" hangingPunct="1">
              <a:lnSpc>
                <a:spcPts val="3494"/>
              </a:lnSpc>
              <a:spcBef>
                <a:spcPts val="0"/>
              </a:spcBef>
              <a:spcAft>
                <a:spcPts val="0"/>
              </a:spcAft>
              <a:buClrTx/>
              <a:buSzTx/>
              <a:buFontTx/>
              <a:buNone/>
              <a:tabLst/>
              <a:defRPr/>
            </a:pPr>
            <a:r>
              <a:rPr kumimoji="0" lang="en-US" sz="2496" b="1" i="0" u="none" strike="noStrike" kern="1200" cap="none" spc="0" normalizeH="0" baseline="0" noProof="0" dirty="0">
                <a:ln>
                  <a:noFill/>
                </a:ln>
                <a:solidFill>
                  <a:srgbClr val="FFFFFF"/>
                </a:solidFill>
                <a:effectLst/>
                <a:uLnTx/>
                <a:uFillTx/>
                <a:latin typeface="Arial Bold"/>
                <a:ea typeface="Arial Bold"/>
                <a:cs typeface="Arial Bold"/>
                <a:sym typeface="Arial Bold"/>
              </a:rPr>
              <a:t>Statutory judicial review – ADJR Act (Recall)</a:t>
            </a:r>
          </a:p>
        </p:txBody>
      </p:sp>
      <p:sp>
        <p:nvSpPr>
          <p:cNvPr id="9" name="TextBox 9">
            <a:extLst>
              <a:ext uri="{FF2B5EF4-FFF2-40B4-BE49-F238E27FC236}">
                <a16:creationId xmlns:a16="http://schemas.microsoft.com/office/drawing/2014/main" id="{6E9CE5FD-7314-9FDC-3B68-530E41126A88}"/>
              </a:ext>
            </a:extLst>
          </p:cNvPr>
          <p:cNvSpPr txBox="1"/>
          <p:nvPr/>
        </p:nvSpPr>
        <p:spPr>
          <a:xfrm>
            <a:off x="392084" y="1295400"/>
            <a:ext cx="7685116" cy="4293163"/>
          </a:xfrm>
          <a:prstGeom prst="rect">
            <a:avLst/>
          </a:prstGeom>
        </p:spPr>
        <p:txBody>
          <a:bodyPr wrap="square" lIns="0" tIns="0" rIns="0" bIns="0" rtlCol="0" anchor="t">
            <a:spAutoFit/>
          </a:bodyPr>
          <a:lstStyle/>
          <a:p>
            <a:pPr marL="0" marR="0" lvl="0" indent="0" algn="l" defTabSz="914400" rtl="0" eaLnBrk="1" fontAlgn="auto" latinLnBrk="0" hangingPunct="1">
              <a:lnSpc>
                <a:spcPct val="100000"/>
              </a:lnSpc>
              <a:spcBef>
                <a:spcPts val="0"/>
              </a:spcBef>
              <a:spcAft>
                <a:spcPts val="1200"/>
              </a:spcAft>
              <a:buClrTx/>
              <a:buSzTx/>
              <a:buFontTx/>
              <a:buNone/>
              <a:tabLst/>
              <a:defRPr/>
            </a:pPr>
            <a:r>
              <a:rPr kumimoji="0" lang="en-US" sz="1627" b="0" i="0" u="none" strike="noStrike" kern="1200" cap="none" spc="0" normalizeH="0" baseline="0" noProof="0" dirty="0">
                <a:ln>
                  <a:noFill/>
                </a:ln>
                <a:solidFill>
                  <a:srgbClr val="FFFFFF"/>
                </a:solidFill>
                <a:effectLst/>
                <a:uLnTx/>
                <a:uFillTx/>
                <a:latin typeface="Arial" panose="020B0604020202020204" pitchFamily="34" charset="0"/>
                <a:ea typeface="Arial Bold"/>
                <a:cs typeface="Arial" panose="020B0604020202020204" pitchFamily="34" charset="0"/>
                <a:sym typeface="Arial Bold"/>
              </a:rPr>
              <a:t>Section 5(2) – Improper exercise of power</a:t>
            </a:r>
          </a:p>
          <a:p>
            <a:pPr marL="342900" marR="0" lvl="0" indent="-342900" algn="l" defTabSz="914400" rtl="0" eaLnBrk="1" fontAlgn="auto" latinLnBrk="0" hangingPunct="1">
              <a:lnSpc>
                <a:spcPct val="100000"/>
              </a:lnSpc>
              <a:spcBef>
                <a:spcPts val="0"/>
              </a:spcBef>
              <a:spcAft>
                <a:spcPts val="1200"/>
              </a:spcAft>
              <a:buClrTx/>
              <a:buSzTx/>
              <a:buFont typeface="+mj-lt"/>
              <a:buAutoNum type="alphaLcParenR"/>
              <a:tabLst/>
              <a:defRPr/>
            </a:pPr>
            <a:r>
              <a:rPr kumimoji="0" lang="en-US" sz="1627" b="0" i="0" u="none" strike="noStrike" kern="1200" cap="none" spc="0" normalizeH="0" baseline="0" noProof="0" dirty="0">
                <a:ln>
                  <a:noFill/>
                </a:ln>
                <a:solidFill>
                  <a:srgbClr val="FFFFFF"/>
                </a:solidFill>
                <a:effectLst/>
                <a:uLnTx/>
                <a:uFillTx/>
                <a:latin typeface="Arial" panose="020B0604020202020204" pitchFamily="34" charset="0"/>
                <a:ea typeface="Arial Bold"/>
                <a:cs typeface="Arial" panose="020B0604020202020204" pitchFamily="34" charset="0"/>
                <a:sym typeface="Arial Bold"/>
              </a:rPr>
              <a:t>Irrelevant consideration(s)</a:t>
            </a:r>
          </a:p>
          <a:p>
            <a:pPr marL="342900" marR="0" lvl="0" indent="-342900" algn="l" defTabSz="914400" rtl="0" eaLnBrk="1" fontAlgn="auto" latinLnBrk="0" hangingPunct="1">
              <a:lnSpc>
                <a:spcPct val="100000"/>
              </a:lnSpc>
              <a:spcBef>
                <a:spcPts val="0"/>
              </a:spcBef>
              <a:spcAft>
                <a:spcPts val="1200"/>
              </a:spcAft>
              <a:buClrTx/>
              <a:buSzTx/>
              <a:buFont typeface="+mj-lt"/>
              <a:buAutoNum type="alphaLcParenR"/>
              <a:tabLst/>
              <a:defRPr/>
            </a:pPr>
            <a:r>
              <a:rPr kumimoji="0" lang="en-US" sz="1627" b="0" i="0" u="none" strike="noStrike" kern="1200" cap="none" spc="0" normalizeH="0" baseline="0" noProof="0" dirty="0">
                <a:ln>
                  <a:noFill/>
                </a:ln>
                <a:solidFill>
                  <a:srgbClr val="FFFFFF"/>
                </a:solidFill>
                <a:effectLst/>
                <a:uLnTx/>
                <a:uFillTx/>
                <a:latin typeface="Arial" panose="020B0604020202020204" pitchFamily="34" charset="0"/>
                <a:ea typeface="Arial Bold"/>
                <a:cs typeface="Arial" panose="020B0604020202020204" pitchFamily="34" charset="0"/>
                <a:sym typeface="Arial Bold"/>
              </a:rPr>
              <a:t>Failure to take into account relevant consideration(s)</a:t>
            </a:r>
          </a:p>
          <a:p>
            <a:pPr marL="342900" marR="0" lvl="0" indent="-342900" algn="l" defTabSz="914400" rtl="0" eaLnBrk="1" fontAlgn="auto" latinLnBrk="0" hangingPunct="1">
              <a:lnSpc>
                <a:spcPct val="100000"/>
              </a:lnSpc>
              <a:spcBef>
                <a:spcPts val="0"/>
              </a:spcBef>
              <a:spcAft>
                <a:spcPts val="1200"/>
              </a:spcAft>
              <a:buClrTx/>
              <a:buSzTx/>
              <a:buFont typeface="+mj-lt"/>
              <a:buAutoNum type="alphaLcParenR"/>
              <a:tabLst/>
              <a:defRPr/>
            </a:pPr>
            <a:r>
              <a:rPr kumimoji="0" lang="en-US" sz="1627" b="0" i="0" u="none" strike="noStrike" kern="1200" cap="none" spc="0" normalizeH="0" baseline="0" noProof="0" dirty="0">
                <a:ln>
                  <a:noFill/>
                </a:ln>
                <a:solidFill>
                  <a:srgbClr val="FFFFFF"/>
                </a:solidFill>
                <a:effectLst/>
                <a:uLnTx/>
                <a:uFillTx/>
                <a:latin typeface="Arial" panose="020B0604020202020204" pitchFamily="34" charset="0"/>
                <a:ea typeface="Arial Bold"/>
                <a:cs typeface="Arial" panose="020B0604020202020204" pitchFamily="34" charset="0"/>
                <a:sym typeface="Arial Bold"/>
              </a:rPr>
              <a:t>Purpose other than statutory one</a:t>
            </a:r>
          </a:p>
          <a:p>
            <a:pPr marL="342900" marR="0" lvl="0" indent="-342900" algn="l" defTabSz="914400" rtl="0" eaLnBrk="1" fontAlgn="auto" latinLnBrk="0" hangingPunct="1">
              <a:lnSpc>
                <a:spcPct val="100000"/>
              </a:lnSpc>
              <a:spcBef>
                <a:spcPts val="0"/>
              </a:spcBef>
              <a:spcAft>
                <a:spcPts val="1200"/>
              </a:spcAft>
              <a:buClrTx/>
              <a:buSzTx/>
              <a:buFont typeface="+mj-lt"/>
              <a:buAutoNum type="alphaLcParenR"/>
              <a:tabLst/>
              <a:defRPr/>
            </a:pPr>
            <a:r>
              <a:rPr kumimoji="0" lang="en-US" sz="1627" b="0" i="0" u="none" strike="noStrike" kern="1200" cap="none" spc="0" normalizeH="0" baseline="0" noProof="0" dirty="0">
                <a:ln>
                  <a:noFill/>
                </a:ln>
                <a:solidFill>
                  <a:srgbClr val="FFFFFF"/>
                </a:solidFill>
                <a:effectLst/>
                <a:uLnTx/>
                <a:uFillTx/>
                <a:latin typeface="Arial" panose="020B0604020202020204" pitchFamily="34" charset="0"/>
                <a:ea typeface="Arial Bold"/>
                <a:cs typeface="Arial" panose="020B0604020202020204" pitchFamily="34" charset="0"/>
                <a:sym typeface="Arial Bold"/>
              </a:rPr>
              <a:t>Bad faith</a:t>
            </a:r>
          </a:p>
          <a:p>
            <a:pPr marL="342900" marR="0" lvl="0" indent="-342900" algn="l" defTabSz="914400" rtl="0" eaLnBrk="1" fontAlgn="auto" latinLnBrk="0" hangingPunct="1">
              <a:lnSpc>
                <a:spcPct val="100000"/>
              </a:lnSpc>
              <a:spcBef>
                <a:spcPts val="0"/>
              </a:spcBef>
              <a:spcAft>
                <a:spcPts val="1200"/>
              </a:spcAft>
              <a:buClrTx/>
              <a:buSzTx/>
              <a:buFont typeface="+mj-lt"/>
              <a:buAutoNum type="alphaLcParenR"/>
              <a:tabLst/>
              <a:defRPr/>
            </a:pPr>
            <a:r>
              <a:rPr kumimoji="0" lang="en-US" sz="1627" b="0" i="0" u="none" strike="noStrike" kern="1200" cap="none" spc="0" normalizeH="0" baseline="0" noProof="0" dirty="0">
                <a:ln>
                  <a:noFill/>
                </a:ln>
                <a:solidFill>
                  <a:srgbClr val="FFFFFF"/>
                </a:solidFill>
                <a:effectLst/>
                <a:uLnTx/>
                <a:uFillTx/>
                <a:latin typeface="Arial" panose="020B0604020202020204" pitchFamily="34" charset="0"/>
                <a:ea typeface="Arial Bold"/>
                <a:cs typeface="Arial" panose="020B0604020202020204" pitchFamily="34" charset="0"/>
                <a:sym typeface="Arial Bold"/>
              </a:rPr>
              <a:t>Exercise of personal discretionary power under direction of another</a:t>
            </a:r>
          </a:p>
          <a:p>
            <a:pPr marL="342900" marR="0" lvl="0" indent="-342900" algn="l" defTabSz="914400" rtl="0" eaLnBrk="1" fontAlgn="auto" latinLnBrk="0" hangingPunct="1">
              <a:lnSpc>
                <a:spcPct val="100000"/>
              </a:lnSpc>
              <a:spcBef>
                <a:spcPts val="0"/>
              </a:spcBef>
              <a:spcAft>
                <a:spcPts val="1200"/>
              </a:spcAft>
              <a:buClrTx/>
              <a:buSzTx/>
              <a:buFont typeface="+mj-lt"/>
              <a:buAutoNum type="alphaLcParenR"/>
              <a:tabLst/>
              <a:defRPr/>
            </a:pPr>
            <a:r>
              <a:rPr kumimoji="0" lang="en-US" sz="1627" b="0" i="0" u="none" strike="noStrike" kern="1200" cap="none" spc="0" normalizeH="0" baseline="0" noProof="0" dirty="0">
                <a:ln>
                  <a:noFill/>
                </a:ln>
                <a:solidFill>
                  <a:srgbClr val="FFFFFF"/>
                </a:solidFill>
                <a:effectLst/>
                <a:uLnTx/>
                <a:uFillTx/>
                <a:latin typeface="Arial" panose="020B0604020202020204" pitchFamily="34" charset="0"/>
                <a:ea typeface="Arial Bold"/>
                <a:cs typeface="Arial" panose="020B0604020202020204" pitchFamily="34" charset="0"/>
                <a:sym typeface="Arial Bold"/>
              </a:rPr>
              <a:t>Failing to take into account merits of particular case</a:t>
            </a:r>
          </a:p>
          <a:p>
            <a:pPr marL="342900" marR="0" lvl="0" indent="-342900" algn="l" defTabSz="914400" rtl="0" eaLnBrk="1" fontAlgn="auto" latinLnBrk="0" hangingPunct="1">
              <a:lnSpc>
                <a:spcPct val="100000"/>
              </a:lnSpc>
              <a:spcBef>
                <a:spcPts val="0"/>
              </a:spcBef>
              <a:spcAft>
                <a:spcPts val="1200"/>
              </a:spcAft>
              <a:buClrTx/>
              <a:buSzTx/>
              <a:buFont typeface="+mj-lt"/>
              <a:buAutoNum type="alphaLcParenR"/>
              <a:tabLst/>
              <a:defRPr/>
            </a:pPr>
            <a:r>
              <a:rPr kumimoji="0" lang="en-US" sz="1627" b="0" i="0" u="none" strike="noStrike" kern="1200" cap="none" spc="0" normalizeH="0" baseline="0" noProof="0" dirty="0" err="1">
                <a:ln>
                  <a:noFill/>
                </a:ln>
                <a:solidFill>
                  <a:srgbClr val="FFFFFF"/>
                </a:solidFill>
                <a:effectLst/>
                <a:uLnTx/>
                <a:uFillTx/>
                <a:latin typeface="Arial" panose="020B0604020202020204" pitchFamily="34" charset="0"/>
                <a:ea typeface="Arial Bold"/>
                <a:cs typeface="Arial" panose="020B0604020202020204" pitchFamily="34" charset="0"/>
                <a:sym typeface="Arial Bold"/>
              </a:rPr>
              <a:t>Wednesbury</a:t>
            </a:r>
            <a:r>
              <a:rPr kumimoji="0" lang="en-US" sz="1627" b="0" i="0" u="none" strike="noStrike" kern="1200" cap="none" spc="0" normalizeH="0" baseline="0" noProof="0" dirty="0">
                <a:ln>
                  <a:noFill/>
                </a:ln>
                <a:solidFill>
                  <a:srgbClr val="FFFFFF"/>
                </a:solidFill>
                <a:effectLst/>
                <a:uLnTx/>
                <a:uFillTx/>
                <a:latin typeface="Arial" panose="020B0604020202020204" pitchFamily="34" charset="0"/>
                <a:ea typeface="Arial Bold"/>
                <a:cs typeface="Arial" panose="020B0604020202020204" pitchFamily="34" charset="0"/>
                <a:sym typeface="Arial Bold"/>
              </a:rPr>
              <a:t> unreasonableness</a:t>
            </a:r>
          </a:p>
          <a:p>
            <a:pPr marL="342900" marR="0" lvl="0" indent="-342900" algn="l" defTabSz="914400" rtl="0" eaLnBrk="1" fontAlgn="auto" latinLnBrk="0" hangingPunct="1">
              <a:lnSpc>
                <a:spcPct val="100000"/>
              </a:lnSpc>
              <a:spcBef>
                <a:spcPts val="0"/>
              </a:spcBef>
              <a:spcAft>
                <a:spcPts val="1200"/>
              </a:spcAft>
              <a:buClrTx/>
              <a:buSzTx/>
              <a:buFont typeface="+mj-lt"/>
              <a:buAutoNum type="alphaLcParenR"/>
              <a:tabLst/>
              <a:defRPr/>
            </a:pPr>
            <a:r>
              <a:rPr kumimoji="0" lang="en-US" sz="1627" b="0" i="0" u="none" strike="noStrike" kern="1200" cap="none" spc="0" normalizeH="0" baseline="0" noProof="0" dirty="0">
                <a:ln>
                  <a:noFill/>
                </a:ln>
                <a:solidFill>
                  <a:srgbClr val="FFFFFF"/>
                </a:solidFill>
                <a:effectLst/>
                <a:uLnTx/>
                <a:uFillTx/>
                <a:latin typeface="Arial" panose="020B0604020202020204" pitchFamily="34" charset="0"/>
                <a:ea typeface="Arial Bold"/>
                <a:cs typeface="Arial" panose="020B0604020202020204" pitchFamily="34" charset="0"/>
                <a:sym typeface="Arial Bold"/>
              </a:rPr>
              <a:t>Uncertain result</a:t>
            </a:r>
          </a:p>
          <a:p>
            <a:pPr marL="0" marR="0" lvl="0" indent="0" algn="l" defTabSz="914400" rtl="0" eaLnBrk="1" fontAlgn="auto" latinLnBrk="0" hangingPunct="1">
              <a:lnSpc>
                <a:spcPct val="100000"/>
              </a:lnSpc>
              <a:spcBef>
                <a:spcPts val="0"/>
              </a:spcBef>
              <a:spcAft>
                <a:spcPts val="1200"/>
              </a:spcAft>
              <a:buClrTx/>
              <a:buSzTx/>
              <a:buFontTx/>
              <a:buNone/>
              <a:tabLst/>
              <a:defRPr/>
            </a:pPr>
            <a:r>
              <a:rPr kumimoji="0" lang="en-US" sz="1627" b="0" i="0" u="none" strike="noStrike" kern="1200" cap="none" spc="0" normalizeH="0" baseline="0" noProof="0" dirty="0">
                <a:ln>
                  <a:noFill/>
                </a:ln>
                <a:solidFill>
                  <a:srgbClr val="FFFFFF"/>
                </a:solidFill>
                <a:effectLst/>
                <a:uLnTx/>
                <a:uFillTx/>
                <a:latin typeface="Arial" panose="020B0604020202020204" pitchFamily="34" charset="0"/>
                <a:ea typeface="Arial Bold"/>
                <a:cs typeface="Arial" panose="020B0604020202020204" pitchFamily="34" charset="0"/>
                <a:sym typeface="Arial Bold"/>
              </a:rPr>
              <a:t>j)    “Any other exercise of a power in a way that constitutes abuse of the power”</a:t>
            </a:r>
          </a:p>
          <a:p>
            <a:pPr marL="742950" marR="0" lvl="1" indent="-285750" algn="l" defTabSz="914400" rtl="0" eaLnBrk="1" fontAlgn="auto" latinLnBrk="0" hangingPunct="1">
              <a:lnSpc>
                <a:spcPct val="100000"/>
              </a:lnSpc>
              <a:spcBef>
                <a:spcPts val="0"/>
              </a:spcBef>
              <a:spcAft>
                <a:spcPts val="1200"/>
              </a:spcAft>
              <a:buClrTx/>
              <a:buSzTx/>
              <a:buFont typeface="Arial" panose="020B0604020202020204" pitchFamily="34" charset="0"/>
              <a:buChar char="•"/>
              <a:tabLst/>
              <a:defRPr/>
            </a:pPr>
            <a:endParaRPr kumimoji="0" lang="en-US" sz="1627" b="0" i="0" u="none" strike="noStrike" kern="1200" cap="none" spc="0" normalizeH="0" baseline="0" noProof="0" dirty="0">
              <a:ln>
                <a:noFill/>
              </a:ln>
              <a:solidFill>
                <a:srgbClr val="FFFFFF"/>
              </a:solidFill>
              <a:effectLst/>
              <a:uLnTx/>
              <a:uFillTx/>
              <a:latin typeface="Arial" panose="020B0604020202020204" pitchFamily="34" charset="0"/>
              <a:ea typeface="Arial Bold"/>
              <a:cs typeface="Arial" panose="020B0604020202020204" pitchFamily="34" charset="0"/>
              <a:sym typeface="Arial Bold"/>
            </a:endParaRPr>
          </a:p>
        </p:txBody>
      </p:sp>
      <p:sp>
        <p:nvSpPr>
          <p:cNvPr id="10" name="TextBox 10">
            <a:extLst>
              <a:ext uri="{FF2B5EF4-FFF2-40B4-BE49-F238E27FC236}">
                <a16:creationId xmlns:a16="http://schemas.microsoft.com/office/drawing/2014/main" id="{CC287E56-BF9F-68CE-521F-5B3A0EF79777}"/>
              </a:ext>
            </a:extLst>
          </p:cNvPr>
          <p:cNvSpPr txBox="1"/>
          <p:nvPr/>
        </p:nvSpPr>
        <p:spPr>
          <a:xfrm>
            <a:off x="10195446" y="6347803"/>
            <a:ext cx="1773879" cy="193258"/>
          </a:xfrm>
          <a:prstGeom prst="rect">
            <a:avLst/>
          </a:prstGeom>
        </p:spPr>
        <p:txBody>
          <a:bodyPr lIns="0" tIns="0" rIns="0" bIns="0" rtlCol="0" anchor="t">
            <a:spAutoFit/>
          </a:bodyPr>
          <a:lstStyle/>
          <a:p>
            <a:pPr marL="0" marR="0" lvl="0" indent="0" algn="l" defTabSz="914400" rtl="0" eaLnBrk="1" fontAlgn="auto" latinLnBrk="0" hangingPunct="1">
              <a:lnSpc>
                <a:spcPts val="1422"/>
              </a:lnSpc>
              <a:spcBef>
                <a:spcPts val="0"/>
              </a:spcBef>
              <a:spcAft>
                <a:spcPts val="0"/>
              </a:spcAft>
              <a:buClrTx/>
              <a:buSzTx/>
              <a:buFontTx/>
              <a:buNone/>
              <a:tabLst/>
              <a:defRPr/>
            </a:pPr>
            <a:r>
              <a:rPr kumimoji="0" lang="en-US" sz="1016" b="0" i="0" u="none" strike="noStrike" kern="1200" cap="none" spc="0" normalizeH="0" baseline="0" noProof="0">
                <a:ln>
                  <a:noFill/>
                </a:ln>
                <a:solidFill>
                  <a:srgbClr val="FFFFFF"/>
                </a:solidFill>
                <a:effectLst/>
                <a:uLnTx/>
                <a:uFillTx/>
                <a:latin typeface="Arial"/>
                <a:ea typeface="Arial"/>
                <a:cs typeface="Arial"/>
                <a:sym typeface="Arial"/>
              </a:rPr>
              <a:t>Administrative Law –LAW1023</a:t>
            </a:r>
          </a:p>
        </p:txBody>
      </p:sp>
      <p:sp>
        <p:nvSpPr>
          <p:cNvPr id="6" name="TextBox 5">
            <a:extLst>
              <a:ext uri="{FF2B5EF4-FFF2-40B4-BE49-F238E27FC236}">
                <a16:creationId xmlns:a16="http://schemas.microsoft.com/office/drawing/2014/main" id="{A1B6888B-FF18-0C4B-82D0-1C4E0BAC9A0A}"/>
              </a:ext>
            </a:extLst>
          </p:cNvPr>
          <p:cNvSpPr txBox="1"/>
          <p:nvPr/>
        </p:nvSpPr>
        <p:spPr>
          <a:xfrm>
            <a:off x="7658862" y="1650237"/>
            <a:ext cx="3884676" cy="1754326"/>
          </a:xfrm>
          <a:prstGeom prst="rect">
            <a:avLst/>
          </a:prstGeom>
          <a:noFill/>
        </p:spPr>
        <p:txBody>
          <a:bodyPr wrap="square">
            <a:spAutoFit/>
          </a:bodyPr>
          <a:lstStyle/>
          <a:p>
            <a:r>
              <a:rPr lang="en-US" sz="1200" b="0" i="0" dirty="0">
                <a:effectLst/>
                <a:latin typeface="Merriweather" panose="020F0502020204030204" pitchFamily="2" charset="0"/>
              </a:rPr>
              <a:t>“For instance, on the planet Earth, man had always assumed that he was more intelligent than dolphins because he had achieved so much—the wheel, New York, wars and so on—whilst all the dolphins had ever done was muck about in the water having a good time. But conversely, the dolphins had always believed that they were far more intelligent than man—for precisely the same reasons.”</a:t>
            </a:r>
            <a:endParaRPr lang="en-AU" sz="1200" dirty="0"/>
          </a:p>
        </p:txBody>
      </p:sp>
      <p:pic>
        <p:nvPicPr>
          <p:cNvPr id="2050" name="Picture 2" descr="The Hitchhiker's Guide to the Galaxy | Rotten Tomatoes">
            <a:extLst>
              <a:ext uri="{FF2B5EF4-FFF2-40B4-BE49-F238E27FC236}">
                <a16:creationId xmlns:a16="http://schemas.microsoft.com/office/drawing/2014/main" id="{81691ADF-2C93-B1FC-B0E8-68F730D66A4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610600" y="3895467"/>
            <a:ext cx="1496244" cy="224436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81054264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000054"/>
        </a:solidFill>
        <a:effectLst/>
      </p:bgPr>
    </p:bg>
    <p:spTree>
      <p:nvGrpSpPr>
        <p:cNvPr id="1" name="">
          <a:extLst>
            <a:ext uri="{FF2B5EF4-FFF2-40B4-BE49-F238E27FC236}">
              <a16:creationId xmlns:a16="http://schemas.microsoft.com/office/drawing/2014/main" id="{CB835892-6C64-25E5-32C0-EFF3C378D4B9}"/>
            </a:ext>
          </a:extLst>
        </p:cNvPr>
        <p:cNvGrpSpPr/>
        <p:nvPr/>
      </p:nvGrpSpPr>
      <p:grpSpPr>
        <a:xfrm>
          <a:off x="0" y="0"/>
          <a:ext cx="0" cy="0"/>
          <a:chOff x="0" y="0"/>
          <a:chExt cx="0" cy="0"/>
        </a:xfrm>
      </p:grpSpPr>
      <p:grpSp>
        <p:nvGrpSpPr>
          <p:cNvPr id="2" name="Group 2">
            <a:extLst>
              <a:ext uri="{FF2B5EF4-FFF2-40B4-BE49-F238E27FC236}">
                <a16:creationId xmlns:a16="http://schemas.microsoft.com/office/drawing/2014/main" id="{C72D3B3D-5C68-BFD8-D304-8763407E01EF}"/>
              </a:ext>
            </a:extLst>
          </p:cNvPr>
          <p:cNvGrpSpPr/>
          <p:nvPr/>
        </p:nvGrpSpPr>
        <p:grpSpPr>
          <a:xfrm rot="-10800000">
            <a:off x="11045567" y="-12700"/>
            <a:ext cx="1146433" cy="1146433"/>
            <a:chOff x="0" y="0"/>
            <a:chExt cx="1630482" cy="1630482"/>
          </a:xfrm>
        </p:grpSpPr>
        <p:sp>
          <p:nvSpPr>
            <p:cNvPr id="3" name="Freeform 3">
              <a:extLst>
                <a:ext uri="{FF2B5EF4-FFF2-40B4-BE49-F238E27FC236}">
                  <a16:creationId xmlns:a16="http://schemas.microsoft.com/office/drawing/2014/main" id="{5972ADEC-C69F-F124-A075-DBB821091486}"/>
                </a:ext>
              </a:extLst>
            </p:cNvPr>
            <p:cNvSpPr/>
            <p:nvPr/>
          </p:nvSpPr>
          <p:spPr>
            <a:xfrm>
              <a:off x="0" y="0"/>
              <a:ext cx="1630426" cy="1630426"/>
            </a:xfrm>
            <a:custGeom>
              <a:avLst/>
              <a:gdLst/>
              <a:ahLst/>
              <a:cxnLst/>
              <a:rect l="l" t="t" r="r" b="b"/>
              <a:pathLst>
                <a:path w="1630426" h="1630426">
                  <a:moveTo>
                    <a:pt x="0" y="0"/>
                  </a:moveTo>
                  <a:lnTo>
                    <a:pt x="543433" y="0"/>
                  </a:lnTo>
                  <a:lnTo>
                    <a:pt x="543433" y="543433"/>
                  </a:lnTo>
                  <a:lnTo>
                    <a:pt x="1086993" y="543433"/>
                  </a:lnTo>
                  <a:lnTo>
                    <a:pt x="1086993" y="1086993"/>
                  </a:lnTo>
                  <a:lnTo>
                    <a:pt x="1630426" y="1086993"/>
                  </a:lnTo>
                  <a:lnTo>
                    <a:pt x="1630426" y="1630426"/>
                  </a:lnTo>
                  <a:lnTo>
                    <a:pt x="0" y="1630426"/>
                  </a:lnTo>
                  <a:lnTo>
                    <a:pt x="0" y="1086993"/>
                  </a:lnTo>
                  <a:lnTo>
                    <a:pt x="0" y="543433"/>
                  </a:lnTo>
                  <a:close/>
                </a:path>
              </a:pathLst>
            </a:custGeom>
            <a:solidFill>
              <a:srgbClr val="FFFFFF"/>
            </a:solid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AU" sz="1800" b="0" i="0" u="none" strike="noStrike" kern="1200" cap="none" spc="0" normalizeH="0" baseline="0" noProof="0">
                <a:ln>
                  <a:noFill/>
                </a:ln>
                <a:solidFill>
                  <a:prstClr val="black"/>
                </a:solidFill>
                <a:effectLst/>
                <a:uLnTx/>
                <a:uFillTx/>
                <a:latin typeface="Calibri"/>
                <a:ea typeface="+mn-ea"/>
                <a:cs typeface="+mn-cs"/>
              </a:endParaRPr>
            </a:p>
          </p:txBody>
        </p:sp>
      </p:grpSp>
      <p:sp>
        <p:nvSpPr>
          <p:cNvPr id="5" name="TextBox 5">
            <a:extLst>
              <a:ext uri="{FF2B5EF4-FFF2-40B4-BE49-F238E27FC236}">
                <a16:creationId xmlns:a16="http://schemas.microsoft.com/office/drawing/2014/main" id="{24781035-8757-F689-674F-24FFA19C210C}"/>
              </a:ext>
            </a:extLst>
          </p:cNvPr>
          <p:cNvSpPr txBox="1"/>
          <p:nvPr/>
        </p:nvSpPr>
        <p:spPr>
          <a:xfrm>
            <a:off x="392084" y="560536"/>
            <a:ext cx="11190316" cy="409471"/>
          </a:xfrm>
          <a:prstGeom prst="rect">
            <a:avLst/>
          </a:prstGeom>
        </p:spPr>
        <p:txBody>
          <a:bodyPr wrap="square" lIns="0" tIns="0" rIns="0" bIns="0" rtlCol="0" anchor="t">
            <a:spAutoFit/>
          </a:bodyPr>
          <a:lstStyle/>
          <a:p>
            <a:pPr marL="0" marR="0" lvl="0" indent="0" algn="l" defTabSz="914400" rtl="0" eaLnBrk="1" fontAlgn="auto" latinLnBrk="0" hangingPunct="1">
              <a:lnSpc>
                <a:spcPts val="3494"/>
              </a:lnSpc>
              <a:spcBef>
                <a:spcPts val="0"/>
              </a:spcBef>
              <a:spcAft>
                <a:spcPts val="0"/>
              </a:spcAft>
              <a:buClrTx/>
              <a:buSzTx/>
              <a:buFontTx/>
              <a:buNone/>
              <a:tabLst/>
              <a:defRPr/>
            </a:pPr>
            <a:r>
              <a:rPr kumimoji="0" lang="en-US" sz="2496" b="1" i="0" u="none" strike="noStrike" kern="1200" cap="none" spc="0" normalizeH="0" baseline="0" noProof="0" dirty="0">
                <a:ln>
                  <a:noFill/>
                </a:ln>
                <a:solidFill>
                  <a:srgbClr val="FFFFFF"/>
                </a:solidFill>
                <a:effectLst/>
                <a:uLnTx/>
                <a:uFillTx/>
                <a:latin typeface="Arial Bold"/>
                <a:ea typeface="Arial Bold"/>
                <a:cs typeface="Arial Bold"/>
                <a:sym typeface="Arial Bold"/>
              </a:rPr>
              <a:t>Statutory judicial review – ADJR Act</a:t>
            </a:r>
          </a:p>
        </p:txBody>
      </p:sp>
      <p:sp>
        <p:nvSpPr>
          <p:cNvPr id="9" name="TextBox 9">
            <a:extLst>
              <a:ext uri="{FF2B5EF4-FFF2-40B4-BE49-F238E27FC236}">
                <a16:creationId xmlns:a16="http://schemas.microsoft.com/office/drawing/2014/main" id="{7F8C893D-9128-00A5-A63E-1B4E23823209}"/>
              </a:ext>
            </a:extLst>
          </p:cNvPr>
          <p:cNvSpPr txBox="1"/>
          <p:nvPr/>
        </p:nvSpPr>
        <p:spPr>
          <a:xfrm>
            <a:off x="392084" y="1295400"/>
            <a:ext cx="5627716" cy="1309333"/>
          </a:xfrm>
          <a:prstGeom prst="rect">
            <a:avLst/>
          </a:prstGeom>
        </p:spPr>
        <p:txBody>
          <a:bodyPr wrap="square" lIns="0" tIns="0" rIns="0" bIns="0" rtlCol="0" anchor="t">
            <a:spAutoFit/>
          </a:bodyPr>
          <a:lstStyle/>
          <a:p>
            <a:pPr marL="0" marR="0" lvl="0" indent="0" algn="l" defTabSz="914400" rtl="0" eaLnBrk="1" fontAlgn="auto" latinLnBrk="0" hangingPunct="1">
              <a:lnSpc>
                <a:spcPct val="100000"/>
              </a:lnSpc>
              <a:spcBef>
                <a:spcPts val="0"/>
              </a:spcBef>
              <a:spcAft>
                <a:spcPts val="1200"/>
              </a:spcAft>
              <a:buClrTx/>
              <a:buSzTx/>
              <a:buFontTx/>
              <a:buNone/>
              <a:tabLst/>
              <a:defRPr/>
            </a:pPr>
            <a:r>
              <a:rPr kumimoji="0" lang="en-US" sz="1627" b="0" i="0" u="none" strike="noStrike" kern="1200" cap="none" spc="0" normalizeH="0" baseline="0" noProof="0" dirty="0">
                <a:ln>
                  <a:noFill/>
                </a:ln>
                <a:solidFill>
                  <a:srgbClr val="FFFFFF"/>
                </a:solidFill>
                <a:effectLst/>
                <a:uLnTx/>
                <a:uFillTx/>
                <a:latin typeface="Arial" panose="020B0604020202020204" pitchFamily="34" charset="0"/>
                <a:ea typeface="Arial Bold"/>
                <a:cs typeface="Arial" panose="020B0604020202020204" pitchFamily="34" charset="0"/>
                <a:sym typeface="Arial Bold"/>
              </a:rPr>
              <a:t>Section 5(3) – No Evidence</a:t>
            </a:r>
          </a:p>
          <a:p>
            <a:pPr marL="342900" marR="0" lvl="0" indent="-342900" algn="l" defTabSz="914400" rtl="0" eaLnBrk="1" fontAlgn="auto" latinLnBrk="0" hangingPunct="1">
              <a:lnSpc>
                <a:spcPct val="100000"/>
              </a:lnSpc>
              <a:spcBef>
                <a:spcPts val="0"/>
              </a:spcBef>
              <a:spcAft>
                <a:spcPts val="1200"/>
              </a:spcAft>
              <a:buClrTx/>
              <a:buSzTx/>
              <a:buFont typeface="+mj-lt"/>
              <a:buAutoNum type="alphaLcParenR"/>
              <a:tabLst/>
              <a:defRPr/>
            </a:pPr>
            <a:r>
              <a:rPr kumimoji="0" lang="en-US" sz="1627" b="0" i="0" u="none" strike="noStrike" kern="1200" cap="none" spc="0" normalizeH="0" baseline="0" noProof="0" dirty="0">
                <a:ln>
                  <a:noFill/>
                </a:ln>
                <a:solidFill>
                  <a:srgbClr val="FFFFFF"/>
                </a:solidFill>
                <a:effectLst/>
                <a:uLnTx/>
                <a:uFillTx/>
                <a:latin typeface="Arial" panose="020B0604020202020204" pitchFamily="34" charset="0"/>
                <a:ea typeface="Arial Bold"/>
                <a:cs typeface="Arial" panose="020B0604020202020204" pitchFamily="34" charset="0"/>
                <a:sym typeface="Arial Bold"/>
              </a:rPr>
              <a:t>No evidence from which administrator can be reasonably satisfied that ‘particular matter was established’</a:t>
            </a:r>
          </a:p>
          <a:p>
            <a:pPr marL="342900" marR="0" lvl="0" indent="-342900" algn="l" defTabSz="914400" rtl="0" eaLnBrk="1" fontAlgn="auto" latinLnBrk="0" hangingPunct="1">
              <a:lnSpc>
                <a:spcPct val="100000"/>
              </a:lnSpc>
              <a:spcBef>
                <a:spcPts val="0"/>
              </a:spcBef>
              <a:spcAft>
                <a:spcPts val="1200"/>
              </a:spcAft>
              <a:buClrTx/>
              <a:buSzTx/>
              <a:buFont typeface="+mj-lt"/>
              <a:buAutoNum type="alphaLcParenR"/>
              <a:tabLst/>
              <a:defRPr/>
            </a:pPr>
            <a:r>
              <a:rPr kumimoji="0" lang="en-US" sz="1627" b="0" i="0" u="none" strike="noStrike" kern="1200" cap="none" spc="0" normalizeH="0" baseline="0" noProof="0" dirty="0">
                <a:ln>
                  <a:noFill/>
                </a:ln>
                <a:solidFill>
                  <a:srgbClr val="FFFFFF"/>
                </a:solidFill>
                <a:effectLst/>
                <a:uLnTx/>
                <a:uFillTx/>
                <a:latin typeface="Arial" panose="020B0604020202020204" pitchFamily="34" charset="0"/>
                <a:ea typeface="Arial Bold"/>
                <a:cs typeface="Arial" panose="020B0604020202020204" pitchFamily="34" charset="0"/>
                <a:sym typeface="Arial Bold"/>
              </a:rPr>
              <a:t>Decision based on evidence of fact that did not exist</a:t>
            </a:r>
          </a:p>
        </p:txBody>
      </p:sp>
      <p:sp>
        <p:nvSpPr>
          <p:cNvPr id="10" name="TextBox 10">
            <a:extLst>
              <a:ext uri="{FF2B5EF4-FFF2-40B4-BE49-F238E27FC236}">
                <a16:creationId xmlns:a16="http://schemas.microsoft.com/office/drawing/2014/main" id="{4E4FBB60-8276-EA15-9A84-ABD262B3B45D}"/>
              </a:ext>
            </a:extLst>
          </p:cNvPr>
          <p:cNvSpPr txBox="1"/>
          <p:nvPr/>
        </p:nvSpPr>
        <p:spPr>
          <a:xfrm>
            <a:off x="10195446" y="6347803"/>
            <a:ext cx="1773879" cy="193258"/>
          </a:xfrm>
          <a:prstGeom prst="rect">
            <a:avLst/>
          </a:prstGeom>
        </p:spPr>
        <p:txBody>
          <a:bodyPr lIns="0" tIns="0" rIns="0" bIns="0" rtlCol="0" anchor="t">
            <a:spAutoFit/>
          </a:bodyPr>
          <a:lstStyle/>
          <a:p>
            <a:pPr marL="0" marR="0" lvl="0" indent="0" algn="l" defTabSz="914400" rtl="0" eaLnBrk="1" fontAlgn="auto" latinLnBrk="0" hangingPunct="1">
              <a:lnSpc>
                <a:spcPts val="1422"/>
              </a:lnSpc>
              <a:spcBef>
                <a:spcPts val="0"/>
              </a:spcBef>
              <a:spcAft>
                <a:spcPts val="0"/>
              </a:spcAft>
              <a:buClrTx/>
              <a:buSzTx/>
              <a:buFontTx/>
              <a:buNone/>
              <a:tabLst/>
              <a:defRPr/>
            </a:pPr>
            <a:r>
              <a:rPr kumimoji="0" lang="en-US" sz="1016" b="0" i="0" u="none" strike="noStrike" kern="1200" cap="none" spc="0" normalizeH="0" baseline="0" noProof="0">
                <a:ln>
                  <a:noFill/>
                </a:ln>
                <a:solidFill>
                  <a:srgbClr val="FFFFFF"/>
                </a:solidFill>
                <a:effectLst/>
                <a:uLnTx/>
                <a:uFillTx/>
                <a:latin typeface="Arial"/>
                <a:ea typeface="Arial"/>
                <a:cs typeface="Arial"/>
                <a:sym typeface="Arial"/>
              </a:rPr>
              <a:t>Administrative Law –LAW1023</a:t>
            </a:r>
          </a:p>
        </p:txBody>
      </p:sp>
      <p:pic>
        <p:nvPicPr>
          <p:cNvPr id="4" name="Picture 2" descr="Image result for unicorn">
            <a:extLst>
              <a:ext uri="{FF2B5EF4-FFF2-40B4-BE49-F238E27FC236}">
                <a16:creationId xmlns:a16="http://schemas.microsoft.com/office/drawing/2014/main" id="{3B25A95E-F1AE-023D-A653-A8967052F6C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010400" y="1943970"/>
            <a:ext cx="4408516" cy="334312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14619638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000054"/>
        </a:solidFill>
        <a:effectLst/>
      </p:bgPr>
    </p:bg>
    <p:spTree>
      <p:nvGrpSpPr>
        <p:cNvPr id="1" name="">
          <a:extLst>
            <a:ext uri="{FF2B5EF4-FFF2-40B4-BE49-F238E27FC236}">
              <a16:creationId xmlns:a16="http://schemas.microsoft.com/office/drawing/2014/main" id="{2F6B660D-3C94-7108-D8D7-8076EC72A5D8}"/>
            </a:ext>
          </a:extLst>
        </p:cNvPr>
        <p:cNvGrpSpPr/>
        <p:nvPr/>
      </p:nvGrpSpPr>
      <p:grpSpPr>
        <a:xfrm>
          <a:off x="0" y="0"/>
          <a:ext cx="0" cy="0"/>
          <a:chOff x="0" y="0"/>
          <a:chExt cx="0" cy="0"/>
        </a:xfrm>
      </p:grpSpPr>
      <p:pic>
        <p:nvPicPr>
          <p:cNvPr id="3074" name="Picture 2" descr="Stare Decisis for Me, but Not for Thee ...">
            <a:extLst>
              <a:ext uri="{FF2B5EF4-FFF2-40B4-BE49-F238E27FC236}">
                <a16:creationId xmlns:a16="http://schemas.microsoft.com/office/drawing/2014/main" id="{168DAE8C-879D-996D-3BF9-69BFE5B43D6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1336" y="0"/>
            <a:ext cx="13051536" cy="6862582"/>
          </a:xfrm>
          <a:prstGeom prst="rect">
            <a:avLst/>
          </a:prstGeom>
          <a:noFill/>
          <a:extLst>
            <a:ext uri="{909E8E84-426E-40DD-AFC4-6F175D3DCCD1}">
              <a14:hiddenFill xmlns:a14="http://schemas.microsoft.com/office/drawing/2010/main">
                <a:solidFill>
                  <a:srgbClr val="FFFFFF"/>
                </a:solidFill>
              </a14:hiddenFill>
            </a:ext>
          </a:extLst>
        </p:spPr>
      </p:pic>
      <p:grpSp>
        <p:nvGrpSpPr>
          <p:cNvPr id="2" name="Group 2">
            <a:extLst>
              <a:ext uri="{FF2B5EF4-FFF2-40B4-BE49-F238E27FC236}">
                <a16:creationId xmlns:a16="http://schemas.microsoft.com/office/drawing/2014/main" id="{D5E7EBE4-0C0F-E13D-B8AF-F1F0A67C5A52}"/>
              </a:ext>
            </a:extLst>
          </p:cNvPr>
          <p:cNvGrpSpPr/>
          <p:nvPr/>
        </p:nvGrpSpPr>
        <p:grpSpPr>
          <a:xfrm rot="-10800000">
            <a:off x="11045567" y="-12700"/>
            <a:ext cx="1146433" cy="1146433"/>
            <a:chOff x="0" y="0"/>
            <a:chExt cx="1630482" cy="1630482"/>
          </a:xfrm>
        </p:grpSpPr>
        <p:sp>
          <p:nvSpPr>
            <p:cNvPr id="3" name="Freeform 3">
              <a:extLst>
                <a:ext uri="{FF2B5EF4-FFF2-40B4-BE49-F238E27FC236}">
                  <a16:creationId xmlns:a16="http://schemas.microsoft.com/office/drawing/2014/main" id="{E48DC8A6-B16F-1BD4-2367-3D4CA89FB75E}"/>
                </a:ext>
              </a:extLst>
            </p:cNvPr>
            <p:cNvSpPr/>
            <p:nvPr/>
          </p:nvSpPr>
          <p:spPr>
            <a:xfrm>
              <a:off x="0" y="0"/>
              <a:ext cx="1630426" cy="1630426"/>
            </a:xfrm>
            <a:custGeom>
              <a:avLst/>
              <a:gdLst/>
              <a:ahLst/>
              <a:cxnLst/>
              <a:rect l="l" t="t" r="r" b="b"/>
              <a:pathLst>
                <a:path w="1630426" h="1630426">
                  <a:moveTo>
                    <a:pt x="0" y="0"/>
                  </a:moveTo>
                  <a:lnTo>
                    <a:pt x="543433" y="0"/>
                  </a:lnTo>
                  <a:lnTo>
                    <a:pt x="543433" y="543433"/>
                  </a:lnTo>
                  <a:lnTo>
                    <a:pt x="1086993" y="543433"/>
                  </a:lnTo>
                  <a:lnTo>
                    <a:pt x="1086993" y="1086993"/>
                  </a:lnTo>
                  <a:lnTo>
                    <a:pt x="1630426" y="1086993"/>
                  </a:lnTo>
                  <a:lnTo>
                    <a:pt x="1630426" y="1630426"/>
                  </a:lnTo>
                  <a:lnTo>
                    <a:pt x="0" y="1630426"/>
                  </a:lnTo>
                  <a:lnTo>
                    <a:pt x="0" y="1086993"/>
                  </a:lnTo>
                  <a:lnTo>
                    <a:pt x="0" y="543433"/>
                  </a:lnTo>
                  <a:close/>
                </a:path>
              </a:pathLst>
            </a:custGeom>
            <a:solidFill>
              <a:srgbClr val="FFFFFF"/>
            </a:solid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AU" sz="1800" b="0" i="0" u="none" strike="noStrike" kern="1200" cap="none" spc="0" normalizeH="0" baseline="0" noProof="0">
                <a:ln>
                  <a:noFill/>
                </a:ln>
                <a:solidFill>
                  <a:prstClr val="black"/>
                </a:solidFill>
                <a:effectLst/>
                <a:uLnTx/>
                <a:uFillTx/>
                <a:latin typeface="Calibri"/>
                <a:ea typeface="+mn-ea"/>
                <a:cs typeface="+mn-cs"/>
              </a:endParaRPr>
            </a:p>
          </p:txBody>
        </p:sp>
      </p:grpSp>
      <p:sp>
        <p:nvSpPr>
          <p:cNvPr id="5" name="TextBox 5">
            <a:extLst>
              <a:ext uri="{FF2B5EF4-FFF2-40B4-BE49-F238E27FC236}">
                <a16:creationId xmlns:a16="http://schemas.microsoft.com/office/drawing/2014/main" id="{68D59304-05BF-23A3-7FE2-CA841EC7AC2E}"/>
              </a:ext>
            </a:extLst>
          </p:cNvPr>
          <p:cNvSpPr txBox="1"/>
          <p:nvPr/>
        </p:nvSpPr>
        <p:spPr>
          <a:xfrm>
            <a:off x="391911" y="749115"/>
            <a:ext cx="11190316" cy="409471"/>
          </a:xfrm>
          <a:prstGeom prst="rect">
            <a:avLst/>
          </a:prstGeom>
        </p:spPr>
        <p:txBody>
          <a:bodyPr wrap="square" lIns="0" tIns="0" rIns="0" bIns="0" rtlCol="0" anchor="t">
            <a:spAutoFit/>
          </a:bodyPr>
          <a:lstStyle/>
          <a:p>
            <a:pPr marL="0" marR="0" lvl="0" indent="0" algn="l" defTabSz="914400" rtl="0" eaLnBrk="1" fontAlgn="auto" latinLnBrk="0" hangingPunct="1">
              <a:lnSpc>
                <a:spcPts val="3494"/>
              </a:lnSpc>
              <a:spcBef>
                <a:spcPts val="0"/>
              </a:spcBef>
              <a:spcAft>
                <a:spcPts val="0"/>
              </a:spcAft>
              <a:buClrTx/>
              <a:buSzTx/>
              <a:buFontTx/>
              <a:buNone/>
              <a:tabLst/>
              <a:defRPr/>
            </a:pPr>
            <a:r>
              <a:rPr kumimoji="0" lang="en-US" sz="2496" b="1" i="0" u="none" strike="noStrike" kern="1200" cap="none" spc="0" normalizeH="0" baseline="0" noProof="0" dirty="0">
                <a:ln>
                  <a:noFill/>
                </a:ln>
                <a:solidFill>
                  <a:srgbClr val="FFFFFF"/>
                </a:solidFill>
                <a:effectLst/>
                <a:uLnTx/>
                <a:uFillTx/>
                <a:latin typeface="Arial Bold"/>
                <a:ea typeface="Arial Bold"/>
                <a:cs typeface="Arial Bold"/>
                <a:sym typeface="Arial Bold"/>
              </a:rPr>
              <a:t>Fact v Law Distinction</a:t>
            </a:r>
          </a:p>
        </p:txBody>
      </p:sp>
      <p:sp>
        <p:nvSpPr>
          <p:cNvPr id="10" name="TextBox 10">
            <a:extLst>
              <a:ext uri="{FF2B5EF4-FFF2-40B4-BE49-F238E27FC236}">
                <a16:creationId xmlns:a16="http://schemas.microsoft.com/office/drawing/2014/main" id="{2BA6A499-F086-4907-2BC8-1AA35089FF49}"/>
              </a:ext>
            </a:extLst>
          </p:cNvPr>
          <p:cNvSpPr txBox="1"/>
          <p:nvPr/>
        </p:nvSpPr>
        <p:spPr>
          <a:xfrm>
            <a:off x="10195446" y="6347803"/>
            <a:ext cx="1773879" cy="193258"/>
          </a:xfrm>
          <a:prstGeom prst="rect">
            <a:avLst/>
          </a:prstGeom>
        </p:spPr>
        <p:txBody>
          <a:bodyPr lIns="0" tIns="0" rIns="0" bIns="0" rtlCol="0" anchor="t">
            <a:spAutoFit/>
          </a:bodyPr>
          <a:lstStyle/>
          <a:p>
            <a:pPr marL="0" marR="0" lvl="0" indent="0" algn="l" defTabSz="914400" rtl="0" eaLnBrk="1" fontAlgn="auto" latinLnBrk="0" hangingPunct="1">
              <a:lnSpc>
                <a:spcPts val="1422"/>
              </a:lnSpc>
              <a:spcBef>
                <a:spcPts val="0"/>
              </a:spcBef>
              <a:spcAft>
                <a:spcPts val="0"/>
              </a:spcAft>
              <a:buClrTx/>
              <a:buSzTx/>
              <a:buFontTx/>
              <a:buNone/>
              <a:tabLst/>
              <a:defRPr/>
            </a:pPr>
            <a:r>
              <a:rPr kumimoji="0" lang="en-US" sz="1016" b="0" i="0" u="none" strike="noStrike" kern="1200" cap="none" spc="0" normalizeH="0" baseline="0" noProof="0">
                <a:ln>
                  <a:noFill/>
                </a:ln>
                <a:solidFill>
                  <a:srgbClr val="FFFFFF"/>
                </a:solidFill>
                <a:effectLst/>
                <a:uLnTx/>
                <a:uFillTx/>
                <a:latin typeface="Arial"/>
                <a:ea typeface="Arial"/>
                <a:cs typeface="Arial"/>
                <a:sym typeface="Arial"/>
              </a:rPr>
              <a:t>Administrative Law –LAW1023</a:t>
            </a:r>
          </a:p>
        </p:txBody>
      </p:sp>
    </p:spTree>
    <p:extLst>
      <p:ext uri="{BB962C8B-B14F-4D97-AF65-F5344CB8AC3E}">
        <p14:creationId xmlns:p14="http://schemas.microsoft.com/office/powerpoint/2010/main" val="241484857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000054"/>
        </a:solidFill>
        <a:effectLst/>
      </p:bgPr>
    </p:bg>
    <p:spTree>
      <p:nvGrpSpPr>
        <p:cNvPr id="1" name="">
          <a:extLst>
            <a:ext uri="{FF2B5EF4-FFF2-40B4-BE49-F238E27FC236}">
              <a16:creationId xmlns:a16="http://schemas.microsoft.com/office/drawing/2014/main" id="{1C3B9A5E-6F86-3F29-31F4-F087500E39D9}"/>
            </a:ext>
          </a:extLst>
        </p:cNvPr>
        <p:cNvGrpSpPr/>
        <p:nvPr/>
      </p:nvGrpSpPr>
      <p:grpSpPr>
        <a:xfrm>
          <a:off x="0" y="0"/>
          <a:ext cx="0" cy="0"/>
          <a:chOff x="0" y="0"/>
          <a:chExt cx="0" cy="0"/>
        </a:xfrm>
      </p:grpSpPr>
      <p:grpSp>
        <p:nvGrpSpPr>
          <p:cNvPr id="2" name="Group 2">
            <a:extLst>
              <a:ext uri="{FF2B5EF4-FFF2-40B4-BE49-F238E27FC236}">
                <a16:creationId xmlns:a16="http://schemas.microsoft.com/office/drawing/2014/main" id="{420CBDA4-61E6-1249-1C54-E6D41ADCCBC9}"/>
              </a:ext>
            </a:extLst>
          </p:cNvPr>
          <p:cNvGrpSpPr/>
          <p:nvPr/>
        </p:nvGrpSpPr>
        <p:grpSpPr>
          <a:xfrm rot="-10800000">
            <a:off x="11045567" y="-12700"/>
            <a:ext cx="1146433" cy="1146433"/>
            <a:chOff x="0" y="0"/>
            <a:chExt cx="1630482" cy="1630482"/>
          </a:xfrm>
        </p:grpSpPr>
        <p:sp>
          <p:nvSpPr>
            <p:cNvPr id="3" name="Freeform 3">
              <a:extLst>
                <a:ext uri="{FF2B5EF4-FFF2-40B4-BE49-F238E27FC236}">
                  <a16:creationId xmlns:a16="http://schemas.microsoft.com/office/drawing/2014/main" id="{32139051-B368-456D-A440-B0721989FCD5}"/>
                </a:ext>
              </a:extLst>
            </p:cNvPr>
            <p:cNvSpPr/>
            <p:nvPr/>
          </p:nvSpPr>
          <p:spPr>
            <a:xfrm>
              <a:off x="0" y="0"/>
              <a:ext cx="1630426" cy="1630426"/>
            </a:xfrm>
            <a:custGeom>
              <a:avLst/>
              <a:gdLst/>
              <a:ahLst/>
              <a:cxnLst/>
              <a:rect l="l" t="t" r="r" b="b"/>
              <a:pathLst>
                <a:path w="1630426" h="1630426">
                  <a:moveTo>
                    <a:pt x="0" y="0"/>
                  </a:moveTo>
                  <a:lnTo>
                    <a:pt x="543433" y="0"/>
                  </a:lnTo>
                  <a:lnTo>
                    <a:pt x="543433" y="543433"/>
                  </a:lnTo>
                  <a:lnTo>
                    <a:pt x="1086993" y="543433"/>
                  </a:lnTo>
                  <a:lnTo>
                    <a:pt x="1086993" y="1086993"/>
                  </a:lnTo>
                  <a:lnTo>
                    <a:pt x="1630426" y="1086993"/>
                  </a:lnTo>
                  <a:lnTo>
                    <a:pt x="1630426" y="1630426"/>
                  </a:lnTo>
                  <a:lnTo>
                    <a:pt x="0" y="1630426"/>
                  </a:lnTo>
                  <a:lnTo>
                    <a:pt x="0" y="1086993"/>
                  </a:lnTo>
                  <a:lnTo>
                    <a:pt x="0" y="543433"/>
                  </a:lnTo>
                  <a:close/>
                </a:path>
              </a:pathLst>
            </a:custGeom>
            <a:solidFill>
              <a:srgbClr val="FFFFFF"/>
            </a:solid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AU" sz="1800" b="0" i="0" u="none" strike="noStrike" kern="1200" cap="none" spc="0" normalizeH="0" baseline="0" noProof="0">
                <a:ln>
                  <a:noFill/>
                </a:ln>
                <a:solidFill>
                  <a:prstClr val="black"/>
                </a:solidFill>
                <a:effectLst/>
                <a:uLnTx/>
                <a:uFillTx/>
                <a:latin typeface="Calibri"/>
                <a:ea typeface="+mn-ea"/>
                <a:cs typeface="+mn-cs"/>
              </a:endParaRPr>
            </a:p>
          </p:txBody>
        </p:sp>
      </p:grpSp>
      <p:sp>
        <p:nvSpPr>
          <p:cNvPr id="5" name="TextBox 5">
            <a:extLst>
              <a:ext uri="{FF2B5EF4-FFF2-40B4-BE49-F238E27FC236}">
                <a16:creationId xmlns:a16="http://schemas.microsoft.com/office/drawing/2014/main" id="{2FEC151C-9DC7-4035-2D53-CFE52D7A03B1}"/>
              </a:ext>
            </a:extLst>
          </p:cNvPr>
          <p:cNvSpPr txBox="1"/>
          <p:nvPr/>
        </p:nvSpPr>
        <p:spPr>
          <a:xfrm>
            <a:off x="392084" y="560536"/>
            <a:ext cx="11190316" cy="409471"/>
          </a:xfrm>
          <a:prstGeom prst="rect">
            <a:avLst/>
          </a:prstGeom>
        </p:spPr>
        <p:txBody>
          <a:bodyPr wrap="square" lIns="0" tIns="0" rIns="0" bIns="0" rtlCol="0" anchor="t">
            <a:spAutoFit/>
          </a:bodyPr>
          <a:lstStyle/>
          <a:p>
            <a:pPr marL="0" marR="0" lvl="0" indent="0" algn="l" defTabSz="914400" rtl="0" eaLnBrk="1" fontAlgn="auto" latinLnBrk="0" hangingPunct="1">
              <a:lnSpc>
                <a:spcPts val="3494"/>
              </a:lnSpc>
              <a:spcBef>
                <a:spcPts val="0"/>
              </a:spcBef>
              <a:spcAft>
                <a:spcPts val="0"/>
              </a:spcAft>
              <a:buClrTx/>
              <a:buSzTx/>
              <a:buFontTx/>
              <a:buNone/>
              <a:tabLst/>
              <a:defRPr/>
            </a:pPr>
            <a:r>
              <a:rPr kumimoji="0" lang="en-US" sz="2496" b="1" i="0" u="none" strike="noStrike" kern="1200" cap="none" spc="0" normalizeH="0" baseline="0" noProof="0" dirty="0">
                <a:ln>
                  <a:noFill/>
                </a:ln>
                <a:solidFill>
                  <a:srgbClr val="FFFFFF"/>
                </a:solidFill>
                <a:effectLst/>
                <a:uLnTx/>
                <a:uFillTx/>
                <a:latin typeface="Arial Bold"/>
                <a:ea typeface="Arial Bold"/>
                <a:cs typeface="Arial Bold"/>
                <a:sym typeface="Arial Bold"/>
              </a:rPr>
              <a:t>Errors of law v errors of fact</a:t>
            </a:r>
          </a:p>
        </p:txBody>
      </p:sp>
      <p:sp>
        <p:nvSpPr>
          <p:cNvPr id="9" name="TextBox 9">
            <a:extLst>
              <a:ext uri="{FF2B5EF4-FFF2-40B4-BE49-F238E27FC236}">
                <a16:creationId xmlns:a16="http://schemas.microsoft.com/office/drawing/2014/main" id="{1F7F1B97-F57F-7740-9D5C-59D508ACEC88}"/>
              </a:ext>
            </a:extLst>
          </p:cNvPr>
          <p:cNvSpPr txBox="1"/>
          <p:nvPr/>
        </p:nvSpPr>
        <p:spPr>
          <a:xfrm>
            <a:off x="392084" y="1295400"/>
            <a:ext cx="5703916" cy="3927998"/>
          </a:xfrm>
          <a:prstGeom prst="rect">
            <a:avLst/>
          </a:prstGeom>
        </p:spPr>
        <p:txBody>
          <a:bodyPr wrap="square" lIns="0" tIns="0" rIns="0" bIns="0" rtlCol="0" anchor="t">
            <a:spAutoFit/>
          </a:bodyPr>
          <a:lstStyle/>
          <a:p>
            <a:pPr marL="0" marR="0" lvl="0" indent="0" algn="l" defTabSz="914400" rtl="0" eaLnBrk="1" fontAlgn="auto" latinLnBrk="0" hangingPunct="1">
              <a:lnSpc>
                <a:spcPct val="100000"/>
              </a:lnSpc>
              <a:spcBef>
                <a:spcPts val="0"/>
              </a:spcBef>
              <a:spcAft>
                <a:spcPts val="1200"/>
              </a:spcAft>
              <a:buClrTx/>
              <a:buSzTx/>
              <a:buFontTx/>
              <a:buNone/>
              <a:tabLst/>
              <a:defRPr/>
            </a:pPr>
            <a:r>
              <a:rPr kumimoji="0" lang="en-US" sz="1627" b="0" i="0" u="none" strike="noStrike" kern="1200" cap="none" spc="0" normalizeH="0" baseline="0" noProof="0" dirty="0">
                <a:ln>
                  <a:noFill/>
                </a:ln>
                <a:solidFill>
                  <a:srgbClr val="FFFFFF"/>
                </a:solidFill>
                <a:effectLst/>
                <a:uLnTx/>
                <a:uFillTx/>
                <a:latin typeface="Arial" panose="020B0604020202020204" pitchFamily="34" charset="0"/>
                <a:ea typeface="Arial Bold"/>
                <a:cs typeface="Arial" panose="020B0604020202020204" pitchFamily="34" charset="0"/>
                <a:sym typeface="Arial Bold"/>
              </a:rPr>
              <a:t>• Decision maker must make conclusions about law and facts</a:t>
            </a:r>
          </a:p>
          <a:p>
            <a:pPr marL="0" marR="0" lvl="0" indent="0" algn="l" defTabSz="914400" rtl="0" eaLnBrk="1" fontAlgn="auto" latinLnBrk="0" hangingPunct="1">
              <a:lnSpc>
                <a:spcPct val="100000"/>
              </a:lnSpc>
              <a:spcBef>
                <a:spcPts val="0"/>
              </a:spcBef>
              <a:spcAft>
                <a:spcPts val="1200"/>
              </a:spcAft>
              <a:buClrTx/>
              <a:buSzTx/>
              <a:buFontTx/>
              <a:buNone/>
              <a:tabLst/>
              <a:defRPr/>
            </a:pPr>
            <a:r>
              <a:rPr kumimoji="0" lang="en-US" sz="1627" b="0" i="0" u="none" strike="noStrike" kern="1200" cap="none" spc="0" normalizeH="0" baseline="0" noProof="0" dirty="0">
                <a:ln>
                  <a:noFill/>
                </a:ln>
                <a:solidFill>
                  <a:srgbClr val="FFFFFF"/>
                </a:solidFill>
                <a:effectLst/>
                <a:uLnTx/>
                <a:uFillTx/>
                <a:latin typeface="Arial" panose="020B0604020202020204" pitchFamily="34" charset="0"/>
                <a:ea typeface="Arial Bold"/>
                <a:cs typeface="Arial" panose="020B0604020202020204" pitchFamily="34" charset="0"/>
                <a:sym typeface="Arial Bold"/>
              </a:rPr>
              <a:t>• In general error of fact is not an error of law</a:t>
            </a:r>
          </a:p>
          <a:p>
            <a:pPr marL="0" marR="0" lvl="0" indent="0" algn="l" defTabSz="914400" rtl="0" eaLnBrk="1" fontAlgn="auto" latinLnBrk="0" hangingPunct="1">
              <a:lnSpc>
                <a:spcPct val="100000"/>
              </a:lnSpc>
              <a:spcBef>
                <a:spcPts val="0"/>
              </a:spcBef>
              <a:spcAft>
                <a:spcPts val="1200"/>
              </a:spcAft>
              <a:buClrTx/>
              <a:buSzTx/>
              <a:buFontTx/>
              <a:buNone/>
              <a:tabLst/>
              <a:defRPr/>
            </a:pPr>
            <a:r>
              <a:rPr kumimoji="0" lang="en-US" sz="1627" b="0" i="0" u="none" strike="noStrike" kern="1200" cap="none" spc="0" normalizeH="0" baseline="0" noProof="0" dirty="0">
                <a:ln>
                  <a:noFill/>
                </a:ln>
                <a:solidFill>
                  <a:srgbClr val="FFFFFF"/>
                </a:solidFill>
                <a:effectLst/>
                <a:uLnTx/>
                <a:uFillTx/>
                <a:latin typeface="Arial" panose="020B0604020202020204" pitchFamily="34" charset="0"/>
                <a:ea typeface="Arial Bold"/>
                <a:cs typeface="Arial" panose="020B0604020202020204" pitchFamily="34" charset="0"/>
                <a:sym typeface="Arial Bold"/>
              </a:rPr>
              <a:t>• However: </a:t>
            </a:r>
          </a:p>
          <a:p>
            <a:pPr marL="742950" lvl="1" indent="-285750">
              <a:spcAft>
                <a:spcPts val="1200"/>
              </a:spcAft>
              <a:buFont typeface="Wingdings" panose="05000000000000000000" pitchFamily="2" charset="2"/>
              <a:buChar char="§"/>
              <a:defRPr/>
            </a:pPr>
            <a:r>
              <a:rPr kumimoji="0" lang="en-US" sz="1627" b="0" i="0" u="none" strike="noStrike" kern="1200" cap="none" spc="0" normalizeH="0" baseline="0" noProof="0" dirty="0">
                <a:ln>
                  <a:noFill/>
                </a:ln>
                <a:solidFill>
                  <a:srgbClr val="FFFFFF"/>
                </a:solidFill>
                <a:effectLst/>
                <a:uLnTx/>
                <a:uFillTx/>
                <a:latin typeface="Arial" panose="020B0604020202020204" pitchFamily="34" charset="0"/>
                <a:ea typeface="Arial Bold"/>
                <a:cs typeface="Arial" panose="020B0604020202020204" pitchFamily="34" charset="0"/>
                <a:sym typeface="Arial Bold"/>
              </a:rPr>
              <a:t>If decision depends on existence of a particular fact then this equals a jurisdictional fact and may be reviewed </a:t>
            </a:r>
          </a:p>
          <a:p>
            <a:pPr marL="742950" lvl="1" indent="-285750">
              <a:spcAft>
                <a:spcPts val="1200"/>
              </a:spcAft>
              <a:buFont typeface="Wingdings" panose="05000000000000000000" pitchFamily="2" charset="2"/>
              <a:buChar char="§"/>
              <a:defRPr/>
            </a:pPr>
            <a:r>
              <a:rPr kumimoji="0" lang="en-US" sz="1627" b="0" i="0" u="none" strike="noStrike" kern="1200" cap="none" spc="0" normalizeH="0" baseline="0" noProof="0" dirty="0">
                <a:ln>
                  <a:noFill/>
                </a:ln>
                <a:solidFill>
                  <a:srgbClr val="FFFFFF"/>
                </a:solidFill>
                <a:effectLst/>
                <a:uLnTx/>
                <a:uFillTx/>
                <a:latin typeface="Arial" panose="020B0604020202020204" pitchFamily="34" charset="0"/>
                <a:ea typeface="Arial Bold"/>
                <a:cs typeface="Arial" panose="020B0604020202020204" pitchFamily="34" charset="0"/>
                <a:sym typeface="Arial Bold"/>
              </a:rPr>
              <a:t>If the acceptance of that fact is based on no evidence may be reviewed</a:t>
            </a:r>
          </a:p>
          <a:p>
            <a:pPr marL="742950" lvl="1" indent="-285750">
              <a:spcAft>
                <a:spcPts val="1200"/>
              </a:spcAft>
              <a:buFont typeface="Wingdings" panose="05000000000000000000" pitchFamily="2" charset="2"/>
              <a:buChar char="§"/>
              <a:defRPr/>
            </a:pPr>
            <a:r>
              <a:rPr kumimoji="0" lang="en-US" sz="1627" b="0" i="0" u="none" strike="noStrike" kern="1200" cap="none" spc="0" normalizeH="0" baseline="0" noProof="0" dirty="0">
                <a:ln>
                  <a:noFill/>
                </a:ln>
                <a:solidFill>
                  <a:srgbClr val="FFFFFF"/>
                </a:solidFill>
                <a:effectLst/>
                <a:uLnTx/>
                <a:uFillTx/>
                <a:latin typeface="Arial" panose="020B0604020202020204" pitchFamily="34" charset="0"/>
                <a:ea typeface="Arial Bold"/>
                <a:cs typeface="Arial" panose="020B0604020202020204" pitchFamily="34" charset="0"/>
                <a:sym typeface="Arial Bold"/>
              </a:rPr>
              <a:t>If the incorrect finding is irrational or unreasonable may be reviewed</a:t>
            </a:r>
          </a:p>
          <a:p>
            <a:pPr marL="742950" lvl="1" indent="-285750">
              <a:spcAft>
                <a:spcPts val="1200"/>
              </a:spcAft>
              <a:buFont typeface="Wingdings" panose="05000000000000000000" pitchFamily="2" charset="2"/>
              <a:buChar char="§"/>
              <a:defRPr/>
            </a:pPr>
            <a:r>
              <a:rPr kumimoji="0" lang="en-US" sz="1627" b="0" i="0" u="none" strike="noStrike" kern="1200" cap="none" spc="0" normalizeH="0" baseline="0" noProof="0" dirty="0">
                <a:ln>
                  <a:noFill/>
                </a:ln>
                <a:solidFill>
                  <a:srgbClr val="FFFFFF"/>
                </a:solidFill>
                <a:effectLst/>
                <a:uLnTx/>
                <a:uFillTx/>
                <a:latin typeface="Arial" panose="020B0604020202020204" pitchFamily="34" charset="0"/>
                <a:ea typeface="Arial Bold"/>
                <a:cs typeface="Arial" panose="020B0604020202020204" pitchFamily="34" charset="0"/>
                <a:sym typeface="Arial Bold"/>
              </a:rPr>
              <a:t>See </a:t>
            </a:r>
            <a:r>
              <a:rPr kumimoji="0" lang="en-US" sz="1627" b="0" i="1" u="none" strike="noStrike" kern="1200" cap="none" spc="0" normalizeH="0" baseline="0" noProof="0" dirty="0" err="1">
                <a:ln>
                  <a:noFill/>
                </a:ln>
                <a:solidFill>
                  <a:srgbClr val="FFFFFF"/>
                </a:solidFill>
                <a:effectLst/>
                <a:uLnTx/>
                <a:uFillTx/>
                <a:latin typeface="Arial" panose="020B0604020202020204" pitchFamily="34" charset="0"/>
                <a:ea typeface="Arial Bold"/>
                <a:cs typeface="Arial" panose="020B0604020202020204" pitchFamily="34" charset="0"/>
                <a:sym typeface="Arial Bold"/>
              </a:rPr>
              <a:t>Hedari</a:t>
            </a:r>
            <a:r>
              <a:rPr kumimoji="0" lang="en-US" sz="1627" b="0" i="1" u="none" strike="noStrike" kern="1200" cap="none" spc="0" normalizeH="0" baseline="0" noProof="0" dirty="0">
                <a:ln>
                  <a:noFill/>
                </a:ln>
                <a:solidFill>
                  <a:srgbClr val="FFFFFF"/>
                </a:solidFill>
                <a:effectLst/>
                <a:uLnTx/>
                <a:uFillTx/>
                <a:latin typeface="Arial" panose="020B0604020202020204" pitchFamily="34" charset="0"/>
                <a:ea typeface="Arial Bold"/>
                <a:cs typeface="Arial" panose="020B0604020202020204" pitchFamily="34" charset="0"/>
                <a:sym typeface="Arial Bold"/>
              </a:rPr>
              <a:t> v Minister for Immigration and Border Protection </a:t>
            </a:r>
            <a:r>
              <a:rPr kumimoji="0" lang="en-US" sz="1627" b="0" i="0" u="none" strike="noStrike" kern="1200" cap="none" spc="0" normalizeH="0" baseline="0" noProof="0" dirty="0">
                <a:ln>
                  <a:noFill/>
                </a:ln>
                <a:solidFill>
                  <a:srgbClr val="FFFFFF"/>
                </a:solidFill>
                <a:effectLst/>
                <a:uLnTx/>
                <a:uFillTx/>
                <a:latin typeface="Arial" panose="020B0604020202020204" pitchFamily="34" charset="0"/>
                <a:ea typeface="Arial Bold"/>
                <a:cs typeface="Arial" panose="020B0604020202020204" pitchFamily="34" charset="0"/>
                <a:sym typeface="Arial Bold"/>
              </a:rPr>
              <a:t>[2020] FCA 298</a:t>
            </a:r>
          </a:p>
        </p:txBody>
      </p:sp>
      <p:sp>
        <p:nvSpPr>
          <p:cNvPr id="10" name="TextBox 10">
            <a:extLst>
              <a:ext uri="{FF2B5EF4-FFF2-40B4-BE49-F238E27FC236}">
                <a16:creationId xmlns:a16="http://schemas.microsoft.com/office/drawing/2014/main" id="{682FFE26-8E11-EB36-5B19-6549E9DDA86E}"/>
              </a:ext>
            </a:extLst>
          </p:cNvPr>
          <p:cNvSpPr txBox="1"/>
          <p:nvPr/>
        </p:nvSpPr>
        <p:spPr>
          <a:xfrm>
            <a:off x="10195446" y="6347803"/>
            <a:ext cx="1773879" cy="193258"/>
          </a:xfrm>
          <a:prstGeom prst="rect">
            <a:avLst/>
          </a:prstGeom>
        </p:spPr>
        <p:txBody>
          <a:bodyPr lIns="0" tIns="0" rIns="0" bIns="0" rtlCol="0" anchor="t">
            <a:spAutoFit/>
          </a:bodyPr>
          <a:lstStyle/>
          <a:p>
            <a:pPr marL="0" marR="0" lvl="0" indent="0" algn="l" defTabSz="914400" rtl="0" eaLnBrk="1" fontAlgn="auto" latinLnBrk="0" hangingPunct="1">
              <a:lnSpc>
                <a:spcPts val="1422"/>
              </a:lnSpc>
              <a:spcBef>
                <a:spcPts val="0"/>
              </a:spcBef>
              <a:spcAft>
                <a:spcPts val="0"/>
              </a:spcAft>
              <a:buClrTx/>
              <a:buSzTx/>
              <a:buFontTx/>
              <a:buNone/>
              <a:tabLst/>
              <a:defRPr/>
            </a:pPr>
            <a:r>
              <a:rPr kumimoji="0" lang="en-US" sz="1016" b="0" i="0" u="none" strike="noStrike" kern="1200" cap="none" spc="0" normalizeH="0" baseline="0" noProof="0">
                <a:ln>
                  <a:noFill/>
                </a:ln>
                <a:solidFill>
                  <a:srgbClr val="FFFFFF"/>
                </a:solidFill>
                <a:effectLst/>
                <a:uLnTx/>
                <a:uFillTx/>
                <a:latin typeface="Arial"/>
                <a:ea typeface="Arial"/>
                <a:cs typeface="Arial"/>
                <a:sym typeface="Arial"/>
              </a:rPr>
              <a:t>Administrative Law –LAW1023</a:t>
            </a:r>
          </a:p>
        </p:txBody>
      </p:sp>
      <p:pic>
        <p:nvPicPr>
          <p:cNvPr id="4098" name="Picture 2" descr="Travel smart: tips for Australian travellers">
            <a:extLst>
              <a:ext uri="{FF2B5EF4-FFF2-40B4-BE49-F238E27FC236}">
                <a16:creationId xmlns:a16="http://schemas.microsoft.com/office/drawing/2014/main" id="{8EC90865-4B18-625E-CDFB-6850C2606DE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934200" y="1336606"/>
            <a:ext cx="4361447" cy="1657350"/>
          </a:xfrm>
          <a:prstGeom prst="rect">
            <a:avLst/>
          </a:prstGeom>
          <a:noFill/>
          <a:extLst>
            <a:ext uri="{909E8E84-426E-40DD-AFC4-6F175D3DCCD1}">
              <a14:hiddenFill xmlns:a14="http://schemas.microsoft.com/office/drawing/2010/main">
                <a:solidFill>
                  <a:srgbClr val="FFFFFF"/>
                </a:solidFill>
              </a14:hiddenFill>
            </a:ext>
          </a:extLst>
        </p:spPr>
      </p:pic>
      <p:pic>
        <p:nvPicPr>
          <p:cNvPr id="4100" name="Picture 4">
            <a:extLst>
              <a:ext uri="{FF2B5EF4-FFF2-40B4-BE49-F238E27FC236}">
                <a16:creationId xmlns:a16="http://schemas.microsoft.com/office/drawing/2014/main" id="{8CA68ABB-B143-EB3B-BB21-72B9E6DCBFE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970777" y="3196829"/>
            <a:ext cx="4361446" cy="2167506"/>
          </a:xfrm>
          <a:prstGeom prst="rect">
            <a:avLst/>
          </a:prstGeom>
          <a:noFill/>
          <a:extLst>
            <a:ext uri="{909E8E84-426E-40DD-AFC4-6F175D3DCCD1}">
              <a14:hiddenFill xmlns:a14="http://schemas.microsoft.com/office/drawing/2010/main">
                <a:solidFill>
                  <a:srgbClr val="FFFFFF"/>
                </a:solidFill>
              </a14:hiddenFill>
            </a:ext>
          </a:extLst>
        </p:spPr>
      </p:pic>
      <p:pic>
        <p:nvPicPr>
          <p:cNvPr id="4102" name="Picture 6" descr="Hundreds arrested over Quetta bomb ...">
            <a:extLst>
              <a:ext uri="{FF2B5EF4-FFF2-40B4-BE49-F238E27FC236}">
                <a16:creationId xmlns:a16="http://schemas.microsoft.com/office/drawing/2014/main" id="{182F641D-14C5-3D92-670E-226D4B7DC6A1}"/>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9124067" y="5055969"/>
            <a:ext cx="2847975" cy="1600200"/>
          </a:xfrm>
          <a:prstGeom prst="rect">
            <a:avLst/>
          </a:prstGeom>
          <a:noFill/>
          <a:extLst>
            <a:ext uri="{909E8E84-426E-40DD-AFC4-6F175D3DCCD1}">
              <a14:hiddenFill xmlns:a14="http://schemas.microsoft.com/office/drawing/2010/main">
                <a:solidFill>
                  <a:srgbClr val="FFFFFF"/>
                </a:solidFill>
              </a14:hiddenFill>
            </a:ext>
          </a:extLst>
        </p:spPr>
      </p:pic>
      <p:sp>
        <p:nvSpPr>
          <p:cNvPr id="4" name="TextBox 3">
            <a:extLst>
              <a:ext uri="{FF2B5EF4-FFF2-40B4-BE49-F238E27FC236}">
                <a16:creationId xmlns:a16="http://schemas.microsoft.com/office/drawing/2014/main" id="{E66E4C5F-4929-47FE-D17E-6EE02A77A1DD}"/>
              </a:ext>
            </a:extLst>
          </p:cNvPr>
          <p:cNvSpPr txBox="1"/>
          <p:nvPr/>
        </p:nvSpPr>
        <p:spPr>
          <a:xfrm>
            <a:off x="7543800" y="6132359"/>
            <a:ext cx="1773879" cy="430887"/>
          </a:xfrm>
          <a:prstGeom prst="rect">
            <a:avLst/>
          </a:prstGeom>
          <a:noFill/>
        </p:spPr>
        <p:txBody>
          <a:bodyPr wrap="square" rtlCol="0">
            <a:spAutoFit/>
          </a:bodyPr>
          <a:lstStyle/>
          <a:p>
            <a:r>
              <a:rPr lang="en-US" sz="1100" dirty="0">
                <a:solidFill>
                  <a:schemeClr val="bg1"/>
                </a:solidFill>
              </a:rPr>
              <a:t>Quetta market bombing 2013: Source ABC</a:t>
            </a:r>
            <a:endParaRPr lang="en-AU" sz="1100" dirty="0">
              <a:solidFill>
                <a:schemeClr val="bg1"/>
              </a:solidFill>
            </a:endParaRPr>
          </a:p>
        </p:txBody>
      </p:sp>
    </p:spTree>
    <p:extLst>
      <p:ext uri="{BB962C8B-B14F-4D97-AF65-F5344CB8AC3E}">
        <p14:creationId xmlns:p14="http://schemas.microsoft.com/office/powerpoint/2010/main" val="243971530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000054"/>
        </a:solidFill>
        <a:effectLst/>
      </p:bgPr>
    </p:bg>
    <p:spTree>
      <p:nvGrpSpPr>
        <p:cNvPr id="1" name="">
          <a:extLst>
            <a:ext uri="{FF2B5EF4-FFF2-40B4-BE49-F238E27FC236}">
              <a16:creationId xmlns:a16="http://schemas.microsoft.com/office/drawing/2014/main" id="{42F54282-D2DF-4B2F-A5F5-C9A07054D09E}"/>
            </a:ext>
          </a:extLst>
        </p:cNvPr>
        <p:cNvGrpSpPr/>
        <p:nvPr/>
      </p:nvGrpSpPr>
      <p:grpSpPr>
        <a:xfrm>
          <a:off x="0" y="0"/>
          <a:ext cx="0" cy="0"/>
          <a:chOff x="0" y="0"/>
          <a:chExt cx="0" cy="0"/>
        </a:xfrm>
      </p:grpSpPr>
      <p:grpSp>
        <p:nvGrpSpPr>
          <p:cNvPr id="2" name="Group 2">
            <a:extLst>
              <a:ext uri="{FF2B5EF4-FFF2-40B4-BE49-F238E27FC236}">
                <a16:creationId xmlns:a16="http://schemas.microsoft.com/office/drawing/2014/main" id="{D688E7A3-9DB0-635D-F35B-D0E2FC9D010D}"/>
              </a:ext>
            </a:extLst>
          </p:cNvPr>
          <p:cNvGrpSpPr/>
          <p:nvPr/>
        </p:nvGrpSpPr>
        <p:grpSpPr>
          <a:xfrm rot="-10800000">
            <a:off x="11045567" y="-12700"/>
            <a:ext cx="1146433" cy="1146433"/>
            <a:chOff x="0" y="0"/>
            <a:chExt cx="1630482" cy="1630482"/>
          </a:xfrm>
        </p:grpSpPr>
        <p:sp>
          <p:nvSpPr>
            <p:cNvPr id="3" name="Freeform 3">
              <a:extLst>
                <a:ext uri="{FF2B5EF4-FFF2-40B4-BE49-F238E27FC236}">
                  <a16:creationId xmlns:a16="http://schemas.microsoft.com/office/drawing/2014/main" id="{7CCA709D-B5EB-3CFB-C3D2-CE1CB7036A2F}"/>
                </a:ext>
              </a:extLst>
            </p:cNvPr>
            <p:cNvSpPr/>
            <p:nvPr/>
          </p:nvSpPr>
          <p:spPr>
            <a:xfrm>
              <a:off x="0" y="0"/>
              <a:ext cx="1630426" cy="1630426"/>
            </a:xfrm>
            <a:custGeom>
              <a:avLst/>
              <a:gdLst/>
              <a:ahLst/>
              <a:cxnLst/>
              <a:rect l="l" t="t" r="r" b="b"/>
              <a:pathLst>
                <a:path w="1630426" h="1630426">
                  <a:moveTo>
                    <a:pt x="0" y="0"/>
                  </a:moveTo>
                  <a:lnTo>
                    <a:pt x="543433" y="0"/>
                  </a:lnTo>
                  <a:lnTo>
                    <a:pt x="543433" y="543433"/>
                  </a:lnTo>
                  <a:lnTo>
                    <a:pt x="1086993" y="543433"/>
                  </a:lnTo>
                  <a:lnTo>
                    <a:pt x="1086993" y="1086993"/>
                  </a:lnTo>
                  <a:lnTo>
                    <a:pt x="1630426" y="1086993"/>
                  </a:lnTo>
                  <a:lnTo>
                    <a:pt x="1630426" y="1630426"/>
                  </a:lnTo>
                  <a:lnTo>
                    <a:pt x="0" y="1630426"/>
                  </a:lnTo>
                  <a:lnTo>
                    <a:pt x="0" y="1086993"/>
                  </a:lnTo>
                  <a:lnTo>
                    <a:pt x="0" y="543433"/>
                  </a:lnTo>
                  <a:close/>
                </a:path>
              </a:pathLst>
            </a:custGeom>
            <a:solidFill>
              <a:srgbClr val="FFFFFF"/>
            </a:solid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AU" sz="1800" b="0" i="0" u="none" strike="noStrike" kern="1200" cap="none" spc="0" normalizeH="0" baseline="0" noProof="0">
                <a:ln>
                  <a:noFill/>
                </a:ln>
                <a:solidFill>
                  <a:prstClr val="black"/>
                </a:solidFill>
                <a:effectLst/>
                <a:uLnTx/>
                <a:uFillTx/>
                <a:latin typeface="Calibri"/>
                <a:ea typeface="+mn-ea"/>
                <a:cs typeface="+mn-cs"/>
              </a:endParaRPr>
            </a:p>
          </p:txBody>
        </p:sp>
      </p:grpSp>
      <p:sp>
        <p:nvSpPr>
          <p:cNvPr id="5" name="TextBox 5">
            <a:extLst>
              <a:ext uri="{FF2B5EF4-FFF2-40B4-BE49-F238E27FC236}">
                <a16:creationId xmlns:a16="http://schemas.microsoft.com/office/drawing/2014/main" id="{E154FFC2-C7DA-C127-49A2-23F9A7416E7B}"/>
              </a:ext>
            </a:extLst>
          </p:cNvPr>
          <p:cNvSpPr txBox="1"/>
          <p:nvPr/>
        </p:nvSpPr>
        <p:spPr>
          <a:xfrm>
            <a:off x="392084" y="560536"/>
            <a:ext cx="11190316" cy="409471"/>
          </a:xfrm>
          <a:prstGeom prst="rect">
            <a:avLst/>
          </a:prstGeom>
        </p:spPr>
        <p:txBody>
          <a:bodyPr wrap="square" lIns="0" tIns="0" rIns="0" bIns="0" rtlCol="0" anchor="t">
            <a:spAutoFit/>
          </a:bodyPr>
          <a:lstStyle/>
          <a:p>
            <a:pPr marL="0" marR="0" lvl="0" indent="0" algn="l" defTabSz="914400" rtl="0" eaLnBrk="1" fontAlgn="auto" latinLnBrk="0" hangingPunct="1">
              <a:lnSpc>
                <a:spcPts val="3494"/>
              </a:lnSpc>
              <a:spcBef>
                <a:spcPts val="0"/>
              </a:spcBef>
              <a:spcAft>
                <a:spcPts val="0"/>
              </a:spcAft>
              <a:buClrTx/>
              <a:buSzTx/>
              <a:buFontTx/>
              <a:buNone/>
              <a:tabLst/>
              <a:defRPr/>
            </a:pPr>
            <a:r>
              <a:rPr kumimoji="0" lang="en-US" sz="2496" b="1" i="1" u="none" strike="noStrike" kern="1200" cap="none" spc="0" normalizeH="0" baseline="0" noProof="0" dirty="0" err="1">
                <a:ln>
                  <a:noFill/>
                </a:ln>
                <a:solidFill>
                  <a:srgbClr val="FFFFFF"/>
                </a:solidFill>
                <a:effectLst/>
                <a:uLnTx/>
                <a:uFillTx/>
                <a:latin typeface="Arial Bold"/>
                <a:ea typeface="Arial Bold"/>
                <a:cs typeface="Arial Bold"/>
                <a:sym typeface="Arial Bold"/>
              </a:rPr>
              <a:t>Hedari</a:t>
            </a:r>
            <a:r>
              <a:rPr kumimoji="0" lang="en-US" sz="2496" b="1" i="1" u="none" strike="noStrike" kern="1200" cap="none" spc="0" normalizeH="0" baseline="0" noProof="0" dirty="0">
                <a:ln>
                  <a:noFill/>
                </a:ln>
                <a:solidFill>
                  <a:srgbClr val="FFFFFF"/>
                </a:solidFill>
                <a:effectLst/>
                <a:uLnTx/>
                <a:uFillTx/>
                <a:latin typeface="Arial Bold"/>
                <a:ea typeface="Arial Bold"/>
                <a:cs typeface="Arial Bold"/>
                <a:sym typeface="Arial Bold"/>
              </a:rPr>
              <a:t> v Minister for Immigration and Border Protection </a:t>
            </a:r>
            <a:r>
              <a:rPr kumimoji="0" lang="en-US" sz="2496" b="1" i="0" u="none" strike="noStrike" kern="1200" cap="none" spc="0" normalizeH="0" baseline="0" noProof="0" dirty="0">
                <a:ln>
                  <a:noFill/>
                </a:ln>
                <a:solidFill>
                  <a:srgbClr val="FFFFFF"/>
                </a:solidFill>
                <a:effectLst/>
                <a:uLnTx/>
                <a:uFillTx/>
                <a:latin typeface="Arial Bold"/>
                <a:ea typeface="Arial Bold"/>
                <a:cs typeface="Arial Bold"/>
                <a:sym typeface="Arial Bold"/>
              </a:rPr>
              <a:t>[2020] FCA 298</a:t>
            </a:r>
          </a:p>
        </p:txBody>
      </p:sp>
      <p:sp>
        <p:nvSpPr>
          <p:cNvPr id="9" name="TextBox 9">
            <a:extLst>
              <a:ext uri="{FF2B5EF4-FFF2-40B4-BE49-F238E27FC236}">
                <a16:creationId xmlns:a16="http://schemas.microsoft.com/office/drawing/2014/main" id="{5E772C11-265A-E5E2-E730-21BF14E034CC}"/>
              </a:ext>
            </a:extLst>
          </p:cNvPr>
          <p:cNvSpPr txBox="1"/>
          <p:nvPr/>
        </p:nvSpPr>
        <p:spPr>
          <a:xfrm>
            <a:off x="392084" y="1295400"/>
            <a:ext cx="6237316" cy="4024500"/>
          </a:xfrm>
          <a:prstGeom prst="rect">
            <a:avLst/>
          </a:prstGeom>
        </p:spPr>
        <p:txBody>
          <a:bodyPr wrap="square" lIns="0" tIns="0" rIns="0" bIns="0" rtlCol="0" anchor="t">
            <a:spAutoFit/>
          </a:bodyPr>
          <a:lstStyle/>
          <a:p>
            <a:pPr marL="0" marR="0" lvl="0" indent="0" algn="l" defTabSz="914400" rtl="0" eaLnBrk="1" fontAlgn="auto" latinLnBrk="0" hangingPunct="1">
              <a:lnSpc>
                <a:spcPct val="100000"/>
              </a:lnSpc>
              <a:spcBef>
                <a:spcPts val="0"/>
              </a:spcBef>
              <a:spcAft>
                <a:spcPts val="1200"/>
              </a:spcAft>
              <a:buClrTx/>
              <a:buSzTx/>
              <a:buFontTx/>
              <a:buNone/>
              <a:tabLst/>
              <a:defRPr/>
            </a:pPr>
            <a:r>
              <a:rPr kumimoji="0" lang="en-US" sz="1627" b="0" i="0" u="none" strike="noStrike" kern="1200" cap="none" spc="0" normalizeH="0" baseline="0" noProof="0" dirty="0" err="1">
                <a:ln>
                  <a:noFill/>
                </a:ln>
                <a:solidFill>
                  <a:srgbClr val="FFFFFF"/>
                </a:solidFill>
                <a:effectLst/>
                <a:uLnTx/>
                <a:uFillTx/>
                <a:latin typeface="Arial" panose="020B0604020202020204" pitchFamily="34" charset="0"/>
                <a:ea typeface="Arial Bold"/>
                <a:cs typeface="Arial" panose="020B0604020202020204" pitchFamily="34" charset="0"/>
                <a:sym typeface="Arial Bold"/>
              </a:rPr>
              <a:t>Mr</a:t>
            </a:r>
            <a:r>
              <a:rPr kumimoji="0" lang="en-US" sz="1627" b="0" i="0" u="none" strike="noStrike" kern="1200" cap="none" spc="0" normalizeH="0" baseline="0" noProof="0" dirty="0">
                <a:ln>
                  <a:noFill/>
                </a:ln>
                <a:solidFill>
                  <a:srgbClr val="FFFFFF"/>
                </a:solidFill>
                <a:effectLst/>
                <a:uLnTx/>
                <a:uFillTx/>
                <a:latin typeface="Arial" panose="020B0604020202020204" pitchFamily="34" charset="0"/>
                <a:ea typeface="Arial Bold"/>
                <a:cs typeface="Arial" panose="020B0604020202020204" pitchFamily="34" charset="0"/>
                <a:sym typeface="Arial Bold"/>
              </a:rPr>
              <a:t> </a:t>
            </a:r>
            <a:r>
              <a:rPr kumimoji="0" lang="en-US" sz="1627" b="0" i="0" u="none" strike="noStrike" kern="1200" cap="none" spc="0" normalizeH="0" baseline="0" noProof="0" dirty="0" err="1">
                <a:ln>
                  <a:noFill/>
                </a:ln>
                <a:solidFill>
                  <a:srgbClr val="FFFFFF"/>
                </a:solidFill>
                <a:effectLst/>
                <a:uLnTx/>
                <a:uFillTx/>
                <a:latin typeface="Arial" panose="020B0604020202020204" pitchFamily="34" charset="0"/>
                <a:ea typeface="Arial Bold"/>
                <a:cs typeface="Arial" panose="020B0604020202020204" pitchFamily="34" charset="0"/>
                <a:sym typeface="Arial Bold"/>
              </a:rPr>
              <a:t>Hedari</a:t>
            </a:r>
            <a:r>
              <a:rPr kumimoji="0" lang="en-US" sz="1627" b="0" i="0" u="none" strike="noStrike" kern="1200" cap="none" spc="0" normalizeH="0" baseline="0" noProof="0" dirty="0">
                <a:ln>
                  <a:noFill/>
                </a:ln>
                <a:solidFill>
                  <a:srgbClr val="FFFFFF"/>
                </a:solidFill>
                <a:effectLst/>
                <a:uLnTx/>
                <a:uFillTx/>
                <a:latin typeface="Arial" panose="020B0604020202020204" pitchFamily="34" charset="0"/>
                <a:ea typeface="Arial Bold"/>
                <a:cs typeface="Arial" panose="020B0604020202020204" pitchFamily="34" charset="0"/>
                <a:sym typeface="Arial Bold"/>
              </a:rPr>
              <a:t> granted a protection visa and citizenship</a:t>
            </a:r>
          </a:p>
          <a:p>
            <a:pPr marL="0" marR="0" lvl="0" indent="0" algn="l" defTabSz="914400" rtl="0" eaLnBrk="1" fontAlgn="auto" latinLnBrk="0" hangingPunct="1">
              <a:lnSpc>
                <a:spcPct val="100000"/>
              </a:lnSpc>
              <a:spcBef>
                <a:spcPts val="0"/>
              </a:spcBef>
              <a:spcAft>
                <a:spcPts val="1200"/>
              </a:spcAft>
              <a:buClrTx/>
              <a:buSzTx/>
              <a:buFontTx/>
              <a:buNone/>
              <a:tabLst/>
              <a:defRPr/>
            </a:pPr>
            <a:r>
              <a:rPr kumimoji="0" lang="en-US" sz="1627" b="0" i="0" u="none" strike="noStrike" kern="1200" cap="none" spc="0" normalizeH="0" baseline="0" noProof="0" dirty="0">
                <a:ln>
                  <a:noFill/>
                </a:ln>
                <a:solidFill>
                  <a:srgbClr val="FFFFFF"/>
                </a:solidFill>
                <a:effectLst/>
                <a:uLnTx/>
                <a:uFillTx/>
                <a:latin typeface="Arial" panose="020B0604020202020204" pitchFamily="34" charset="0"/>
                <a:ea typeface="Arial Bold"/>
                <a:cs typeface="Arial" panose="020B0604020202020204" pitchFamily="34" charset="0"/>
                <a:sym typeface="Arial Bold"/>
              </a:rPr>
              <a:t>Wife and children applied for partner visas (but had used apparently fake documents)</a:t>
            </a:r>
          </a:p>
          <a:p>
            <a:pPr marL="0" marR="0" lvl="0" indent="0" algn="l" defTabSz="914400" rtl="0" eaLnBrk="1" fontAlgn="auto" latinLnBrk="0" hangingPunct="1">
              <a:lnSpc>
                <a:spcPct val="100000"/>
              </a:lnSpc>
              <a:spcBef>
                <a:spcPts val="0"/>
              </a:spcBef>
              <a:spcAft>
                <a:spcPts val="1200"/>
              </a:spcAft>
              <a:buClrTx/>
              <a:buSzTx/>
              <a:buFontTx/>
              <a:buNone/>
              <a:tabLst/>
              <a:defRPr/>
            </a:pPr>
            <a:r>
              <a:rPr kumimoji="0" lang="en-US" sz="1627" b="0" i="0" u="none" strike="noStrike" kern="1200" cap="none" spc="0" normalizeH="0" baseline="0" noProof="0" dirty="0">
                <a:ln>
                  <a:noFill/>
                </a:ln>
                <a:solidFill>
                  <a:srgbClr val="FFFFFF"/>
                </a:solidFill>
                <a:effectLst/>
                <a:uLnTx/>
                <a:uFillTx/>
                <a:latin typeface="Arial" panose="020B0604020202020204" pitchFamily="34" charset="0"/>
                <a:ea typeface="Arial Bold"/>
                <a:cs typeface="Arial" panose="020B0604020202020204" pitchFamily="34" charset="0"/>
                <a:sym typeface="Arial Bold"/>
              </a:rPr>
              <a:t>Refused by Minister’s delegate (no compelling circumstances to justify the grant of the visa)</a:t>
            </a:r>
          </a:p>
          <a:p>
            <a:pPr marL="0" marR="0" lvl="0" indent="0" algn="l" defTabSz="914400" rtl="0" eaLnBrk="1" fontAlgn="auto" latinLnBrk="0" hangingPunct="1">
              <a:lnSpc>
                <a:spcPct val="100000"/>
              </a:lnSpc>
              <a:spcBef>
                <a:spcPts val="0"/>
              </a:spcBef>
              <a:spcAft>
                <a:spcPts val="1200"/>
              </a:spcAft>
              <a:buClrTx/>
              <a:buSzTx/>
              <a:buFontTx/>
              <a:buNone/>
              <a:tabLst/>
              <a:defRPr/>
            </a:pPr>
            <a:r>
              <a:rPr kumimoji="0" lang="en-US" sz="1627" b="0" i="0" u="none" strike="noStrike" kern="1200" cap="none" spc="0" normalizeH="0" baseline="0" noProof="0" dirty="0">
                <a:ln>
                  <a:noFill/>
                </a:ln>
                <a:solidFill>
                  <a:srgbClr val="FFFFFF"/>
                </a:solidFill>
                <a:effectLst/>
                <a:uLnTx/>
                <a:uFillTx/>
                <a:latin typeface="Arial" panose="020B0604020202020204" pitchFamily="34" charset="0"/>
                <a:ea typeface="Arial Bold"/>
                <a:cs typeface="Arial" panose="020B0604020202020204" pitchFamily="34" charset="0"/>
                <a:sym typeface="Arial Bold"/>
              </a:rPr>
              <a:t>Family sought review in AAT. AAT supported decision of the Minister on grounds that </a:t>
            </a:r>
            <a:r>
              <a:rPr kumimoji="0" lang="en-US" sz="1627" b="0" i="0" u="none" strike="noStrike" kern="1200" cap="none" spc="0" normalizeH="0" baseline="0" noProof="0" dirty="0" err="1">
                <a:ln>
                  <a:noFill/>
                </a:ln>
                <a:solidFill>
                  <a:srgbClr val="FFFFFF"/>
                </a:solidFill>
                <a:effectLst/>
                <a:uLnTx/>
                <a:uFillTx/>
                <a:latin typeface="Arial" panose="020B0604020202020204" pitchFamily="34" charset="0"/>
                <a:ea typeface="Arial Bold"/>
                <a:cs typeface="Arial" panose="020B0604020202020204" pitchFamily="34" charset="0"/>
                <a:sym typeface="Arial Bold"/>
              </a:rPr>
              <a:t>Hedari</a:t>
            </a:r>
            <a:r>
              <a:rPr kumimoji="0" lang="en-US" sz="1627" b="0" i="0" u="none" strike="noStrike" kern="1200" cap="none" spc="0" normalizeH="0" baseline="0" noProof="0" dirty="0">
                <a:ln>
                  <a:noFill/>
                </a:ln>
                <a:solidFill>
                  <a:srgbClr val="FFFFFF"/>
                </a:solidFill>
                <a:effectLst/>
                <a:uLnTx/>
                <a:uFillTx/>
                <a:latin typeface="Arial" panose="020B0604020202020204" pitchFamily="34" charset="0"/>
                <a:ea typeface="Arial Bold"/>
                <a:cs typeface="Arial" panose="020B0604020202020204" pitchFamily="34" charset="0"/>
                <a:sym typeface="Arial Bold"/>
              </a:rPr>
              <a:t> could  travel to Pakistan. This was incorrect - the Department of Foreign Affairs and Trade advice for the city of Quetta was ‘reconsider your need to travel’. However, for </a:t>
            </a:r>
            <a:r>
              <a:rPr kumimoji="0" lang="en-US" sz="1627" b="0" i="0" u="none" strike="noStrike" kern="1200" cap="none" spc="0" normalizeH="0" baseline="0" noProof="0" dirty="0" err="1">
                <a:ln>
                  <a:noFill/>
                </a:ln>
                <a:solidFill>
                  <a:srgbClr val="FFFFFF"/>
                </a:solidFill>
                <a:effectLst/>
                <a:uLnTx/>
                <a:uFillTx/>
                <a:latin typeface="Arial" panose="020B0604020202020204" pitchFamily="34" charset="0"/>
                <a:ea typeface="Arial Bold"/>
                <a:cs typeface="Arial" panose="020B0604020202020204" pitchFamily="34" charset="0"/>
                <a:sym typeface="Arial Bold"/>
              </a:rPr>
              <a:t>Balochistan</a:t>
            </a:r>
            <a:r>
              <a:rPr kumimoji="0" lang="en-US" sz="1627" b="0" i="0" u="none" strike="noStrike" kern="1200" cap="none" spc="0" normalizeH="0" baseline="0" noProof="0" dirty="0">
                <a:ln>
                  <a:noFill/>
                </a:ln>
                <a:solidFill>
                  <a:srgbClr val="FFFFFF"/>
                </a:solidFill>
                <a:effectLst/>
                <a:uLnTx/>
                <a:uFillTx/>
                <a:latin typeface="Arial" panose="020B0604020202020204" pitchFamily="34" charset="0"/>
                <a:ea typeface="Arial Bold"/>
                <a:cs typeface="Arial" panose="020B0604020202020204" pitchFamily="34" charset="0"/>
                <a:sym typeface="Arial Bold"/>
              </a:rPr>
              <a:t> (capital of Quetta) was ‘do not travel’.</a:t>
            </a:r>
          </a:p>
          <a:p>
            <a:pPr marL="0" marR="0" lvl="0" indent="0" algn="l" defTabSz="914400" rtl="0" eaLnBrk="1" fontAlgn="auto" latinLnBrk="0" hangingPunct="1">
              <a:lnSpc>
                <a:spcPct val="100000"/>
              </a:lnSpc>
              <a:spcBef>
                <a:spcPts val="0"/>
              </a:spcBef>
              <a:spcAft>
                <a:spcPts val="1200"/>
              </a:spcAft>
              <a:buClrTx/>
              <a:buSzTx/>
              <a:buFontTx/>
              <a:buNone/>
              <a:tabLst/>
              <a:defRPr/>
            </a:pPr>
            <a:r>
              <a:rPr kumimoji="0" lang="en-US" sz="1627" b="0" i="0" u="none" strike="noStrike" kern="1200" cap="none" spc="0" normalizeH="0" baseline="0" noProof="0" dirty="0" err="1">
                <a:ln>
                  <a:noFill/>
                </a:ln>
                <a:solidFill>
                  <a:srgbClr val="FFFFFF"/>
                </a:solidFill>
                <a:effectLst/>
                <a:uLnTx/>
                <a:uFillTx/>
                <a:latin typeface="Arial" panose="020B0604020202020204" pitchFamily="34" charset="0"/>
                <a:ea typeface="Arial Bold"/>
                <a:cs typeface="Arial" panose="020B0604020202020204" pitchFamily="34" charset="0"/>
                <a:sym typeface="Arial Bold"/>
              </a:rPr>
              <a:t>Hedari</a:t>
            </a:r>
            <a:r>
              <a:rPr kumimoji="0" lang="en-US" sz="1627" b="0" i="0" u="none" strike="noStrike" kern="1200" cap="none" spc="0" normalizeH="0" baseline="0" noProof="0" dirty="0">
                <a:ln>
                  <a:noFill/>
                </a:ln>
                <a:solidFill>
                  <a:srgbClr val="FFFFFF"/>
                </a:solidFill>
                <a:effectLst/>
                <a:uLnTx/>
                <a:uFillTx/>
                <a:latin typeface="Arial" panose="020B0604020202020204" pitchFamily="34" charset="0"/>
                <a:ea typeface="Arial Bold"/>
                <a:cs typeface="Arial" panose="020B0604020202020204" pitchFamily="34" charset="0"/>
                <a:sym typeface="Arial Bold"/>
              </a:rPr>
              <a:t> sought judicial review. </a:t>
            </a:r>
          </a:p>
          <a:p>
            <a:pPr marL="0" marR="0" lvl="0" indent="0" algn="l" defTabSz="914400" rtl="0" eaLnBrk="1" fontAlgn="auto" latinLnBrk="0" hangingPunct="1">
              <a:lnSpc>
                <a:spcPct val="100000"/>
              </a:lnSpc>
              <a:spcBef>
                <a:spcPts val="0"/>
              </a:spcBef>
              <a:spcAft>
                <a:spcPts val="1200"/>
              </a:spcAft>
              <a:buClrTx/>
              <a:buSzTx/>
              <a:buFontTx/>
              <a:buNone/>
              <a:tabLst/>
              <a:defRPr/>
            </a:pPr>
            <a:r>
              <a:rPr kumimoji="0" lang="en-US" sz="1627" b="0" i="0" u="none" strike="noStrike" kern="1200" cap="none" spc="0" normalizeH="0" baseline="0" noProof="0" dirty="0">
                <a:ln>
                  <a:noFill/>
                </a:ln>
                <a:solidFill>
                  <a:srgbClr val="FFFFFF"/>
                </a:solidFill>
                <a:effectLst/>
                <a:uLnTx/>
                <a:uFillTx/>
                <a:latin typeface="Arial" panose="020B0604020202020204" pitchFamily="34" charset="0"/>
                <a:ea typeface="Arial Bold"/>
                <a:cs typeface="Arial" panose="020B0604020202020204" pitchFamily="34" charset="0"/>
                <a:sym typeface="Arial Bold"/>
              </a:rPr>
              <a:t>Arguments accepted by the Federal Court that it was not possible to travel to Pakistan. </a:t>
            </a:r>
          </a:p>
        </p:txBody>
      </p:sp>
      <p:sp>
        <p:nvSpPr>
          <p:cNvPr id="10" name="TextBox 10">
            <a:extLst>
              <a:ext uri="{FF2B5EF4-FFF2-40B4-BE49-F238E27FC236}">
                <a16:creationId xmlns:a16="http://schemas.microsoft.com/office/drawing/2014/main" id="{BF03E66A-7D11-0A2C-7DE9-641E29AE49B9}"/>
              </a:ext>
            </a:extLst>
          </p:cNvPr>
          <p:cNvSpPr txBox="1"/>
          <p:nvPr/>
        </p:nvSpPr>
        <p:spPr>
          <a:xfrm>
            <a:off x="10195446" y="6347803"/>
            <a:ext cx="1773879" cy="193258"/>
          </a:xfrm>
          <a:prstGeom prst="rect">
            <a:avLst/>
          </a:prstGeom>
        </p:spPr>
        <p:txBody>
          <a:bodyPr lIns="0" tIns="0" rIns="0" bIns="0" rtlCol="0" anchor="t">
            <a:spAutoFit/>
          </a:bodyPr>
          <a:lstStyle/>
          <a:p>
            <a:pPr marL="0" marR="0" lvl="0" indent="0" algn="l" defTabSz="914400" rtl="0" eaLnBrk="1" fontAlgn="auto" latinLnBrk="0" hangingPunct="1">
              <a:lnSpc>
                <a:spcPts val="1422"/>
              </a:lnSpc>
              <a:spcBef>
                <a:spcPts val="0"/>
              </a:spcBef>
              <a:spcAft>
                <a:spcPts val="0"/>
              </a:spcAft>
              <a:buClrTx/>
              <a:buSzTx/>
              <a:buFontTx/>
              <a:buNone/>
              <a:tabLst/>
              <a:defRPr/>
            </a:pPr>
            <a:r>
              <a:rPr kumimoji="0" lang="en-US" sz="1016" b="0" i="0" u="none" strike="noStrike" kern="1200" cap="none" spc="0" normalizeH="0" baseline="0" noProof="0">
                <a:ln>
                  <a:noFill/>
                </a:ln>
                <a:solidFill>
                  <a:srgbClr val="FFFFFF"/>
                </a:solidFill>
                <a:effectLst/>
                <a:uLnTx/>
                <a:uFillTx/>
                <a:latin typeface="Arial"/>
                <a:ea typeface="Arial"/>
                <a:cs typeface="Arial"/>
                <a:sym typeface="Arial"/>
              </a:rPr>
              <a:t>Administrative Law –LAW1023</a:t>
            </a:r>
          </a:p>
        </p:txBody>
      </p:sp>
      <p:pic>
        <p:nvPicPr>
          <p:cNvPr id="4" name="Picture 2" descr="Travel smart: tips for Australian travellers">
            <a:extLst>
              <a:ext uri="{FF2B5EF4-FFF2-40B4-BE49-F238E27FC236}">
                <a16:creationId xmlns:a16="http://schemas.microsoft.com/office/drawing/2014/main" id="{F57BF384-9952-DB2A-D83B-77CB96945D6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934200" y="1336606"/>
            <a:ext cx="4361447" cy="1657350"/>
          </a:xfrm>
          <a:prstGeom prst="rect">
            <a:avLst/>
          </a:prstGeom>
          <a:noFill/>
          <a:extLst>
            <a:ext uri="{909E8E84-426E-40DD-AFC4-6F175D3DCCD1}">
              <a14:hiddenFill xmlns:a14="http://schemas.microsoft.com/office/drawing/2010/main">
                <a:solidFill>
                  <a:srgbClr val="FFFFFF"/>
                </a:solidFill>
              </a14:hiddenFill>
            </a:ext>
          </a:extLst>
        </p:spPr>
      </p:pic>
      <p:pic>
        <p:nvPicPr>
          <p:cNvPr id="6" name="Picture 4">
            <a:extLst>
              <a:ext uri="{FF2B5EF4-FFF2-40B4-BE49-F238E27FC236}">
                <a16:creationId xmlns:a16="http://schemas.microsoft.com/office/drawing/2014/main" id="{C9837301-B13F-D18D-8759-447E5E0EB25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970777" y="3196829"/>
            <a:ext cx="4361446" cy="2167506"/>
          </a:xfrm>
          <a:prstGeom prst="rect">
            <a:avLst/>
          </a:prstGeom>
          <a:noFill/>
          <a:extLst>
            <a:ext uri="{909E8E84-426E-40DD-AFC4-6F175D3DCCD1}">
              <a14:hiddenFill xmlns:a14="http://schemas.microsoft.com/office/drawing/2010/main">
                <a:solidFill>
                  <a:srgbClr val="FFFFFF"/>
                </a:solidFill>
              </a14:hiddenFill>
            </a:ext>
          </a:extLst>
        </p:spPr>
      </p:pic>
      <p:pic>
        <p:nvPicPr>
          <p:cNvPr id="7" name="Picture 6" descr="Hundreds arrested over Quetta bomb ...">
            <a:extLst>
              <a:ext uri="{FF2B5EF4-FFF2-40B4-BE49-F238E27FC236}">
                <a16:creationId xmlns:a16="http://schemas.microsoft.com/office/drawing/2014/main" id="{0A69A89F-D5D8-464F-0F54-750CAFBCF82E}"/>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9124067" y="5055969"/>
            <a:ext cx="2847975" cy="1600200"/>
          </a:xfrm>
          <a:prstGeom prst="rect">
            <a:avLst/>
          </a:prstGeom>
          <a:noFill/>
          <a:extLst>
            <a:ext uri="{909E8E84-426E-40DD-AFC4-6F175D3DCCD1}">
              <a14:hiddenFill xmlns:a14="http://schemas.microsoft.com/office/drawing/2010/main">
                <a:solidFill>
                  <a:srgbClr val="FFFFFF"/>
                </a:solidFill>
              </a14:hiddenFill>
            </a:ext>
          </a:extLst>
        </p:spPr>
      </p:pic>
      <p:sp>
        <p:nvSpPr>
          <p:cNvPr id="8" name="TextBox 7">
            <a:extLst>
              <a:ext uri="{FF2B5EF4-FFF2-40B4-BE49-F238E27FC236}">
                <a16:creationId xmlns:a16="http://schemas.microsoft.com/office/drawing/2014/main" id="{4B4D45DE-0D28-796B-2F30-07D026E724EF}"/>
              </a:ext>
            </a:extLst>
          </p:cNvPr>
          <p:cNvSpPr txBox="1"/>
          <p:nvPr/>
        </p:nvSpPr>
        <p:spPr>
          <a:xfrm>
            <a:off x="7543800" y="6132359"/>
            <a:ext cx="1773879" cy="430887"/>
          </a:xfrm>
          <a:prstGeom prst="rect">
            <a:avLst/>
          </a:prstGeom>
          <a:noFill/>
        </p:spPr>
        <p:txBody>
          <a:bodyPr wrap="square" rtlCol="0">
            <a:spAutoFit/>
          </a:bodyPr>
          <a:lstStyle/>
          <a:p>
            <a:r>
              <a:rPr lang="en-US" sz="1100" dirty="0">
                <a:solidFill>
                  <a:schemeClr val="bg1"/>
                </a:solidFill>
              </a:rPr>
              <a:t>Quetta market bombing 2013: Source ABC</a:t>
            </a:r>
            <a:endParaRPr lang="en-AU" sz="1100" dirty="0">
              <a:solidFill>
                <a:schemeClr val="bg1"/>
              </a:solidFill>
            </a:endParaRPr>
          </a:p>
        </p:txBody>
      </p:sp>
    </p:spTree>
    <p:extLst>
      <p:ext uri="{BB962C8B-B14F-4D97-AF65-F5344CB8AC3E}">
        <p14:creationId xmlns:p14="http://schemas.microsoft.com/office/powerpoint/2010/main" val="424256744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000054"/>
        </a:solidFill>
        <a:effectLst/>
      </p:bgPr>
    </p:bg>
    <p:spTree>
      <p:nvGrpSpPr>
        <p:cNvPr id="1" name="">
          <a:extLst>
            <a:ext uri="{FF2B5EF4-FFF2-40B4-BE49-F238E27FC236}">
              <a16:creationId xmlns:a16="http://schemas.microsoft.com/office/drawing/2014/main" id="{01CA39F9-7651-39BE-5547-9B4D49F635FC}"/>
            </a:ext>
          </a:extLst>
        </p:cNvPr>
        <p:cNvGrpSpPr/>
        <p:nvPr/>
      </p:nvGrpSpPr>
      <p:grpSpPr>
        <a:xfrm>
          <a:off x="0" y="0"/>
          <a:ext cx="0" cy="0"/>
          <a:chOff x="0" y="0"/>
          <a:chExt cx="0" cy="0"/>
        </a:xfrm>
      </p:grpSpPr>
      <p:grpSp>
        <p:nvGrpSpPr>
          <p:cNvPr id="2" name="Group 2">
            <a:extLst>
              <a:ext uri="{FF2B5EF4-FFF2-40B4-BE49-F238E27FC236}">
                <a16:creationId xmlns:a16="http://schemas.microsoft.com/office/drawing/2014/main" id="{9ABBA110-3313-DC11-6874-F3C10285D4CB}"/>
              </a:ext>
            </a:extLst>
          </p:cNvPr>
          <p:cNvGrpSpPr/>
          <p:nvPr/>
        </p:nvGrpSpPr>
        <p:grpSpPr>
          <a:xfrm rot="-10800000">
            <a:off x="11045567" y="-12700"/>
            <a:ext cx="1146433" cy="1146433"/>
            <a:chOff x="0" y="0"/>
            <a:chExt cx="1630482" cy="1630482"/>
          </a:xfrm>
        </p:grpSpPr>
        <p:sp>
          <p:nvSpPr>
            <p:cNvPr id="3" name="Freeform 3">
              <a:extLst>
                <a:ext uri="{FF2B5EF4-FFF2-40B4-BE49-F238E27FC236}">
                  <a16:creationId xmlns:a16="http://schemas.microsoft.com/office/drawing/2014/main" id="{A86FB08B-8657-4635-3A3B-775AE157EEE0}"/>
                </a:ext>
              </a:extLst>
            </p:cNvPr>
            <p:cNvSpPr/>
            <p:nvPr/>
          </p:nvSpPr>
          <p:spPr>
            <a:xfrm>
              <a:off x="0" y="0"/>
              <a:ext cx="1630426" cy="1630426"/>
            </a:xfrm>
            <a:custGeom>
              <a:avLst/>
              <a:gdLst/>
              <a:ahLst/>
              <a:cxnLst/>
              <a:rect l="l" t="t" r="r" b="b"/>
              <a:pathLst>
                <a:path w="1630426" h="1630426">
                  <a:moveTo>
                    <a:pt x="0" y="0"/>
                  </a:moveTo>
                  <a:lnTo>
                    <a:pt x="543433" y="0"/>
                  </a:lnTo>
                  <a:lnTo>
                    <a:pt x="543433" y="543433"/>
                  </a:lnTo>
                  <a:lnTo>
                    <a:pt x="1086993" y="543433"/>
                  </a:lnTo>
                  <a:lnTo>
                    <a:pt x="1086993" y="1086993"/>
                  </a:lnTo>
                  <a:lnTo>
                    <a:pt x="1630426" y="1086993"/>
                  </a:lnTo>
                  <a:lnTo>
                    <a:pt x="1630426" y="1630426"/>
                  </a:lnTo>
                  <a:lnTo>
                    <a:pt x="0" y="1630426"/>
                  </a:lnTo>
                  <a:lnTo>
                    <a:pt x="0" y="1086993"/>
                  </a:lnTo>
                  <a:lnTo>
                    <a:pt x="0" y="543433"/>
                  </a:lnTo>
                  <a:close/>
                </a:path>
              </a:pathLst>
            </a:custGeom>
            <a:solidFill>
              <a:srgbClr val="FFFFFF"/>
            </a:solid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AU" sz="1800" b="0" i="0" u="none" strike="noStrike" kern="1200" cap="none" spc="0" normalizeH="0" baseline="0" noProof="0">
                <a:ln>
                  <a:noFill/>
                </a:ln>
                <a:solidFill>
                  <a:prstClr val="black"/>
                </a:solidFill>
                <a:effectLst/>
                <a:uLnTx/>
                <a:uFillTx/>
                <a:latin typeface="Calibri"/>
                <a:ea typeface="+mn-ea"/>
                <a:cs typeface="+mn-cs"/>
              </a:endParaRPr>
            </a:p>
          </p:txBody>
        </p:sp>
      </p:grpSp>
      <p:sp>
        <p:nvSpPr>
          <p:cNvPr id="5" name="TextBox 5">
            <a:extLst>
              <a:ext uri="{FF2B5EF4-FFF2-40B4-BE49-F238E27FC236}">
                <a16:creationId xmlns:a16="http://schemas.microsoft.com/office/drawing/2014/main" id="{D4B37BF1-4A6F-A01E-2D6E-A0CF68B179C8}"/>
              </a:ext>
            </a:extLst>
          </p:cNvPr>
          <p:cNvSpPr txBox="1"/>
          <p:nvPr/>
        </p:nvSpPr>
        <p:spPr>
          <a:xfrm>
            <a:off x="392084" y="560536"/>
            <a:ext cx="11190316" cy="409471"/>
          </a:xfrm>
          <a:prstGeom prst="rect">
            <a:avLst/>
          </a:prstGeom>
        </p:spPr>
        <p:txBody>
          <a:bodyPr wrap="square" lIns="0" tIns="0" rIns="0" bIns="0" rtlCol="0" anchor="t">
            <a:spAutoFit/>
          </a:bodyPr>
          <a:lstStyle/>
          <a:p>
            <a:pPr marL="0" marR="0" lvl="0" indent="0" algn="l" defTabSz="914400" rtl="0" eaLnBrk="1" fontAlgn="auto" latinLnBrk="0" hangingPunct="1">
              <a:lnSpc>
                <a:spcPts val="3494"/>
              </a:lnSpc>
              <a:spcBef>
                <a:spcPts val="0"/>
              </a:spcBef>
              <a:spcAft>
                <a:spcPts val="0"/>
              </a:spcAft>
              <a:buClrTx/>
              <a:buSzTx/>
              <a:buFontTx/>
              <a:buNone/>
              <a:tabLst/>
              <a:defRPr/>
            </a:pPr>
            <a:r>
              <a:rPr kumimoji="0" lang="en-US" sz="2496" b="1" i="1" u="none" strike="noStrike" kern="1200" cap="none" spc="0" normalizeH="0" baseline="0" noProof="0" dirty="0" err="1">
                <a:ln>
                  <a:noFill/>
                </a:ln>
                <a:solidFill>
                  <a:srgbClr val="FFFFFF"/>
                </a:solidFill>
                <a:effectLst/>
                <a:uLnTx/>
                <a:uFillTx/>
                <a:latin typeface="Arial Bold"/>
                <a:ea typeface="Arial Bold"/>
                <a:cs typeface="Arial Bold"/>
                <a:sym typeface="Arial Bold"/>
              </a:rPr>
              <a:t>Hedari</a:t>
            </a:r>
            <a:r>
              <a:rPr kumimoji="0" lang="en-US" sz="2496" b="1" i="1" u="none" strike="noStrike" kern="1200" cap="none" spc="0" normalizeH="0" baseline="0" noProof="0" dirty="0">
                <a:ln>
                  <a:noFill/>
                </a:ln>
                <a:solidFill>
                  <a:srgbClr val="FFFFFF"/>
                </a:solidFill>
                <a:effectLst/>
                <a:uLnTx/>
                <a:uFillTx/>
                <a:latin typeface="Arial Bold"/>
                <a:ea typeface="Arial Bold"/>
                <a:cs typeface="Arial Bold"/>
                <a:sym typeface="Arial Bold"/>
              </a:rPr>
              <a:t> v Minister for Immigration and Border Protection </a:t>
            </a:r>
            <a:r>
              <a:rPr kumimoji="0" lang="en-US" sz="2496" b="1" i="0" u="none" strike="noStrike" kern="1200" cap="none" spc="0" normalizeH="0" baseline="0" noProof="0" dirty="0">
                <a:ln>
                  <a:noFill/>
                </a:ln>
                <a:solidFill>
                  <a:srgbClr val="FFFFFF"/>
                </a:solidFill>
                <a:effectLst/>
                <a:uLnTx/>
                <a:uFillTx/>
                <a:latin typeface="Arial Bold"/>
                <a:ea typeface="Arial Bold"/>
                <a:cs typeface="Arial Bold"/>
                <a:sym typeface="Arial Bold"/>
              </a:rPr>
              <a:t>[2020] FCA 298</a:t>
            </a:r>
          </a:p>
        </p:txBody>
      </p:sp>
      <p:sp>
        <p:nvSpPr>
          <p:cNvPr id="9" name="TextBox 9">
            <a:extLst>
              <a:ext uri="{FF2B5EF4-FFF2-40B4-BE49-F238E27FC236}">
                <a16:creationId xmlns:a16="http://schemas.microsoft.com/office/drawing/2014/main" id="{ABCDED01-BEFD-75C1-D2B3-B45F34DE905C}"/>
              </a:ext>
            </a:extLst>
          </p:cNvPr>
          <p:cNvSpPr txBox="1"/>
          <p:nvPr/>
        </p:nvSpPr>
        <p:spPr>
          <a:xfrm>
            <a:off x="392084" y="1367011"/>
            <a:ext cx="5938874" cy="2214389"/>
          </a:xfrm>
          <a:prstGeom prst="rect">
            <a:avLst/>
          </a:prstGeom>
        </p:spPr>
        <p:txBody>
          <a:bodyPr wrap="square" lIns="0" tIns="0" rIns="0" bIns="0" rtlCol="0" anchor="t">
            <a:spAutoFit/>
          </a:bodyPr>
          <a:lstStyle/>
          <a:p>
            <a:pPr marL="0" marR="0" lvl="0" indent="0" algn="l" defTabSz="914400" rtl="0" eaLnBrk="1" fontAlgn="auto" latinLnBrk="0" hangingPunct="1">
              <a:lnSpc>
                <a:spcPct val="100000"/>
              </a:lnSpc>
              <a:spcBef>
                <a:spcPts val="0"/>
              </a:spcBef>
              <a:spcAft>
                <a:spcPts val="1200"/>
              </a:spcAft>
              <a:buClrTx/>
              <a:buSzTx/>
              <a:buFontTx/>
              <a:buNone/>
              <a:tabLst/>
              <a:defRPr/>
            </a:pPr>
            <a:r>
              <a:rPr kumimoji="0" lang="en-US" sz="1627" b="0" i="0" u="none" strike="noStrike" kern="1200" cap="none" spc="0" normalizeH="0" baseline="0" noProof="0" dirty="0">
                <a:ln>
                  <a:noFill/>
                </a:ln>
                <a:solidFill>
                  <a:srgbClr val="FFFFFF"/>
                </a:solidFill>
                <a:effectLst/>
                <a:uLnTx/>
                <a:uFillTx/>
                <a:latin typeface="Arial" panose="020B0604020202020204" pitchFamily="34" charset="0"/>
                <a:ea typeface="Arial Bold"/>
                <a:cs typeface="Arial" panose="020B0604020202020204" pitchFamily="34" charset="0"/>
                <a:sym typeface="Arial Bold"/>
              </a:rPr>
              <a:t>Finding that  the area in question was only subject to a ‘reconsider your travel’ ( as apposed to no travel) was irrational and illogical</a:t>
            </a:r>
          </a:p>
          <a:p>
            <a:pPr marL="0" marR="0" lvl="0" indent="0" algn="l" defTabSz="914400" rtl="0" eaLnBrk="1" fontAlgn="auto" latinLnBrk="0" hangingPunct="1">
              <a:lnSpc>
                <a:spcPct val="100000"/>
              </a:lnSpc>
              <a:spcBef>
                <a:spcPts val="0"/>
              </a:spcBef>
              <a:spcAft>
                <a:spcPts val="1200"/>
              </a:spcAft>
              <a:buClrTx/>
              <a:buSzTx/>
              <a:buFontTx/>
              <a:buNone/>
              <a:tabLst/>
              <a:defRPr/>
            </a:pPr>
            <a:r>
              <a:rPr kumimoji="0" lang="en-US" sz="1627" b="0" i="0" u="none" strike="noStrike" kern="1200" cap="none" spc="0" normalizeH="0" baseline="0" noProof="0" dirty="0">
                <a:ln>
                  <a:noFill/>
                </a:ln>
                <a:solidFill>
                  <a:srgbClr val="FFFFFF"/>
                </a:solidFill>
                <a:effectLst/>
                <a:uLnTx/>
                <a:uFillTx/>
                <a:latin typeface="Arial" panose="020B0604020202020204" pitchFamily="34" charset="0"/>
                <a:ea typeface="Arial Bold"/>
                <a:cs typeface="Arial" panose="020B0604020202020204" pitchFamily="34" charset="0"/>
                <a:sym typeface="Arial Bold"/>
              </a:rPr>
              <a:t>The finding was unreasonable</a:t>
            </a:r>
          </a:p>
          <a:p>
            <a:pPr marL="0" marR="0" lvl="0" indent="0" algn="l" defTabSz="914400" rtl="0" eaLnBrk="1" fontAlgn="auto" latinLnBrk="0" hangingPunct="1">
              <a:lnSpc>
                <a:spcPct val="100000"/>
              </a:lnSpc>
              <a:spcBef>
                <a:spcPts val="0"/>
              </a:spcBef>
              <a:spcAft>
                <a:spcPts val="1200"/>
              </a:spcAft>
              <a:buClrTx/>
              <a:buSzTx/>
              <a:buFontTx/>
              <a:buNone/>
              <a:tabLst/>
              <a:defRPr/>
            </a:pPr>
            <a:r>
              <a:rPr kumimoji="0" lang="en-US" sz="1627" b="0" i="0" u="none" strike="noStrike" kern="1200" cap="none" spc="0" normalizeH="0" baseline="0" noProof="0" dirty="0">
                <a:ln>
                  <a:noFill/>
                </a:ln>
                <a:solidFill>
                  <a:srgbClr val="FFFFFF"/>
                </a:solidFill>
                <a:effectLst/>
                <a:uLnTx/>
                <a:uFillTx/>
                <a:latin typeface="Arial" panose="020B0604020202020204" pitchFamily="34" charset="0"/>
                <a:ea typeface="Arial Bold"/>
                <a:cs typeface="Arial" panose="020B0604020202020204" pitchFamily="34" charset="0"/>
                <a:sym typeface="Arial Bold"/>
              </a:rPr>
              <a:t>AAT has failed to perform its task appropriately</a:t>
            </a:r>
          </a:p>
          <a:p>
            <a:pPr marL="0" marR="0" lvl="0" indent="0" defTabSz="914400" rtl="0" eaLnBrk="1" fontAlgn="auto" latinLnBrk="0" hangingPunct="1">
              <a:lnSpc>
                <a:spcPct val="100000"/>
              </a:lnSpc>
              <a:spcBef>
                <a:spcPts val="0"/>
              </a:spcBef>
              <a:spcAft>
                <a:spcPts val="1200"/>
              </a:spcAft>
              <a:buClrTx/>
              <a:buSzTx/>
              <a:buFontTx/>
              <a:buNone/>
              <a:tabLst/>
              <a:defRPr/>
            </a:pPr>
            <a:r>
              <a:rPr kumimoji="0" lang="en-US" sz="1627" b="0" i="0" u="none" strike="noStrike" kern="1200" cap="none" spc="0" normalizeH="0" baseline="0" noProof="0" dirty="0">
                <a:ln>
                  <a:noFill/>
                </a:ln>
                <a:solidFill>
                  <a:srgbClr val="FFFFFF"/>
                </a:solidFill>
                <a:effectLst/>
                <a:uLnTx/>
                <a:uFillTx/>
                <a:latin typeface="Arial" panose="020B0604020202020204" pitchFamily="34" charset="0"/>
                <a:ea typeface="Arial Bold"/>
                <a:cs typeface="Arial" panose="020B0604020202020204" pitchFamily="34" charset="0"/>
                <a:sym typeface="Arial Bold"/>
              </a:rPr>
              <a:t>AAT failed to take account of relevant material  - Jurisdictional Error</a:t>
            </a:r>
          </a:p>
        </p:txBody>
      </p:sp>
      <p:sp>
        <p:nvSpPr>
          <p:cNvPr id="10" name="TextBox 10">
            <a:extLst>
              <a:ext uri="{FF2B5EF4-FFF2-40B4-BE49-F238E27FC236}">
                <a16:creationId xmlns:a16="http://schemas.microsoft.com/office/drawing/2014/main" id="{66D451D0-C75E-12FB-B52E-73AA031B04CB}"/>
              </a:ext>
            </a:extLst>
          </p:cNvPr>
          <p:cNvSpPr txBox="1"/>
          <p:nvPr/>
        </p:nvSpPr>
        <p:spPr>
          <a:xfrm>
            <a:off x="10195446" y="6347803"/>
            <a:ext cx="1773879" cy="193258"/>
          </a:xfrm>
          <a:prstGeom prst="rect">
            <a:avLst/>
          </a:prstGeom>
        </p:spPr>
        <p:txBody>
          <a:bodyPr lIns="0" tIns="0" rIns="0" bIns="0" rtlCol="0" anchor="t">
            <a:spAutoFit/>
          </a:bodyPr>
          <a:lstStyle/>
          <a:p>
            <a:pPr marL="0" marR="0" lvl="0" indent="0" algn="l" defTabSz="914400" rtl="0" eaLnBrk="1" fontAlgn="auto" latinLnBrk="0" hangingPunct="1">
              <a:lnSpc>
                <a:spcPts val="1422"/>
              </a:lnSpc>
              <a:spcBef>
                <a:spcPts val="0"/>
              </a:spcBef>
              <a:spcAft>
                <a:spcPts val="0"/>
              </a:spcAft>
              <a:buClrTx/>
              <a:buSzTx/>
              <a:buFontTx/>
              <a:buNone/>
              <a:tabLst/>
              <a:defRPr/>
            </a:pPr>
            <a:r>
              <a:rPr kumimoji="0" lang="en-US" sz="1016" b="0" i="0" u="none" strike="noStrike" kern="1200" cap="none" spc="0" normalizeH="0" baseline="0" noProof="0">
                <a:ln>
                  <a:noFill/>
                </a:ln>
                <a:solidFill>
                  <a:srgbClr val="FFFFFF"/>
                </a:solidFill>
                <a:effectLst/>
                <a:uLnTx/>
                <a:uFillTx/>
                <a:latin typeface="Arial"/>
                <a:ea typeface="Arial"/>
                <a:cs typeface="Arial"/>
                <a:sym typeface="Arial"/>
              </a:rPr>
              <a:t>Administrative Law –LAW1023</a:t>
            </a:r>
          </a:p>
        </p:txBody>
      </p:sp>
      <p:pic>
        <p:nvPicPr>
          <p:cNvPr id="4" name="Picture 2" descr="Travel smart: tips for Australian travellers">
            <a:extLst>
              <a:ext uri="{FF2B5EF4-FFF2-40B4-BE49-F238E27FC236}">
                <a16:creationId xmlns:a16="http://schemas.microsoft.com/office/drawing/2014/main" id="{0C6F1EDE-F276-3240-B4CF-4BE03CDD521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934200" y="1336606"/>
            <a:ext cx="4361447" cy="1657350"/>
          </a:xfrm>
          <a:prstGeom prst="rect">
            <a:avLst/>
          </a:prstGeom>
          <a:noFill/>
          <a:extLst>
            <a:ext uri="{909E8E84-426E-40DD-AFC4-6F175D3DCCD1}">
              <a14:hiddenFill xmlns:a14="http://schemas.microsoft.com/office/drawing/2010/main">
                <a:solidFill>
                  <a:srgbClr val="FFFFFF"/>
                </a:solidFill>
              </a14:hiddenFill>
            </a:ext>
          </a:extLst>
        </p:spPr>
      </p:pic>
      <p:pic>
        <p:nvPicPr>
          <p:cNvPr id="6" name="Picture 4">
            <a:extLst>
              <a:ext uri="{FF2B5EF4-FFF2-40B4-BE49-F238E27FC236}">
                <a16:creationId xmlns:a16="http://schemas.microsoft.com/office/drawing/2014/main" id="{3727ACCA-BE77-D9D2-3CE9-F4B5FD04469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970777" y="3196829"/>
            <a:ext cx="4361446" cy="2167506"/>
          </a:xfrm>
          <a:prstGeom prst="rect">
            <a:avLst/>
          </a:prstGeom>
          <a:noFill/>
          <a:extLst>
            <a:ext uri="{909E8E84-426E-40DD-AFC4-6F175D3DCCD1}">
              <a14:hiddenFill xmlns:a14="http://schemas.microsoft.com/office/drawing/2010/main">
                <a:solidFill>
                  <a:srgbClr val="FFFFFF"/>
                </a:solidFill>
              </a14:hiddenFill>
            </a:ext>
          </a:extLst>
        </p:spPr>
      </p:pic>
      <p:pic>
        <p:nvPicPr>
          <p:cNvPr id="7" name="Picture 6" descr="Hundreds arrested over Quetta bomb ...">
            <a:extLst>
              <a:ext uri="{FF2B5EF4-FFF2-40B4-BE49-F238E27FC236}">
                <a16:creationId xmlns:a16="http://schemas.microsoft.com/office/drawing/2014/main" id="{E42157B7-BB49-9400-5AEB-DE12D22F4277}"/>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9124067" y="5055969"/>
            <a:ext cx="2847975" cy="1600200"/>
          </a:xfrm>
          <a:prstGeom prst="rect">
            <a:avLst/>
          </a:prstGeom>
          <a:noFill/>
          <a:extLst>
            <a:ext uri="{909E8E84-426E-40DD-AFC4-6F175D3DCCD1}">
              <a14:hiddenFill xmlns:a14="http://schemas.microsoft.com/office/drawing/2010/main">
                <a:solidFill>
                  <a:srgbClr val="FFFFFF"/>
                </a:solidFill>
              </a14:hiddenFill>
            </a:ext>
          </a:extLst>
        </p:spPr>
      </p:pic>
      <p:sp>
        <p:nvSpPr>
          <p:cNvPr id="8" name="TextBox 7">
            <a:extLst>
              <a:ext uri="{FF2B5EF4-FFF2-40B4-BE49-F238E27FC236}">
                <a16:creationId xmlns:a16="http://schemas.microsoft.com/office/drawing/2014/main" id="{F2C4C3A4-82C5-0839-A147-788AFC5172DB}"/>
              </a:ext>
            </a:extLst>
          </p:cNvPr>
          <p:cNvSpPr txBox="1"/>
          <p:nvPr/>
        </p:nvSpPr>
        <p:spPr>
          <a:xfrm>
            <a:off x="7543800" y="6132359"/>
            <a:ext cx="1773879" cy="430887"/>
          </a:xfrm>
          <a:prstGeom prst="rect">
            <a:avLst/>
          </a:prstGeom>
          <a:noFill/>
        </p:spPr>
        <p:txBody>
          <a:bodyPr wrap="square" rtlCol="0">
            <a:spAutoFit/>
          </a:bodyPr>
          <a:lstStyle/>
          <a:p>
            <a:r>
              <a:rPr lang="en-US" sz="1100" dirty="0">
                <a:solidFill>
                  <a:schemeClr val="bg1"/>
                </a:solidFill>
              </a:rPr>
              <a:t>Quetta market bombing 2013: Source ABC</a:t>
            </a:r>
            <a:endParaRPr lang="en-AU" sz="1100" dirty="0">
              <a:solidFill>
                <a:schemeClr val="bg1"/>
              </a:solidFill>
            </a:endParaRPr>
          </a:p>
        </p:txBody>
      </p:sp>
    </p:spTree>
    <p:extLst>
      <p:ext uri="{BB962C8B-B14F-4D97-AF65-F5344CB8AC3E}">
        <p14:creationId xmlns:p14="http://schemas.microsoft.com/office/powerpoint/2010/main" val="101042569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000054"/>
        </a:solidFill>
        <a:effectLst/>
      </p:bgPr>
    </p:bg>
    <p:spTree>
      <p:nvGrpSpPr>
        <p:cNvPr id="1" name="">
          <a:extLst>
            <a:ext uri="{FF2B5EF4-FFF2-40B4-BE49-F238E27FC236}">
              <a16:creationId xmlns:a16="http://schemas.microsoft.com/office/drawing/2014/main" id="{3588464A-262C-9B0F-861D-8AC6C5E2B60D}"/>
            </a:ext>
          </a:extLst>
        </p:cNvPr>
        <p:cNvGrpSpPr/>
        <p:nvPr/>
      </p:nvGrpSpPr>
      <p:grpSpPr>
        <a:xfrm>
          <a:off x="0" y="0"/>
          <a:ext cx="0" cy="0"/>
          <a:chOff x="0" y="0"/>
          <a:chExt cx="0" cy="0"/>
        </a:xfrm>
      </p:grpSpPr>
      <p:grpSp>
        <p:nvGrpSpPr>
          <p:cNvPr id="2" name="Group 2">
            <a:extLst>
              <a:ext uri="{FF2B5EF4-FFF2-40B4-BE49-F238E27FC236}">
                <a16:creationId xmlns:a16="http://schemas.microsoft.com/office/drawing/2014/main" id="{CF223104-CA0A-EB87-7A1E-AA89BA72BC3A}"/>
              </a:ext>
            </a:extLst>
          </p:cNvPr>
          <p:cNvGrpSpPr/>
          <p:nvPr/>
        </p:nvGrpSpPr>
        <p:grpSpPr>
          <a:xfrm rot="-10800000">
            <a:off x="11045567" y="-12700"/>
            <a:ext cx="1146433" cy="1146433"/>
            <a:chOff x="0" y="0"/>
            <a:chExt cx="1630482" cy="1630482"/>
          </a:xfrm>
        </p:grpSpPr>
        <p:sp>
          <p:nvSpPr>
            <p:cNvPr id="3" name="Freeform 3">
              <a:extLst>
                <a:ext uri="{FF2B5EF4-FFF2-40B4-BE49-F238E27FC236}">
                  <a16:creationId xmlns:a16="http://schemas.microsoft.com/office/drawing/2014/main" id="{141FE820-38F9-72E2-C6CB-7CCC958D3079}"/>
                </a:ext>
              </a:extLst>
            </p:cNvPr>
            <p:cNvSpPr/>
            <p:nvPr/>
          </p:nvSpPr>
          <p:spPr>
            <a:xfrm>
              <a:off x="0" y="0"/>
              <a:ext cx="1630426" cy="1630426"/>
            </a:xfrm>
            <a:custGeom>
              <a:avLst/>
              <a:gdLst/>
              <a:ahLst/>
              <a:cxnLst/>
              <a:rect l="l" t="t" r="r" b="b"/>
              <a:pathLst>
                <a:path w="1630426" h="1630426">
                  <a:moveTo>
                    <a:pt x="0" y="0"/>
                  </a:moveTo>
                  <a:lnTo>
                    <a:pt x="543433" y="0"/>
                  </a:lnTo>
                  <a:lnTo>
                    <a:pt x="543433" y="543433"/>
                  </a:lnTo>
                  <a:lnTo>
                    <a:pt x="1086993" y="543433"/>
                  </a:lnTo>
                  <a:lnTo>
                    <a:pt x="1086993" y="1086993"/>
                  </a:lnTo>
                  <a:lnTo>
                    <a:pt x="1630426" y="1086993"/>
                  </a:lnTo>
                  <a:lnTo>
                    <a:pt x="1630426" y="1630426"/>
                  </a:lnTo>
                  <a:lnTo>
                    <a:pt x="0" y="1630426"/>
                  </a:lnTo>
                  <a:lnTo>
                    <a:pt x="0" y="1086993"/>
                  </a:lnTo>
                  <a:lnTo>
                    <a:pt x="0" y="543433"/>
                  </a:lnTo>
                  <a:close/>
                </a:path>
              </a:pathLst>
            </a:custGeom>
            <a:solidFill>
              <a:srgbClr val="FFFFFF"/>
            </a:solid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AU" sz="1800" b="0" i="0" u="none" strike="noStrike" kern="1200" cap="none" spc="0" normalizeH="0" baseline="0" noProof="0">
                <a:ln>
                  <a:noFill/>
                </a:ln>
                <a:solidFill>
                  <a:prstClr val="black"/>
                </a:solidFill>
                <a:effectLst/>
                <a:uLnTx/>
                <a:uFillTx/>
                <a:latin typeface="Calibri"/>
                <a:ea typeface="+mn-ea"/>
                <a:cs typeface="+mn-cs"/>
              </a:endParaRPr>
            </a:p>
          </p:txBody>
        </p:sp>
      </p:grpSp>
      <p:sp>
        <p:nvSpPr>
          <p:cNvPr id="5" name="TextBox 5">
            <a:extLst>
              <a:ext uri="{FF2B5EF4-FFF2-40B4-BE49-F238E27FC236}">
                <a16:creationId xmlns:a16="http://schemas.microsoft.com/office/drawing/2014/main" id="{935730D1-3A4D-C033-026A-20EF074EFF42}"/>
              </a:ext>
            </a:extLst>
          </p:cNvPr>
          <p:cNvSpPr txBox="1"/>
          <p:nvPr/>
        </p:nvSpPr>
        <p:spPr>
          <a:xfrm>
            <a:off x="392084" y="560536"/>
            <a:ext cx="11190316" cy="409471"/>
          </a:xfrm>
          <a:prstGeom prst="rect">
            <a:avLst/>
          </a:prstGeom>
        </p:spPr>
        <p:txBody>
          <a:bodyPr wrap="square" lIns="0" tIns="0" rIns="0" bIns="0" rtlCol="0" anchor="t">
            <a:spAutoFit/>
          </a:bodyPr>
          <a:lstStyle/>
          <a:p>
            <a:pPr marL="0" marR="0" lvl="0" indent="0" algn="l" defTabSz="914400" rtl="0" eaLnBrk="1" fontAlgn="auto" latinLnBrk="0" hangingPunct="1">
              <a:lnSpc>
                <a:spcPts val="3494"/>
              </a:lnSpc>
              <a:spcBef>
                <a:spcPts val="0"/>
              </a:spcBef>
              <a:spcAft>
                <a:spcPts val="0"/>
              </a:spcAft>
              <a:buClrTx/>
              <a:buSzTx/>
              <a:buFontTx/>
              <a:buNone/>
              <a:tabLst/>
              <a:defRPr/>
            </a:pPr>
            <a:r>
              <a:rPr kumimoji="0" lang="en-US" sz="2496" b="1" i="1" u="none" strike="noStrike" kern="1200" cap="none" spc="0" normalizeH="0" baseline="0" noProof="0" dirty="0">
                <a:ln>
                  <a:noFill/>
                </a:ln>
                <a:solidFill>
                  <a:srgbClr val="FFFFFF"/>
                </a:solidFill>
                <a:effectLst/>
                <a:uLnTx/>
                <a:uFillTx/>
                <a:latin typeface="Arial Bold"/>
                <a:ea typeface="Arial Bold"/>
                <a:cs typeface="Arial Bold"/>
                <a:sym typeface="Arial Bold"/>
              </a:rPr>
              <a:t>Multiple grounds – BAK18 v Minister for Home Affairs </a:t>
            </a:r>
            <a:r>
              <a:rPr kumimoji="0" lang="en-US" sz="2496" b="1" u="none" strike="noStrike" kern="1200" cap="none" spc="0" normalizeH="0" baseline="0" noProof="0" dirty="0">
                <a:ln>
                  <a:noFill/>
                </a:ln>
                <a:solidFill>
                  <a:srgbClr val="FFFFFF"/>
                </a:solidFill>
                <a:effectLst/>
                <a:uLnTx/>
                <a:uFillTx/>
                <a:latin typeface="Arial Bold"/>
                <a:ea typeface="Arial Bold"/>
                <a:cs typeface="Arial Bold"/>
                <a:sym typeface="Arial Bold"/>
              </a:rPr>
              <a:t>(2020) 274 FCR 268</a:t>
            </a:r>
          </a:p>
        </p:txBody>
      </p:sp>
      <p:sp>
        <p:nvSpPr>
          <p:cNvPr id="9" name="TextBox 9">
            <a:extLst>
              <a:ext uri="{FF2B5EF4-FFF2-40B4-BE49-F238E27FC236}">
                <a16:creationId xmlns:a16="http://schemas.microsoft.com/office/drawing/2014/main" id="{DA78A73C-7407-3C70-F033-1BA1151A388D}"/>
              </a:ext>
            </a:extLst>
          </p:cNvPr>
          <p:cNvSpPr txBox="1"/>
          <p:nvPr/>
        </p:nvSpPr>
        <p:spPr>
          <a:xfrm>
            <a:off x="392084" y="1295400"/>
            <a:ext cx="6008716" cy="4274888"/>
          </a:xfrm>
          <a:prstGeom prst="rect">
            <a:avLst/>
          </a:prstGeom>
        </p:spPr>
        <p:txBody>
          <a:bodyPr wrap="square" lIns="0" tIns="0" rIns="0" bIns="0" rtlCol="0" anchor="t">
            <a:spAutoFit/>
          </a:bodyPr>
          <a:lstStyle/>
          <a:p>
            <a:pPr marL="285750" marR="0" lvl="0" indent="-285750" algn="l" defTabSz="914400" rtl="0" eaLnBrk="1" fontAlgn="auto" latinLnBrk="0" hangingPunct="1">
              <a:lnSpc>
                <a:spcPct val="100000"/>
              </a:lnSpc>
              <a:spcBef>
                <a:spcPts val="0"/>
              </a:spcBef>
              <a:spcAft>
                <a:spcPts val="1200"/>
              </a:spcAft>
              <a:buClrTx/>
              <a:buSzTx/>
              <a:buFont typeface="Arial" panose="020B0604020202020204" pitchFamily="34" charset="0"/>
              <a:buChar char="•"/>
              <a:tabLst/>
              <a:defRPr/>
            </a:pPr>
            <a:r>
              <a:rPr kumimoji="0" lang="en-US" sz="1627" b="0" i="0" u="none" strike="noStrike" kern="1200" cap="none" spc="0" normalizeH="0" baseline="0" noProof="0" dirty="0">
                <a:ln>
                  <a:noFill/>
                </a:ln>
                <a:solidFill>
                  <a:srgbClr val="FFFFFF"/>
                </a:solidFill>
                <a:effectLst/>
                <a:uLnTx/>
                <a:uFillTx/>
                <a:latin typeface="Arial" panose="020B0604020202020204" pitchFamily="34" charset="0"/>
                <a:ea typeface="Arial Bold"/>
                <a:cs typeface="Arial" panose="020B0604020202020204" pitchFamily="34" charset="0"/>
                <a:sym typeface="Arial Bold"/>
              </a:rPr>
              <a:t>Common law grounds (only one successful ground required) </a:t>
            </a:r>
          </a:p>
          <a:p>
            <a:pPr marL="285750" marR="0" lvl="0" indent="-285750" algn="l" defTabSz="914400" rtl="0" eaLnBrk="1" fontAlgn="auto" latinLnBrk="0" hangingPunct="1">
              <a:lnSpc>
                <a:spcPct val="100000"/>
              </a:lnSpc>
              <a:spcBef>
                <a:spcPts val="0"/>
              </a:spcBef>
              <a:spcAft>
                <a:spcPts val="1200"/>
              </a:spcAft>
              <a:buClrTx/>
              <a:buSzTx/>
              <a:buFont typeface="Arial" panose="020B0604020202020204" pitchFamily="34" charset="0"/>
              <a:buChar char="•"/>
              <a:tabLst/>
              <a:defRPr/>
            </a:pPr>
            <a:r>
              <a:rPr kumimoji="0" lang="en-US" sz="1627" b="0" i="0" u="none" strike="noStrike" kern="1200" cap="none" spc="0" normalizeH="0" baseline="0" noProof="0" dirty="0">
                <a:ln>
                  <a:noFill/>
                </a:ln>
                <a:solidFill>
                  <a:srgbClr val="FFFFFF"/>
                </a:solidFill>
                <a:effectLst/>
                <a:uLnTx/>
                <a:uFillTx/>
                <a:latin typeface="Arial" panose="020B0604020202020204" pitchFamily="34" charset="0"/>
                <a:ea typeface="Arial Bold"/>
                <a:cs typeface="Arial" panose="020B0604020202020204" pitchFamily="34" charset="0"/>
                <a:sym typeface="Arial Bold"/>
              </a:rPr>
              <a:t>BAK18 wife and children, Tamils, sought protection visas, for fear of persecution in Sri Lanka</a:t>
            </a:r>
          </a:p>
          <a:p>
            <a:pPr marL="285750" marR="0" lvl="0" indent="-285750" algn="l" defTabSz="914400" rtl="0" eaLnBrk="1" fontAlgn="auto" latinLnBrk="0" hangingPunct="1">
              <a:lnSpc>
                <a:spcPct val="100000"/>
              </a:lnSpc>
              <a:spcBef>
                <a:spcPts val="0"/>
              </a:spcBef>
              <a:spcAft>
                <a:spcPts val="1200"/>
              </a:spcAft>
              <a:buClrTx/>
              <a:buSzTx/>
              <a:buFont typeface="Arial" panose="020B0604020202020204" pitchFamily="34" charset="0"/>
              <a:buChar char="•"/>
              <a:tabLst/>
              <a:defRPr/>
            </a:pPr>
            <a:r>
              <a:rPr kumimoji="0" lang="en-US" sz="1627" b="0" i="0" u="none" strike="noStrike" kern="1200" cap="none" spc="0" normalizeH="0" baseline="0" noProof="0" dirty="0">
                <a:ln>
                  <a:noFill/>
                </a:ln>
                <a:solidFill>
                  <a:srgbClr val="FFFFFF"/>
                </a:solidFill>
                <a:effectLst/>
                <a:uLnTx/>
                <a:uFillTx/>
                <a:latin typeface="Arial" panose="020B0604020202020204" pitchFamily="34" charset="0"/>
                <a:ea typeface="Arial Bold"/>
                <a:cs typeface="Arial" panose="020B0604020202020204" pitchFamily="34" charset="0"/>
                <a:sym typeface="Arial Bold"/>
              </a:rPr>
              <a:t>Minister refused, reviewed by Immigration Assessment Authority (IAA), affirmed refusal.</a:t>
            </a:r>
          </a:p>
          <a:p>
            <a:pPr marL="285750" marR="0" lvl="0" indent="-285750" algn="l" defTabSz="914400" rtl="0" eaLnBrk="1" fontAlgn="auto" latinLnBrk="0" hangingPunct="1">
              <a:lnSpc>
                <a:spcPct val="100000"/>
              </a:lnSpc>
              <a:spcBef>
                <a:spcPts val="0"/>
              </a:spcBef>
              <a:spcAft>
                <a:spcPts val="1200"/>
              </a:spcAft>
              <a:buClrTx/>
              <a:buSzTx/>
              <a:buFont typeface="Arial" panose="020B0604020202020204" pitchFamily="34" charset="0"/>
              <a:buChar char="•"/>
              <a:tabLst/>
              <a:defRPr/>
            </a:pPr>
            <a:r>
              <a:rPr kumimoji="0" lang="en-US" sz="1627" b="1" i="0" u="none" strike="noStrike" kern="1200" cap="none" spc="0" normalizeH="0" baseline="0" noProof="0" dirty="0">
                <a:ln>
                  <a:noFill/>
                </a:ln>
                <a:solidFill>
                  <a:srgbClr val="FFFFFF"/>
                </a:solidFill>
                <a:effectLst/>
                <a:uLnTx/>
                <a:uFillTx/>
                <a:latin typeface="Arial" panose="020B0604020202020204" pitchFamily="34" charset="0"/>
                <a:ea typeface="Arial Bold"/>
                <a:cs typeface="Arial" panose="020B0604020202020204" pitchFamily="34" charset="0"/>
                <a:sym typeface="Arial Bold"/>
              </a:rPr>
              <a:t>Grounds </a:t>
            </a:r>
          </a:p>
          <a:p>
            <a:pPr marL="285750" marR="0" lvl="0" indent="-285750" algn="l" defTabSz="914400" rtl="0" eaLnBrk="1" fontAlgn="auto" latinLnBrk="0" hangingPunct="1">
              <a:lnSpc>
                <a:spcPct val="100000"/>
              </a:lnSpc>
              <a:spcBef>
                <a:spcPts val="0"/>
              </a:spcBef>
              <a:spcAft>
                <a:spcPts val="1200"/>
              </a:spcAft>
              <a:buClrTx/>
              <a:buSzTx/>
              <a:buFont typeface="Arial" panose="020B0604020202020204" pitchFamily="34" charset="0"/>
              <a:buChar char="•"/>
              <a:tabLst/>
              <a:defRPr/>
            </a:pPr>
            <a:r>
              <a:rPr kumimoji="0" lang="en-US" sz="1627" b="0" i="0" u="none" strike="noStrike" kern="1200" cap="none" spc="0" normalizeH="0" baseline="0" noProof="0" dirty="0">
                <a:ln>
                  <a:noFill/>
                </a:ln>
                <a:solidFill>
                  <a:srgbClr val="FFFFFF"/>
                </a:solidFill>
                <a:effectLst/>
                <a:uLnTx/>
                <a:uFillTx/>
                <a:latin typeface="Arial" panose="020B0604020202020204" pitchFamily="34" charset="0"/>
                <a:ea typeface="Arial Bold"/>
                <a:cs typeface="Arial" panose="020B0604020202020204" pitchFamily="34" charset="0"/>
                <a:sym typeface="Arial Bold"/>
              </a:rPr>
              <a:t>IAA had refused to consider new evidence (captaincy of a Tamil cricket team which suggested was Tamil) failed on ground of materiality;</a:t>
            </a:r>
          </a:p>
          <a:p>
            <a:pPr marL="285750" marR="0" lvl="0" indent="-285750" algn="l" defTabSz="914400" rtl="0" eaLnBrk="1" fontAlgn="auto" latinLnBrk="0" hangingPunct="1">
              <a:lnSpc>
                <a:spcPct val="100000"/>
              </a:lnSpc>
              <a:spcBef>
                <a:spcPts val="0"/>
              </a:spcBef>
              <a:spcAft>
                <a:spcPts val="1200"/>
              </a:spcAft>
              <a:buClrTx/>
              <a:buSzTx/>
              <a:buFont typeface="Arial" panose="020B0604020202020204" pitchFamily="34" charset="0"/>
              <a:buChar char="•"/>
              <a:tabLst/>
              <a:defRPr/>
            </a:pPr>
            <a:r>
              <a:rPr kumimoji="0" lang="en-US" sz="1627" b="0" i="0" u="none" strike="noStrike" kern="1200" cap="none" spc="0" normalizeH="0" baseline="0" noProof="0" dirty="0">
                <a:ln>
                  <a:noFill/>
                </a:ln>
                <a:solidFill>
                  <a:srgbClr val="FFFFFF"/>
                </a:solidFill>
                <a:effectLst/>
                <a:uLnTx/>
                <a:uFillTx/>
                <a:latin typeface="Arial" panose="020B0604020202020204" pitchFamily="34" charset="0"/>
                <a:ea typeface="Arial Bold"/>
                <a:cs typeface="Arial" panose="020B0604020202020204" pitchFamily="34" charset="0"/>
                <a:sym typeface="Arial Bold"/>
              </a:rPr>
              <a:t>Secretary failed to provide material to IAA re: mother and brother and the basis on which they had been granted protection visas (similar situation). Successful and this was a jurisdictional error; and </a:t>
            </a:r>
            <a:r>
              <a:rPr lang="en-US" sz="1627" dirty="0">
                <a:solidFill>
                  <a:srgbClr val="FFFFFF"/>
                </a:solidFill>
                <a:latin typeface="Arial" panose="020B0604020202020204" pitchFamily="34" charset="0"/>
                <a:ea typeface="Arial Bold"/>
                <a:cs typeface="Arial" panose="020B0604020202020204" pitchFamily="34" charset="0"/>
                <a:sym typeface="Arial Bold"/>
              </a:rPr>
              <a:t>n</a:t>
            </a:r>
            <a:r>
              <a:rPr kumimoji="0" lang="en-US" sz="1627" b="0" i="0" u="none" strike="noStrike" kern="1200" cap="none" spc="0" normalizeH="0" baseline="0" noProof="0" dirty="0" err="1">
                <a:ln>
                  <a:noFill/>
                </a:ln>
                <a:solidFill>
                  <a:srgbClr val="FFFFFF"/>
                </a:solidFill>
                <a:effectLst/>
                <a:uLnTx/>
                <a:uFillTx/>
                <a:latin typeface="Arial" panose="020B0604020202020204" pitchFamily="34" charset="0"/>
                <a:ea typeface="Arial Bold"/>
                <a:cs typeface="Arial" panose="020B0604020202020204" pitchFamily="34" charset="0"/>
                <a:sym typeface="Arial Bold"/>
              </a:rPr>
              <a:t>ot</a:t>
            </a:r>
            <a:r>
              <a:rPr kumimoji="0" lang="en-US" sz="1627" b="0" i="0" u="none" strike="noStrike" kern="1200" cap="none" spc="0" normalizeH="0" baseline="0" noProof="0" dirty="0">
                <a:ln>
                  <a:noFill/>
                </a:ln>
                <a:solidFill>
                  <a:srgbClr val="FFFFFF"/>
                </a:solidFill>
                <a:effectLst/>
                <a:uLnTx/>
                <a:uFillTx/>
                <a:latin typeface="Arial" panose="020B0604020202020204" pitchFamily="34" charset="0"/>
                <a:ea typeface="Arial Bold"/>
                <a:cs typeface="Arial" panose="020B0604020202020204" pitchFamily="34" charset="0"/>
                <a:sym typeface="Arial Bold"/>
              </a:rPr>
              <a:t> providing material was unreasonable. This argument was not considered.</a:t>
            </a:r>
          </a:p>
        </p:txBody>
      </p:sp>
      <p:sp>
        <p:nvSpPr>
          <p:cNvPr id="10" name="TextBox 10">
            <a:extLst>
              <a:ext uri="{FF2B5EF4-FFF2-40B4-BE49-F238E27FC236}">
                <a16:creationId xmlns:a16="http://schemas.microsoft.com/office/drawing/2014/main" id="{2F10F06C-7421-DED6-5322-471F365EB530}"/>
              </a:ext>
            </a:extLst>
          </p:cNvPr>
          <p:cNvSpPr txBox="1"/>
          <p:nvPr/>
        </p:nvSpPr>
        <p:spPr>
          <a:xfrm>
            <a:off x="10195446" y="6347803"/>
            <a:ext cx="1773879" cy="193258"/>
          </a:xfrm>
          <a:prstGeom prst="rect">
            <a:avLst/>
          </a:prstGeom>
        </p:spPr>
        <p:txBody>
          <a:bodyPr lIns="0" tIns="0" rIns="0" bIns="0" rtlCol="0" anchor="t">
            <a:spAutoFit/>
          </a:bodyPr>
          <a:lstStyle/>
          <a:p>
            <a:pPr marL="0" marR="0" lvl="0" indent="0" algn="l" defTabSz="914400" rtl="0" eaLnBrk="1" fontAlgn="auto" latinLnBrk="0" hangingPunct="1">
              <a:lnSpc>
                <a:spcPts val="1422"/>
              </a:lnSpc>
              <a:spcBef>
                <a:spcPts val="0"/>
              </a:spcBef>
              <a:spcAft>
                <a:spcPts val="0"/>
              </a:spcAft>
              <a:buClrTx/>
              <a:buSzTx/>
              <a:buFontTx/>
              <a:buNone/>
              <a:tabLst/>
              <a:defRPr/>
            </a:pPr>
            <a:r>
              <a:rPr kumimoji="0" lang="en-US" sz="1016" b="0" i="0" u="none" strike="noStrike" kern="1200" cap="none" spc="0" normalizeH="0" baseline="0" noProof="0">
                <a:ln>
                  <a:noFill/>
                </a:ln>
                <a:solidFill>
                  <a:srgbClr val="FFFFFF"/>
                </a:solidFill>
                <a:effectLst/>
                <a:uLnTx/>
                <a:uFillTx/>
                <a:latin typeface="Arial"/>
                <a:ea typeface="Arial"/>
                <a:cs typeface="Arial"/>
                <a:sym typeface="Arial"/>
              </a:rPr>
              <a:t>Administrative Law –LAW1023</a:t>
            </a:r>
          </a:p>
        </p:txBody>
      </p:sp>
      <p:pic>
        <p:nvPicPr>
          <p:cNvPr id="6" name="Picture 5">
            <a:extLst>
              <a:ext uri="{FF2B5EF4-FFF2-40B4-BE49-F238E27FC236}">
                <a16:creationId xmlns:a16="http://schemas.microsoft.com/office/drawing/2014/main" id="{958175D2-FCAC-4D8C-7FC4-92C8E3254997}"/>
              </a:ext>
            </a:extLst>
          </p:cNvPr>
          <p:cNvPicPr>
            <a:picLocks noChangeAspect="1"/>
          </p:cNvPicPr>
          <p:nvPr/>
        </p:nvPicPr>
        <p:blipFill>
          <a:blip r:embed="rId2"/>
          <a:srcRect l="25000" t="12222" r="24306" b="8173"/>
          <a:stretch/>
        </p:blipFill>
        <p:spPr>
          <a:xfrm>
            <a:off x="7162800" y="1295400"/>
            <a:ext cx="4165038" cy="4087664"/>
          </a:xfrm>
          <a:prstGeom prst="rect">
            <a:avLst/>
          </a:prstGeom>
        </p:spPr>
      </p:pic>
    </p:spTree>
    <p:extLst>
      <p:ext uri="{BB962C8B-B14F-4D97-AF65-F5344CB8AC3E}">
        <p14:creationId xmlns:p14="http://schemas.microsoft.com/office/powerpoint/2010/main" val="415758153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000054"/>
        </a:solidFill>
        <a:effectLst/>
      </p:bgPr>
    </p:bg>
    <p:spTree>
      <p:nvGrpSpPr>
        <p:cNvPr id="1" name="">
          <a:extLst>
            <a:ext uri="{FF2B5EF4-FFF2-40B4-BE49-F238E27FC236}">
              <a16:creationId xmlns:a16="http://schemas.microsoft.com/office/drawing/2014/main" id="{B8A526BC-7133-8CB8-5CF1-649A3FBAF32B}"/>
            </a:ext>
          </a:extLst>
        </p:cNvPr>
        <p:cNvGrpSpPr/>
        <p:nvPr/>
      </p:nvGrpSpPr>
      <p:grpSpPr>
        <a:xfrm>
          <a:off x="0" y="0"/>
          <a:ext cx="0" cy="0"/>
          <a:chOff x="0" y="0"/>
          <a:chExt cx="0" cy="0"/>
        </a:xfrm>
      </p:grpSpPr>
      <p:grpSp>
        <p:nvGrpSpPr>
          <p:cNvPr id="2" name="Group 2">
            <a:extLst>
              <a:ext uri="{FF2B5EF4-FFF2-40B4-BE49-F238E27FC236}">
                <a16:creationId xmlns:a16="http://schemas.microsoft.com/office/drawing/2014/main" id="{7B4491F2-65E4-DBC1-1CBB-11863820C1F0}"/>
              </a:ext>
            </a:extLst>
          </p:cNvPr>
          <p:cNvGrpSpPr/>
          <p:nvPr/>
        </p:nvGrpSpPr>
        <p:grpSpPr>
          <a:xfrm rot="-10800000">
            <a:off x="11045567" y="-12700"/>
            <a:ext cx="1146433" cy="1146433"/>
            <a:chOff x="0" y="0"/>
            <a:chExt cx="1630482" cy="1630482"/>
          </a:xfrm>
        </p:grpSpPr>
        <p:sp>
          <p:nvSpPr>
            <p:cNvPr id="3" name="Freeform 3">
              <a:extLst>
                <a:ext uri="{FF2B5EF4-FFF2-40B4-BE49-F238E27FC236}">
                  <a16:creationId xmlns:a16="http://schemas.microsoft.com/office/drawing/2014/main" id="{1B7CB32F-0065-844E-F0FF-AB7B111222EC}"/>
                </a:ext>
              </a:extLst>
            </p:cNvPr>
            <p:cNvSpPr/>
            <p:nvPr/>
          </p:nvSpPr>
          <p:spPr>
            <a:xfrm>
              <a:off x="0" y="0"/>
              <a:ext cx="1630426" cy="1630426"/>
            </a:xfrm>
            <a:custGeom>
              <a:avLst/>
              <a:gdLst/>
              <a:ahLst/>
              <a:cxnLst/>
              <a:rect l="l" t="t" r="r" b="b"/>
              <a:pathLst>
                <a:path w="1630426" h="1630426">
                  <a:moveTo>
                    <a:pt x="0" y="0"/>
                  </a:moveTo>
                  <a:lnTo>
                    <a:pt x="543433" y="0"/>
                  </a:lnTo>
                  <a:lnTo>
                    <a:pt x="543433" y="543433"/>
                  </a:lnTo>
                  <a:lnTo>
                    <a:pt x="1086993" y="543433"/>
                  </a:lnTo>
                  <a:lnTo>
                    <a:pt x="1086993" y="1086993"/>
                  </a:lnTo>
                  <a:lnTo>
                    <a:pt x="1630426" y="1086993"/>
                  </a:lnTo>
                  <a:lnTo>
                    <a:pt x="1630426" y="1630426"/>
                  </a:lnTo>
                  <a:lnTo>
                    <a:pt x="0" y="1630426"/>
                  </a:lnTo>
                  <a:lnTo>
                    <a:pt x="0" y="1086993"/>
                  </a:lnTo>
                  <a:lnTo>
                    <a:pt x="0" y="543433"/>
                  </a:lnTo>
                  <a:close/>
                </a:path>
              </a:pathLst>
            </a:custGeom>
            <a:solidFill>
              <a:srgbClr val="FFFFFF"/>
            </a:solid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AU" sz="1800" b="0" i="0" u="none" strike="noStrike" kern="1200" cap="none" spc="0" normalizeH="0" baseline="0" noProof="0">
                <a:ln>
                  <a:noFill/>
                </a:ln>
                <a:solidFill>
                  <a:prstClr val="black"/>
                </a:solidFill>
                <a:effectLst/>
                <a:uLnTx/>
                <a:uFillTx/>
                <a:latin typeface="Calibri"/>
                <a:ea typeface="+mn-ea"/>
                <a:cs typeface="+mn-cs"/>
              </a:endParaRPr>
            </a:p>
          </p:txBody>
        </p:sp>
      </p:grpSp>
      <p:sp>
        <p:nvSpPr>
          <p:cNvPr id="5" name="TextBox 5">
            <a:extLst>
              <a:ext uri="{FF2B5EF4-FFF2-40B4-BE49-F238E27FC236}">
                <a16:creationId xmlns:a16="http://schemas.microsoft.com/office/drawing/2014/main" id="{76088639-75A6-5B8D-90A3-9149DC39A845}"/>
              </a:ext>
            </a:extLst>
          </p:cNvPr>
          <p:cNvSpPr txBox="1"/>
          <p:nvPr/>
        </p:nvSpPr>
        <p:spPr>
          <a:xfrm>
            <a:off x="392084" y="560536"/>
            <a:ext cx="11190316" cy="409471"/>
          </a:xfrm>
          <a:prstGeom prst="rect">
            <a:avLst/>
          </a:prstGeom>
        </p:spPr>
        <p:txBody>
          <a:bodyPr wrap="square" lIns="0" tIns="0" rIns="0" bIns="0" rtlCol="0" anchor="t">
            <a:spAutoFit/>
          </a:bodyPr>
          <a:lstStyle/>
          <a:p>
            <a:pPr marL="0" marR="0" lvl="0" indent="0" algn="l" defTabSz="914400" rtl="0" eaLnBrk="1" fontAlgn="auto" latinLnBrk="0" hangingPunct="1">
              <a:lnSpc>
                <a:spcPts val="3494"/>
              </a:lnSpc>
              <a:spcBef>
                <a:spcPts val="0"/>
              </a:spcBef>
              <a:spcAft>
                <a:spcPts val="0"/>
              </a:spcAft>
              <a:buClrTx/>
              <a:buSzTx/>
              <a:buFontTx/>
              <a:buNone/>
              <a:tabLst/>
              <a:defRPr/>
            </a:pPr>
            <a:r>
              <a:rPr kumimoji="0" lang="en-US" sz="2496" b="1" u="none" strike="noStrike" kern="1200" cap="none" spc="0" normalizeH="0" baseline="0" noProof="0" dirty="0">
                <a:ln>
                  <a:noFill/>
                </a:ln>
                <a:solidFill>
                  <a:srgbClr val="FFFFFF"/>
                </a:solidFill>
                <a:effectLst/>
                <a:uLnTx/>
                <a:uFillTx/>
                <a:latin typeface="Arial Bold"/>
                <a:ea typeface="Arial Bold"/>
                <a:cs typeface="Arial Bold"/>
                <a:sym typeface="Arial Bold"/>
              </a:rPr>
              <a:t>Acting beyond power (misconceiving the scope of the power) </a:t>
            </a:r>
          </a:p>
        </p:txBody>
      </p:sp>
      <p:sp>
        <p:nvSpPr>
          <p:cNvPr id="9" name="TextBox 9">
            <a:extLst>
              <a:ext uri="{FF2B5EF4-FFF2-40B4-BE49-F238E27FC236}">
                <a16:creationId xmlns:a16="http://schemas.microsoft.com/office/drawing/2014/main" id="{60B70974-2676-4BE6-3508-CEA5F9BECCD9}"/>
              </a:ext>
            </a:extLst>
          </p:cNvPr>
          <p:cNvSpPr txBox="1"/>
          <p:nvPr/>
        </p:nvSpPr>
        <p:spPr>
          <a:xfrm>
            <a:off x="392084" y="1295400"/>
            <a:ext cx="6389716" cy="1906612"/>
          </a:xfrm>
          <a:prstGeom prst="rect">
            <a:avLst/>
          </a:prstGeom>
        </p:spPr>
        <p:txBody>
          <a:bodyPr wrap="square" lIns="0" tIns="0" rIns="0" bIns="0" rtlCol="0" anchor="t">
            <a:spAutoFit/>
          </a:bodyPr>
          <a:lstStyle/>
          <a:p>
            <a:pPr marL="285750" marR="0" lvl="0" indent="-285750" algn="l" defTabSz="914400" rtl="0" eaLnBrk="1" fontAlgn="auto" latinLnBrk="0" hangingPunct="1">
              <a:lnSpc>
                <a:spcPct val="100000"/>
              </a:lnSpc>
              <a:spcBef>
                <a:spcPts val="0"/>
              </a:spcBef>
              <a:spcAft>
                <a:spcPts val="1200"/>
              </a:spcAft>
              <a:buClrTx/>
              <a:buSzTx/>
              <a:buFont typeface="Arial" panose="020B0604020202020204" pitchFamily="34" charset="0"/>
              <a:buChar char="•"/>
              <a:tabLst/>
              <a:defRPr/>
            </a:pPr>
            <a:r>
              <a:rPr kumimoji="0" lang="en-US" sz="1627" b="0" i="0" u="none" strike="noStrike" kern="1200" cap="none" spc="0" normalizeH="0" baseline="0" noProof="0" dirty="0">
                <a:ln>
                  <a:noFill/>
                </a:ln>
                <a:solidFill>
                  <a:srgbClr val="FFFFFF"/>
                </a:solidFill>
                <a:effectLst/>
                <a:uLnTx/>
                <a:uFillTx/>
                <a:latin typeface="Arial" panose="020B0604020202020204" pitchFamily="34" charset="0"/>
                <a:ea typeface="Arial Bold"/>
                <a:cs typeface="Arial" panose="020B0604020202020204" pitchFamily="34" charset="0"/>
                <a:sym typeface="Arial Bold"/>
              </a:rPr>
              <a:t>ADJR Act  </a:t>
            </a:r>
            <a:br>
              <a:rPr kumimoji="0" lang="en-US" sz="1627" b="0" i="0" u="none" strike="noStrike" kern="1200" cap="none" spc="0" normalizeH="0" baseline="0" noProof="0" dirty="0">
                <a:ln>
                  <a:noFill/>
                </a:ln>
                <a:solidFill>
                  <a:srgbClr val="FFFFFF"/>
                </a:solidFill>
                <a:effectLst/>
                <a:uLnTx/>
                <a:uFillTx/>
                <a:latin typeface="Arial" panose="020B0604020202020204" pitchFamily="34" charset="0"/>
                <a:ea typeface="Arial Bold"/>
                <a:cs typeface="Arial" panose="020B0604020202020204" pitchFamily="34" charset="0"/>
                <a:sym typeface="Arial Bold"/>
              </a:rPr>
            </a:br>
            <a:r>
              <a:rPr kumimoji="0" lang="en-US" sz="1627" b="0" i="0" u="none" strike="noStrike" kern="1200" cap="none" spc="0" normalizeH="0" baseline="0" noProof="0" dirty="0">
                <a:ln>
                  <a:noFill/>
                </a:ln>
                <a:solidFill>
                  <a:srgbClr val="FFFFFF"/>
                </a:solidFill>
                <a:effectLst/>
                <a:uLnTx/>
                <a:uFillTx/>
                <a:latin typeface="Arial" panose="020B0604020202020204" pitchFamily="34" charset="0"/>
                <a:ea typeface="Arial Bold"/>
                <a:cs typeface="Arial" panose="020B0604020202020204" pitchFamily="34" charset="0"/>
                <a:sym typeface="Arial Bold"/>
              </a:rPr>
              <a:t>s5(1) (c) – that the person …did not have jurisdiction</a:t>
            </a:r>
            <a:br>
              <a:rPr kumimoji="0" lang="en-US" sz="1627" b="0" i="0" u="none" strike="noStrike" kern="1200" cap="none" spc="0" normalizeH="0" baseline="0" noProof="0" dirty="0">
                <a:ln>
                  <a:noFill/>
                </a:ln>
                <a:solidFill>
                  <a:srgbClr val="FFFFFF"/>
                </a:solidFill>
                <a:effectLst/>
                <a:uLnTx/>
                <a:uFillTx/>
                <a:latin typeface="Arial" panose="020B0604020202020204" pitchFamily="34" charset="0"/>
                <a:ea typeface="Arial Bold"/>
                <a:cs typeface="Arial" panose="020B0604020202020204" pitchFamily="34" charset="0"/>
                <a:sym typeface="Arial Bold"/>
              </a:rPr>
            </a:br>
            <a:br>
              <a:rPr kumimoji="0" lang="en-US" sz="1627" b="0" i="0" u="none" strike="noStrike" kern="1200" cap="none" spc="0" normalizeH="0" baseline="0" noProof="0" dirty="0">
                <a:ln>
                  <a:noFill/>
                </a:ln>
                <a:solidFill>
                  <a:srgbClr val="FFFFFF"/>
                </a:solidFill>
                <a:effectLst/>
                <a:uLnTx/>
                <a:uFillTx/>
                <a:latin typeface="Arial" panose="020B0604020202020204" pitchFamily="34" charset="0"/>
                <a:ea typeface="Arial Bold"/>
                <a:cs typeface="Arial" panose="020B0604020202020204" pitchFamily="34" charset="0"/>
                <a:sym typeface="Arial Bold"/>
              </a:rPr>
            </a:br>
            <a:r>
              <a:rPr kumimoji="0" lang="en-US" sz="1627" b="0" i="0" u="none" strike="noStrike" kern="1200" cap="none" spc="0" normalizeH="0" baseline="0" noProof="0" dirty="0">
                <a:ln>
                  <a:noFill/>
                </a:ln>
                <a:solidFill>
                  <a:srgbClr val="FFFFFF"/>
                </a:solidFill>
                <a:effectLst/>
                <a:uLnTx/>
                <a:uFillTx/>
                <a:latin typeface="Arial" panose="020B0604020202020204" pitchFamily="34" charset="0"/>
                <a:ea typeface="Arial Bold"/>
                <a:cs typeface="Arial" panose="020B0604020202020204" pitchFamily="34" charset="0"/>
                <a:sym typeface="Arial Bold"/>
              </a:rPr>
              <a:t>s 5(1)(d) – ‘that the decision was not authorized by the enactment in pursuance of which it was purported to be made’</a:t>
            </a:r>
            <a:endParaRPr lang="en-US" sz="1627" dirty="0">
              <a:solidFill>
                <a:srgbClr val="FFFFFF"/>
              </a:solidFill>
              <a:latin typeface="Arial" panose="020B0604020202020204" pitchFamily="34" charset="0"/>
              <a:ea typeface="Arial Bold"/>
              <a:cs typeface="Arial" panose="020B0604020202020204" pitchFamily="34" charset="0"/>
              <a:sym typeface="Arial Bold"/>
            </a:endParaRPr>
          </a:p>
          <a:p>
            <a:pPr marR="0" lvl="0" algn="l" defTabSz="914400" rtl="0" eaLnBrk="1" fontAlgn="auto" latinLnBrk="0" hangingPunct="1">
              <a:lnSpc>
                <a:spcPct val="100000"/>
              </a:lnSpc>
              <a:spcBef>
                <a:spcPts val="0"/>
              </a:spcBef>
              <a:spcAft>
                <a:spcPts val="1200"/>
              </a:spcAft>
              <a:buClrTx/>
              <a:buSzTx/>
              <a:tabLst/>
              <a:defRPr/>
            </a:pPr>
            <a:r>
              <a:rPr kumimoji="0" lang="en-US" sz="1627" b="0" i="0" u="none" strike="noStrike" kern="1200" cap="none" spc="0" normalizeH="0" baseline="0" noProof="0" dirty="0">
                <a:ln>
                  <a:noFill/>
                </a:ln>
                <a:solidFill>
                  <a:srgbClr val="FFFFFF"/>
                </a:solidFill>
                <a:effectLst/>
                <a:uLnTx/>
                <a:uFillTx/>
                <a:latin typeface="Arial" panose="020B0604020202020204" pitchFamily="34" charset="0"/>
                <a:ea typeface="Arial Bold"/>
                <a:cs typeface="Arial" panose="020B0604020202020204" pitchFamily="34" charset="0"/>
                <a:sym typeface="Arial Bold"/>
              </a:rPr>
              <a:t>	</a:t>
            </a:r>
            <a:br>
              <a:rPr kumimoji="0" lang="en-US" sz="1627" b="0" i="0" u="none" strike="noStrike" kern="1200" cap="none" spc="0" normalizeH="0" baseline="0" noProof="0" dirty="0">
                <a:ln>
                  <a:noFill/>
                </a:ln>
                <a:solidFill>
                  <a:srgbClr val="FFFFFF"/>
                </a:solidFill>
                <a:effectLst/>
                <a:uLnTx/>
                <a:uFillTx/>
                <a:latin typeface="Arial" panose="020B0604020202020204" pitchFamily="34" charset="0"/>
                <a:ea typeface="Arial Bold"/>
                <a:cs typeface="Arial" panose="020B0604020202020204" pitchFamily="34" charset="0"/>
                <a:sym typeface="Arial Bold"/>
              </a:rPr>
            </a:br>
            <a:r>
              <a:rPr lang="en-US" sz="1627" dirty="0">
                <a:solidFill>
                  <a:srgbClr val="FFFFFF"/>
                </a:solidFill>
                <a:latin typeface="Arial" panose="020B0604020202020204" pitchFamily="34" charset="0"/>
                <a:ea typeface="Arial Bold"/>
                <a:cs typeface="Arial" panose="020B0604020202020204" pitchFamily="34" charset="0"/>
                <a:sym typeface="Arial Bold"/>
              </a:rPr>
              <a:t>     </a:t>
            </a:r>
            <a:r>
              <a:rPr kumimoji="0" lang="en-US" sz="1627" b="0" i="0" u="none" strike="noStrike" kern="1200" cap="none" spc="0" normalizeH="0" baseline="0" noProof="0" dirty="0">
                <a:ln>
                  <a:noFill/>
                </a:ln>
                <a:solidFill>
                  <a:srgbClr val="FFFFFF"/>
                </a:solidFill>
                <a:effectLst/>
                <a:uLnTx/>
                <a:uFillTx/>
                <a:latin typeface="Arial" panose="020B0604020202020204" pitchFamily="34" charset="0"/>
                <a:ea typeface="Arial Bold"/>
                <a:cs typeface="Arial" panose="020B0604020202020204" pitchFamily="34" charset="0"/>
                <a:sym typeface="Arial Bold"/>
              </a:rPr>
              <a:t>s5(1) j)-…..otherwise contrary to law</a:t>
            </a:r>
          </a:p>
        </p:txBody>
      </p:sp>
      <p:sp>
        <p:nvSpPr>
          <p:cNvPr id="10" name="TextBox 10">
            <a:extLst>
              <a:ext uri="{FF2B5EF4-FFF2-40B4-BE49-F238E27FC236}">
                <a16:creationId xmlns:a16="http://schemas.microsoft.com/office/drawing/2014/main" id="{CB8F3C88-5261-7117-45A6-63192B84C9FC}"/>
              </a:ext>
            </a:extLst>
          </p:cNvPr>
          <p:cNvSpPr txBox="1"/>
          <p:nvPr/>
        </p:nvSpPr>
        <p:spPr>
          <a:xfrm>
            <a:off x="10195446" y="6347803"/>
            <a:ext cx="1773879" cy="193258"/>
          </a:xfrm>
          <a:prstGeom prst="rect">
            <a:avLst/>
          </a:prstGeom>
        </p:spPr>
        <p:txBody>
          <a:bodyPr lIns="0" tIns="0" rIns="0" bIns="0" rtlCol="0" anchor="t">
            <a:spAutoFit/>
          </a:bodyPr>
          <a:lstStyle/>
          <a:p>
            <a:pPr marL="0" marR="0" lvl="0" indent="0" algn="l" defTabSz="914400" rtl="0" eaLnBrk="1" fontAlgn="auto" latinLnBrk="0" hangingPunct="1">
              <a:lnSpc>
                <a:spcPts val="1422"/>
              </a:lnSpc>
              <a:spcBef>
                <a:spcPts val="0"/>
              </a:spcBef>
              <a:spcAft>
                <a:spcPts val="0"/>
              </a:spcAft>
              <a:buClrTx/>
              <a:buSzTx/>
              <a:buFontTx/>
              <a:buNone/>
              <a:tabLst/>
              <a:defRPr/>
            </a:pPr>
            <a:r>
              <a:rPr kumimoji="0" lang="en-US" sz="1016" b="0" i="0" u="none" strike="noStrike" kern="1200" cap="none" spc="0" normalizeH="0" baseline="0" noProof="0">
                <a:ln>
                  <a:noFill/>
                </a:ln>
                <a:solidFill>
                  <a:srgbClr val="FFFFFF"/>
                </a:solidFill>
                <a:effectLst/>
                <a:uLnTx/>
                <a:uFillTx/>
                <a:latin typeface="Arial"/>
                <a:ea typeface="Arial"/>
                <a:cs typeface="Arial"/>
                <a:sym typeface="Arial"/>
              </a:rPr>
              <a:t>Administrative Law –LAW1023</a:t>
            </a:r>
          </a:p>
        </p:txBody>
      </p:sp>
      <p:pic>
        <p:nvPicPr>
          <p:cNvPr id="5122" name="Picture 2" descr="Light Lamp Pixar Animation PNG">
            <a:extLst>
              <a:ext uri="{FF2B5EF4-FFF2-40B4-BE49-F238E27FC236}">
                <a16:creationId xmlns:a16="http://schemas.microsoft.com/office/drawing/2014/main" id="{FFD87C28-2FA9-E5B9-3AC3-1E8041E7BB93}"/>
              </a:ext>
            </a:extLst>
          </p:cNvPr>
          <p:cNvPicPr>
            <a:picLocks noChangeAspect="1" noChangeArrowheads="1"/>
          </p:cNvPicPr>
          <p:nvPr/>
        </p:nvPicPr>
        <p:blipFill>
          <a:blip r:embed="rId2">
            <a:extLst>
              <a:ext uri="{BEBA8EAE-BF5A-486C-A8C5-ECC9F3942E4B}">
                <a14:imgProps xmlns:a14="http://schemas.microsoft.com/office/drawing/2010/main">
                  <a14:imgLayer r:embed="rId3">
                    <a14:imgEffect>
                      <a14:backgroundRemoval t="2076" b="94994" l="10000" r="90000">
                        <a14:foregroundMark x1="46341" y1="8791" x2="53902" y2="3663"/>
                        <a14:foregroundMark x1="53902" y1="3663" x2="64390" y2="2076"/>
                        <a14:foregroundMark x1="64390" y1="2076" x2="72195" y2="6838"/>
                        <a14:foregroundMark x1="62561" y1="19048" x2="55732" y2="22222"/>
                        <a14:foregroundMark x1="34268" y1="92796" x2="52317" y2="94994"/>
                        <a14:foregroundMark x1="59268" y1="17827" x2="59512" y2="25519"/>
                      </a14:backgroundRemoval>
                    </a14:imgEffect>
                  </a14:imgLayer>
                </a14:imgProps>
              </a:ext>
              <a:ext uri="{28A0092B-C50C-407E-A947-70E740481C1C}">
                <a14:useLocalDpi xmlns:a14="http://schemas.microsoft.com/office/drawing/2010/main" val="0"/>
              </a:ext>
            </a:extLst>
          </a:blip>
          <a:srcRect/>
          <a:stretch>
            <a:fillRect/>
          </a:stretch>
        </p:blipFill>
        <p:spPr bwMode="auto">
          <a:xfrm>
            <a:off x="6781800" y="1719122"/>
            <a:ext cx="4263806" cy="425887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44318481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000054"/>
        </a:solidFill>
        <a:effectLst/>
      </p:bgPr>
    </p:bg>
    <p:spTree>
      <p:nvGrpSpPr>
        <p:cNvPr id="1" name="">
          <a:extLst>
            <a:ext uri="{FF2B5EF4-FFF2-40B4-BE49-F238E27FC236}">
              <a16:creationId xmlns:a16="http://schemas.microsoft.com/office/drawing/2014/main" id="{C3449713-DEA0-26E0-D016-CC518E87312D}"/>
            </a:ext>
          </a:extLst>
        </p:cNvPr>
        <p:cNvGrpSpPr/>
        <p:nvPr/>
      </p:nvGrpSpPr>
      <p:grpSpPr>
        <a:xfrm>
          <a:off x="0" y="0"/>
          <a:ext cx="0" cy="0"/>
          <a:chOff x="0" y="0"/>
          <a:chExt cx="0" cy="0"/>
        </a:xfrm>
      </p:grpSpPr>
      <p:grpSp>
        <p:nvGrpSpPr>
          <p:cNvPr id="2" name="Group 2">
            <a:extLst>
              <a:ext uri="{FF2B5EF4-FFF2-40B4-BE49-F238E27FC236}">
                <a16:creationId xmlns:a16="http://schemas.microsoft.com/office/drawing/2014/main" id="{C3471D57-EC6C-1D6B-4A12-49DA9528B2A2}"/>
              </a:ext>
            </a:extLst>
          </p:cNvPr>
          <p:cNvGrpSpPr/>
          <p:nvPr/>
        </p:nvGrpSpPr>
        <p:grpSpPr>
          <a:xfrm rot="-10800000">
            <a:off x="11045567" y="-12700"/>
            <a:ext cx="1146433" cy="1146433"/>
            <a:chOff x="0" y="0"/>
            <a:chExt cx="1630482" cy="1630482"/>
          </a:xfrm>
        </p:grpSpPr>
        <p:sp>
          <p:nvSpPr>
            <p:cNvPr id="3" name="Freeform 3">
              <a:extLst>
                <a:ext uri="{FF2B5EF4-FFF2-40B4-BE49-F238E27FC236}">
                  <a16:creationId xmlns:a16="http://schemas.microsoft.com/office/drawing/2014/main" id="{857D4B93-AF08-89A3-3013-1574C3B834CC}"/>
                </a:ext>
              </a:extLst>
            </p:cNvPr>
            <p:cNvSpPr/>
            <p:nvPr/>
          </p:nvSpPr>
          <p:spPr>
            <a:xfrm>
              <a:off x="0" y="0"/>
              <a:ext cx="1630426" cy="1630426"/>
            </a:xfrm>
            <a:custGeom>
              <a:avLst/>
              <a:gdLst/>
              <a:ahLst/>
              <a:cxnLst/>
              <a:rect l="l" t="t" r="r" b="b"/>
              <a:pathLst>
                <a:path w="1630426" h="1630426">
                  <a:moveTo>
                    <a:pt x="0" y="0"/>
                  </a:moveTo>
                  <a:lnTo>
                    <a:pt x="543433" y="0"/>
                  </a:lnTo>
                  <a:lnTo>
                    <a:pt x="543433" y="543433"/>
                  </a:lnTo>
                  <a:lnTo>
                    <a:pt x="1086993" y="543433"/>
                  </a:lnTo>
                  <a:lnTo>
                    <a:pt x="1086993" y="1086993"/>
                  </a:lnTo>
                  <a:lnTo>
                    <a:pt x="1630426" y="1086993"/>
                  </a:lnTo>
                  <a:lnTo>
                    <a:pt x="1630426" y="1630426"/>
                  </a:lnTo>
                  <a:lnTo>
                    <a:pt x="0" y="1630426"/>
                  </a:lnTo>
                  <a:lnTo>
                    <a:pt x="0" y="1086993"/>
                  </a:lnTo>
                  <a:lnTo>
                    <a:pt x="0" y="543433"/>
                  </a:lnTo>
                  <a:close/>
                </a:path>
              </a:pathLst>
            </a:custGeom>
            <a:solidFill>
              <a:srgbClr val="FFFFFF"/>
            </a:solid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AU" sz="1800" b="0" i="0" u="none" strike="noStrike" kern="1200" cap="none" spc="0" normalizeH="0" baseline="0" noProof="0">
                <a:ln>
                  <a:noFill/>
                </a:ln>
                <a:solidFill>
                  <a:prstClr val="black"/>
                </a:solidFill>
                <a:effectLst/>
                <a:uLnTx/>
                <a:uFillTx/>
                <a:latin typeface="Calibri"/>
                <a:ea typeface="+mn-ea"/>
                <a:cs typeface="+mn-cs"/>
              </a:endParaRPr>
            </a:p>
          </p:txBody>
        </p:sp>
      </p:grpSp>
      <p:sp>
        <p:nvSpPr>
          <p:cNvPr id="5" name="TextBox 5">
            <a:extLst>
              <a:ext uri="{FF2B5EF4-FFF2-40B4-BE49-F238E27FC236}">
                <a16:creationId xmlns:a16="http://schemas.microsoft.com/office/drawing/2014/main" id="{1CC21E76-995C-18F5-E010-CC7CF8BAA170}"/>
              </a:ext>
            </a:extLst>
          </p:cNvPr>
          <p:cNvSpPr txBox="1"/>
          <p:nvPr/>
        </p:nvSpPr>
        <p:spPr>
          <a:xfrm>
            <a:off x="392084" y="560536"/>
            <a:ext cx="11190316" cy="409471"/>
          </a:xfrm>
          <a:prstGeom prst="rect">
            <a:avLst/>
          </a:prstGeom>
        </p:spPr>
        <p:txBody>
          <a:bodyPr wrap="square" lIns="0" tIns="0" rIns="0" bIns="0" rtlCol="0" anchor="t">
            <a:spAutoFit/>
          </a:bodyPr>
          <a:lstStyle/>
          <a:p>
            <a:pPr marL="0" marR="0" lvl="0" indent="0" algn="l" defTabSz="914400" rtl="0" eaLnBrk="1" fontAlgn="auto" latinLnBrk="0" hangingPunct="1">
              <a:lnSpc>
                <a:spcPts val="3494"/>
              </a:lnSpc>
              <a:spcBef>
                <a:spcPts val="0"/>
              </a:spcBef>
              <a:spcAft>
                <a:spcPts val="0"/>
              </a:spcAft>
              <a:buClrTx/>
              <a:buSzTx/>
              <a:buFontTx/>
              <a:buNone/>
              <a:tabLst/>
              <a:defRPr/>
            </a:pPr>
            <a:r>
              <a:rPr kumimoji="0" lang="en-US" sz="2496" b="1" u="none" strike="noStrike" kern="1200" cap="none" spc="0" normalizeH="0" baseline="0" noProof="0" dirty="0">
                <a:ln>
                  <a:noFill/>
                </a:ln>
                <a:solidFill>
                  <a:srgbClr val="FFFFFF"/>
                </a:solidFill>
                <a:effectLst/>
                <a:uLnTx/>
                <a:uFillTx/>
                <a:latin typeface="Arial Bold"/>
                <a:ea typeface="Arial Bold"/>
                <a:cs typeface="Arial Bold"/>
                <a:sym typeface="Arial Bold"/>
              </a:rPr>
              <a:t>Acting beyond power (misconceiving the scope of the power) </a:t>
            </a:r>
          </a:p>
        </p:txBody>
      </p:sp>
      <p:sp>
        <p:nvSpPr>
          <p:cNvPr id="9" name="TextBox 9">
            <a:extLst>
              <a:ext uri="{FF2B5EF4-FFF2-40B4-BE49-F238E27FC236}">
                <a16:creationId xmlns:a16="http://schemas.microsoft.com/office/drawing/2014/main" id="{30123847-FCA8-EAD1-D2F9-B77EA9961602}"/>
              </a:ext>
            </a:extLst>
          </p:cNvPr>
          <p:cNvSpPr txBox="1"/>
          <p:nvPr/>
        </p:nvSpPr>
        <p:spPr>
          <a:xfrm>
            <a:off x="392084" y="1295400"/>
            <a:ext cx="6542116" cy="4314001"/>
          </a:xfrm>
          <a:prstGeom prst="rect">
            <a:avLst/>
          </a:prstGeom>
        </p:spPr>
        <p:txBody>
          <a:bodyPr wrap="square" lIns="0" tIns="0" rIns="0" bIns="0" rtlCol="0" anchor="t">
            <a:spAutoFit/>
          </a:bodyPr>
          <a:lstStyle/>
          <a:p>
            <a:pPr marL="285750" marR="0" lvl="0" indent="-285750" algn="l" defTabSz="914400" rtl="0" eaLnBrk="1" fontAlgn="auto" latinLnBrk="0" hangingPunct="1">
              <a:lnSpc>
                <a:spcPct val="100000"/>
              </a:lnSpc>
              <a:spcBef>
                <a:spcPts val="0"/>
              </a:spcBef>
              <a:spcAft>
                <a:spcPts val="1200"/>
              </a:spcAft>
              <a:buClrTx/>
              <a:buSzTx/>
              <a:buFont typeface="Arial" panose="020B0604020202020204" pitchFamily="34" charset="0"/>
              <a:buChar char="•"/>
              <a:tabLst/>
              <a:defRPr/>
            </a:pPr>
            <a:r>
              <a:rPr kumimoji="0" lang="en-US" sz="1627" b="0" i="0" u="none" strike="noStrike" kern="1200" cap="none" spc="0" normalizeH="0" baseline="0" noProof="0" dirty="0">
                <a:ln>
                  <a:noFill/>
                </a:ln>
                <a:solidFill>
                  <a:srgbClr val="FFFFFF"/>
                </a:solidFill>
                <a:effectLst/>
                <a:uLnTx/>
                <a:uFillTx/>
                <a:latin typeface="Arial" panose="020B0604020202020204" pitchFamily="34" charset="0"/>
                <a:ea typeface="Arial Bold"/>
                <a:cs typeface="Arial" panose="020B0604020202020204" pitchFamily="34" charset="0"/>
                <a:sym typeface="Arial Bold"/>
              </a:rPr>
              <a:t>The basic principle that all government action must be sourced in law applies to administrative acts as well as the making of delegated legislation. Both common law and ADJR Act ground, s 5(1)(d) – ‘that the decision was not </a:t>
            </a:r>
            <a:r>
              <a:rPr kumimoji="0" lang="en-US" sz="1627" b="0" i="0" u="none" strike="noStrike" kern="1200" cap="none" spc="0" normalizeH="0" baseline="0" noProof="0" dirty="0" err="1">
                <a:ln>
                  <a:noFill/>
                </a:ln>
                <a:solidFill>
                  <a:srgbClr val="FFFFFF"/>
                </a:solidFill>
                <a:effectLst/>
                <a:uLnTx/>
                <a:uFillTx/>
                <a:latin typeface="Arial" panose="020B0604020202020204" pitchFamily="34" charset="0"/>
                <a:ea typeface="Arial Bold"/>
                <a:cs typeface="Arial" panose="020B0604020202020204" pitchFamily="34" charset="0"/>
                <a:sym typeface="Arial Bold"/>
              </a:rPr>
              <a:t>authorised</a:t>
            </a:r>
            <a:r>
              <a:rPr kumimoji="0" lang="en-US" sz="1627" b="0" i="0" u="none" strike="noStrike" kern="1200" cap="none" spc="0" normalizeH="0" baseline="0" noProof="0" dirty="0">
                <a:ln>
                  <a:noFill/>
                </a:ln>
                <a:solidFill>
                  <a:srgbClr val="FFFFFF"/>
                </a:solidFill>
                <a:effectLst/>
                <a:uLnTx/>
                <a:uFillTx/>
                <a:latin typeface="Arial" panose="020B0604020202020204" pitchFamily="34" charset="0"/>
                <a:ea typeface="Arial Bold"/>
                <a:cs typeface="Arial" panose="020B0604020202020204" pitchFamily="34" charset="0"/>
                <a:sym typeface="Arial Bold"/>
              </a:rPr>
              <a:t> by the enactment in pursuance of which it was purported to be made’</a:t>
            </a:r>
          </a:p>
          <a:p>
            <a:pPr marL="285750" marR="0" lvl="0" indent="-285750" algn="l" defTabSz="914400" rtl="0" eaLnBrk="1" fontAlgn="auto" latinLnBrk="0" hangingPunct="1">
              <a:lnSpc>
                <a:spcPct val="100000"/>
              </a:lnSpc>
              <a:spcBef>
                <a:spcPts val="0"/>
              </a:spcBef>
              <a:spcAft>
                <a:spcPts val="1200"/>
              </a:spcAft>
              <a:buClrTx/>
              <a:buSzTx/>
              <a:buFont typeface="Arial" panose="020B0604020202020204" pitchFamily="34" charset="0"/>
              <a:buChar char="•"/>
              <a:tabLst/>
              <a:defRPr/>
            </a:pPr>
            <a:r>
              <a:rPr kumimoji="0" lang="en-US" sz="1627" b="0" i="1" u="none" strike="noStrike" kern="1200" cap="none" spc="0" normalizeH="0" baseline="0" noProof="0" dirty="0">
                <a:ln>
                  <a:noFill/>
                </a:ln>
                <a:solidFill>
                  <a:srgbClr val="FFFFFF"/>
                </a:solidFill>
                <a:effectLst/>
                <a:uLnTx/>
                <a:uFillTx/>
                <a:latin typeface="Arial" panose="020B0604020202020204" pitchFamily="34" charset="0"/>
                <a:ea typeface="Arial Bold"/>
                <a:cs typeface="Arial" panose="020B0604020202020204" pitchFamily="34" charset="0"/>
                <a:sym typeface="Arial Bold"/>
              </a:rPr>
              <a:t>Entick v Carrington</a:t>
            </a:r>
            <a:r>
              <a:rPr kumimoji="0" lang="en-US" sz="1627" b="0" i="0" u="none" strike="noStrike" kern="1200" cap="none" spc="0" normalizeH="0" baseline="0" noProof="0" dirty="0">
                <a:ln>
                  <a:noFill/>
                </a:ln>
                <a:solidFill>
                  <a:srgbClr val="FFFFFF"/>
                </a:solidFill>
                <a:effectLst/>
                <a:uLnTx/>
                <a:uFillTx/>
                <a:latin typeface="Arial" panose="020B0604020202020204" pitchFamily="34" charset="0"/>
                <a:ea typeface="Arial Bold"/>
                <a:cs typeface="Arial" panose="020B0604020202020204" pitchFamily="34" charset="0"/>
                <a:sym typeface="Arial Bold"/>
              </a:rPr>
              <a:t> (1765) 19 St Tr 1030 Secretary of State issued search warrant for seditious material against </a:t>
            </a:r>
            <a:r>
              <a:rPr kumimoji="0" lang="en-US" sz="1627" b="0" i="0" u="none" strike="noStrike" kern="1200" cap="none" spc="0" normalizeH="0" baseline="0" noProof="0" dirty="0" err="1">
                <a:ln>
                  <a:noFill/>
                </a:ln>
                <a:solidFill>
                  <a:srgbClr val="FFFFFF"/>
                </a:solidFill>
                <a:effectLst/>
                <a:uLnTx/>
                <a:uFillTx/>
                <a:latin typeface="Arial" panose="020B0604020202020204" pitchFamily="34" charset="0"/>
                <a:ea typeface="Arial Bold"/>
                <a:cs typeface="Arial" panose="020B0604020202020204" pitchFamily="34" charset="0"/>
                <a:sym typeface="Arial Bold"/>
              </a:rPr>
              <a:t>Mr</a:t>
            </a:r>
            <a:r>
              <a:rPr kumimoji="0" lang="en-US" sz="1627" b="0" i="0" u="none" strike="noStrike" kern="1200" cap="none" spc="0" normalizeH="0" baseline="0" noProof="0" dirty="0">
                <a:ln>
                  <a:noFill/>
                </a:ln>
                <a:solidFill>
                  <a:srgbClr val="FFFFFF"/>
                </a:solidFill>
                <a:effectLst/>
                <a:uLnTx/>
                <a:uFillTx/>
                <a:latin typeface="Arial" panose="020B0604020202020204" pitchFamily="34" charset="0"/>
                <a:ea typeface="Arial Bold"/>
                <a:cs typeface="Arial" panose="020B0604020202020204" pitchFamily="34" charset="0"/>
                <a:sym typeface="Arial Bold"/>
              </a:rPr>
              <a:t> Entick. Sued for trespass and won. All government action must be sourced in law; especially if it affects rights such as private property. Lord Camden CJ: rights preserved unless taken away ‘by some public law for the good of the whole’ in this case no such law existed.</a:t>
            </a:r>
          </a:p>
          <a:p>
            <a:pPr marL="285750" marR="0" lvl="0" indent="-285750" algn="l" defTabSz="914400" rtl="0" eaLnBrk="1" fontAlgn="auto" latinLnBrk="0" hangingPunct="1">
              <a:lnSpc>
                <a:spcPct val="100000"/>
              </a:lnSpc>
              <a:spcBef>
                <a:spcPts val="0"/>
              </a:spcBef>
              <a:spcAft>
                <a:spcPts val="1200"/>
              </a:spcAft>
              <a:buClrTx/>
              <a:buSzTx/>
              <a:buFont typeface="Arial" panose="020B0604020202020204" pitchFamily="34" charset="0"/>
              <a:buChar char="•"/>
              <a:tabLst/>
              <a:defRPr/>
            </a:pPr>
            <a:r>
              <a:rPr kumimoji="0" lang="en-US" sz="1627" b="0" i="1" u="none" strike="noStrike" kern="1200" cap="none" spc="0" normalizeH="0" baseline="0" noProof="0" dirty="0">
                <a:ln>
                  <a:noFill/>
                </a:ln>
                <a:solidFill>
                  <a:srgbClr val="FFFFFF"/>
                </a:solidFill>
                <a:effectLst/>
                <a:uLnTx/>
                <a:uFillTx/>
                <a:latin typeface="Arial" panose="020B0604020202020204" pitchFamily="34" charset="0"/>
                <a:ea typeface="Arial Bold"/>
                <a:cs typeface="Arial" panose="020B0604020202020204" pitchFamily="34" charset="0"/>
                <a:sym typeface="Arial Bold"/>
              </a:rPr>
              <a:t>A v Hayden (No 2)</a:t>
            </a:r>
            <a:r>
              <a:rPr kumimoji="0" lang="en-US" sz="1627" b="0" i="0" u="none" strike="noStrike" kern="1200" cap="none" spc="0" normalizeH="0" baseline="0" noProof="0" dirty="0">
                <a:ln>
                  <a:noFill/>
                </a:ln>
                <a:solidFill>
                  <a:srgbClr val="FFFFFF"/>
                </a:solidFill>
                <a:effectLst/>
                <a:uLnTx/>
                <a:uFillTx/>
                <a:latin typeface="Arial" panose="020B0604020202020204" pitchFamily="34" charset="0"/>
                <a:ea typeface="Arial Bold"/>
                <a:cs typeface="Arial" panose="020B0604020202020204" pitchFamily="34" charset="0"/>
                <a:sym typeface="Arial Bold"/>
              </a:rPr>
              <a:t> (1984) 156 CLR 532 ASIS officers not </a:t>
            </a:r>
            <a:r>
              <a:rPr kumimoji="0" lang="en-US" sz="1627" b="0" i="0" u="none" strike="noStrike" kern="1200" cap="none" spc="0" normalizeH="0" baseline="0" noProof="0" dirty="0" err="1">
                <a:ln>
                  <a:noFill/>
                </a:ln>
                <a:solidFill>
                  <a:srgbClr val="FFFFFF"/>
                </a:solidFill>
                <a:effectLst/>
                <a:uLnTx/>
                <a:uFillTx/>
                <a:latin typeface="Arial" panose="020B0604020202020204" pitchFamily="34" charset="0"/>
                <a:ea typeface="Arial Bold"/>
                <a:cs typeface="Arial" panose="020B0604020202020204" pitchFamily="34" charset="0"/>
                <a:sym typeface="Arial Bold"/>
              </a:rPr>
              <a:t>authorised</a:t>
            </a:r>
            <a:r>
              <a:rPr kumimoji="0" lang="en-US" sz="1627" b="0" i="0" u="none" strike="noStrike" kern="1200" cap="none" spc="0" normalizeH="0" baseline="0" noProof="0" dirty="0">
                <a:ln>
                  <a:noFill/>
                </a:ln>
                <a:solidFill>
                  <a:srgbClr val="FFFFFF"/>
                </a:solidFill>
                <a:effectLst/>
                <a:uLnTx/>
                <a:uFillTx/>
                <a:latin typeface="Arial" panose="020B0604020202020204" pitchFamily="34" charset="0"/>
                <a:ea typeface="Arial Bold"/>
                <a:cs typeface="Arial" panose="020B0604020202020204" pitchFamily="34" charset="0"/>
                <a:sym typeface="Arial Bold"/>
              </a:rPr>
              <a:t> to commit criminal offences, without express statutory exemption from prosecution. Crown in the past had ‘dispensing power’ but HCA said its danger had been </a:t>
            </a:r>
            <a:r>
              <a:rPr kumimoji="0" lang="en-US" sz="1627" b="0" i="0" u="none" strike="noStrike" kern="1200" cap="none" spc="0" normalizeH="0" baseline="0" noProof="0" dirty="0" err="1">
                <a:ln>
                  <a:noFill/>
                </a:ln>
                <a:solidFill>
                  <a:srgbClr val="FFFFFF"/>
                </a:solidFill>
                <a:effectLst/>
                <a:uLnTx/>
                <a:uFillTx/>
                <a:latin typeface="Arial" panose="020B0604020202020204" pitchFamily="34" charset="0"/>
                <a:ea typeface="Arial Bold"/>
                <a:cs typeface="Arial" panose="020B0604020202020204" pitchFamily="34" charset="0"/>
                <a:sym typeface="Arial Bold"/>
              </a:rPr>
              <a:t>recognised</a:t>
            </a:r>
            <a:r>
              <a:rPr kumimoji="0" lang="en-US" sz="1627" b="0" i="0" u="none" strike="noStrike" kern="1200" cap="none" spc="0" normalizeH="0" baseline="0" noProof="0" dirty="0">
                <a:ln>
                  <a:noFill/>
                </a:ln>
                <a:solidFill>
                  <a:srgbClr val="FFFFFF"/>
                </a:solidFill>
                <a:effectLst/>
                <a:uLnTx/>
                <a:uFillTx/>
                <a:latin typeface="Arial" panose="020B0604020202020204" pitchFamily="34" charset="0"/>
                <a:ea typeface="Arial Bold"/>
                <a:cs typeface="Arial" panose="020B0604020202020204" pitchFamily="34" charset="0"/>
                <a:sym typeface="Arial Bold"/>
              </a:rPr>
              <a:t> and it had been fully abolished by 1689 Bill of Rights.</a:t>
            </a:r>
          </a:p>
        </p:txBody>
      </p:sp>
      <p:sp>
        <p:nvSpPr>
          <p:cNvPr id="10" name="TextBox 10">
            <a:extLst>
              <a:ext uri="{FF2B5EF4-FFF2-40B4-BE49-F238E27FC236}">
                <a16:creationId xmlns:a16="http://schemas.microsoft.com/office/drawing/2014/main" id="{5DA52D5F-7FA8-08A4-C791-6255975E2779}"/>
              </a:ext>
            </a:extLst>
          </p:cNvPr>
          <p:cNvSpPr txBox="1"/>
          <p:nvPr/>
        </p:nvSpPr>
        <p:spPr>
          <a:xfrm>
            <a:off x="10195446" y="6347803"/>
            <a:ext cx="1773879" cy="193258"/>
          </a:xfrm>
          <a:prstGeom prst="rect">
            <a:avLst/>
          </a:prstGeom>
        </p:spPr>
        <p:txBody>
          <a:bodyPr lIns="0" tIns="0" rIns="0" bIns="0" rtlCol="0" anchor="t">
            <a:spAutoFit/>
          </a:bodyPr>
          <a:lstStyle/>
          <a:p>
            <a:pPr marL="0" marR="0" lvl="0" indent="0" algn="l" defTabSz="914400" rtl="0" eaLnBrk="1" fontAlgn="auto" latinLnBrk="0" hangingPunct="1">
              <a:lnSpc>
                <a:spcPts val="1422"/>
              </a:lnSpc>
              <a:spcBef>
                <a:spcPts val="0"/>
              </a:spcBef>
              <a:spcAft>
                <a:spcPts val="0"/>
              </a:spcAft>
              <a:buClrTx/>
              <a:buSzTx/>
              <a:buFontTx/>
              <a:buNone/>
              <a:tabLst/>
              <a:defRPr/>
            </a:pPr>
            <a:r>
              <a:rPr kumimoji="0" lang="en-US" sz="1016" b="0" i="0" u="none" strike="noStrike" kern="1200" cap="none" spc="0" normalizeH="0" baseline="0" noProof="0">
                <a:ln>
                  <a:noFill/>
                </a:ln>
                <a:solidFill>
                  <a:srgbClr val="FFFFFF"/>
                </a:solidFill>
                <a:effectLst/>
                <a:uLnTx/>
                <a:uFillTx/>
                <a:latin typeface="Arial"/>
                <a:ea typeface="Arial"/>
                <a:cs typeface="Arial"/>
                <a:sym typeface="Arial"/>
              </a:rPr>
              <a:t>Administrative Law –LAW1023</a:t>
            </a:r>
          </a:p>
        </p:txBody>
      </p:sp>
      <p:pic>
        <p:nvPicPr>
          <p:cNvPr id="4" name="Picture 6" descr="create an image of john enticks house being searched">
            <a:extLst>
              <a:ext uri="{FF2B5EF4-FFF2-40B4-BE49-F238E27FC236}">
                <a16:creationId xmlns:a16="http://schemas.microsoft.com/office/drawing/2014/main" id="{CA9967B8-902D-85A1-F985-0122723AA3E3}"/>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t="17511" b="24711"/>
          <a:stretch/>
        </p:blipFill>
        <p:spPr bwMode="auto">
          <a:xfrm>
            <a:off x="7924800" y="1307592"/>
            <a:ext cx="2917512" cy="2528510"/>
          </a:xfrm>
          <a:prstGeom prst="rect">
            <a:avLst/>
          </a:prstGeom>
          <a:noFill/>
          <a:extLst>
            <a:ext uri="{909E8E84-426E-40DD-AFC4-6F175D3DCCD1}">
              <a14:hiddenFill xmlns:a14="http://schemas.microsoft.com/office/drawing/2010/main">
                <a:solidFill>
                  <a:srgbClr val="FFFFFF"/>
                </a:solidFill>
              </a14:hiddenFill>
            </a:ext>
          </a:extLst>
        </p:spPr>
      </p:pic>
      <p:pic>
        <p:nvPicPr>
          <p:cNvPr id="8194" name="Picture 2">
            <a:extLst>
              <a:ext uri="{FF2B5EF4-FFF2-40B4-BE49-F238E27FC236}">
                <a16:creationId xmlns:a16="http://schemas.microsoft.com/office/drawing/2014/main" id="{C804F3B1-953D-E1E2-AFC8-BA41AA69885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984386" y="4173687"/>
            <a:ext cx="2917513" cy="133976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00707623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000054"/>
        </a:solidFill>
        <a:effectLst/>
      </p:bgPr>
    </p:bg>
    <p:spTree>
      <p:nvGrpSpPr>
        <p:cNvPr id="1" name="">
          <a:extLst>
            <a:ext uri="{FF2B5EF4-FFF2-40B4-BE49-F238E27FC236}">
              <a16:creationId xmlns:a16="http://schemas.microsoft.com/office/drawing/2014/main" id="{BC0DD468-87CE-CC7B-430C-ADDD1ADA43B3}"/>
            </a:ext>
          </a:extLst>
        </p:cNvPr>
        <p:cNvGrpSpPr/>
        <p:nvPr/>
      </p:nvGrpSpPr>
      <p:grpSpPr>
        <a:xfrm>
          <a:off x="0" y="0"/>
          <a:ext cx="0" cy="0"/>
          <a:chOff x="0" y="0"/>
          <a:chExt cx="0" cy="0"/>
        </a:xfrm>
      </p:grpSpPr>
      <p:grpSp>
        <p:nvGrpSpPr>
          <p:cNvPr id="2" name="Group 2">
            <a:extLst>
              <a:ext uri="{FF2B5EF4-FFF2-40B4-BE49-F238E27FC236}">
                <a16:creationId xmlns:a16="http://schemas.microsoft.com/office/drawing/2014/main" id="{BBFA2056-A1D6-1779-6562-99C2FC371E63}"/>
              </a:ext>
            </a:extLst>
          </p:cNvPr>
          <p:cNvGrpSpPr/>
          <p:nvPr/>
        </p:nvGrpSpPr>
        <p:grpSpPr>
          <a:xfrm rot="-10800000">
            <a:off x="11045567" y="-12700"/>
            <a:ext cx="1146433" cy="1146433"/>
            <a:chOff x="0" y="0"/>
            <a:chExt cx="1630482" cy="1630482"/>
          </a:xfrm>
        </p:grpSpPr>
        <p:sp>
          <p:nvSpPr>
            <p:cNvPr id="3" name="Freeform 3">
              <a:extLst>
                <a:ext uri="{FF2B5EF4-FFF2-40B4-BE49-F238E27FC236}">
                  <a16:creationId xmlns:a16="http://schemas.microsoft.com/office/drawing/2014/main" id="{7A14D5F1-6EAA-A3E4-16A8-6BC1486650A7}"/>
                </a:ext>
              </a:extLst>
            </p:cNvPr>
            <p:cNvSpPr/>
            <p:nvPr/>
          </p:nvSpPr>
          <p:spPr>
            <a:xfrm>
              <a:off x="0" y="0"/>
              <a:ext cx="1630426" cy="1630426"/>
            </a:xfrm>
            <a:custGeom>
              <a:avLst/>
              <a:gdLst/>
              <a:ahLst/>
              <a:cxnLst/>
              <a:rect l="l" t="t" r="r" b="b"/>
              <a:pathLst>
                <a:path w="1630426" h="1630426">
                  <a:moveTo>
                    <a:pt x="0" y="0"/>
                  </a:moveTo>
                  <a:lnTo>
                    <a:pt x="543433" y="0"/>
                  </a:lnTo>
                  <a:lnTo>
                    <a:pt x="543433" y="543433"/>
                  </a:lnTo>
                  <a:lnTo>
                    <a:pt x="1086993" y="543433"/>
                  </a:lnTo>
                  <a:lnTo>
                    <a:pt x="1086993" y="1086993"/>
                  </a:lnTo>
                  <a:lnTo>
                    <a:pt x="1630426" y="1086993"/>
                  </a:lnTo>
                  <a:lnTo>
                    <a:pt x="1630426" y="1630426"/>
                  </a:lnTo>
                  <a:lnTo>
                    <a:pt x="0" y="1630426"/>
                  </a:lnTo>
                  <a:lnTo>
                    <a:pt x="0" y="1086993"/>
                  </a:lnTo>
                  <a:lnTo>
                    <a:pt x="0" y="543433"/>
                  </a:lnTo>
                  <a:close/>
                </a:path>
              </a:pathLst>
            </a:custGeom>
            <a:solidFill>
              <a:srgbClr val="FFFFFF"/>
            </a:solid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AU" sz="1800" b="0" i="0" u="none" strike="noStrike" kern="1200" cap="none" spc="0" normalizeH="0" baseline="0" noProof="0">
                <a:ln>
                  <a:noFill/>
                </a:ln>
                <a:solidFill>
                  <a:prstClr val="black"/>
                </a:solidFill>
                <a:effectLst/>
                <a:uLnTx/>
                <a:uFillTx/>
                <a:latin typeface="Calibri"/>
                <a:ea typeface="+mn-ea"/>
                <a:cs typeface="+mn-cs"/>
              </a:endParaRPr>
            </a:p>
          </p:txBody>
        </p:sp>
      </p:grpSp>
      <p:sp>
        <p:nvSpPr>
          <p:cNvPr id="5" name="TextBox 5">
            <a:extLst>
              <a:ext uri="{FF2B5EF4-FFF2-40B4-BE49-F238E27FC236}">
                <a16:creationId xmlns:a16="http://schemas.microsoft.com/office/drawing/2014/main" id="{F3503C09-ED06-9A53-3BAE-EC382ABC28E7}"/>
              </a:ext>
            </a:extLst>
          </p:cNvPr>
          <p:cNvSpPr txBox="1"/>
          <p:nvPr/>
        </p:nvSpPr>
        <p:spPr>
          <a:xfrm>
            <a:off x="392084" y="560536"/>
            <a:ext cx="11190316" cy="409471"/>
          </a:xfrm>
          <a:prstGeom prst="rect">
            <a:avLst/>
          </a:prstGeom>
        </p:spPr>
        <p:txBody>
          <a:bodyPr wrap="square" lIns="0" tIns="0" rIns="0" bIns="0" rtlCol="0" anchor="t">
            <a:spAutoFit/>
          </a:bodyPr>
          <a:lstStyle/>
          <a:p>
            <a:pPr marL="0" marR="0" lvl="0" indent="0" algn="l" defTabSz="914400" rtl="0" eaLnBrk="1" fontAlgn="auto" latinLnBrk="0" hangingPunct="1">
              <a:lnSpc>
                <a:spcPts val="3494"/>
              </a:lnSpc>
              <a:spcBef>
                <a:spcPts val="0"/>
              </a:spcBef>
              <a:spcAft>
                <a:spcPts val="0"/>
              </a:spcAft>
              <a:buClrTx/>
              <a:buSzTx/>
              <a:buFontTx/>
              <a:buNone/>
              <a:tabLst/>
              <a:defRPr/>
            </a:pPr>
            <a:r>
              <a:rPr kumimoji="0" lang="en-US" sz="2496" b="1" u="none" strike="noStrike" kern="1200" cap="none" spc="0" normalizeH="0" baseline="0" noProof="0" dirty="0">
                <a:ln>
                  <a:noFill/>
                </a:ln>
                <a:solidFill>
                  <a:srgbClr val="FFFFFF"/>
                </a:solidFill>
                <a:effectLst/>
                <a:uLnTx/>
                <a:uFillTx/>
                <a:latin typeface="Arial Bold"/>
                <a:ea typeface="Arial Bold"/>
                <a:cs typeface="Arial Bold"/>
                <a:sym typeface="Arial Bold"/>
              </a:rPr>
              <a:t>Acting beyond power (misconceiving the scope of the power) </a:t>
            </a:r>
          </a:p>
        </p:txBody>
      </p:sp>
      <p:sp>
        <p:nvSpPr>
          <p:cNvPr id="9" name="TextBox 9">
            <a:extLst>
              <a:ext uri="{FF2B5EF4-FFF2-40B4-BE49-F238E27FC236}">
                <a16:creationId xmlns:a16="http://schemas.microsoft.com/office/drawing/2014/main" id="{EF114305-1086-FCD9-C08A-92436485E059}"/>
              </a:ext>
            </a:extLst>
          </p:cNvPr>
          <p:cNvSpPr txBox="1"/>
          <p:nvPr/>
        </p:nvSpPr>
        <p:spPr>
          <a:xfrm>
            <a:off x="392084" y="1295400"/>
            <a:ext cx="9894916" cy="4371389"/>
          </a:xfrm>
          <a:prstGeom prst="rect">
            <a:avLst/>
          </a:prstGeom>
        </p:spPr>
        <p:txBody>
          <a:bodyPr wrap="square" lIns="0" tIns="0" rIns="0" bIns="0" rtlCol="0" anchor="t">
            <a:spAutoFit/>
          </a:bodyPr>
          <a:lstStyle/>
          <a:p>
            <a:pPr marL="285750" marR="0" lvl="0" indent="-285750" algn="l" defTabSz="914400" rtl="0" eaLnBrk="1" fontAlgn="auto" latinLnBrk="0" hangingPunct="1">
              <a:lnSpc>
                <a:spcPct val="100000"/>
              </a:lnSpc>
              <a:spcBef>
                <a:spcPts val="0"/>
              </a:spcBef>
              <a:spcAft>
                <a:spcPts val="1200"/>
              </a:spcAft>
              <a:buClrTx/>
              <a:buSzTx/>
              <a:buFont typeface="Arial" panose="020B0604020202020204" pitchFamily="34" charset="0"/>
              <a:buChar char="•"/>
              <a:tabLst/>
              <a:defRPr/>
            </a:pPr>
            <a:r>
              <a:rPr kumimoji="0" lang="en-US" sz="1627" b="0" i="0" u="none" strike="noStrike" kern="1200" cap="none" spc="0" normalizeH="0" baseline="0" noProof="0" dirty="0">
                <a:ln>
                  <a:noFill/>
                </a:ln>
                <a:solidFill>
                  <a:srgbClr val="FFFFFF"/>
                </a:solidFill>
                <a:effectLst/>
                <a:uLnTx/>
                <a:uFillTx/>
                <a:latin typeface="Arial" panose="020B0604020202020204" pitchFamily="34" charset="0"/>
                <a:ea typeface="Arial Bold"/>
                <a:cs typeface="Arial" panose="020B0604020202020204" pitchFamily="34" charset="0"/>
                <a:sym typeface="Arial Bold"/>
              </a:rPr>
              <a:t>Other examples of </a:t>
            </a:r>
            <a:r>
              <a:rPr kumimoji="0" lang="en-US" sz="1627" b="0" i="0" u="none" strike="noStrike" kern="1200" cap="none" spc="0" normalizeH="0" baseline="0" noProof="0" dirty="0" err="1">
                <a:ln>
                  <a:noFill/>
                </a:ln>
                <a:solidFill>
                  <a:srgbClr val="FFFFFF"/>
                </a:solidFill>
                <a:effectLst/>
                <a:uLnTx/>
                <a:uFillTx/>
                <a:latin typeface="Arial" panose="020B0604020202020204" pitchFamily="34" charset="0"/>
                <a:ea typeface="Arial Bold"/>
                <a:cs typeface="Arial" panose="020B0604020202020204" pitchFamily="34" charset="0"/>
                <a:sym typeface="Arial Bold"/>
              </a:rPr>
              <a:t>unauthorised</a:t>
            </a:r>
            <a:r>
              <a:rPr kumimoji="0" lang="en-US" sz="1627" b="0" i="0" u="none" strike="noStrike" kern="1200" cap="none" spc="0" normalizeH="0" baseline="0" noProof="0" dirty="0">
                <a:ln>
                  <a:noFill/>
                </a:ln>
                <a:solidFill>
                  <a:srgbClr val="FFFFFF"/>
                </a:solidFill>
                <a:effectLst/>
                <a:uLnTx/>
                <a:uFillTx/>
                <a:latin typeface="Arial" panose="020B0604020202020204" pitchFamily="34" charset="0"/>
                <a:ea typeface="Arial Bold"/>
                <a:cs typeface="Arial" panose="020B0604020202020204" pitchFamily="34" charset="0"/>
                <a:sym typeface="Arial Bold"/>
              </a:rPr>
              <a:t> acts:</a:t>
            </a:r>
          </a:p>
          <a:p>
            <a:pPr marL="285750" marR="0" lvl="0" indent="-285750" algn="l" defTabSz="914400" rtl="0" eaLnBrk="1" fontAlgn="auto" latinLnBrk="0" hangingPunct="1">
              <a:lnSpc>
                <a:spcPct val="100000"/>
              </a:lnSpc>
              <a:spcBef>
                <a:spcPts val="0"/>
              </a:spcBef>
              <a:spcAft>
                <a:spcPts val="1200"/>
              </a:spcAft>
              <a:buClrTx/>
              <a:buSzTx/>
              <a:buFont typeface="Arial" panose="020B0604020202020204" pitchFamily="34" charset="0"/>
              <a:buChar char="•"/>
              <a:tabLst/>
              <a:defRPr/>
            </a:pPr>
            <a:r>
              <a:rPr kumimoji="0" lang="en-US" sz="1627" b="0" i="1" u="none" strike="noStrike" kern="1200" cap="none" spc="0" normalizeH="0" baseline="0" noProof="0" dirty="0">
                <a:ln>
                  <a:noFill/>
                </a:ln>
                <a:solidFill>
                  <a:srgbClr val="FFFFFF"/>
                </a:solidFill>
                <a:effectLst/>
                <a:uLnTx/>
                <a:uFillTx/>
                <a:latin typeface="Arial" panose="020B0604020202020204" pitchFamily="34" charset="0"/>
                <a:ea typeface="Arial Bold"/>
                <a:cs typeface="Arial" panose="020B0604020202020204" pitchFamily="34" charset="0"/>
                <a:sym typeface="Arial Bold"/>
              </a:rPr>
              <a:t>ICAC v Cunneen </a:t>
            </a:r>
            <a:r>
              <a:rPr kumimoji="0" lang="en-US" sz="1627" b="0" i="0" u="none" strike="noStrike" kern="1200" cap="none" spc="0" normalizeH="0" baseline="0" noProof="0" dirty="0">
                <a:ln>
                  <a:noFill/>
                </a:ln>
                <a:solidFill>
                  <a:srgbClr val="FFFFFF"/>
                </a:solidFill>
                <a:effectLst/>
                <a:uLnTx/>
                <a:uFillTx/>
                <a:latin typeface="Arial" panose="020B0604020202020204" pitchFamily="34" charset="0"/>
                <a:ea typeface="Arial Bold"/>
                <a:cs typeface="Arial" panose="020B0604020202020204" pitchFamily="34" charset="0"/>
                <a:sym typeface="Arial Bold"/>
              </a:rPr>
              <a:t>(2015) 318 ALR 391 Cunneen’s purported advice to her son’s friend after a car accident (to fake chest pains) did not fall within the definition of corrupt conduct under the Act. Therefore, ICAC had no authority to investigate.</a:t>
            </a:r>
          </a:p>
          <a:p>
            <a:pPr marL="285750" marR="0" lvl="0" indent="-285750" algn="l" defTabSz="914400" rtl="0" eaLnBrk="1" fontAlgn="auto" latinLnBrk="0" hangingPunct="1">
              <a:lnSpc>
                <a:spcPct val="100000"/>
              </a:lnSpc>
              <a:spcBef>
                <a:spcPts val="0"/>
              </a:spcBef>
              <a:spcAft>
                <a:spcPts val="1200"/>
              </a:spcAft>
              <a:buClrTx/>
              <a:buSzTx/>
              <a:buFont typeface="Arial" panose="020B0604020202020204" pitchFamily="34" charset="0"/>
              <a:buChar char="•"/>
              <a:tabLst/>
              <a:defRPr/>
            </a:pPr>
            <a:r>
              <a:rPr kumimoji="0" lang="en-US" sz="1627" b="0" i="1" u="none" strike="noStrike" kern="1200" cap="none" spc="0" normalizeH="0" baseline="0" noProof="0" dirty="0">
                <a:ln>
                  <a:noFill/>
                </a:ln>
                <a:solidFill>
                  <a:srgbClr val="FFFFFF"/>
                </a:solidFill>
                <a:effectLst/>
                <a:uLnTx/>
                <a:uFillTx/>
                <a:latin typeface="Arial" panose="020B0604020202020204" pitchFamily="34" charset="0"/>
                <a:ea typeface="Arial Bold"/>
                <a:cs typeface="Arial" panose="020B0604020202020204" pitchFamily="34" charset="0"/>
                <a:sym typeface="Arial Bold"/>
              </a:rPr>
              <a:t>Foley v Padley </a:t>
            </a:r>
            <a:r>
              <a:rPr kumimoji="0" lang="en-US" sz="1627" b="0" i="0" u="none" strike="noStrike" kern="1200" cap="none" spc="0" normalizeH="0" baseline="0" noProof="0" dirty="0">
                <a:ln>
                  <a:noFill/>
                </a:ln>
                <a:solidFill>
                  <a:srgbClr val="FFFFFF"/>
                </a:solidFill>
                <a:effectLst/>
                <a:uLnTx/>
                <a:uFillTx/>
                <a:latin typeface="Arial" panose="020B0604020202020204" pitchFamily="34" charset="0"/>
                <a:ea typeface="Arial Bold"/>
                <a:cs typeface="Arial" panose="020B0604020202020204" pitchFamily="34" charset="0"/>
                <a:sym typeface="Arial Bold"/>
              </a:rPr>
              <a:t>(1984) 154 CLR 349 Rundle St Mall Act 1975 (SA) provided that council could make by-laws ‘regulating, controlling or prohibiting any activity in the Mall…in council’s opinion…likely to affect the use or enjoyment of the Mall’. By-law No 8 provided that ‘no person shall give out or distribute anything in the Mall…to bystanders or passers-by…without permission of the council’. SA leader of the Hare Krishnas challenged – HCA  upheld. NB Brennan dissent and contrast with Re Gold Coast City By-Laws [1994] 1 </a:t>
            </a:r>
            <a:r>
              <a:rPr kumimoji="0" lang="en-US" sz="1627" b="0" i="0" u="none" strike="noStrike" kern="1200" cap="none" spc="0" normalizeH="0" baseline="0" noProof="0" dirty="0" err="1">
                <a:ln>
                  <a:noFill/>
                </a:ln>
                <a:solidFill>
                  <a:srgbClr val="FFFFFF"/>
                </a:solidFill>
                <a:effectLst/>
                <a:uLnTx/>
                <a:uFillTx/>
                <a:latin typeface="Arial" panose="020B0604020202020204" pitchFamily="34" charset="0"/>
                <a:ea typeface="Arial Bold"/>
                <a:cs typeface="Arial" panose="020B0604020202020204" pitchFamily="34" charset="0"/>
                <a:sym typeface="Arial Bold"/>
              </a:rPr>
              <a:t>Qd</a:t>
            </a:r>
            <a:r>
              <a:rPr kumimoji="0" lang="en-US" sz="1627" b="0" i="0" u="none" strike="noStrike" kern="1200" cap="none" spc="0" normalizeH="0" baseline="0" noProof="0" dirty="0">
                <a:ln>
                  <a:noFill/>
                </a:ln>
                <a:solidFill>
                  <a:srgbClr val="FFFFFF"/>
                </a:solidFill>
                <a:effectLst/>
                <a:uLnTx/>
                <a:uFillTx/>
                <a:latin typeface="Arial" panose="020B0604020202020204" pitchFamily="34" charset="0"/>
                <a:ea typeface="Arial Bold"/>
                <a:cs typeface="Arial" panose="020B0604020202020204" pitchFamily="34" charset="0"/>
                <a:sym typeface="Arial Bold"/>
              </a:rPr>
              <a:t> R</a:t>
            </a:r>
          </a:p>
          <a:p>
            <a:pPr marL="285750" marR="0" lvl="0" indent="-285750" algn="l" defTabSz="914400" rtl="0" eaLnBrk="1" fontAlgn="auto" latinLnBrk="0" hangingPunct="1">
              <a:lnSpc>
                <a:spcPct val="100000"/>
              </a:lnSpc>
              <a:spcBef>
                <a:spcPts val="0"/>
              </a:spcBef>
              <a:spcAft>
                <a:spcPts val="1200"/>
              </a:spcAft>
              <a:buClrTx/>
              <a:buSzTx/>
              <a:buFont typeface="Arial" panose="020B0604020202020204" pitchFamily="34" charset="0"/>
              <a:buChar char="•"/>
              <a:tabLst/>
              <a:defRPr/>
            </a:pPr>
            <a:r>
              <a:rPr kumimoji="0" lang="en-US" sz="1627" b="0" i="1" u="none" strike="noStrike" kern="1200" cap="none" spc="0" normalizeH="0" baseline="0" noProof="0" dirty="0">
                <a:ln>
                  <a:noFill/>
                </a:ln>
                <a:solidFill>
                  <a:srgbClr val="FFFFFF"/>
                </a:solidFill>
                <a:effectLst/>
                <a:uLnTx/>
                <a:uFillTx/>
                <a:latin typeface="Arial" panose="020B0604020202020204" pitchFamily="34" charset="0"/>
                <a:ea typeface="Arial Bold"/>
                <a:cs typeface="Arial" panose="020B0604020202020204" pitchFamily="34" charset="0"/>
                <a:sym typeface="Arial Bold"/>
              </a:rPr>
              <a:t>London City Council v Attorney-General </a:t>
            </a:r>
            <a:r>
              <a:rPr kumimoji="0" lang="en-US" sz="1627" b="0" i="0" u="none" strike="noStrike" kern="1200" cap="none" spc="0" normalizeH="0" baseline="0" noProof="0" dirty="0">
                <a:ln>
                  <a:noFill/>
                </a:ln>
                <a:solidFill>
                  <a:srgbClr val="FFFFFF"/>
                </a:solidFill>
                <a:effectLst/>
                <a:uLnTx/>
                <a:uFillTx/>
                <a:latin typeface="Arial" panose="020B0604020202020204" pitchFamily="34" charset="0"/>
                <a:ea typeface="Arial Bold"/>
                <a:cs typeface="Arial" panose="020B0604020202020204" pitchFamily="34" charset="0"/>
                <a:sym typeface="Arial Bold"/>
              </a:rPr>
              <a:t>[1902] AC 165 A statutory power to run ‘tramways’ did not authorize</a:t>
            </a:r>
            <a:r>
              <a:rPr lang="en-US" sz="1627" dirty="0">
                <a:solidFill>
                  <a:srgbClr val="FFFFFF"/>
                </a:solidFill>
                <a:latin typeface="Arial" panose="020B0604020202020204" pitchFamily="34" charset="0"/>
                <a:ea typeface="Arial Bold"/>
                <a:cs typeface="Arial" panose="020B0604020202020204" pitchFamily="34" charset="0"/>
                <a:sym typeface="Arial Bold"/>
              </a:rPr>
              <a:t> </a:t>
            </a:r>
            <a:r>
              <a:rPr kumimoji="0" lang="en-US" sz="1627" b="0" i="0" u="none" strike="noStrike" kern="1200" cap="none" spc="0" normalizeH="0" baseline="0" noProof="0" dirty="0">
                <a:ln>
                  <a:noFill/>
                </a:ln>
                <a:solidFill>
                  <a:srgbClr val="FFFFFF"/>
                </a:solidFill>
                <a:effectLst/>
                <a:uLnTx/>
                <a:uFillTx/>
                <a:latin typeface="Arial" panose="020B0604020202020204" pitchFamily="34" charset="0"/>
                <a:ea typeface="Arial Bold"/>
                <a:cs typeface="Arial" panose="020B0604020202020204" pitchFamily="34" charset="0"/>
                <a:sym typeface="Arial Bold"/>
              </a:rPr>
              <a:t>running a bus service</a:t>
            </a:r>
          </a:p>
          <a:p>
            <a:pPr marL="285750" marR="0" lvl="0" indent="-285750" algn="l" defTabSz="914400" rtl="0" eaLnBrk="1" fontAlgn="auto" latinLnBrk="0" hangingPunct="1">
              <a:lnSpc>
                <a:spcPct val="100000"/>
              </a:lnSpc>
              <a:spcBef>
                <a:spcPts val="0"/>
              </a:spcBef>
              <a:spcAft>
                <a:spcPts val="1200"/>
              </a:spcAft>
              <a:buClrTx/>
              <a:buSzTx/>
              <a:buFont typeface="Arial" panose="020B0604020202020204" pitchFamily="34" charset="0"/>
              <a:buChar char="•"/>
              <a:tabLst/>
              <a:defRPr/>
            </a:pPr>
            <a:r>
              <a:rPr kumimoji="0" lang="en-US" sz="1627" b="0" i="1" u="none" strike="noStrike" kern="1200" cap="none" spc="0" normalizeH="0" baseline="0" noProof="0" dirty="0">
                <a:ln>
                  <a:noFill/>
                </a:ln>
                <a:solidFill>
                  <a:srgbClr val="FFFFFF"/>
                </a:solidFill>
                <a:effectLst/>
                <a:uLnTx/>
                <a:uFillTx/>
                <a:latin typeface="Arial" panose="020B0604020202020204" pitchFamily="34" charset="0"/>
                <a:ea typeface="Arial Bold"/>
                <a:cs typeface="Arial" panose="020B0604020202020204" pitchFamily="34" charset="0"/>
                <a:sym typeface="Arial Bold"/>
              </a:rPr>
              <a:t>Vickers v Minister for Business &amp; Consumer Affairs</a:t>
            </a:r>
            <a:r>
              <a:rPr kumimoji="0" lang="en-US" sz="1627" b="0" i="0" u="none" strike="noStrike" kern="1200" cap="none" spc="0" normalizeH="0" baseline="0" noProof="0" dirty="0">
                <a:ln>
                  <a:noFill/>
                </a:ln>
                <a:solidFill>
                  <a:srgbClr val="FFFFFF"/>
                </a:solidFill>
                <a:effectLst/>
                <a:uLnTx/>
                <a:uFillTx/>
                <a:latin typeface="Arial" panose="020B0604020202020204" pitchFamily="34" charset="0"/>
                <a:ea typeface="Arial Bold"/>
                <a:cs typeface="Arial" panose="020B0604020202020204" pitchFamily="34" charset="0"/>
                <a:sym typeface="Arial Bold"/>
              </a:rPr>
              <a:t> (1982) 43 ALR 389) A statutory power </a:t>
            </a:r>
            <a:r>
              <a:rPr kumimoji="0" lang="en-US" sz="1627" b="0" i="0" u="none" strike="noStrike" kern="1200" cap="none" spc="0" normalizeH="0" baseline="0" noProof="0" dirty="0" err="1">
                <a:ln>
                  <a:noFill/>
                </a:ln>
                <a:solidFill>
                  <a:srgbClr val="FFFFFF"/>
                </a:solidFill>
                <a:effectLst/>
                <a:uLnTx/>
                <a:uFillTx/>
                <a:latin typeface="Arial" panose="020B0604020202020204" pitchFamily="34" charset="0"/>
                <a:ea typeface="Arial Bold"/>
                <a:cs typeface="Arial" panose="020B0604020202020204" pitchFamily="34" charset="0"/>
                <a:sym typeface="Arial Bold"/>
              </a:rPr>
              <a:t>authorising</a:t>
            </a:r>
            <a:r>
              <a:rPr kumimoji="0" lang="en-US" sz="1627" b="0" i="0" u="none" strike="noStrike" kern="1200" cap="none" spc="0" normalizeH="0" baseline="0" noProof="0" dirty="0">
                <a:ln>
                  <a:noFill/>
                </a:ln>
                <a:solidFill>
                  <a:srgbClr val="FFFFFF"/>
                </a:solidFill>
                <a:effectLst/>
                <a:uLnTx/>
                <a:uFillTx/>
                <a:latin typeface="Arial" panose="020B0604020202020204" pitchFamily="34" charset="0"/>
                <a:ea typeface="Arial Bold"/>
                <a:cs typeface="Arial" panose="020B0604020202020204" pitchFamily="34" charset="0"/>
                <a:sym typeface="Arial Bold"/>
              </a:rPr>
              <a:t> customs agents to seize ‘goods, moveable property, or monies in the form of cash’ did not </a:t>
            </a:r>
            <a:r>
              <a:rPr kumimoji="0" lang="en-US" sz="1627" b="0" i="0" u="none" strike="noStrike" kern="1200" cap="none" spc="0" normalizeH="0" baseline="0" noProof="0" dirty="0" err="1">
                <a:ln>
                  <a:noFill/>
                </a:ln>
                <a:solidFill>
                  <a:srgbClr val="FFFFFF"/>
                </a:solidFill>
                <a:effectLst/>
                <a:uLnTx/>
                <a:uFillTx/>
                <a:latin typeface="Arial" panose="020B0604020202020204" pitchFamily="34" charset="0"/>
                <a:ea typeface="Arial Bold"/>
                <a:cs typeface="Arial" panose="020B0604020202020204" pitchFamily="34" charset="0"/>
                <a:sym typeface="Arial Bold"/>
              </a:rPr>
              <a:t>authorise</a:t>
            </a:r>
            <a:r>
              <a:rPr kumimoji="0" lang="en-US" sz="1627" b="0" i="0" u="none" strike="noStrike" kern="1200" cap="none" spc="0" normalizeH="0" baseline="0" noProof="0" dirty="0">
                <a:ln>
                  <a:noFill/>
                </a:ln>
                <a:solidFill>
                  <a:srgbClr val="FFFFFF"/>
                </a:solidFill>
                <a:effectLst/>
                <a:uLnTx/>
                <a:uFillTx/>
                <a:latin typeface="Arial" panose="020B0604020202020204" pitchFamily="34" charset="0"/>
                <a:ea typeface="Arial Bold"/>
                <a:cs typeface="Arial" panose="020B0604020202020204" pitchFamily="34" charset="0"/>
                <a:sym typeface="Arial Bold"/>
              </a:rPr>
              <a:t> seizure of money in a bank account</a:t>
            </a:r>
          </a:p>
        </p:txBody>
      </p:sp>
      <p:sp>
        <p:nvSpPr>
          <p:cNvPr id="10" name="TextBox 10">
            <a:extLst>
              <a:ext uri="{FF2B5EF4-FFF2-40B4-BE49-F238E27FC236}">
                <a16:creationId xmlns:a16="http://schemas.microsoft.com/office/drawing/2014/main" id="{8153B08E-8651-519F-8067-80986177C9EA}"/>
              </a:ext>
            </a:extLst>
          </p:cNvPr>
          <p:cNvSpPr txBox="1"/>
          <p:nvPr/>
        </p:nvSpPr>
        <p:spPr>
          <a:xfrm>
            <a:off x="10195446" y="6347803"/>
            <a:ext cx="1773879" cy="193258"/>
          </a:xfrm>
          <a:prstGeom prst="rect">
            <a:avLst/>
          </a:prstGeom>
        </p:spPr>
        <p:txBody>
          <a:bodyPr lIns="0" tIns="0" rIns="0" bIns="0" rtlCol="0" anchor="t">
            <a:spAutoFit/>
          </a:bodyPr>
          <a:lstStyle/>
          <a:p>
            <a:pPr marL="0" marR="0" lvl="0" indent="0" algn="l" defTabSz="914400" rtl="0" eaLnBrk="1" fontAlgn="auto" latinLnBrk="0" hangingPunct="1">
              <a:lnSpc>
                <a:spcPts val="1422"/>
              </a:lnSpc>
              <a:spcBef>
                <a:spcPts val="0"/>
              </a:spcBef>
              <a:spcAft>
                <a:spcPts val="0"/>
              </a:spcAft>
              <a:buClrTx/>
              <a:buSzTx/>
              <a:buFontTx/>
              <a:buNone/>
              <a:tabLst/>
              <a:defRPr/>
            </a:pPr>
            <a:r>
              <a:rPr kumimoji="0" lang="en-US" sz="1016" b="0" i="0" u="none" strike="noStrike" kern="1200" cap="none" spc="0" normalizeH="0" baseline="0" noProof="0">
                <a:ln>
                  <a:noFill/>
                </a:ln>
                <a:solidFill>
                  <a:srgbClr val="FFFFFF"/>
                </a:solidFill>
                <a:effectLst/>
                <a:uLnTx/>
                <a:uFillTx/>
                <a:latin typeface="Arial"/>
                <a:ea typeface="Arial"/>
                <a:cs typeface="Arial"/>
                <a:sym typeface="Arial"/>
              </a:rPr>
              <a:t>Administrative Law –LAW1023</a:t>
            </a:r>
          </a:p>
        </p:txBody>
      </p:sp>
    </p:spTree>
    <p:extLst>
      <p:ext uri="{BB962C8B-B14F-4D97-AF65-F5344CB8AC3E}">
        <p14:creationId xmlns:p14="http://schemas.microsoft.com/office/powerpoint/2010/main" val="245615269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000054"/>
        </a:solidFill>
        <a:effectLst/>
      </p:bgPr>
    </p:bg>
    <p:spTree>
      <p:nvGrpSpPr>
        <p:cNvPr id="1" name="">
          <a:extLst>
            <a:ext uri="{FF2B5EF4-FFF2-40B4-BE49-F238E27FC236}">
              <a16:creationId xmlns:a16="http://schemas.microsoft.com/office/drawing/2014/main" id="{5135B9AC-16FA-46C3-EF71-1141A6CB1E15}"/>
            </a:ext>
          </a:extLst>
        </p:cNvPr>
        <p:cNvGrpSpPr/>
        <p:nvPr/>
      </p:nvGrpSpPr>
      <p:grpSpPr>
        <a:xfrm>
          <a:off x="0" y="0"/>
          <a:ext cx="0" cy="0"/>
          <a:chOff x="0" y="0"/>
          <a:chExt cx="0" cy="0"/>
        </a:xfrm>
      </p:grpSpPr>
      <p:grpSp>
        <p:nvGrpSpPr>
          <p:cNvPr id="2" name="Group 2">
            <a:extLst>
              <a:ext uri="{FF2B5EF4-FFF2-40B4-BE49-F238E27FC236}">
                <a16:creationId xmlns:a16="http://schemas.microsoft.com/office/drawing/2014/main" id="{83E4EED3-7C57-0478-9D26-5DF86BE4C970}"/>
              </a:ext>
            </a:extLst>
          </p:cNvPr>
          <p:cNvGrpSpPr/>
          <p:nvPr/>
        </p:nvGrpSpPr>
        <p:grpSpPr>
          <a:xfrm rot="-10800000">
            <a:off x="11045567" y="-12700"/>
            <a:ext cx="1146433" cy="1146433"/>
            <a:chOff x="0" y="0"/>
            <a:chExt cx="1630482" cy="1630482"/>
          </a:xfrm>
        </p:grpSpPr>
        <p:sp>
          <p:nvSpPr>
            <p:cNvPr id="3" name="Freeform 3">
              <a:extLst>
                <a:ext uri="{FF2B5EF4-FFF2-40B4-BE49-F238E27FC236}">
                  <a16:creationId xmlns:a16="http://schemas.microsoft.com/office/drawing/2014/main" id="{B568BD3E-1BF8-B877-ACE1-E221025F9586}"/>
                </a:ext>
              </a:extLst>
            </p:cNvPr>
            <p:cNvSpPr/>
            <p:nvPr/>
          </p:nvSpPr>
          <p:spPr>
            <a:xfrm>
              <a:off x="0" y="0"/>
              <a:ext cx="1630426" cy="1630426"/>
            </a:xfrm>
            <a:custGeom>
              <a:avLst/>
              <a:gdLst/>
              <a:ahLst/>
              <a:cxnLst/>
              <a:rect l="l" t="t" r="r" b="b"/>
              <a:pathLst>
                <a:path w="1630426" h="1630426">
                  <a:moveTo>
                    <a:pt x="0" y="0"/>
                  </a:moveTo>
                  <a:lnTo>
                    <a:pt x="543433" y="0"/>
                  </a:lnTo>
                  <a:lnTo>
                    <a:pt x="543433" y="543433"/>
                  </a:lnTo>
                  <a:lnTo>
                    <a:pt x="1086993" y="543433"/>
                  </a:lnTo>
                  <a:lnTo>
                    <a:pt x="1086993" y="1086993"/>
                  </a:lnTo>
                  <a:lnTo>
                    <a:pt x="1630426" y="1086993"/>
                  </a:lnTo>
                  <a:lnTo>
                    <a:pt x="1630426" y="1630426"/>
                  </a:lnTo>
                  <a:lnTo>
                    <a:pt x="0" y="1630426"/>
                  </a:lnTo>
                  <a:lnTo>
                    <a:pt x="0" y="1086993"/>
                  </a:lnTo>
                  <a:lnTo>
                    <a:pt x="0" y="543433"/>
                  </a:lnTo>
                  <a:close/>
                </a:path>
              </a:pathLst>
            </a:custGeom>
            <a:solidFill>
              <a:srgbClr val="FFFFFF"/>
            </a:solid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AU" sz="1800" b="0" i="0" u="none" strike="noStrike" kern="1200" cap="none" spc="0" normalizeH="0" baseline="0" noProof="0">
                <a:ln>
                  <a:noFill/>
                </a:ln>
                <a:solidFill>
                  <a:prstClr val="black"/>
                </a:solidFill>
                <a:effectLst/>
                <a:uLnTx/>
                <a:uFillTx/>
                <a:latin typeface="Calibri"/>
                <a:ea typeface="+mn-ea"/>
                <a:cs typeface="+mn-cs"/>
              </a:endParaRPr>
            </a:p>
          </p:txBody>
        </p:sp>
      </p:grpSp>
      <p:sp>
        <p:nvSpPr>
          <p:cNvPr id="5" name="TextBox 5">
            <a:extLst>
              <a:ext uri="{FF2B5EF4-FFF2-40B4-BE49-F238E27FC236}">
                <a16:creationId xmlns:a16="http://schemas.microsoft.com/office/drawing/2014/main" id="{B7376349-5699-1787-DD82-757A23AB779B}"/>
              </a:ext>
            </a:extLst>
          </p:cNvPr>
          <p:cNvSpPr txBox="1"/>
          <p:nvPr/>
        </p:nvSpPr>
        <p:spPr>
          <a:xfrm>
            <a:off x="392084" y="560536"/>
            <a:ext cx="11190316" cy="409471"/>
          </a:xfrm>
          <a:prstGeom prst="rect">
            <a:avLst/>
          </a:prstGeom>
        </p:spPr>
        <p:txBody>
          <a:bodyPr wrap="square" lIns="0" tIns="0" rIns="0" bIns="0" rtlCol="0" anchor="t">
            <a:spAutoFit/>
          </a:bodyPr>
          <a:lstStyle/>
          <a:p>
            <a:pPr marL="0" marR="0" lvl="0" indent="0" algn="l" defTabSz="914400" rtl="0" eaLnBrk="1" fontAlgn="auto" latinLnBrk="0" hangingPunct="1">
              <a:lnSpc>
                <a:spcPts val="3494"/>
              </a:lnSpc>
              <a:spcBef>
                <a:spcPts val="0"/>
              </a:spcBef>
              <a:spcAft>
                <a:spcPts val="0"/>
              </a:spcAft>
              <a:buClrTx/>
              <a:buSzTx/>
              <a:buFontTx/>
              <a:buNone/>
              <a:tabLst/>
              <a:defRPr/>
            </a:pPr>
            <a:r>
              <a:rPr kumimoji="0" lang="en-US" sz="2496" b="1" u="none" strike="noStrike" kern="1200" cap="none" spc="0" normalizeH="0" baseline="0" noProof="0" dirty="0">
                <a:ln>
                  <a:noFill/>
                </a:ln>
                <a:solidFill>
                  <a:srgbClr val="FFFFFF"/>
                </a:solidFill>
                <a:effectLst/>
                <a:uLnTx/>
                <a:uFillTx/>
                <a:latin typeface="Arial Bold"/>
                <a:ea typeface="Arial Bold"/>
                <a:cs typeface="Arial Bold"/>
                <a:sym typeface="Arial Bold"/>
              </a:rPr>
              <a:t>Acting beyond power – the role of statutory interpretation</a:t>
            </a:r>
          </a:p>
        </p:txBody>
      </p:sp>
      <p:sp>
        <p:nvSpPr>
          <p:cNvPr id="9" name="TextBox 9">
            <a:extLst>
              <a:ext uri="{FF2B5EF4-FFF2-40B4-BE49-F238E27FC236}">
                <a16:creationId xmlns:a16="http://schemas.microsoft.com/office/drawing/2014/main" id="{7691C554-A9D6-9E54-96BE-23999368D3D7}"/>
              </a:ext>
            </a:extLst>
          </p:cNvPr>
          <p:cNvSpPr txBox="1"/>
          <p:nvPr/>
        </p:nvSpPr>
        <p:spPr>
          <a:xfrm>
            <a:off x="392084" y="1295400"/>
            <a:ext cx="9894916" cy="3277820"/>
          </a:xfrm>
          <a:prstGeom prst="rect">
            <a:avLst/>
          </a:prstGeom>
        </p:spPr>
        <p:txBody>
          <a:bodyPr wrap="square" lIns="0" tIns="0" rIns="0" bIns="0" rtlCol="0" anchor="t">
            <a:spAutoFit/>
          </a:bodyPr>
          <a:lstStyle/>
          <a:p>
            <a:pPr marL="285750" marR="0" lvl="0" indent="-285750" algn="l" defTabSz="914400" rtl="0" eaLnBrk="1" fontAlgn="auto" latinLnBrk="0" hangingPunct="1">
              <a:lnSpc>
                <a:spcPct val="100000"/>
              </a:lnSpc>
              <a:spcBef>
                <a:spcPts val="0"/>
              </a:spcBef>
              <a:spcAft>
                <a:spcPts val="1800"/>
              </a:spcAft>
              <a:buClrTx/>
              <a:buSzTx/>
              <a:buFont typeface="Arial" panose="020B0604020202020204" pitchFamily="34" charset="0"/>
              <a:buChar char="•"/>
              <a:tabLst/>
              <a:defRPr/>
            </a:pPr>
            <a:r>
              <a:rPr kumimoji="0" lang="en-US" sz="2400" b="0" i="0" u="none" strike="noStrike" kern="1200" cap="none" spc="0" normalizeH="0" baseline="0" noProof="0" dirty="0">
                <a:ln>
                  <a:noFill/>
                </a:ln>
                <a:solidFill>
                  <a:srgbClr val="FFFFFF"/>
                </a:solidFill>
                <a:effectLst/>
                <a:uLnTx/>
                <a:uFillTx/>
                <a:latin typeface="Arial" panose="020B0604020202020204" pitchFamily="34" charset="0"/>
                <a:ea typeface="Arial Bold"/>
                <a:cs typeface="Arial" panose="020B0604020202020204" pitchFamily="34" charset="0"/>
                <a:sym typeface="Arial Bold"/>
              </a:rPr>
              <a:t>Statutory interpretation is important here (revise Topic 2)</a:t>
            </a:r>
          </a:p>
          <a:p>
            <a:pPr marL="285750" marR="0" lvl="0" indent="-285750" algn="l" defTabSz="914400" rtl="0" eaLnBrk="1" fontAlgn="auto" latinLnBrk="0" hangingPunct="1">
              <a:lnSpc>
                <a:spcPct val="100000"/>
              </a:lnSpc>
              <a:spcBef>
                <a:spcPts val="0"/>
              </a:spcBef>
              <a:spcAft>
                <a:spcPts val="1800"/>
              </a:spcAft>
              <a:buClrTx/>
              <a:buSzTx/>
              <a:buFont typeface="Arial" panose="020B0604020202020204" pitchFamily="34" charset="0"/>
              <a:buChar char="•"/>
              <a:tabLst/>
              <a:defRPr/>
            </a:pPr>
            <a:r>
              <a:rPr kumimoji="0" lang="en-US" sz="2400" b="0" i="0" u="none" strike="noStrike" kern="1200" cap="none" spc="0" normalizeH="0" baseline="0" noProof="0" dirty="0">
                <a:ln>
                  <a:noFill/>
                </a:ln>
                <a:solidFill>
                  <a:srgbClr val="FFFFFF"/>
                </a:solidFill>
                <a:effectLst/>
                <a:uLnTx/>
                <a:uFillTx/>
                <a:latin typeface="Arial" panose="020B0604020202020204" pitchFamily="34" charset="0"/>
                <a:ea typeface="Arial Bold"/>
                <a:cs typeface="Arial" panose="020B0604020202020204" pitchFamily="34" charset="0"/>
                <a:sym typeface="Arial Bold"/>
              </a:rPr>
              <a:t>Decision maker (and any reviewer) must always interpret and apply the statute on which the decision was based </a:t>
            </a:r>
          </a:p>
          <a:p>
            <a:pPr marL="285750" marR="0" lvl="0" indent="-285750" algn="l" defTabSz="914400" rtl="0" eaLnBrk="1" fontAlgn="auto" latinLnBrk="0" hangingPunct="1">
              <a:lnSpc>
                <a:spcPct val="100000"/>
              </a:lnSpc>
              <a:spcBef>
                <a:spcPts val="0"/>
              </a:spcBef>
              <a:spcAft>
                <a:spcPts val="1800"/>
              </a:spcAft>
              <a:buClrTx/>
              <a:buSzTx/>
              <a:buFont typeface="Arial" panose="020B0604020202020204" pitchFamily="34" charset="0"/>
              <a:buChar char="•"/>
              <a:tabLst/>
              <a:defRPr/>
            </a:pPr>
            <a:r>
              <a:rPr kumimoji="0" lang="en-US" sz="2400" b="0" i="0" u="none" strike="noStrike" kern="1200" cap="none" spc="0" normalizeH="0" baseline="0" noProof="0" dirty="0">
                <a:ln>
                  <a:noFill/>
                </a:ln>
                <a:solidFill>
                  <a:srgbClr val="FFFFFF"/>
                </a:solidFill>
                <a:effectLst/>
                <a:uLnTx/>
                <a:uFillTx/>
                <a:latin typeface="Arial" panose="020B0604020202020204" pitchFamily="34" charset="0"/>
                <a:ea typeface="Arial Bold"/>
                <a:cs typeface="Arial" panose="020B0604020202020204" pitchFamily="34" charset="0"/>
                <a:sym typeface="Arial Bold"/>
              </a:rPr>
              <a:t>Principles of statutory interpretation (recall ss15AA and 15AB Acts Interpretation Act 1901 (</a:t>
            </a:r>
            <a:r>
              <a:rPr kumimoji="0" lang="en-US" sz="2400" b="0" i="0" u="none" strike="noStrike" kern="1200" cap="none" spc="0" normalizeH="0" baseline="0" noProof="0" dirty="0" err="1">
                <a:ln>
                  <a:noFill/>
                </a:ln>
                <a:solidFill>
                  <a:srgbClr val="FFFFFF"/>
                </a:solidFill>
                <a:effectLst/>
                <a:uLnTx/>
                <a:uFillTx/>
                <a:latin typeface="Arial" panose="020B0604020202020204" pitchFamily="34" charset="0"/>
                <a:ea typeface="Arial Bold"/>
                <a:cs typeface="Arial" panose="020B0604020202020204" pitchFamily="34" charset="0"/>
                <a:sym typeface="Arial Bold"/>
              </a:rPr>
              <a:t>Cth</a:t>
            </a:r>
            <a:r>
              <a:rPr kumimoji="0" lang="en-US" sz="2400" b="0" i="0" u="none" strike="noStrike" kern="1200" cap="none" spc="0" normalizeH="0" baseline="0" noProof="0" dirty="0">
                <a:ln>
                  <a:noFill/>
                </a:ln>
                <a:solidFill>
                  <a:srgbClr val="FFFFFF"/>
                </a:solidFill>
                <a:effectLst/>
                <a:uLnTx/>
                <a:uFillTx/>
                <a:latin typeface="Arial" panose="020B0604020202020204" pitchFamily="34" charset="0"/>
                <a:ea typeface="Arial Bold"/>
                <a:cs typeface="Arial" panose="020B0604020202020204" pitchFamily="34" charset="0"/>
                <a:sym typeface="Arial Bold"/>
              </a:rPr>
              <a:t>)) </a:t>
            </a:r>
          </a:p>
          <a:p>
            <a:pPr marL="285750" marR="0" lvl="0" indent="-285750" algn="l" defTabSz="914400" rtl="0" eaLnBrk="1" fontAlgn="auto" latinLnBrk="0" hangingPunct="1">
              <a:lnSpc>
                <a:spcPct val="100000"/>
              </a:lnSpc>
              <a:spcBef>
                <a:spcPts val="0"/>
              </a:spcBef>
              <a:spcAft>
                <a:spcPts val="1800"/>
              </a:spcAft>
              <a:buClrTx/>
              <a:buSzTx/>
              <a:buFont typeface="Arial" panose="020B0604020202020204" pitchFamily="34" charset="0"/>
              <a:buChar char="•"/>
              <a:tabLst/>
              <a:defRPr/>
            </a:pPr>
            <a:r>
              <a:rPr kumimoji="0" lang="en-US" sz="2400" b="0" i="0" u="none" strike="noStrike" kern="1200" cap="none" spc="0" normalizeH="0" baseline="0" noProof="0" dirty="0">
                <a:ln>
                  <a:noFill/>
                </a:ln>
                <a:solidFill>
                  <a:srgbClr val="FFFFFF"/>
                </a:solidFill>
                <a:effectLst/>
                <a:uLnTx/>
                <a:uFillTx/>
                <a:latin typeface="Arial" panose="020B0604020202020204" pitchFamily="34" charset="0"/>
                <a:ea typeface="Arial Bold"/>
                <a:cs typeface="Arial" panose="020B0604020202020204" pitchFamily="34" charset="0"/>
                <a:sym typeface="Arial Bold"/>
              </a:rPr>
              <a:t>Presumptions – recall </a:t>
            </a:r>
            <a:r>
              <a:rPr kumimoji="0" lang="en-US" sz="2400" b="0" i="0" u="none" strike="noStrike" kern="1200" cap="none" spc="0" normalizeH="0" baseline="0" noProof="0" dirty="0" err="1">
                <a:ln>
                  <a:noFill/>
                </a:ln>
                <a:solidFill>
                  <a:srgbClr val="FFFFFF"/>
                </a:solidFill>
                <a:effectLst/>
                <a:uLnTx/>
                <a:uFillTx/>
                <a:latin typeface="Arial" panose="020B0604020202020204" pitchFamily="34" charset="0"/>
                <a:ea typeface="Arial Bold"/>
                <a:cs typeface="Arial" panose="020B0604020202020204" pitchFamily="34" charset="0"/>
                <a:sym typeface="Arial Bold"/>
              </a:rPr>
              <a:t>eg</a:t>
            </a:r>
            <a:r>
              <a:rPr kumimoji="0" lang="en-US" sz="2400" b="0" i="0" u="none" strike="noStrike" kern="1200" cap="none" spc="0" normalizeH="0" baseline="0" noProof="0" dirty="0">
                <a:ln>
                  <a:noFill/>
                </a:ln>
                <a:solidFill>
                  <a:srgbClr val="FFFFFF"/>
                </a:solidFill>
                <a:effectLst/>
                <a:uLnTx/>
                <a:uFillTx/>
                <a:latin typeface="Arial" panose="020B0604020202020204" pitchFamily="34" charset="0"/>
                <a:ea typeface="Arial Bold"/>
                <a:cs typeface="Arial" panose="020B0604020202020204" pitchFamily="34" charset="0"/>
                <a:sym typeface="Arial Bold"/>
              </a:rPr>
              <a:t> principles of legality; consistency with international obligations; beneficial construction. </a:t>
            </a:r>
          </a:p>
        </p:txBody>
      </p:sp>
      <p:sp>
        <p:nvSpPr>
          <p:cNvPr id="10" name="TextBox 10">
            <a:extLst>
              <a:ext uri="{FF2B5EF4-FFF2-40B4-BE49-F238E27FC236}">
                <a16:creationId xmlns:a16="http://schemas.microsoft.com/office/drawing/2014/main" id="{10AA3D49-415A-C2A6-49B7-77A68719E3B1}"/>
              </a:ext>
            </a:extLst>
          </p:cNvPr>
          <p:cNvSpPr txBox="1"/>
          <p:nvPr/>
        </p:nvSpPr>
        <p:spPr>
          <a:xfrm>
            <a:off x="10195446" y="6347803"/>
            <a:ext cx="1773879" cy="193258"/>
          </a:xfrm>
          <a:prstGeom prst="rect">
            <a:avLst/>
          </a:prstGeom>
        </p:spPr>
        <p:txBody>
          <a:bodyPr lIns="0" tIns="0" rIns="0" bIns="0" rtlCol="0" anchor="t">
            <a:spAutoFit/>
          </a:bodyPr>
          <a:lstStyle/>
          <a:p>
            <a:pPr marL="0" marR="0" lvl="0" indent="0" algn="l" defTabSz="914400" rtl="0" eaLnBrk="1" fontAlgn="auto" latinLnBrk="0" hangingPunct="1">
              <a:lnSpc>
                <a:spcPts val="1422"/>
              </a:lnSpc>
              <a:spcBef>
                <a:spcPts val="0"/>
              </a:spcBef>
              <a:spcAft>
                <a:spcPts val="0"/>
              </a:spcAft>
              <a:buClrTx/>
              <a:buSzTx/>
              <a:buFontTx/>
              <a:buNone/>
              <a:tabLst/>
              <a:defRPr/>
            </a:pPr>
            <a:r>
              <a:rPr kumimoji="0" lang="en-US" sz="1016" b="0" i="0" u="none" strike="noStrike" kern="1200" cap="none" spc="0" normalizeH="0" baseline="0" noProof="0">
                <a:ln>
                  <a:noFill/>
                </a:ln>
                <a:solidFill>
                  <a:srgbClr val="FFFFFF"/>
                </a:solidFill>
                <a:effectLst/>
                <a:uLnTx/>
                <a:uFillTx/>
                <a:latin typeface="Arial"/>
                <a:ea typeface="Arial"/>
                <a:cs typeface="Arial"/>
                <a:sym typeface="Arial"/>
              </a:rPr>
              <a:t>Administrative Law –LAW1023</a:t>
            </a:r>
          </a:p>
        </p:txBody>
      </p:sp>
    </p:spTree>
    <p:extLst>
      <p:ext uri="{BB962C8B-B14F-4D97-AF65-F5344CB8AC3E}">
        <p14:creationId xmlns:p14="http://schemas.microsoft.com/office/powerpoint/2010/main" val="82132841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000054"/>
        </a:solidFill>
        <a:effectLst/>
      </p:bgPr>
    </p:bg>
    <p:spTree>
      <p:nvGrpSpPr>
        <p:cNvPr id="1" name="">
          <a:extLst>
            <a:ext uri="{FF2B5EF4-FFF2-40B4-BE49-F238E27FC236}">
              <a16:creationId xmlns:a16="http://schemas.microsoft.com/office/drawing/2014/main" id="{195A2CB5-F8C4-C76D-F1A4-511215BD3792}"/>
            </a:ext>
          </a:extLst>
        </p:cNvPr>
        <p:cNvGrpSpPr/>
        <p:nvPr/>
      </p:nvGrpSpPr>
      <p:grpSpPr>
        <a:xfrm>
          <a:off x="0" y="0"/>
          <a:ext cx="0" cy="0"/>
          <a:chOff x="0" y="0"/>
          <a:chExt cx="0" cy="0"/>
        </a:xfrm>
      </p:grpSpPr>
      <p:grpSp>
        <p:nvGrpSpPr>
          <p:cNvPr id="2" name="Group 2">
            <a:extLst>
              <a:ext uri="{FF2B5EF4-FFF2-40B4-BE49-F238E27FC236}">
                <a16:creationId xmlns:a16="http://schemas.microsoft.com/office/drawing/2014/main" id="{4B405E21-B733-C597-46A4-092505831D15}"/>
              </a:ext>
            </a:extLst>
          </p:cNvPr>
          <p:cNvGrpSpPr/>
          <p:nvPr/>
        </p:nvGrpSpPr>
        <p:grpSpPr>
          <a:xfrm rot="-10800000">
            <a:off x="11045567" y="-12700"/>
            <a:ext cx="1146433" cy="1146433"/>
            <a:chOff x="0" y="0"/>
            <a:chExt cx="1630482" cy="1630482"/>
          </a:xfrm>
        </p:grpSpPr>
        <p:sp>
          <p:nvSpPr>
            <p:cNvPr id="3" name="Freeform 3">
              <a:extLst>
                <a:ext uri="{FF2B5EF4-FFF2-40B4-BE49-F238E27FC236}">
                  <a16:creationId xmlns:a16="http://schemas.microsoft.com/office/drawing/2014/main" id="{A435CEA1-CBAD-2E04-C53B-8966A544BECA}"/>
                </a:ext>
              </a:extLst>
            </p:cNvPr>
            <p:cNvSpPr/>
            <p:nvPr/>
          </p:nvSpPr>
          <p:spPr>
            <a:xfrm>
              <a:off x="0" y="0"/>
              <a:ext cx="1630426" cy="1630426"/>
            </a:xfrm>
            <a:custGeom>
              <a:avLst/>
              <a:gdLst/>
              <a:ahLst/>
              <a:cxnLst/>
              <a:rect l="l" t="t" r="r" b="b"/>
              <a:pathLst>
                <a:path w="1630426" h="1630426">
                  <a:moveTo>
                    <a:pt x="0" y="0"/>
                  </a:moveTo>
                  <a:lnTo>
                    <a:pt x="543433" y="0"/>
                  </a:lnTo>
                  <a:lnTo>
                    <a:pt x="543433" y="543433"/>
                  </a:lnTo>
                  <a:lnTo>
                    <a:pt x="1086993" y="543433"/>
                  </a:lnTo>
                  <a:lnTo>
                    <a:pt x="1086993" y="1086993"/>
                  </a:lnTo>
                  <a:lnTo>
                    <a:pt x="1630426" y="1086993"/>
                  </a:lnTo>
                  <a:lnTo>
                    <a:pt x="1630426" y="1630426"/>
                  </a:lnTo>
                  <a:lnTo>
                    <a:pt x="0" y="1630426"/>
                  </a:lnTo>
                  <a:lnTo>
                    <a:pt x="0" y="1086993"/>
                  </a:lnTo>
                  <a:lnTo>
                    <a:pt x="0" y="543433"/>
                  </a:lnTo>
                  <a:close/>
                </a:path>
              </a:pathLst>
            </a:custGeom>
            <a:solidFill>
              <a:srgbClr val="FFFFFF"/>
            </a:solid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AU" sz="1800" b="0" i="0" u="none" strike="noStrike" kern="1200" cap="none" spc="0" normalizeH="0" baseline="0" noProof="0">
                <a:ln>
                  <a:noFill/>
                </a:ln>
                <a:solidFill>
                  <a:prstClr val="black"/>
                </a:solidFill>
                <a:effectLst/>
                <a:uLnTx/>
                <a:uFillTx/>
                <a:latin typeface="Calibri"/>
                <a:ea typeface="+mn-ea"/>
                <a:cs typeface="+mn-cs"/>
              </a:endParaRPr>
            </a:p>
          </p:txBody>
        </p:sp>
      </p:grpSp>
      <p:sp>
        <p:nvSpPr>
          <p:cNvPr id="5" name="TextBox 5">
            <a:extLst>
              <a:ext uri="{FF2B5EF4-FFF2-40B4-BE49-F238E27FC236}">
                <a16:creationId xmlns:a16="http://schemas.microsoft.com/office/drawing/2014/main" id="{DF9C8C84-91E4-F241-1F9C-8FDAFE524AFF}"/>
              </a:ext>
            </a:extLst>
          </p:cNvPr>
          <p:cNvSpPr txBox="1"/>
          <p:nvPr/>
        </p:nvSpPr>
        <p:spPr>
          <a:xfrm>
            <a:off x="392084" y="560536"/>
            <a:ext cx="11190316" cy="409471"/>
          </a:xfrm>
          <a:prstGeom prst="rect">
            <a:avLst/>
          </a:prstGeom>
        </p:spPr>
        <p:txBody>
          <a:bodyPr wrap="square" lIns="0" tIns="0" rIns="0" bIns="0" rtlCol="0" anchor="t">
            <a:spAutoFit/>
          </a:bodyPr>
          <a:lstStyle/>
          <a:p>
            <a:pPr marL="0" marR="0" lvl="0" indent="0" algn="l" defTabSz="914400" rtl="0" eaLnBrk="1" fontAlgn="auto" latinLnBrk="0" hangingPunct="1">
              <a:lnSpc>
                <a:spcPts val="3494"/>
              </a:lnSpc>
              <a:spcBef>
                <a:spcPts val="0"/>
              </a:spcBef>
              <a:spcAft>
                <a:spcPts val="0"/>
              </a:spcAft>
              <a:buClrTx/>
              <a:buSzTx/>
              <a:buFontTx/>
              <a:buNone/>
              <a:tabLst/>
              <a:defRPr/>
            </a:pPr>
            <a:r>
              <a:rPr kumimoji="0" lang="en-US" sz="2496" b="1" u="none" strike="noStrike" kern="1200" cap="none" spc="0" normalizeH="0" baseline="0" noProof="0" dirty="0">
                <a:ln>
                  <a:noFill/>
                </a:ln>
                <a:solidFill>
                  <a:srgbClr val="FFFFFF"/>
                </a:solidFill>
                <a:effectLst/>
                <a:uLnTx/>
                <a:uFillTx/>
                <a:latin typeface="Arial Bold"/>
                <a:ea typeface="Arial Bold"/>
                <a:cs typeface="Arial Bold"/>
                <a:sym typeface="Arial Bold"/>
              </a:rPr>
              <a:t>‘Necessary or convenient’ clauses</a:t>
            </a:r>
          </a:p>
        </p:txBody>
      </p:sp>
      <p:sp>
        <p:nvSpPr>
          <p:cNvPr id="9" name="TextBox 9">
            <a:extLst>
              <a:ext uri="{FF2B5EF4-FFF2-40B4-BE49-F238E27FC236}">
                <a16:creationId xmlns:a16="http://schemas.microsoft.com/office/drawing/2014/main" id="{62648B81-533E-0A7E-97B8-A4F02DE1C5DA}"/>
              </a:ext>
            </a:extLst>
          </p:cNvPr>
          <p:cNvSpPr txBox="1"/>
          <p:nvPr/>
        </p:nvSpPr>
        <p:spPr>
          <a:xfrm>
            <a:off x="392084" y="1295400"/>
            <a:ext cx="8142316" cy="5276444"/>
          </a:xfrm>
          <a:prstGeom prst="rect">
            <a:avLst/>
          </a:prstGeom>
        </p:spPr>
        <p:txBody>
          <a:bodyPr wrap="square" lIns="0" tIns="0" rIns="0" bIns="0" rtlCol="0" anchor="t">
            <a:spAutoFit/>
          </a:bodyPr>
          <a:lstStyle/>
          <a:p>
            <a:pPr marL="285750" marR="0" lvl="0" indent="-285750" algn="l" defTabSz="914400" rtl="0" eaLnBrk="1" fontAlgn="auto" latinLnBrk="0" hangingPunct="1">
              <a:lnSpc>
                <a:spcPct val="100000"/>
              </a:lnSpc>
              <a:spcBef>
                <a:spcPts val="0"/>
              </a:spcBef>
              <a:spcAft>
                <a:spcPts val="1200"/>
              </a:spcAft>
              <a:buClrTx/>
              <a:buSzTx/>
              <a:buFont typeface="Arial" panose="020B0604020202020204" pitchFamily="34" charset="0"/>
              <a:buChar char="•"/>
              <a:tabLst/>
              <a:defRPr/>
            </a:pPr>
            <a:r>
              <a:rPr kumimoji="0" lang="en-US" sz="1627" b="0" i="1" u="none" strike="noStrike" kern="1200" cap="none" spc="0" normalizeH="0" baseline="0" noProof="0" dirty="0">
                <a:ln>
                  <a:noFill/>
                </a:ln>
                <a:solidFill>
                  <a:srgbClr val="FFFFFF"/>
                </a:solidFill>
                <a:effectLst/>
                <a:uLnTx/>
                <a:uFillTx/>
                <a:latin typeface="Arial" panose="020B0604020202020204" pitchFamily="34" charset="0"/>
                <a:ea typeface="Arial Bold"/>
                <a:cs typeface="Arial" panose="020B0604020202020204" pitchFamily="34" charset="0"/>
                <a:sym typeface="Arial Bold"/>
              </a:rPr>
              <a:t>Morton v Union Steamship Co of NZ Ltd </a:t>
            </a:r>
            <a:r>
              <a:rPr kumimoji="0" lang="en-US" sz="1627" b="0" i="0" u="none" strike="noStrike" kern="1200" cap="none" spc="0" normalizeH="0" baseline="0" noProof="0" dirty="0">
                <a:ln>
                  <a:noFill/>
                </a:ln>
                <a:solidFill>
                  <a:srgbClr val="FFFFFF"/>
                </a:solidFill>
                <a:effectLst/>
                <a:uLnTx/>
                <a:uFillTx/>
                <a:latin typeface="Arial" panose="020B0604020202020204" pitchFamily="34" charset="0"/>
                <a:ea typeface="Arial Bold"/>
                <a:cs typeface="Arial" panose="020B0604020202020204" pitchFamily="34" charset="0"/>
                <a:sym typeface="Arial Bold"/>
              </a:rPr>
              <a:t>(1951) 83 CLR 402</a:t>
            </a:r>
            <a:br>
              <a:rPr kumimoji="0" lang="en-US" sz="1627" b="0" i="0" u="none" strike="noStrike" kern="1200" cap="none" spc="0" normalizeH="0" baseline="0" noProof="0" dirty="0">
                <a:ln>
                  <a:noFill/>
                </a:ln>
                <a:solidFill>
                  <a:srgbClr val="FFFFFF"/>
                </a:solidFill>
                <a:effectLst/>
                <a:uLnTx/>
                <a:uFillTx/>
                <a:latin typeface="Arial" panose="020B0604020202020204" pitchFamily="34" charset="0"/>
                <a:ea typeface="Arial Bold"/>
                <a:cs typeface="Arial" panose="020B0604020202020204" pitchFamily="34" charset="0"/>
                <a:sym typeface="Arial Bold"/>
              </a:rPr>
            </a:br>
            <a:endParaRPr kumimoji="0" lang="en-US" sz="1627" b="0" i="0" u="none" strike="noStrike" kern="1200" cap="none" spc="0" normalizeH="0" baseline="0" noProof="0" dirty="0">
              <a:ln>
                <a:noFill/>
              </a:ln>
              <a:solidFill>
                <a:srgbClr val="FFFFFF"/>
              </a:solidFill>
              <a:effectLst/>
              <a:uLnTx/>
              <a:uFillTx/>
              <a:latin typeface="Arial" panose="020B0604020202020204" pitchFamily="34" charset="0"/>
              <a:ea typeface="Arial Bold"/>
              <a:cs typeface="Arial" panose="020B0604020202020204" pitchFamily="34" charset="0"/>
              <a:sym typeface="Arial Bold"/>
            </a:endParaRPr>
          </a:p>
          <a:p>
            <a:pPr marL="285750" marR="0" lvl="0" indent="-285750" algn="l" defTabSz="914400" rtl="0" eaLnBrk="1" fontAlgn="auto" latinLnBrk="0" hangingPunct="1">
              <a:lnSpc>
                <a:spcPct val="100000"/>
              </a:lnSpc>
              <a:spcBef>
                <a:spcPts val="0"/>
              </a:spcBef>
              <a:spcAft>
                <a:spcPts val="1200"/>
              </a:spcAft>
              <a:buClrTx/>
              <a:buSzTx/>
              <a:buFont typeface="Arial" panose="020B0604020202020204" pitchFamily="34" charset="0"/>
              <a:buChar char="•"/>
              <a:tabLst/>
              <a:defRPr/>
            </a:pPr>
            <a:r>
              <a:rPr kumimoji="0" lang="en-US" sz="1627" b="0" i="0" u="none" strike="noStrike" kern="1200" cap="none" spc="0" normalizeH="0" baseline="0" noProof="0" dirty="0">
                <a:ln>
                  <a:noFill/>
                </a:ln>
                <a:solidFill>
                  <a:srgbClr val="FFFFFF"/>
                </a:solidFill>
                <a:effectLst/>
                <a:uLnTx/>
                <a:uFillTx/>
                <a:latin typeface="Arial" panose="020B0604020202020204" pitchFamily="34" charset="0"/>
                <a:ea typeface="Arial Bold"/>
                <a:cs typeface="Arial" panose="020B0604020202020204" pitchFamily="34" charset="0"/>
                <a:sym typeface="Arial Bold"/>
              </a:rPr>
              <a:t>Where legislation provides that </a:t>
            </a:r>
            <a:r>
              <a:rPr lang="en-US" sz="1627" dirty="0">
                <a:solidFill>
                  <a:srgbClr val="FFFFFF"/>
                </a:solidFill>
                <a:latin typeface="Arial" panose="020B0604020202020204" pitchFamily="34" charset="0"/>
                <a:ea typeface="Arial Bold"/>
                <a:cs typeface="Arial" panose="020B0604020202020204" pitchFamily="34" charset="0"/>
                <a:sym typeface="Arial Bold"/>
              </a:rPr>
              <a:t>regulations</a:t>
            </a:r>
            <a:r>
              <a:rPr kumimoji="0" lang="en-US" sz="1627" b="0" i="0" u="none" strike="noStrike" kern="1200" cap="none" spc="0" normalizeH="0" baseline="0" noProof="0" dirty="0">
                <a:ln>
                  <a:noFill/>
                </a:ln>
                <a:solidFill>
                  <a:srgbClr val="FFFFFF"/>
                </a:solidFill>
                <a:effectLst/>
                <a:uLnTx/>
                <a:uFillTx/>
                <a:latin typeface="Arial" panose="020B0604020202020204" pitchFamily="34" charset="0"/>
                <a:ea typeface="Arial Bold"/>
                <a:cs typeface="Arial" panose="020B0604020202020204" pitchFamily="34" charset="0"/>
                <a:sym typeface="Arial Bold"/>
              </a:rPr>
              <a:t> may be made prescribing matters ‘necessary or convenient’ to  administering or giving effect to the Act, this means that Regs are limited to matters that will make administering Act more  effective. Regs cannot go beyond the scope of the Act. Scope to be determined by ‘the character of statute and the provisions it contains’. If Act ‘lays down only main outlines of policy and indicates an intention of leaving it to the G-G to work out…policy by specific regulation…power to make regulations may have wide ambit.’ Act in this case was more specific (Reg imposed </a:t>
            </a:r>
            <a:br>
              <a:rPr kumimoji="0" lang="en-US" sz="1627" b="0" i="0" u="none" strike="noStrike" kern="1200" cap="none" spc="0" normalizeH="0" baseline="0" noProof="0" dirty="0">
                <a:ln>
                  <a:noFill/>
                </a:ln>
                <a:solidFill>
                  <a:srgbClr val="FFFFFF"/>
                </a:solidFill>
                <a:effectLst/>
                <a:uLnTx/>
                <a:uFillTx/>
                <a:latin typeface="Arial" panose="020B0604020202020204" pitchFamily="34" charset="0"/>
                <a:ea typeface="Arial Bold"/>
                <a:cs typeface="Arial" panose="020B0604020202020204" pitchFamily="34" charset="0"/>
                <a:sym typeface="Arial Bold"/>
              </a:rPr>
            </a:br>
            <a:r>
              <a:rPr kumimoji="0" lang="en-US" sz="1627" b="0" i="0" u="none" strike="noStrike" kern="1200" cap="none" spc="0" normalizeH="0" baseline="0" noProof="0" dirty="0">
                <a:ln>
                  <a:noFill/>
                </a:ln>
                <a:solidFill>
                  <a:srgbClr val="FFFFFF"/>
                </a:solidFill>
                <a:effectLst/>
                <a:uLnTx/>
                <a:uFillTx/>
                <a:latin typeface="Arial" panose="020B0604020202020204" pitchFamily="34" charset="0"/>
                <a:ea typeface="Arial Bold"/>
                <a:cs typeface="Arial" panose="020B0604020202020204" pitchFamily="34" charset="0"/>
                <a:sym typeface="Arial Bold"/>
              </a:rPr>
              <a:t>additional excise liability).</a:t>
            </a:r>
          </a:p>
          <a:p>
            <a:pPr marL="285750" marR="0" lvl="0" indent="-285750" algn="l" defTabSz="914400" rtl="0" eaLnBrk="1" fontAlgn="auto" latinLnBrk="0" hangingPunct="1">
              <a:lnSpc>
                <a:spcPct val="100000"/>
              </a:lnSpc>
              <a:spcBef>
                <a:spcPts val="0"/>
              </a:spcBef>
              <a:spcAft>
                <a:spcPts val="1200"/>
              </a:spcAft>
              <a:buClrTx/>
              <a:buSzTx/>
              <a:buFont typeface="Arial" panose="020B0604020202020204" pitchFamily="34" charset="0"/>
              <a:buChar char="•"/>
              <a:tabLst/>
              <a:defRPr/>
            </a:pPr>
            <a:r>
              <a:rPr kumimoji="0" lang="en-US" sz="1627" b="0" i="0" u="none" strike="noStrike" kern="1200" cap="none" spc="0" normalizeH="0" baseline="0" noProof="0" dirty="0">
                <a:ln>
                  <a:noFill/>
                </a:ln>
                <a:solidFill>
                  <a:srgbClr val="FFFFFF"/>
                </a:solidFill>
                <a:effectLst/>
                <a:uLnTx/>
                <a:uFillTx/>
                <a:latin typeface="Arial" panose="020B0604020202020204" pitchFamily="34" charset="0"/>
                <a:ea typeface="Arial Bold"/>
                <a:cs typeface="Arial" panose="020B0604020202020204" pitchFamily="34" charset="0"/>
                <a:sym typeface="Arial Bold"/>
              </a:rPr>
              <a:t> Statutory interpretation is important here (revise Topic 2)</a:t>
            </a:r>
          </a:p>
          <a:p>
            <a:pPr marL="285750" marR="0" lvl="0" indent="-285750" algn="l" defTabSz="914400" rtl="0" eaLnBrk="1" fontAlgn="auto" latinLnBrk="0" hangingPunct="1">
              <a:lnSpc>
                <a:spcPct val="100000"/>
              </a:lnSpc>
              <a:spcBef>
                <a:spcPts val="0"/>
              </a:spcBef>
              <a:spcAft>
                <a:spcPts val="1200"/>
              </a:spcAft>
              <a:buClrTx/>
              <a:buSzTx/>
              <a:buFont typeface="Arial" panose="020B0604020202020204" pitchFamily="34" charset="0"/>
              <a:buChar char="•"/>
              <a:tabLst/>
              <a:defRPr/>
            </a:pPr>
            <a:r>
              <a:rPr kumimoji="0" lang="en-US" sz="1627" b="0" i="0" u="none" strike="noStrike" kern="1200" cap="none" spc="0" normalizeH="0" baseline="0" noProof="0" dirty="0">
                <a:ln>
                  <a:noFill/>
                </a:ln>
                <a:solidFill>
                  <a:srgbClr val="FFFFFF"/>
                </a:solidFill>
                <a:effectLst/>
                <a:uLnTx/>
                <a:uFillTx/>
                <a:latin typeface="Arial" panose="020B0604020202020204" pitchFamily="34" charset="0"/>
                <a:ea typeface="Arial Bold"/>
                <a:cs typeface="Arial" panose="020B0604020202020204" pitchFamily="34" charset="0"/>
                <a:sym typeface="Arial Bold"/>
              </a:rPr>
              <a:t>Decision maker (and any reviewer) must always interpret and apply the statute on which the decision was based </a:t>
            </a:r>
          </a:p>
          <a:p>
            <a:pPr marL="285750" marR="0" lvl="0" indent="-285750" algn="l" defTabSz="914400" rtl="0" eaLnBrk="1" fontAlgn="auto" latinLnBrk="0" hangingPunct="1">
              <a:lnSpc>
                <a:spcPct val="100000"/>
              </a:lnSpc>
              <a:spcBef>
                <a:spcPts val="0"/>
              </a:spcBef>
              <a:spcAft>
                <a:spcPts val="1200"/>
              </a:spcAft>
              <a:buClrTx/>
              <a:buSzTx/>
              <a:buFont typeface="Arial" panose="020B0604020202020204" pitchFamily="34" charset="0"/>
              <a:buChar char="•"/>
              <a:tabLst/>
              <a:defRPr/>
            </a:pPr>
            <a:r>
              <a:rPr kumimoji="0" lang="en-US" sz="1627" b="0" i="0" u="none" strike="noStrike" kern="1200" cap="none" spc="0" normalizeH="0" baseline="0" noProof="0" dirty="0">
                <a:ln>
                  <a:noFill/>
                </a:ln>
                <a:solidFill>
                  <a:srgbClr val="FFFFFF"/>
                </a:solidFill>
                <a:effectLst/>
                <a:uLnTx/>
                <a:uFillTx/>
                <a:latin typeface="Arial" panose="020B0604020202020204" pitchFamily="34" charset="0"/>
                <a:ea typeface="Arial Bold"/>
                <a:cs typeface="Arial" panose="020B0604020202020204" pitchFamily="34" charset="0"/>
                <a:sym typeface="Arial Bold"/>
              </a:rPr>
              <a:t>Principles of statutory interpretation (recall ss15AA and 15AB Acts Interpretation Act 1901 (</a:t>
            </a:r>
            <a:r>
              <a:rPr kumimoji="0" lang="en-US" sz="1627" b="0" i="0" u="none" strike="noStrike" kern="1200" cap="none" spc="0" normalizeH="0" baseline="0" noProof="0" dirty="0" err="1">
                <a:ln>
                  <a:noFill/>
                </a:ln>
                <a:solidFill>
                  <a:srgbClr val="FFFFFF"/>
                </a:solidFill>
                <a:effectLst/>
                <a:uLnTx/>
                <a:uFillTx/>
                <a:latin typeface="Arial" panose="020B0604020202020204" pitchFamily="34" charset="0"/>
                <a:ea typeface="Arial Bold"/>
                <a:cs typeface="Arial" panose="020B0604020202020204" pitchFamily="34" charset="0"/>
                <a:sym typeface="Arial Bold"/>
              </a:rPr>
              <a:t>Cth</a:t>
            </a:r>
            <a:r>
              <a:rPr kumimoji="0" lang="en-US" sz="1627" b="0" i="0" u="none" strike="noStrike" kern="1200" cap="none" spc="0" normalizeH="0" baseline="0" noProof="0" dirty="0">
                <a:ln>
                  <a:noFill/>
                </a:ln>
                <a:solidFill>
                  <a:srgbClr val="FFFFFF"/>
                </a:solidFill>
                <a:effectLst/>
                <a:uLnTx/>
                <a:uFillTx/>
                <a:latin typeface="Arial" panose="020B0604020202020204" pitchFamily="34" charset="0"/>
                <a:ea typeface="Arial Bold"/>
                <a:cs typeface="Arial" panose="020B0604020202020204" pitchFamily="34" charset="0"/>
                <a:sym typeface="Arial Bold"/>
              </a:rPr>
              <a:t>)) </a:t>
            </a:r>
          </a:p>
          <a:p>
            <a:pPr marL="285750" marR="0" lvl="0" indent="-285750" algn="l" defTabSz="914400" rtl="0" eaLnBrk="1" fontAlgn="auto" latinLnBrk="0" hangingPunct="1">
              <a:lnSpc>
                <a:spcPct val="100000"/>
              </a:lnSpc>
              <a:spcBef>
                <a:spcPts val="0"/>
              </a:spcBef>
              <a:spcAft>
                <a:spcPts val="1200"/>
              </a:spcAft>
              <a:buClrTx/>
              <a:buSzTx/>
              <a:buFont typeface="Arial" panose="020B0604020202020204" pitchFamily="34" charset="0"/>
              <a:buChar char="•"/>
              <a:tabLst/>
              <a:defRPr/>
            </a:pPr>
            <a:r>
              <a:rPr kumimoji="0" lang="en-US" sz="1627" b="0" i="0" u="none" strike="noStrike" kern="1200" cap="none" spc="0" normalizeH="0" baseline="0" noProof="0" dirty="0">
                <a:ln>
                  <a:noFill/>
                </a:ln>
                <a:solidFill>
                  <a:srgbClr val="FFFFFF"/>
                </a:solidFill>
                <a:effectLst/>
                <a:uLnTx/>
                <a:uFillTx/>
                <a:latin typeface="Arial" panose="020B0604020202020204" pitchFamily="34" charset="0"/>
                <a:ea typeface="Arial Bold"/>
                <a:cs typeface="Arial" panose="020B0604020202020204" pitchFamily="34" charset="0"/>
                <a:sym typeface="Arial Bold"/>
              </a:rPr>
              <a:t>Presumptions – recall </a:t>
            </a:r>
            <a:r>
              <a:rPr kumimoji="0" lang="en-US" sz="1627" b="0" i="0" u="none" strike="noStrike" kern="1200" cap="none" spc="0" normalizeH="0" baseline="0" noProof="0" dirty="0" err="1">
                <a:ln>
                  <a:noFill/>
                </a:ln>
                <a:solidFill>
                  <a:srgbClr val="FFFFFF"/>
                </a:solidFill>
                <a:effectLst/>
                <a:uLnTx/>
                <a:uFillTx/>
                <a:latin typeface="Arial" panose="020B0604020202020204" pitchFamily="34" charset="0"/>
                <a:ea typeface="Arial Bold"/>
                <a:cs typeface="Arial" panose="020B0604020202020204" pitchFamily="34" charset="0"/>
                <a:sym typeface="Arial Bold"/>
              </a:rPr>
              <a:t>eg</a:t>
            </a:r>
            <a:r>
              <a:rPr kumimoji="0" lang="en-US" sz="1627" b="0" i="0" u="none" strike="noStrike" kern="1200" cap="none" spc="0" normalizeH="0" baseline="0" noProof="0" dirty="0">
                <a:ln>
                  <a:noFill/>
                </a:ln>
                <a:solidFill>
                  <a:srgbClr val="FFFFFF"/>
                </a:solidFill>
                <a:effectLst/>
                <a:uLnTx/>
                <a:uFillTx/>
                <a:latin typeface="Arial" panose="020B0604020202020204" pitchFamily="34" charset="0"/>
                <a:ea typeface="Arial Bold"/>
                <a:cs typeface="Arial" panose="020B0604020202020204" pitchFamily="34" charset="0"/>
                <a:sym typeface="Arial Bold"/>
              </a:rPr>
              <a:t> principles of legality; consistency with international obligations; beneficial construction. </a:t>
            </a:r>
          </a:p>
        </p:txBody>
      </p:sp>
      <p:sp>
        <p:nvSpPr>
          <p:cNvPr id="10" name="TextBox 10">
            <a:extLst>
              <a:ext uri="{FF2B5EF4-FFF2-40B4-BE49-F238E27FC236}">
                <a16:creationId xmlns:a16="http://schemas.microsoft.com/office/drawing/2014/main" id="{3CD01A0C-15E2-688F-5B3B-94593C19678E}"/>
              </a:ext>
            </a:extLst>
          </p:cNvPr>
          <p:cNvSpPr txBox="1"/>
          <p:nvPr/>
        </p:nvSpPr>
        <p:spPr>
          <a:xfrm>
            <a:off x="10195446" y="6347803"/>
            <a:ext cx="1773879" cy="193258"/>
          </a:xfrm>
          <a:prstGeom prst="rect">
            <a:avLst/>
          </a:prstGeom>
        </p:spPr>
        <p:txBody>
          <a:bodyPr lIns="0" tIns="0" rIns="0" bIns="0" rtlCol="0" anchor="t">
            <a:spAutoFit/>
          </a:bodyPr>
          <a:lstStyle/>
          <a:p>
            <a:pPr marL="0" marR="0" lvl="0" indent="0" algn="l" defTabSz="914400" rtl="0" eaLnBrk="1" fontAlgn="auto" latinLnBrk="0" hangingPunct="1">
              <a:lnSpc>
                <a:spcPts val="1422"/>
              </a:lnSpc>
              <a:spcBef>
                <a:spcPts val="0"/>
              </a:spcBef>
              <a:spcAft>
                <a:spcPts val="0"/>
              </a:spcAft>
              <a:buClrTx/>
              <a:buSzTx/>
              <a:buFontTx/>
              <a:buNone/>
              <a:tabLst/>
              <a:defRPr/>
            </a:pPr>
            <a:r>
              <a:rPr kumimoji="0" lang="en-US" sz="1016" b="0" i="0" u="none" strike="noStrike" kern="1200" cap="none" spc="0" normalizeH="0" baseline="0" noProof="0">
                <a:ln>
                  <a:noFill/>
                </a:ln>
                <a:solidFill>
                  <a:srgbClr val="FFFFFF"/>
                </a:solidFill>
                <a:effectLst/>
                <a:uLnTx/>
                <a:uFillTx/>
                <a:latin typeface="Arial"/>
                <a:ea typeface="Arial"/>
                <a:cs typeface="Arial"/>
                <a:sym typeface="Arial"/>
              </a:rPr>
              <a:t>Administrative Law –LAW1023</a:t>
            </a:r>
          </a:p>
        </p:txBody>
      </p:sp>
      <p:pic>
        <p:nvPicPr>
          <p:cNvPr id="4" name="Picture 2" descr="Image result for steamship co of nz">
            <a:extLst>
              <a:ext uri="{FF2B5EF4-FFF2-40B4-BE49-F238E27FC236}">
                <a16:creationId xmlns:a16="http://schemas.microsoft.com/office/drawing/2014/main" id="{57315048-B729-723F-4238-786A25DB7D47}"/>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9011363" y="1981200"/>
            <a:ext cx="2543605" cy="159770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42838585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000054"/>
        </a:solidFill>
        <a:effectLst/>
      </p:bgPr>
    </p:bg>
    <p:spTree>
      <p:nvGrpSpPr>
        <p:cNvPr id="1" name="">
          <a:extLst>
            <a:ext uri="{FF2B5EF4-FFF2-40B4-BE49-F238E27FC236}">
              <a16:creationId xmlns:a16="http://schemas.microsoft.com/office/drawing/2014/main" id="{CD1F0C90-21F5-DC42-06A2-CB1347A92836}"/>
            </a:ext>
          </a:extLst>
        </p:cNvPr>
        <p:cNvGrpSpPr/>
        <p:nvPr/>
      </p:nvGrpSpPr>
      <p:grpSpPr>
        <a:xfrm>
          <a:off x="0" y="0"/>
          <a:ext cx="0" cy="0"/>
          <a:chOff x="0" y="0"/>
          <a:chExt cx="0" cy="0"/>
        </a:xfrm>
      </p:grpSpPr>
      <p:grpSp>
        <p:nvGrpSpPr>
          <p:cNvPr id="2" name="Group 2">
            <a:extLst>
              <a:ext uri="{FF2B5EF4-FFF2-40B4-BE49-F238E27FC236}">
                <a16:creationId xmlns:a16="http://schemas.microsoft.com/office/drawing/2014/main" id="{079F8872-1722-3CD2-6D2B-F545EE760A9D}"/>
              </a:ext>
            </a:extLst>
          </p:cNvPr>
          <p:cNvGrpSpPr/>
          <p:nvPr/>
        </p:nvGrpSpPr>
        <p:grpSpPr>
          <a:xfrm rot="-10800000">
            <a:off x="11045567" y="-12700"/>
            <a:ext cx="1146433" cy="1146433"/>
            <a:chOff x="0" y="0"/>
            <a:chExt cx="1630482" cy="1630482"/>
          </a:xfrm>
        </p:grpSpPr>
        <p:sp>
          <p:nvSpPr>
            <p:cNvPr id="3" name="Freeform 3">
              <a:extLst>
                <a:ext uri="{FF2B5EF4-FFF2-40B4-BE49-F238E27FC236}">
                  <a16:creationId xmlns:a16="http://schemas.microsoft.com/office/drawing/2014/main" id="{5F23AA29-F066-1532-1561-0199CB489DFF}"/>
                </a:ext>
              </a:extLst>
            </p:cNvPr>
            <p:cNvSpPr/>
            <p:nvPr/>
          </p:nvSpPr>
          <p:spPr>
            <a:xfrm>
              <a:off x="0" y="0"/>
              <a:ext cx="1630426" cy="1630426"/>
            </a:xfrm>
            <a:custGeom>
              <a:avLst/>
              <a:gdLst/>
              <a:ahLst/>
              <a:cxnLst/>
              <a:rect l="l" t="t" r="r" b="b"/>
              <a:pathLst>
                <a:path w="1630426" h="1630426">
                  <a:moveTo>
                    <a:pt x="0" y="0"/>
                  </a:moveTo>
                  <a:lnTo>
                    <a:pt x="543433" y="0"/>
                  </a:lnTo>
                  <a:lnTo>
                    <a:pt x="543433" y="543433"/>
                  </a:lnTo>
                  <a:lnTo>
                    <a:pt x="1086993" y="543433"/>
                  </a:lnTo>
                  <a:lnTo>
                    <a:pt x="1086993" y="1086993"/>
                  </a:lnTo>
                  <a:lnTo>
                    <a:pt x="1630426" y="1086993"/>
                  </a:lnTo>
                  <a:lnTo>
                    <a:pt x="1630426" y="1630426"/>
                  </a:lnTo>
                  <a:lnTo>
                    <a:pt x="0" y="1630426"/>
                  </a:lnTo>
                  <a:lnTo>
                    <a:pt x="0" y="1086993"/>
                  </a:lnTo>
                  <a:lnTo>
                    <a:pt x="0" y="543433"/>
                  </a:lnTo>
                  <a:close/>
                </a:path>
              </a:pathLst>
            </a:custGeom>
            <a:solidFill>
              <a:srgbClr val="FFFFFF"/>
            </a:solid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AU" sz="1800" b="0" i="0" u="none" strike="noStrike" kern="1200" cap="none" spc="0" normalizeH="0" baseline="0" noProof="0">
                <a:ln>
                  <a:noFill/>
                </a:ln>
                <a:solidFill>
                  <a:prstClr val="black"/>
                </a:solidFill>
                <a:effectLst/>
                <a:uLnTx/>
                <a:uFillTx/>
                <a:latin typeface="Calibri"/>
                <a:ea typeface="+mn-ea"/>
                <a:cs typeface="+mn-cs"/>
              </a:endParaRPr>
            </a:p>
          </p:txBody>
        </p:sp>
      </p:grpSp>
      <p:sp>
        <p:nvSpPr>
          <p:cNvPr id="5" name="TextBox 5">
            <a:extLst>
              <a:ext uri="{FF2B5EF4-FFF2-40B4-BE49-F238E27FC236}">
                <a16:creationId xmlns:a16="http://schemas.microsoft.com/office/drawing/2014/main" id="{B5DDAFDA-1C3D-B6A5-310A-D8D201608B6A}"/>
              </a:ext>
            </a:extLst>
          </p:cNvPr>
          <p:cNvSpPr txBox="1"/>
          <p:nvPr/>
        </p:nvSpPr>
        <p:spPr>
          <a:xfrm>
            <a:off x="392084" y="560536"/>
            <a:ext cx="11190316" cy="409471"/>
          </a:xfrm>
          <a:prstGeom prst="rect">
            <a:avLst/>
          </a:prstGeom>
        </p:spPr>
        <p:txBody>
          <a:bodyPr wrap="square" lIns="0" tIns="0" rIns="0" bIns="0" rtlCol="0" anchor="t">
            <a:spAutoFit/>
          </a:bodyPr>
          <a:lstStyle/>
          <a:p>
            <a:pPr marL="0" marR="0" lvl="0" indent="0" algn="l" defTabSz="914400" rtl="0" eaLnBrk="1" fontAlgn="auto" latinLnBrk="0" hangingPunct="1">
              <a:lnSpc>
                <a:spcPts val="3494"/>
              </a:lnSpc>
              <a:spcBef>
                <a:spcPts val="0"/>
              </a:spcBef>
              <a:spcAft>
                <a:spcPts val="0"/>
              </a:spcAft>
              <a:buClrTx/>
              <a:buSzTx/>
              <a:buFontTx/>
              <a:buNone/>
              <a:tabLst/>
              <a:defRPr/>
            </a:pPr>
            <a:r>
              <a:rPr kumimoji="0" lang="en-US" sz="2496" b="1" u="none" strike="noStrike" kern="1200" cap="none" spc="0" normalizeH="0" baseline="0" noProof="0" dirty="0">
                <a:ln>
                  <a:noFill/>
                </a:ln>
                <a:solidFill>
                  <a:srgbClr val="FFFFFF"/>
                </a:solidFill>
                <a:effectLst/>
                <a:uLnTx/>
                <a:uFillTx/>
                <a:latin typeface="Arial Bold"/>
                <a:ea typeface="Arial Bold"/>
                <a:cs typeface="Arial Bold"/>
                <a:sym typeface="Arial Bold"/>
              </a:rPr>
              <a:t>‘Necessary or convenient’ clauses</a:t>
            </a:r>
          </a:p>
        </p:txBody>
      </p:sp>
      <p:sp>
        <p:nvSpPr>
          <p:cNvPr id="9" name="TextBox 9">
            <a:extLst>
              <a:ext uri="{FF2B5EF4-FFF2-40B4-BE49-F238E27FC236}">
                <a16:creationId xmlns:a16="http://schemas.microsoft.com/office/drawing/2014/main" id="{FE733A67-830F-36D0-6AE9-FEE81F046A5F}"/>
              </a:ext>
            </a:extLst>
          </p:cNvPr>
          <p:cNvSpPr txBox="1"/>
          <p:nvPr/>
        </p:nvSpPr>
        <p:spPr>
          <a:xfrm>
            <a:off x="392084" y="1295400"/>
            <a:ext cx="7456516" cy="4178388"/>
          </a:xfrm>
          <a:prstGeom prst="rect">
            <a:avLst/>
          </a:prstGeom>
        </p:spPr>
        <p:txBody>
          <a:bodyPr wrap="square" lIns="0" tIns="0" rIns="0" bIns="0" rtlCol="0" anchor="t">
            <a:spAutoFit/>
          </a:bodyPr>
          <a:lstStyle/>
          <a:p>
            <a:pPr marL="285750" marR="0" lvl="0" indent="-285750" algn="l" defTabSz="914400" rtl="0" eaLnBrk="1" fontAlgn="auto" latinLnBrk="0" hangingPunct="1">
              <a:lnSpc>
                <a:spcPct val="100000"/>
              </a:lnSpc>
              <a:spcBef>
                <a:spcPts val="0"/>
              </a:spcBef>
              <a:spcAft>
                <a:spcPts val="1200"/>
              </a:spcAft>
              <a:buClrTx/>
              <a:buSzTx/>
              <a:buFont typeface="Arial" panose="020B0604020202020204" pitchFamily="34" charset="0"/>
              <a:buChar char="•"/>
              <a:tabLst/>
              <a:defRPr/>
            </a:pPr>
            <a:r>
              <a:rPr kumimoji="0" lang="en-US" sz="1627" b="0" i="1" u="none" strike="noStrike" kern="1200" cap="none" spc="0" normalizeH="0" baseline="0" noProof="0" dirty="0">
                <a:ln>
                  <a:noFill/>
                </a:ln>
                <a:solidFill>
                  <a:srgbClr val="FFFFFF"/>
                </a:solidFill>
                <a:effectLst/>
                <a:uLnTx/>
                <a:uFillTx/>
                <a:latin typeface="Arial" panose="020B0604020202020204" pitchFamily="34" charset="0"/>
                <a:ea typeface="Arial Bold"/>
                <a:cs typeface="Arial" panose="020B0604020202020204" pitchFamily="34" charset="0"/>
                <a:sym typeface="Arial Bold"/>
              </a:rPr>
              <a:t>Shanahan v Scott</a:t>
            </a:r>
            <a:r>
              <a:rPr kumimoji="0" lang="en-US" sz="1627" b="0" i="0" u="none" strike="noStrike" kern="1200" cap="none" spc="0" normalizeH="0" baseline="0" noProof="0" dirty="0">
                <a:ln>
                  <a:noFill/>
                </a:ln>
                <a:solidFill>
                  <a:srgbClr val="FFFFFF"/>
                </a:solidFill>
                <a:effectLst/>
                <a:uLnTx/>
                <a:uFillTx/>
                <a:latin typeface="Arial" panose="020B0604020202020204" pitchFamily="34" charset="0"/>
                <a:ea typeface="Arial Bold"/>
                <a:cs typeface="Arial" panose="020B0604020202020204" pitchFamily="34" charset="0"/>
                <a:sym typeface="Arial Bold"/>
              </a:rPr>
              <a:t> (1957) 96 CLR 245</a:t>
            </a:r>
          </a:p>
          <a:p>
            <a:pPr marL="285750" marR="0" lvl="0" indent="-285750" algn="l" defTabSz="914400" rtl="0" eaLnBrk="1" fontAlgn="auto" latinLnBrk="0" hangingPunct="1">
              <a:lnSpc>
                <a:spcPct val="100000"/>
              </a:lnSpc>
              <a:spcBef>
                <a:spcPts val="0"/>
              </a:spcBef>
              <a:spcAft>
                <a:spcPts val="1200"/>
              </a:spcAft>
              <a:buClrTx/>
              <a:buSzTx/>
              <a:buFont typeface="Arial" panose="020B0604020202020204" pitchFamily="34" charset="0"/>
              <a:buChar char="•"/>
              <a:tabLst/>
              <a:defRPr/>
            </a:pPr>
            <a:r>
              <a:rPr kumimoji="0" lang="en-US" sz="1627" b="0" i="0" u="none" strike="noStrike" kern="1200" cap="none" spc="0" normalizeH="0" baseline="0" noProof="0" dirty="0">
                <a:ln>
                  <a:noFill/>
                </a:ln>
                <a:solidFill>
                  <a:srgbClr val="FFFFFF"/>
                </a:solidFill>
                <a:effectLst/>
                <a:uLnTx/>
                <a:uFillTx/>
                <a:latin typeface="Arial" panose="020B0604020202020204" pitchFamily="34" charset="0"/>
                <a:ea typeface="Arial Bold"/>
                <a:cs typeface="Arial" panose="020B0604020202020204" pitchFamily="34" charset="0"/>
                <a:sym typeface="Arial Bold"/>
              </a:rPr>
              <a:t>Marketing of Primary Products Act 1935-53 (Vic), s 43(1):</a:t>
            </a:r>
          </a:p>
          <a:p>
            <a:pPr marL="285750" marR="0" lvl="0" indent="-285750" algn="l" defTabSz="914400" rtl="0" eaLnBrk="1" fontAlgn="auto" latinLnBrk="0" hangingPunct="1">
              <a:lnSpc>
                <a:spcPct val="100000"/>
              </a:lnSpc>
              <a:spcBef>
                <a:spcPts val="0"/>
              </a:spcBef>
              <a:spcAft>
                <a:spcPts val="1200"/>
              </a:spcAft>
              <a:buClrTx/>
              <a:buSzTx/>
              <a:buFont typeface="Arial" panose="020B0604020202020204" pitchFamily="34" charset="0"/>
              <a:buChar char="•"/>
              <a:tabLst/>
              <a:defRPr/>
            </a:pPr>
            <a:r>
              <a:rPr kumimoji="0" lang="en-US" sz="1627" b="0" i="0" u="none" strike="noStrike" kern="1200" cap="none" spc="0" normalizeH="0" baseline="0" noProof="0" dirty="0">
                <a:ln>
                  <a:noFill/>
                </a:ln>
                <a:solidFill>
                  <a:srgbClr val="FFFFFF"/>
                </a:solidFill>
                <a:effectLst/>
                <a:uLnTx/>
                <a:uFillTx/>
                <a:latin typeface="Arial" panose="020B0604020202020204" pitchFamily="34" charset="0"/>
                <a:ea typeface="Arial Bold"/>
                <a:cs typeface="Arial" panose="020B0604020202020204" pitchFamily="34" charset="0"/>
                <a:sym typeface="Arial Bold"/>
              </a:rPr>
              <a:t>The Governor in Council may make regulations providing for all or any purposes necessary or  expedient for the administration of the Act…</a:t>
            </a:r>
          </a:p>
          <a:p>
            <a:pPr marL="285750" marR="0" lvl="0" indent="-285750" algn="l" defTabSz="914400" rtl="0" eaLnBrk="1" fontAlgn="auto" latinLnBrk="0" hangingPunct="1">
              <a:lnSpc>
                <a:spcPct val="100000"/>
              </a:lnSpc>
              <a:spcBef>
                <a:spcPts val="0"/>
              </a:spcBef>
              <a:spcAft>
                <a:spcPts val="1200"/>
              </a:spcAft>
              <a:buClrTx/>
              <a:buSzTx/>
              <a:buFont typeface="Arial" panose="020B0604020202020204" pitchFamily="34" charset="0"/>
              <a:buChar char="•"/>
              <a:tabLst/>
              <a:defRPr/>
            </a:pPr>
            <a:r>
              <a:rPr kumimoji="0" lang="en-US" sz="1627" b="0" i="0" u="none" strike="noStrike" kern="1200" cap="none" spc="0" normalizeH="0" baseline="0" noProof="0" dirty="0">
                <a:ln>
                  <a:noFill/>
                </a:ln>
                <a:solidFill>
                  <a:srgbClr val="FFFFFF"/>
                </a:solidFill>
                <a:effectLst/>
                <a:uLnTx/>
                <a:uFillTx/>
                <a:latin typeface="Arial" panose="020B0604020202020204" pitchFamily="34" charset="0"/>
                <a:ea typeface="Arial Bold"/>
                <a:cs typeface="Arial" panose="020B0604020202020204" pitchFamily="34" charset="0"/>
                <a:sym typeface="Arial Bold"/>
              </a:rPr>
              <a:t>Egg and Egg Pulp Marketing Board Regulations, r 44 provided that:</a:t>
            </a:r>
          </a:p>
          <a:p>
            <a:pPr marL="285750" marR="0" lvl="0" indent="-285750" algn="l" defTabSz="914400" rtl="0" eaLnBrk="1" fontAlgn="auto" latinLnBrk="0" hangingPunct="1">
              <a:lnSpc>
                <a:spcPct val="100000"/>
              </a:lnSpc>
              <a:spcBef>
                <a:spcPts val="0"/>
              </a:spcBef>
              <a:spcAft>
                <a:spcPts val="1200"/>
              </a:spcAft>
              <a:buClrTx/>
              <a:buSzTx/>
              <a:buFont typeface="Arial" panose="020B0604020202020204" pitchFamily="34" charset="0"/>
              <a:buChar char="•"/>
              <a:tabLst/>
              <a:defRPr/>
            </a:pPr>
            <a:r>
              <a:rPr kumimoji="0" lang="en-US" sz="1627" b="0" i="0" u="none" strike="noStrike" kern="1200" cap="none" spc="0" normalizeH="0" baseline="0" noProof="0" dirty="0">
                <a:ln>
                  <a:noFill/>
                </a:ln>
                <a:solidFill>
                  <a:srgbClr val="FFFFFF"/>
                </a:solidFill>
                <a:effectLst/>
                <a:uLnTx/>
                <a:uFillTx/>
                <a:latin typeface="Arial" panose="020B0604020202020204" pitchFamily="34" charset="0"/>
                <a:ea typeface="Arial Bold"/>
                <a:cs typeface="Arial" panose="020B0604020202020204" pitchFamily="34" charset="0"/>
                <a:sym typeface="Arial Bold"/>
              </a:rPr>
              <a:t>No person may place any eggs in cold storage premises without the permission of the Egg and  Egg Pulp Marketing Board (subject to certain exceptions for domestic use, this was an offence under the Reg).</a:t>
            </a:r>
          </a:p>
          <a:p>
            <a:pPr marL="285750" marR="0" lvl="0" indent="-285750" algn="l" defTabSz="914400" rtl="0" eaLnBrk="1" fontAlgn="auto" latinLnBrk="0" hangingPunct="1">
              <a:lnSpc>
                <a:spcPct val="100000"/>
              </a:lnSpc>
              <a:spcBef>
                <a:spcPts val="0"/>
              </a:spcBef>
              <a:spcAft>
                <a:spcPts val="1200"/>
              </a:spcAft>
              <a:buClrTx/>
              <a:buSzTx/>
              <a:buFont typeface="Arial" panose="020B0604020202020204" pitchFamily="34" charset="0"/>
              <a:buChar char="•"/>
              <a:tabLst/>
              <a:defRPr/>
            </a:pPr>
            <a:r>
              <a:rPr kumimoji="0" lang="en-US" sz="1627" b="0" i="0" u="none" strike="noStrike" kern="1200" cap="none" spc="0" normalizeH="0" baseline="0" noProof="0" dirty="0">
                <a:ln>
                  <a:noFill/>
                </a:ln>
                <a:solidFill>
                  <a:srgbClr val="FFFFFF"/>
                </a:solidFill>
                <a:effectLst/>
                <a:uLnTx/>
                <a:uFillTx/>
                <a:latin typeface="Arial" panose="020B0604020202020204" pitchFamily="34" charset="0"/>
                <a:ea typeface="Arial Bold"/>
                <a:cs typeface="Arial" panose="020B0604020202020204" pitchFamily="34" charset="0"/>
                <a:sym typeface="Arial Bold"/>
              </a:rPr>
              <a:t>HCA Held: Regulations cannot extend the scope of the Act, they can only be incidental to administration of it. Reg 44 purports to extend the  scope of the Act, because it applies to eggs outside the scope of the Board’s authority, and goes beyond what is necessary for the purposes of the Act. </a:t>
            </a:r>
          </a:p>
          <a:p>
            <a:pPr marL="285750" marR="0" lvl="0" indent="-285750" algn="l" defTabSz="914400" rtl="0" eaLnBrk="1" fontAlgn="auto" latinLnBrk="0" hangingPunct="1">
              <a:lnSpc>
                <a:spcPct val="100000"/>
              </a:lnSpc>
              <a:spcBef>
                <a:spcPts val="0"/>
              </a:spcBef>
              <a:spcAft>
                <a:spcPts val="1200"/>
              </a:spcAft>
              <a:buClrTx/>
              <a:buSzTx/>
              <a:buFont typeface="Arial" panose="020B0604020202020204" pitchFamily="34" charset="0"/>
              <a:buChar char="•"/>
              <a:tabLst/>
              <a:defRPr/>
            </a:pPr>
            <a:r>
              <a:rPr kumimoji="0" lang="en-US" sz="1627" b="0" i="0" u="none" strike="noStrike" kern="1200" cap="none" spc="0" normalizeH="0" baseline="0" noProof="0" dirty="0">
                <a:ln>
                  <a:noFill/>
                </a:ln>
                <a:solidFill>
                  <a:srgbClr val="FFFFFF"/>
                </a:solidFill>
                <a:effectLst/>
                <a:uLnTx/>
                <a:uFillTx/>
                <a:latin typeface="Arial" panose="020B0604020202020204" pitchFamily="34" charset="0"/>
                <a:ea typeface="Arial Bold"/>
                <a:cs typeface="Arial" panose="020B0604020202020204" pitchFamily="34" charset="0"/>
                <a:sym typeface="Arial Bold"/>
              </a:rPr>
              <a:t>‘Supplements’ rather than ‘complements’ and is therefore ultra vires…</a:t>
            </a:r>
          </a:p>
        </p:txBody>
      </p:sp>
      <p:sp>
        <p:nvSpPr>
          <p:cNvPr id="10" name="TextBox 10">
            <a:extLst>
              <a:ext uri="{FF2B5EF4-FFF2-40B4-BE49-F238E27FC236}">
                <a16:creationId xmlns:a16="http://schemas.microsoft.com/office/drawing/2014/main" id="{E4B2CE21-CD7F-BDD9-9A67-7FA6AB3141BB}"/>
              </a:ext>
            </a:extLst>
          </p:cNvPr>
          <p:cNvSpPr txBox="1"/>
          <p:nvPr/>
        </p:nvSpPr>
        <p:spPr>
          <a:xfrm>
            <a:off x="10195446" y="6347803"/>
            <a:ext cx="1773879" cy="193258"/>
          </a:xfrm>
          <a:prstGeom prst="rect">
            <a:avLst/>
          </a:prstGeom>
        </p:spPr>
        <p:txBody>
          <a:bodyPr lIns="0" tIns="0" rIns="0" bIns="0" rtlCol="0" anchor="t">
            <a:spAutoFit/>
          </a:bodyPr>
          <a:lstStyle/>
          <a:p>
            <a:pPr marL="0" marR="0" lvl="0" indent="0" algn="l" defTabSz="914400" rtl="0" eaLnBrk="1" fontAlgn="auto" latinLnBrk="0" hangingPunct="1">
              <a:lnSpc>
                <a:spcPts val="1422"/>
              </a:lnSpc>
              <a:spcBef>
                <a:spcPts val="0"/>
              </a:spcBef>
              <a:spcAft>
                <a:spcPts val="0"/>
              </a:spcAft>
              <a:buClrTx/>
              <a:buSzTx/>
              <a:buFontTx/>
              <a:buNone/>
              <a:tabLst/>
              <a:defRPr/>
            </a:pPr>
            <a:r>
              <a:rPr kumimoji="0" lang="en-US" sz="1016" b="0" i="0" u="none" strike="noStrike" kern="1200" cap="none" spc="0" normalizeH="0" baseline="0" noProof="0">
                <a:ln>
                  <a:noFill/>
                </a:ln>
                <a:solidFill>
                  <a:srgbClr val="FFFFFF"/>
                </a:solidFill>
                <a:effectLst/>
                <a:uLnTx/>
                <a:uFillTx/>
                <a:latin typeface="Arial"/>
                <a:ea typeface="Arial"/>
                <a:cs typeface="Arial"/>
                <a:sym typeface="Arial"/>
              </a:rPr>
              <a:t>Administrative Law –LAW1023</a:t>
            </a:r>
          </a:p>
        </p:txBody>
      </p:sp>
      <p:pic>
        <p:nvPicPr>
          <p:cNvPr id="4" name="Picture 3">
            <a:extLst>
              <a:ext uri="{FF2B5EF4-FFF2-40B4-BE49-F238E27FC236}">
                <a16:creationId xmlns:a16="http://schemas.microsoft.com/office/drawing/2014/main" id="{09B90DAB-D492-930D-9208-20244269C2D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839200" y="1600199"/>
            <a:ext cx="2286000" cy="3275463"/>
          </a:xfrm>
          <a:prstGeom prst="rect">
            <a:avLst/>
          </a:prstGeom>
        </p:spPr>
      </p:pic>
    </p:spTree>
    <p:extLst>
      <p:ext uri="{BB962C8B-B14F-4D97-AF65-F5344CB8AC3E}">
        <p14:creationId xmlns:p14="http://schemas.microsoft.com/office/powerpoint/2010/main" val="42672447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rgbClr val="000054"/>
        </a:solidFill>
        <a:effectLst/>
      </p:bgPr>
    </p:bg>
    <p:spTree>
      <p:nvGrpSpPr>
        <p:cNvPr id="1" name="">
          <a:extLst>
            <a:ext uri="{FF2B5EF4-FFF2-40B4-BE49-F238E27FC236}">
              <a16:creationId xmlns:a16="http://schemas.microsoft.com/office/drawing/2014/main" id="{B5707D68-16A9-B979-CBD6-9645537DA7F2}"/>
            </a:ext>
          </a:extLst>
        </p:cNvPr>
        <p:cNvGrpSpPr/>
        <p:nvPr/>
      </p:nvGrpSpPr>
      <p:grpSpPr>
        <a:xfrm>
          <a:off x="0" y="0"/>
          <a:ext cx="0" cy="0"/>
          <a:chOff x="0" y="0"/>
          <a:chExt cx="0" cy="0"/>
        </a:xfrm>
      </p:grpSpPr>
      <p:grpSp>
        <p:nvGrpSpPr>
          <p:cNvPr id="2" name="Group 2">
            <a:extLst>
              <a:ext uri="{FF2B5EF4-FFF2-40B4-BE49-F238E27FC236}">
                <a16:creationId xmlns:a16="http://schemas.microsoft.com/office/drawing/2014/main" id="{58AE3CDE-FB9B-5F92-3488-5D5831F28431}"/>
              </a:ext>
            </a:extLst>
          </p:cNvPr>
          <p:cNvGrpSpPr/>
          <p:nvPr/>
        </p:nvGrpSpPr>
        <p:grpSpPr>
          <a:xfrm rot="-10800000">
            <a:off x="11045567" y="-12700"/>
            <a:ext cx="1146433" cy="1146433"/>
            <a:chOff x="0" y="0"/>
            <a:chExt cx="1630482" cy="1630482"/>
          </a:xfrm>
        </p:grpSpPr>
        <p:sp>
          <p:nvSpPr>
            <p:cNvPr id="3" name="Freeform 3">
              <a:extLst>
                <a:ext uri="{FF2B5EF4-FFF2-40B4-BE49-F238E27FC236}">
                  <a16:creationId xmlns:a16="http://schemas.microsoft.com/office/drawing/2014/main" id="{CBE6693B-70EA-DE28-46EA-B6E92B91F28A}"/>
                </a:ext>
              </a:extLst>
            </p:cNvPr>
            <p:cNvSpPr/>
            <p:nvPr/>
          </p:nvSpPr>
          <p:spPr>
            <a:xfrm>
              <a:off x="0" y="0"/>
              <a:ext cx="1630426" cy="1630426"/>
            </a:xfrm>
            <a:custGeom>
              <a:avLst/>
              <a:gdLst/>
              <a:ahLst/>
              <a:cxnLst/>
              <a:rect l="l" t="t" r="r" b="b"/>
              <a:pathLst>
                <a:path w="1630426" h="1630426">
                  <a:moveTo>
                    <a:pt x="0" y="0"/>
                  </a:moveTo>
                  <a:lnTo>
                    <a:pt x="543433" y="0"/>
                  </a:lnTo>
                  <a:lnTo>
                    <a:pt x="543433" y="543433"/>
                  </a:lnTo>
                  <a:lnTo>
                    <a:pt x="1086993" y="543433"/>
                  </a:lnTo>
                  <a:lnTo>
                    <a:pt x="1086993" y="1086993"/>
                  </a:lnTo>
                  <a:lnTo>
                    <a:pt x="1630426" y="1086993"/>
                  </a:lnTo>
                  <a:lnTo>
                    <a:pt x="1630426" y="1630426"/>
                  </a:lnTo>
                  <a:lnTo>
                    <a:pt x="0" y="1630426"/>
                  </a:lnTo>
                  <a:lnTo>
                    <a:pt x="0" y="1086993"/>
                  </a:lnTo>
                  <a:lnTo>
                    <a:pt x="0" y="543433"/>
                  </a:lnTo>
                  <a:close/>
                </a:path>
              </a:pathLst>
            </a:custGeom>
            <a:solidFill>
              <a:srgbClr val="FFFFFF"/>
            </a:solid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AU" sz="1800" b="0" i="0" u="none" strike="noStrike" kern="1200" cap="none" spc="0" normalizeH="0" baseline="0" noProof="0">
                <a:ln>
                  <a:noFill/>
                </a:ln>
                <a:solidFill>
                  <a:prstClr val="black"/>
                </a:solidFill>
                <a:effectLst/>
                <a:uLnTx/>
                <a:uFillTx/>
                <a:latin typeface="Calibri"/>
                <a:ea typeface="+mn-ea"/>
                <a:cs typeface="+mn-cs"/>
              </a:endParaRPr>
            </a:p>
          </p:txBody>
        </p:sp>
      </p:grpSp>
      <p:sp>
        <p:nvSpPr>
          <p:cNvPr id="5" name="TextBox 5">
            <a:extLst>
              <a:ext uri="{FF2B5EF4-FFF2-40B4-BE49-F238E27FC236}">
                <a16:creationId xmlns:a16="http://schemas.microsoft.com/office/drawing/2014/main" id="{3BEBB7D7-30BF-0CFF-523E-57847F607285}"/>
              </a:ext>
            </a:extLst>
          </p:cNvPr>
          <p:cNvSpPr txBox="1"/>
          <p:nvPr/>
        </p:nvSpPr>
        <p:spPr>
          <a:xfrm>
            <a:off x="392084" y="560536"/>
            <a:ext cx="11190316" cy="409471"/>
          </a:xfrm>
          <a:prstGeom prst="rect">
            <a:avLst/>
          </a:prstGeom>
        </p:spPr>
        <p:txBody>
          <a:bodyPr wrap="square" lIns="0" tIns="0" rIns="0" bIns="0" rtlCol="0" anchor="t">
            <a:spAutoFit/>
          </a:bodyPr>
          <a:lstStyle/>
          <a:p>
            <a:pPr marL="0" marR="0" lvl="0" indent="0" algn="l" defTabSz="914400" rtl="0" eaLnBrk="1" fontAlgn="auto" latinLnBrk="0" hangingPunct="1">
              <a:lnSpc>
                <a:spcPts val="3494"/>
              </a:lnSpc>
              <a:spcBef>
                <a:spcPts val="0"/>
              </a:spcBef>
              <a:spcAft>
                <a:spcPts val="0"/>
              </a:spcAft>
              <a:buClrTx/>
              <a:buSzTx/>
              <a:buFontTx/>
              <a:buNone/>
              <a:tabLst/>
              <a:defRPr/>
            </a:pPr>
            <a:r>
              <a:rPr kumimoji="0" lang="en-US" sz="2496" b="1" u="none" strike="noStrike" kern="1200" cap="none" spc="0" normalizeH="0" baseline="0" noProof="0" dirty="0">
                <a:ln>
                  <a:noFill/>
                </a:ln>
                <a:solidFill>
                  <a:srgbClr val="FFFFFF"/>
                </a:solidFill>
                <a:effectLst/>
                <a:uLnTx/>
                <a:uFillTx/>
                <a:latin typeface="Arial Bold"/>
                <a:ea typeface="Arial Bold"/>
                <a:cs typeface="Arial Bold"/>
                <a:sym typeface="Arial Bold"/>
              </a:rPr>
              <a:t>Subordinate Legislation- purposive powers</a:t>
            </a:r>
          </a:p>
        </p:txBody>
      </p:sp>
      <p:sp>
        <p:nvSpPr>
          <p:cNvPr id="9" name="TextBox 9">
            <a:extLst>
              <a:ext uri="{FF2B5EF4-FFF2-40B4-BE49-F238E27FC236}">
                <a16:creationId xmlns:a16="http://schemas.microsoft.com/office/drawing/2014/main" id="{BED77696-9309-5CC6-195A-31349E963494}"/>
              </a:ext>
            </a:extLst>
          </p:cNvPr>
          <p:cNvSpPr txBox="1"/>
          <p:nvPr/>
        </p:nvSpPr>
        <p:spPr>
          <a:xfrm>
            <a:off x="392084" y="1295400"/>
            <a:ext cx="7456516" cy="3967112"/>
          </a:xfrm>
          <a:prstGeom prst="rect">
            <a:avLst/>
          </a:prstGeom>
        </p:spPr>
        <p:txBody>
          <a:bodyPr wrap="square" lIns="0" tIns="0" rIns="0" bIns="0" rtlCol="0" anchor="t">
            <a:spAutoFit/>
          </a:bodyPr>
          <a:lstStyle/>
          <a:p>
            <a:pPr marL="285750" marR="0" lvl="0" indent="-285750" algn="l" defTabSz="914400" rtl="0" eaLnBrk="1" fontAlgn="auto" latinLnBrk="0" hangingPunct="1">
              <a:lnSpc>
                <a:spcPct val="100000"/>
              </a:lnSpc>
              <a:spcBef>
                <a:spcPts val="0"/>
              </a:spcBef>
              <a:spcAft>
                <a:spcPts val="1200"/>
              </a:spcAft>
              <a:buClrTx/>
              <a:buSzTx/>
              <a:buFont typeface="Arial" panose="020B0604020202020204" pitchFamily="34" charset="0"/>
              <a:buChar char="•"/>
              <a:tabLst/>
              <a:defRPr/>
            </a:pPr>
            <a:r>
              <a:rPr kumimoji="0" lang="en-US" sz="1627" b="0" i="0" u="none" strike="noStrike" kern="1200" cap="none" spc="0" normalizeH="0" baseline="0" noProof="0" dirty="0">
                <a:ln>
                  <a:noFill/>
                </a:ln>
                <a:solidFill>
                  <a:srgbClr val="FFFFFF"/>
                </a:solidFill>
                <a:effectLst/>
                <a:uLnTx/>
                <a:uFillTx/>
                <a:latin typeface="Arial" panose="020B0604020202020204" pitchFamily="34" charset="0"/>
                <a:ea typeface="Arial Bold"/>
                <a:cs typeface="Arial" panose="020B0604020202020204" pitchFamily="34" charset="0"/>
                <a:sym typeface="Arial Bold"/>
              </a:rPr>
              <a:t>The courts distinguish between ‘subject matter’ regulatory powers (as </a:t>
            </a:r>
            <a:r>
              <a:rPr kumimoji="0" lang="en-US" sz="1627" i="1" u="none" strike="noStrike" kern="1200" cap="none" spc="0" normalizeH="0" baseline="0" noProof="0" dirty="0">
                <a:ln>
                  <a:noFill/>
                </a:ln>
                <a:solidFill>
                  <a:srgbClr val="FFFFFF"/>
                </a:solidFill>
                <a:effectLst/>
                <a:uLnTx/>
                <a:uFillTx/>
                <a:latin typeface="Arial" panose="020B0604020202020204" pitchFamily="34" charset="0"/>
                <a:ea typeface="Arial Bold"/>
                <a:cs typeface="Arial" panose="020B0604020202020204" pitchFamily="34" charset="0"/>
                <a:sym typeface="Arial Bold"/>
              </a:rPr>
              <a:t>M57</a:t>
            </a:r>
            <a:r>
              <a:rPr kumimoji="0" lang="en-US" sz="1627" b="0" i="0" u="none" strike="noStrike" kern="1200" cap="none" spc="0" normalizeH="0" baseline="0" noProof="0" dirty="0">
                <a:ln>
                  <a:noFill/>
                </a:ln>
                <a:solidFill>
                  <a:srgbClr val="FFFFFF"/>
                </a:solidFill>
                <a:effectLst/>
                <a:uLnTx/>
                <a:uFillTx/>
                <a:latin typeface="Arial" panose="020B0604020202020204" pitchFamily="34" charset="0"/>
                <a:ea typeface="Arial Bold"/>
                <a:cs typeface="Arial" panose="020B0604020202020204" pitchFamily="34" charset="0"/>
                <a:sym typeface="Arial Bold"/>
              </a:rPr>
              <a:t> and </a:t>
            </a:r>
            <a:r>
              <a:rPr kumimoji="0" lang="en-US" sz="1627" b="0" i="1" u="none" strike="noStrike" kern="1200" cap="none" spc="0" normalizeH="0" baseline="0" noProof="0" dirty="0">
                <a:ln>
                  <a:noFill/>
                </a:ln>
                <a:solidFill>
                  <a:srgbClr val="FFFFFF"/>
                </a:solidFill>
                <a:effectLst/>
                <a:uLnTx/>
                <a:uFillTx/>
                <a:latin typeface="Arial" panose="020B0604020202020204" pitchFamily="34" charset="0"/>
                <a:ea typeface="Arial Bold"/>
                <a:cs typeface="Arial" panose="020B0604020202020204" pitchFamily="34" charset="0"/>
                <a:sym typeface="Arial Bold"/>
              </a:rPr>
              <a:t>Foley v Padley</a:t>
            </a:r>
            <a:r>
              <a:rPr kumimoji="0" lang="en-US" sz="1627" b="0" i="0" u="none" strike="noStrike" kern="1200" cap="none" spc="0" normalizeH="0" baseline="0" noProof="0" dirty="0">
                <a:ln>
                  <a:noFill/>
                </a:ln>
                <a:solidFill>
                  <a:srgbClr val="FFFFFF"/>
                </a:solidFill>
                <a:effectLst/>
                <a:uLnTx/>
                <a:uFillTx/>
                <a:latin typeface="Arial" panose="020B0604020202020204" pitchFamily="34" charset="0"/>
                <a:ea typeface="Arial Bold"/>
                <a:cs typeface="Arial" panose="020B0604020202020204" pitchFamily="34" charset="0"/>
                <a:sym typeface="Arial Bold"/>
              </a:rPr>
              <a:t>) and ‘purposive’ powers. </a:t>
            </a:r>
            <a:r>
              <a:rPr kumimoji="0" lang="en-US" sz="1627" b="0" i="0" u="none" strike="noStrike" kern="1200" cap="none" spc="0" normalizeH="0" baseline="0" noProof="0" dirty="0" err="1">
                <a:ln>
                  <a:noFill/>
                </a:ln>
                <a:solidFill>
                  <a:srgbClr val="FFFFFF"/>
                </a:solidFill>
                <a:effectLst/>
                <a:uLnTx/>
                <a:uFillTx/>
                <a:latin typeface="Arial" panose="020B0604020202020204" pitchFamily="34" charset="0"/>
                <a:ea typeface="Arial Bold"/>
                <a:cs typeface="Arial" panose="020B0604020202020204" pitchFamily="34" charset="0"/>
                <a:sym typeface="Arial Bold"/>
              </a:rPr>
              <a:t>Eg</a:t>
            </a:r>
            <a:r>
              <a:rPr kumimoji="0" lang="en-US" sz="1627" b="0" i="0" u="none" strike="noStrike" kern="1200" cap="none" spc="0" normalizeH="0" baseline="0" noProof="0" dirty="0">
                <a:ln>
                  <a:noFill/>
                </a:ln>
                <a:solidFill>
                  <a:srgbClr val="FFFFFF"/>
                </a:solidFill>
                <a:effectLst/>
                <a:uLnTx/>
                <a:uFillTx/>
                <a:latin typeface="Arial" panose="020B0604020202020204" pitchFamily="34" charset="0"/>
                <a:ea typeface="Arial Bold"/>
                <a:cs typeface="Arial" panose="020B0604020202020204" pitchFamily="34" charset="0"/>
                <a:sym typeface="Arial Bold"/>
              </a:rPr>
              <a:t>:</a:t>
            </a:r>
            <a:br>
              <a:rPr kumimoji="0" lang="en-US" sz="1627" b="0" i="0" u="none" strike="noStrike" kern="1200" cap="none" spc="0" normalizeH="0" baseline="0" noProof="0" dirty="0">
                <a:ln>
                  <a:noFill/>
                </a:ln>
                <a:solidFill>
                  <a:srgbClr val="FFFFFF"/>
                </a:solidFill>
                <a:effectLst/>
                <a:uLnTx/>
                <a:uFillTx/>
                <a:latin typeface="Arial" panose="020B0604020202020204" pitchFamily="34" charset="0"/>
                <a:ea typeface="Arial Bold"/>
                <a:cs typeface="Arial" panose="020B0604020202020204" pitchFamily="34" charset="0"/>
                <a:sym typeface="Arial Bold"/>
              </a:rPr>
            </a:br>
            <a:endParaRPr kumimoji="0" lang="en-US" sz="1627" b="0" i="0" u="none" strike="noStrike" kern="1200" cap="none" spc="0" normalizeH="0" baseline="0" noProof="0" dirty="0">
              <a:ln>
                <a:noFill/>
              </a:ln>
              <a:solidFill>
                <a:srgbClr val="FFFFFF"/>
              </a:solidFill>
              <a:effectLst/>
              <a:uLnTx/>
              <a:uFillTx/>
              <a:latin typeface="Arial" panose="020B0604020202020204" pitchFamily="34" charset="0"/>
              <a:ea typeface="Arial Bold"/>
              <a:cs typeface="Arial" panose="020B0604020202020204" pitchFamily="34" charset="0"/>
              <a:sym typeface="Arial Bold"/>
            </a:endParaRPr>
          </a:p>
          <a:p>
            <a:pPr marL="285750" marR="0" lvl="0" indent="-285750" algn="l" defTabSz="914400" rtl="0" eaLnBrk="1" fontAlgn="auto" latinLnBrk="0" hangingPunct="1">
              <a:lnSpc>
                <a:spcPct val="100000"/>
              </a:lnSpc>
              <a:spcBef>
                <a:spcPts val="0"/>
              </a:spcBef>
              <a:spcAft>
                <a:spcPts val="1200"/>
              </a:spcAft>
              <a:buClrTx/>
              <a:buSzTx/>
              <a:buFont typeface="Arial" panose="020B0604020202020204" pitchFamily="34" charset="0"/>
              <a:buChar char="•"/>
              <a:tabLst/>
              <a:defRPr/>
            </a:pPr>
            <a:r>
              <a:rPr kumimoji="0" lang="en-US" sz="1627" b="0" i="1" u="none" strike="noStrike" kern="1200" cap="none" spc="0" normalizeH="0" baseline="0" noProof="0" dirty="0">
                <a:ln>
                  <a:noFill/>
                </a:ln>
                <a:solidFill>
                  <a:srgbClr val="FFFFFF"/>
                </a:solidFill>
                <a:effectLst/>
                <a:uLnTx/>
                <a:uFillTx/>
                <a:latin typeface="Arial" panose="020B0604020202020204" pitchFamily="34" charset="0"/>
                <a:ea typeface="Arial Bold"/>
                <a:cs typeface="Arial" panose="020B0604020202020204" pitchFamily="34" charset="0"/>
                <a:sym typeface="Arial Bold"/>
              </a:rPr>
              <a:t>SA v Tanner </a:t>
            </a:r>
            <a:r>
              <a:rPr kumimoji="0" lang="en-US" sz="1627" b="0" i="0" u="none" strike="noStrike" kern="1200" cap="none" spc="0" normalizeH="0" baseline="0" noProof="0" dirty="0">
                <a:ln>
                  <a:noFill/>
                </a:ln>
                <a:solidFill>
                  <a:srgbClr val="FFFFFF"/>
                </a:solidFill>
                <a:effectLst/>
                <a:uLnTx/>
                <a:uFillTx/>
                <a:latin typeface="Arial" panose="020B0604020202020204" pitchFamily="34" charset="0"/>
                <a:ea typeface="Arial Bold"/>
                <a:cs typeface="Arial" panose="020B0604020202020204" pitchFamily="34" charset="0"/>
                <a:sym typeface="Arial Bold"/>
              </a:rPr>
              <a:t>(1989) 166 CLR 161</a:t>
            </a:r>
          </a:p>
          <a:p>
            <a:pPr marL="285750" marR="0" lvl="0" indent="-285750" algn="l" defTabSz="914400" rtl="0" eaLnBrk="1" fontAlgn="auto" latinLnBrk="0" hangingPunct="1">
              <a:lnSpc>
                <a:spcPct val="100000"/>
              </a:lnSpc>
              <a:spcBef>
                <a:spcPts val="0"/>
              </a:spcBef>
              <a:spcAft>
                <a:spcPts val="1200"/>
              </a:spcAft>
              <a:buClrTx/>
              <a:buSzTx/>
              <a:buFont typeface="Arial" panose="020B0604020202020204" pitchFamily="34" charset="0"/>
              <a:buChar char="•"/>
              <a:tabLst/>
              <a:defRPr/>
            </a:pPr>
            <a:r>
              <a:rPr kumimoji="0" lang="en-US" sz="1627" b="0" i="1" u="none" strike="noStrike" kern="1200" cap="none" spc="0" normalizeH="0" baseline="0" noProof="0" dirty="0">
                <a:ln>
                  <a:noFill/>
                </a:ln>
                <a:solidFill>
                  <a:srgbClr val="FFFFFF"/>
                </a:solidFill>
                <a:effectLst/>
                <a:uLnTx/>
                <a:uFillTx/>
                <a:latin typeface="Arial" panose="020B0604020202020204" pitchFamily="34" charset="0"/>
                <a:ea typeface="Arial Bold"/>
                <a:cs typeface="Arial" panose="020B0604020202020204" pitchFamily="34" charset="0"/>
                <a:sym typeface="Arial Bold"/>
              </a:rPr>
              <a:t>Waterworks Act 1932 (SA) </a:t>
            </a:r>
            <a:r>
              <a:rPr kumimoji="0" lang="en-US" sz="1627" b="0" i="0" u="none" strike="noStrike" kern="1200" cap="none" spc="0" normalizeH="0" baseline="0" noProof="0" dirty="0">
                <a:ln>
                  <a:noFill/>
                </a:ln>
                <a:solidFill>
                  <a:srgbClr val="FFFFFF"/>
                </a:solidFill>
                <a:effectLst/>
                <a:uLnTx/>
                <a:uFillTx/>
                <a:latin typeface="Arial" panose="020B0604020202020204" pitchFamily="34" charset="0"/>
                <a:ea typeface="Arial Bold"/>
                <a:cs typeface="Arial" panose="020B0604020202020204" pitchFamily="34" charset="0"/>
                <a:sym typeface="Arial Bold"/>
              </a:rPr>
              <a:t>gave power to make regs for regulating/ controlling/ prohibiting use of land within watershed ‘so as to reduce or prevent the deterioration or pollution of any water within a watershed….’ G-G made reg prohibiting erection/enlargement of any ‘piggery, zoo or feedlot’ within watersheds. Power included prohibition and extended to prevention of pollution. HCA approved proportionality test to check that regulation was ‘reasonably proportionate/appropriate/adapted to the end to be achieved’ (taken from constitutional jurisprudence on external affairs and </a:t>
            </a:r>
            <a:r>
              <a:rPr kumimoji="0" lang="en-US" sz="1627" b="0" i="0" u="none" strike="noStrike" kern="1200" cap="none" spc="0" normalizeH="0" baseline="0" noProof="0" dirty="0" err="1">
                <a:ln>
                  <a:noFill/>
                </a:ln>
                <a:solidFill>
                  <a:srgbClr val="FFFFFF"/>
                </a:solidFill>
                <a:effectLst/>
                <a:uLnTx/>
                <a:uFillTx/>
                <a:latin typeface="Arial" panose="020B0604020202020204" pitchFamily="34" charset="0"/>
                <a:ea typeface="Arial Bold"/>
                <a:cs typeface="Arial" panose="020B0604020202020204" pitchFamily="34" charset="0"/>
                <a:sym typeface="Arial Bold"/>
              </a:rPr>
              <a:t>defence</a:t>
            </a:r>
            <a:r>
              <a:rPr kumimoji="0" lang="en-US" sz="1627" b="0" i="0" u="none" strike="noStrike" kern="1200" cap="none" spc="0" normalizeH="0" baseline="0" noProof="0" dirty="0">
                <a:ln>
                  <a:noFill/>
                </a:ln>
                <a:solidFill>
                  <a:srgbClr val="FFFFFF"/>
                </a:solidFill>
                <a:effectLst/>
                <a:uLnTx/>
                <a:uFillTx/>
                <a:latin typeface="Arial" panose="020B0604020202020204" pitchFamily="34" charset="0"/>
                <a:ea typeface="Arial Bold"/>
                <a:cs typeface="Arial" panose="020B0604020202020204" pitchFamily="34" charset="0"/>
                <a:sym typeface="Arial Bold"/>
              </a:rPr>
              <a:t> powers). NB </a:t>
            </a:r>
          </a:p>
          <a:p>
            <a:pPr marL="285750" marR="0" lvl="0" indent="-285750" algn="l" defTabSz="914400" rtl="0" eaLnBrk="1" fontAlgn="auto" latinLnBrk="0" hangingPunct="1">
              <a:lnSpc>
                <a:spcPct val="100000"/>
              </a:lnSpc>
              <a:spcBef>
                <a:spcPts val="0"/>
              </a:spcBef>
              <a:spcAft>
                <a:spcPts val="1200"/>
              </a:spcAft>
              <a:buClrTx/>
              <a:buSzTx/>
              <a:buFont typeface="Arial" panose="020B0604020202020204" pitchFamily="34" charset="0"/>
              <a:buChar char="•"/>
              <a:tabLst/>
              <a:defRPr/>
            </a:pPr>
            <a:r>
              <a:rPr kumimoji="0" lang="en-US" sz="1627" b="0" i="0" u="none" strike="noStrike" kern="1200" cap="none" spc="0" normalizeH="0" baseline="0" noProof="0" dirty="0">
                <a:ln>
                  <a:noFill/>
                </a:ln>
                <a:solidFill>
                  <a:srgbClr val="FFFFFF"/>
                </a:solidFill>
                <a:effectLst/>
                <a:uLnTx/>
                <a:uFillTx/>
                <a:latin typeface="Arial" panose="020B0604020202020204" pitchFamily="34" charset="0"/>
                <a:ea typeface="Arial Bold"/>
                <a:cs typeface="Arial" panose="020B0604020202020204" pitchFamily="34" charset="0"/>
                <a:sym typeface="Arial Bold"/>
              </a:rPr>
              <a:t>Brennan J again thought too broad </a:t>
            </a:r>
          </a:p>
        </p:txBody>
      </p:sp>
      <p:sp>
        <p:nvSpPr>
          <p:cNvPr id="10" name="TextBox 10">
            <a:extLst>
              <a:ext uri="{FF2B5EF4-FFF2-40B4-BE49-F238E27FC236}">
                <a16:creationId xmlns:a16="http://schemas.microsoft.com/office/drawing/2014/main" id="{34810B9E-D093-8D4A-5DD2-D752961495BE}"/>
              </a:ext>
            </a:extLst>
          </p:cNvPr>
          <p:cNvSpPr txBox="1"/>
          <p:nvPr/>
        </p:nvSpPr>
        <p:spPr>
          <a:xfrm>
            <a:off x="10195446" y="6347803"/>
            <a:ext cx="1773879" cy="193258"/>
          </a:xfrm>
          <a:prstGeom prst="rect">
            <a:avLst/>
          </a:prstGeom>
        </p:spPr>
        <p:txBody>
          <a:bodyPr lIns="0" tIns="0" rIns="0" bIns="0" rtlCol="0" anchor="t">
            <a:spAutoFit/>
          </a:bodyPr>
          <a:lstStyle/>
          <a:p>
            <a:pPr marL="0" marR="0" lvl="0" indent="0" algn="l" defTabSz="914400" rtl="0" eaLnBrk="1" fontAlgn="auto" latinLnBrk="0" hangingPunct="1">
              <a:lnSpc>
                <a:spcPts val="1422"/>
              </a:lnSpc>
              <a:spcBef>
                <a:spcPts val="0"/>
              </a:spcBef>
              <a:spcAft>
                <a:spcPts val="0"/>
              </a:spcAft>
              <a:buClrTx/>
              <a:buSzTx/>
              <a:buFontTx/>
              <a:buNone/>
              <a:tabLst/>
              <a:defRPr/>
            </a:pPr>
            <a:r>
              <a:rPr kumimoji="0" lang="en-US" sz="1016" b="0" i="0" u="none" strike="noStrike" kern="1200" cap="none" spc="0" normalizeH="0" baseline="0" noProof="0">
                <a:ln>
                  <a:noFill/>
                </a:ln>
                <a:solidFill>
                  <a:srgbClr val="FFFFFF"/>
                </a:solidFill>
                <a:effectLst/>
                <a:uLnTx/>
                <a:uFillTx/>
                <a:latin typeface="Arial"/>
                <a:ea typeface="Arial"/>
                <a:cs typeface="Arial"/>
                <a:sym typeface="Arial"/>
              </a:rPr>
              <a:t>Administrative Law –LAW1023</a:t>
            </a:r>
          </a:p>
        </p:txBody>
      </p:sp>
      <p:pic>
        <p:nvPicPr>
          <p:cNvPr id="4" name="Picture 6" descr="Image result for small zoo">
            <a:extLst>
              <a:ext uri="{FF2B5EF4-FFF2-40B4-BE49-F238E27FC236}">
                <a16:creationId xmlns:a16="http://schemas.microsoft.com/office/drawing/2014/main" id="{5718B1F4-ED0A-BA19-3739-B6FAC59AEA5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369602" y="4549922"/>
            <a:ext cx="3599723" cy="2025356"/>
          </a:xfrm>
          <a:prstGeom prst="rect">
            <a:avLst/>
          </a:prstGeom>
          <a:noFill/>
          <a:extLst>
            <a:ext uri="{909E8E84-426E-40DD-AFC4-6F175D3DCCD1}">
              <a14:hiddenFill xmlns:a14="http://schemas.microsoft.com/office/drawing/2010/main">
                <a:solidFill>
                  <a:srgbClr val="FFFFFF"/>
                </a:solidFill>
              </a14:hiddenFill>
            </a:ext>
          </a:extLst>
        </p:spPr>
      </p:pic>
      <p:pic>
        <p:nvPicPr>
          <p:cNvPr id="6" name="Picture 2" descr="Image result for rundle st mall">
            <a:extLst>
              <a:ext uri="{FF2B5EF4-FFF2-40B4-BE49-F238E27FC236}">
                <a16:creationId xmlns:a16="http://schemas.microsoft.com/office/drawing/2014/main" id="{136C10C7-1038-80D1-6DFD-B73DD939D81D}"/>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8153400" y="1663937"/>
            <a:ext cx="2732439" cy="182420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07549738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rgbClr val="000054"/>
        </a:solidFill>
        <a:effectLst/>
      </p:bgPr>
    </p:bg>
    <p:spTree>
      <p:nvGrpSpPr>
        <p:cNvPr id="1" name="">
          <a:extLst>
            <a:ext uri="{FF2B5EF4-FFF2-40B4-BE49-F238E27FC236}">
              <a16:creationId xmlns:a16="http://schemas.microsoft.com/office/drawing/2014/main" id="{84DCB9CA-76C4-1598-6ECF-D87500DAC683}"/>
            </a:ext>
          </a:extLst>
        </p:cNvPr>
        <p:cNvGrpSpPr/>
        <p:nvPr/>
      </p:nvGrpSpPr>
      <p:grpSpPr>
        <a:xfrm>
          <a:off x="0" y="0"/>
          <a:ext cx="0" cy="0"/>
          <a:chOff x="0" y="0"/>
          <a:chExt cx="0" cy="0"/>
        </a:xfrm>
      </p:grpSpPr>
      <p:grpSp>
        <p:nvGrpSpPr>
          <p:cNvPr id="2" name="Group 2">
            <a:extLst>
              <a:ext uri="{FF2B5EF4-FFF2-40B4-BE49-F238E27FC236}">
                <a16:creationId xmlns:a16="http://schemas.microsoft.com/office/drawing/2014/main" id="{2B4C160F-37E6-B36A-274E-F5B34C08A734}"/>
              </a:ext>
            </a:extLst>
          </p:cNvPr>
          <p:cNvGrpSpPr/>
          <p:nvPr/>
        </p:nvGrpSpPr>
        <p:grpSpPr>
          <a:xfrm rot="-10800000">
            <a:off x="11045567" y="-12700"/>
            <a:ext cx="1146433" cy="1146433"/>
            <a:chOff x="0" y="0"/>
            <a:chExt cx="1630482" cy="1630482"/>
          </a:xfrm>
        </p:grpSpPr>
        <p:sp>
          <p:nvSpPr>
            <p:cNvPr id="3" name="Freeform 3">
              <a:extLst>
                <a:ext uri="{FF2B5EF4-FFF2-40B4-BE49-F238E27FC236}">
                  <a16:creationId xmlns:a16="http://schemas.microsoft.com/office/drawing/2014/main" id="{F1520564-3478-96D2-301F-0D8433E6ED8A}"/>
                </a:ext>
              </a:extLst>
            </p:cNvPr>
            <p:cNvSpPr/>
            <p:nvPr/>
          </p:nvSpPr>
          <p:spPr>
            <a:xfrm>
              <a:off x="0" y="0"/>
              <a:ext cx="1630426" cy="1630426"/>
            </a:xfrm>
            <a:custGeom>
              <a:avLst/>
              <a:gdLst/>
              <a:ahLst/>
              <a:cxnLst/>
              <a:rect l="l" t="t" r="r" b="b"/>
              <a:pathLst>
                <a:path w="1630426" h="1630426">
                  <a:moveTo>
                    <a:pt x="0" y="0"/>
                  </a:moveTo>
                  <a:lnTo>
                    <a:pt x="543433" y="0"/>
                  </a:lnTo>
                  <a:lnTo>
                    <a:pt x="543433" y="543433"/>
                  </a:lnTo>
                  <a:lnTo>
                    <a:pt x="1086993" y="543433"/>
                  </a:lnTo>
                  <a:lnTo>
                    <a:pt x="1086993" y="1086993"/>
                  </a:lnTo>
                  <a:lnTo>
                    <a:pt x="1630426" y="1086993"/>
                  </a:lnTo>
                  <a:lnTo>
                    <a:pt x="1630426" y="1630426"/>
                  </a:lnTo>
                  <a:lnTo>
                    <a:pt x="0" y="1630426"/>
                  </a:lnTo>
                  <a:lnTo>
                    <a:pt x="0" y="1086993"/>
                  </a:lnTo>
                  <a:lnTo>
                    <a:pt x="0" y="543433"/>
                  </a:lnTo>
                  <a:close/>
                </a:path>
              </a:pathLst>
            </a:custGeom>
            <a:solidFill>
              <a:srgbClr val="FFFFFF"/>
            </a:solid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AU" sz="1800" b="0" i="0" u="none" strike="noStrike" kern="1200" cap="none" spc="0" normalizeH="0" baseline="0" noProof="0">
                <a:ln>
                  <a:noFill/>
                </a:ln>
                <a:solidFill>
                  <a:prstClr val="black"/>
                </a:solidFill>
                <a:effectLst/>
                <a:uLnTx/>
                <a:uFillTx/>
                <a:latin typeface="Calibri"/>
                <a:ea typeface="+mn-ea"/>
                <a:cs typeface="+mn-cs"/>
              </a:endParaRPr>
            </a:p>
          </p:txBody>
        </p:sp>
      </p:grpSp>
      <p:sp>
        <p:nvSpPr>
          <p:cNvPr id="5" name="TextBox 5">
            <a:extLst>
              <a:ext uri="{FF2B5EF4-FFF2-40B4-BE49-F238E27FC236}">
                <a16:creationId xmlns:a16="http://schemas.microsoft.com/office/drawing/2014/main" id="{C3648445-6071-9CCE-3EF3-01CB33FA9AD8}"/>
              </a:ext>
            </a:extLst>
          </p:cNvPr>
          <p:cNvSpPr txBox="1"/>
          <p:nvPr/>
        </p:nvSpPr>
        <p:spPr>
          <a:xfrm>
            <a:off x="392084" y="560536"/>
            <a:ext cx="11190316" cy="409471"/>
          </a:xfrm>
          <a:prstGeom prst="rect">
            <a:avLst/>
          </a:prstGeom>
        </p:spPr>
        <p:txBody>
          <a:bodyPr wrap="square" lIns="0" tIns="0" rIns="0" bIns="0" rtlCol="0" anchor="t">
            <a:spAutoFit/>
          </a:bodyPr>
          <a:lstStyle/>
          <a:p>
            <a:pPr marL="0" marR="0" lvl="0" indent="0" algn="l" defTabSz="914400" rtl="0" eaLnBrk="1" fontAlgn="auto" latinLnBrk="0" hangingPunct="1">
              <a:lnSpc>
                <a:spcPts val="3494"/>
              </a:lnSpc>
              <a:spcBef>
                <a:spcPts val="0"/>
              </a:spcBef>
              <a:spcAft>
                <a:spcPts val="0"/>
              </a:spcAft>
              <a:buClrTx/>
              <a:buSzTx/>
              <a:buFontTx/>
              <a:buNone/>
              <a:tabLst/>
              <a:defRPr/>
            </a:pPr>
            <a:r>
              <a:rPr kumimoji="0" lang="en-US" sz="2496" b="1" u="none" strike="noStrike" kern="1200" cap="none" spc="0" normalizeH="0" baseline="0" noProof="0" dirty="0">
                <a:ln>
                  <a:noFill/>
                </a:ln>
                <a:solidFill>
                  <a:srgbClr val="FFFFFF"/>
                </a:solidFill>
                <a:effectLst/>
                <a:uLnTx/>
                <a:uFillTx/>
                <a:latin typeface="Arial Bold"/>
                <a:ea typeface="Arial Bold"/>
                <a:cs typeface="Arial Bold"/>
                <a:sym typeface="Arial Bold"/>
              </a:rPr>
              <a:t>More usually, decision making will misinterpret legislation. </a:t>
            </a:r>
          </a:p>
        </p:txBody>
      </p:sp>
      <p:sp>
        <p:nvSpPr>
          <p:cNvPr id="9" name="TextBox 9">
            <a:extLst>
              <a:ext uri="{FF2B5EF4-FFF2-40B4-BE49-F238E27FC236}">
                <a16:creationId xmlns:a16="http://schemas.microsoft.com/office/drawing/2014/main" id="{7EA27130-0C66-81AE-060F-E1913EF457B1}"/>
              </a:ext>
            </a:extLst>
          </p:cNvPr>
          <p:cNvSpPr txBox="1"/>
          <p:nvPr/>
        </p:nvSpPr>
        <p:spPr>
          <a:xfrm>
            <a:off x="392084" y="1295400"/>
            <a:ext cx="9894916" cy="5891998"/>
          </a:xfrm>
          <a:prstGeom prst="rect">
            <a:avLst/>
          </a:prstGeom>
        </p:spPr>
        <p:txBody>
          <a:bodyPr wrap="square" lIns="0" tIns="0" rIns="0" bIns="0" rtlCol="0" anchor="t">
            <a:spAutoFit/>
          </a:bodyPr>
          <a:lstStyle/>
          <a:p>
            <a:pPr marL="285750" marR="0" lvl="0" indent="-285750" algn="l" defTabSz="914400" rtl="0" eaLnBrk="1" fontAlgn="auto" latinLnBrk="0" hangingPunct="1">
              <a:lnSpc>
                <a:spcPct val="100000"/>
              </a:lnSpc>
              <a:spcBef>
                <a:spcPts val="0"/>
              </a:spcBef>
              <a:spcAft>
                <a:spcPts val="1200"/>
              </a:spcAft>
              <a:buClrTx/>
              <a:buSzTx/>
              <a:buFont typeface="Arial" panose="020B0604020202020204" pitchFamily="34" charset="0"/>
              <a:buChar char="•"/>
              <a:tabLst/>
              <a:defRPr/>
            </a:pPr>
            <a:r>
              <a:rPr kumimoji="0" lang="en-US" sz="1627" b="1" i="0" u="none" strike="noStrike" kern="1200" cap="none" spc="0" normalizeH="0" baseline="0" noProof="0" dirty="0">
                <a:ln>
                  <a:noFill/>
                </a:ln>
                <a:solidFill>
                  <a:srgbClr val="FFFFFF"/>
                </a:solidFill>
                <a:effectLst/>
                <a:uLnTx/>
                <a:uFillTx/>
                <a:latin typeface="Arial" panose="020B0604020202020204" pitchFamily="34" charset="0"/>
                <a:ea typeface="Arial Bold"/>
                <a:cs typeface="Arial" panose="020B0604020202020204" pitchFamily="34" charset="0"/>
                <a:sym typeface="Arial Bold"/>
              </a:rPr>
              <a:t>Haneef case</a:t>
            </a:r>
          </a:p>
          <a:p>
            <a:pPr marL="285750" marR="0" lvl="0" indent="-285750" algn="l" defTabSz="914400" rtl="0" eaLnBrk="1" fontAlgn="auto" latinLnBrk="0" hangingPunct="1">
              <a:lnSpc>
                <a:spcPct val="100000"/>
              </a:lnSpc>
              <a:spcBef>
                <a:spcPts val="0"/>
              </a:spcBef>
              <a:spcAft>
                <a:spcPts val="1200"/>
              </a:spcAft>
              <a:buClrTx/>
              <a:buSzTx/>
              <a:buFont typeface="Arial" panose="020B0604020202020204" pitchFamily="34" charset="0"/>
              <a:buChar char="•"/>
              <a:tabLst/>
              <a:defRPr/>
            </a:pPr>
            <a:r>
              <a:rPr kumimoji="0" lang="en-US" sz="1627" b="0" i="0" u="none" strike="noStrike" kern="1200" cap="none" spc="0" normalizeH="0" baseline="0" noProof="0" dirty="0">
                <a:ln>
                  <a:noFill/>
                </a:ln>
                <a:solidFill>
                  <a:srgbClr val="FFFFFF"/>
                </a:solidFill>
                <a:effectLst/>
                <a:uLnTx/>
                <a:uFillTx/>
                <a:latin typeface="Arial" panose="020B0604020202020204" pitchFamily="34" charset="0"/>
                <a:ea typeface="Arial Bold"/>
                <a:cs typeface="Arial" panose="020B0604020202020204" pitchFamily="34" charset="0"/>
                <a:sym typeface="Arial Bold"/>
              </a:rPr>
              <a:t>Interpretation of character test in </a:t>
            </a:r>
            <a:r>
              <a:rPr kumimoji="0" lang="en-US" sz="1627" b="0" i="1" u="none" strike="noStrike" kern="1200" cap="none" spc="0" normalizeH="0" baseline="0" noProof="0" dirty="0">
                <a:ln>
                  <a:noFill/>
                </a:ln>
                <a:solidFill>
                  <a:srgbClr val="FFFFFF"/>
                </a:solidFill>
                <a:effectLst/>
                <a:uLnTx/>
                <a:uFillTx/>
                <a:latin typeface="Arial" panose="020B0604020202020204" pitchFamily="34" charset="0"/>
                <a:ea typeface="Arial Bold"/>
                <a:cs typeface="Arial" panose="020B0604020202020204" pitchFamily="34" charset="0"/>
                <a:sym typeface="Arial Bold"/>
              </a:rPr>
              <a:t>Migration Act 1958 (</a:t>
            </a:r>
            <a:r>
              <a:rPr kumimoji="0" lang="en-US" sz="1627" b="0" i="1" u="none" strike="noStrike" kern="1200" cap="none" spc="0" normalizeH="0" baseline="0" noProof="0" dirty="0" err="1">
                <a:ln>
                  <a:noFill/>
                </a:ln>
                <a:solidFill>
                  <a:srgbClr val="FFFFFF"/>
                </a:solidFill>
                <a:effectLst/>
                <a:uLnTx/>
                <a:uFillTx/>
                <a:latin typeface="Arial" panose="020B0604020202020204" pitchFamily="34" charset="0"/>
                <a:ea typeface="Arial Bold"/>
                <a:cs typeface="Arial" panose="020B0604020202020204" pitchFamily="34" charset="0"/>
                <a:sym typeface="Arial Bold"/>
              </a:rPr>
              <a:t>Cth</a:t>
            </a:r>
            <a:r>
              <a:rPr kumimoji="0" lang="en-US" sz="1627" b="0" i="1" u="none" strike="noStrike" kern="1200" cap="none" spc="0" normalizeH="0" baseline="0" noProof="0" dirty="0">
                <a:ln>
                  <a:noFill/>
                </a:ln>
                <a:solidFill>
                  <a:srgbClr val="FFFFFF"/>
                </a:solidFill>
                <a:effectLst/>
                <a:uLnTx/>
                <a:uFillTx/>
                <a:latin typeface="Arial" panose="020B0604020202020204" pitchFamily="34" charset="0"/>
                <a:ea typeface="Arial Bold"/>
                <a:cs typeface="Arial" panose="020B0604020202020204" pitchFamily="34" charset="0"/>
                <a:sym typeface="Arial Bold"/>
              </a:rPr>
              <a:t>)</a:t>
            </a:r>
          </a:p>
          <a:p>
            <a:pPr marL="285750" marR="0" lvl="0" indent="-285750" algn="l" defTabSz="914400" rtl="0" eaLnBrk="1" fontAlgn="auto" latinLnBrk="0" hangingPunct="1">
              <a:lnSpc>
                <a:spcPct val="100000"/>
              </a:lnSpc>
              <a:spcBef>
                <a:spcPts val="0"/>
              </a:spcBef>
              <a:spcAft>
                <a:spcPts val="1200"/>
              </a:spcAft>
              <a:buClrTx/>
              <a:buSzTx/>
              <a:buFont typeface="Arial" panose="020B0604020202020204" pitchFamily="34" charset="0"/>
              <a:buChar char="•"/>
              <a:tabLst/>
              <a:defRPr/>
            </a:pPr>
            <a:r>
              <a:rPr kumimoji="0" lang="en-US" sz="1627" b="0" i="0" u="none" strike="noStrike" kern="1200" cap="none" spc="0" normalizeH="0" baseline="0" noProof="0" dirty="0">
                <a:ln>
                  <a:noFill/>
                </a:ln>
                <a:solidFill>
                  <a:srgbClr val="FFFFFF"/>
                </a:solidFill>
                <a:effectLst/>
                <a:uLnTx/>
                <a:uFillTx/>
                <a:latin typeface="Arial" panose="020B0604020202020204" pitchFamily="34" charset="0"/>
                <a:ea typeface="Arial Bold"/>
                <a:cs typeface="Arial" panose="020B0604020202020204" pitchFamily="34" charset="0"/>
                <a:sym typeface="Arial Bold"/>
              </a:rPr>
              <a:t>Visa can be cancelled if there is an ‘association’ whom the Minister reasonably suspect had been involved in criminal conduct </a:t>
            </a:r>
          </a:p>
          <a:p>
            <a:pPr marL="285750" marR="0" lvl="0" indent="-285750" algn="l" defTabSz="914400" rtl="0" eaLnBrk="1" fontAlgn="auto" latinLnBrk="0" hangingPunct="1">
              <a:lnSpc>
                <a:spcPct val="100000"/>
              </a:lnSpc>
              <a:spcBef>
                <a:spcPts val="0"/>
              </a:spcBef>
              <a:spcAft>
                <a:spcPts val="1200"/>
              </a:spcAft>
              <a:buClrTx/>
              <a:buSzTx/>
              <a:buFont typeface="Arial" panose="020B0604020202020204" pitchFamily="34" charset="0"/>
              <a:buChar char="•"/>
              <a:tabLst/>
              <a:defRPr/>
            </a:pPr>
            <a:r>
              <a:rPr kumimoji="0" lang="en-US" sz="1627" b="0" i="0" u="none" strike="noStrike" kern="1200" cap="none" spc="0" normalizeH="0" baseline="0" noProof="0" dirty="0">
                <a:ln>
                  <a:noFill/>
                </a:ln>
                <a:solidFill>
                  <a:srgbClr val="FFFFFF"/>
                </a:solidFill>
                <a:effectLst/>
                <a:uLnTx/>
                <a:uFillTx/>
                <a:latin typeface="Arial" panose="020B0604020202020204" pitchFamily="34" charset="0"/>
                <a:ea typeface="Arial Bold"/>
                <a:cs typeface="Arial" panose="020B0604020202020204" pitchFamily="34" charset="0"/>
                <a:sym typeface="Arial Bold"/>
              </a:rPr>
              <a:t>High Court: = narrow reading . Only associations that have ‘some bearing on the persons character’</a:t>
            </a:r>
          </a:p>
          <a:p>
            <a:pPr marL="285750" marR="0" lvl="0" indent="-285750" algn="l" defTabSz="914400" rtl="0" eaLnBrk="1" fontAlgn="auto" latinLnBrk="0" hangingPunct="1">
              <a:lnSpc>
                <a:spcPct val="100000"/>
              </a:lnSpc>
              <a:spcBef>
                <a:spcPts val="0"/>
              </a:spcBef>
              <a:spcAft>
                <a:spcPts val="1200"/>
              </a:spcAft>
              <a:buClrTx/>
              <a:buSzTx/>
              <a:buFont typeface="Arial" panose="020B0604020202020204" pitchFamily="34" charset="0"/>
              <a:buChar char="•"/>
              <a:tabLst/>
              <a:defRPr/>
            </a:pPr>
            <a:endParaRPr lang="en-US" sz="1627" dirty="0">
              <a:solidFill>
                <a:srgbClr val="FFFFFF"/>
              </a:solidFill>
              <a:latin typeface="Arial" panose="020B0604020202020204" pitchFamily="34" charset="0"/>
              <a:ea typeface="Arial Bold"/>
              <a:cs typeface="Arial" panose="020B0604020202020204" pitchFamily="34" charset="0"/>
              <a:sym typeface="Arial Bold"/>
            </a:endParaRPr>
          </a:p>
          <a:p>
            <a:pPr marL="285750" marR="0" lvl="0" indent="-285750" algn="l" defTabSz="914400" rtl="0" eaLnBrk="1" fontAlgn="auto" latinLnBrk="0" hangingPunct="1">
              <a:lnSpc>
                <a:spcPct val="100000"/>
              </a:lnSpc>
              <a:spcBef>
                <a:spcPts val="0"/>
              </a:spcBef>
              <a:spcAft>
                <a:spcPts val="1200"/>
              </a:spcAft>
              <a:buClrTx/>
              <a:buSzTx/>
              <a:buFont typeface="Arial" panose="020B0604020202020204" pitchFamily="34" charset="0"/>
              <a:buChar char="•"/>
              <a:tabLst/>
              <a:defRPr/>
            </a:pPr>
            <a:r>
              <a:rPr kumimoji="0" lang="en-US" sz="1627" b="1" i="0" u="none" strike="noStrike" kern="1200" cap="none" spc="0" normalizeH="0" baseline="0" noProof="0" dirty="0">
                <a:ln>
                  <a:noFill/>
                </a:ln>
                <a:solidFill>
                  <a:srgbClr val="FFFFFF"/>
                </a:solidFill>
                <a:effectLst/>
                <a:uLnTx/>
                <a:uFillTx/>
                <a:latin typeface="Arial" panose="020B0604020202020204" pitchFamily="34" charset="0"/>
                <a:ea typeface="Arial Bold"/>
                <a:cs typeface="Arial" panose="020B0604020202020204" pitchFamily="34" charset="0"/>
                <a:sym typeface="Arial Bold"/>
              </a:rPr>
              <a:t>Other Examples</a:t>
            </a:r>
          </a:p>
          <a:p>
            <a:pPr marL="285750" marR="0" lvl="0" indent="-285750" algn="l" defTabSz="914400" rtl="0" eaLnBrk="1" fontAlgn="auto" latinLnBrk="0" hangingPunct="1">
              <a:lnSpc>
                <a:spcPct val="100000"/>
              </a:lnSpc>
              <a:spcBef>
                <a:spcPts val="0"/>
              </a:spcBef>
              <a:spcAft>
                <a:spcPts val="1200"/>
              </a:spcAft>
              <a:buClrTx/>
              <a:buSzTx/>
              <a:buFont typeface="Arial" panose="020B0604020202020204" pitchFamily="34" charset="0"/>
              <a:buChar char="•"/>
              <a:tabLst/>
              <a:defRPr/>
            </a:pPr>
            <a:r>
              <a:rPr kumimoji="0" lang="en-US" sz="1627" b="0" i="0" u="none" strike="noStrike" kern="1200" cap="none" spc="0" normalizeH="0" baseline="0" noProof="0" dirty="0">
                <a:ln>
                  <a:noFill/>
                </a:ln>
                <a:solidFill>
                  <a:srgbClr val="FFFFFF"/>
                </a:solidFill>
                <a:effectLst/>
                <a:uLnTx/>
                <a:uFillTx/>
                <a:latin typeface="Arial" panose="020B0604020202020204" pitchFamily="34" charset="0"/>
                <a:ea typeface="Arial Bold"/>
                <a:cs typeface="Arial" panose="020B0604020202020204" pitchFamily="34" charset="0"/>
                <a:sym typeface="Arial Bold"/>
              </a:rPr>
              <a:t>A statutory power to run ‘tramways’ did not </a:t>
            </a:r>
            <a:r>
              <a:rPr kumimoji="0" lang="en-US" sz="1627" b="0" i="0" u="none" strike="noStrike" kern="1200" cap="none" spc="0" normalizeH="0" baseline="0" noProof="0" dirty="0" err="1">
                <a:ln>
                  <a:noFill/>
                </a:ln>
                <a:solidFill>
                  <a:srgbClr val="FFFFFF"/>
                </a:solidFill>
                <a:effectLst/>
                <a:uLnTx/>
                <a:uFillTx/>
                <a:latin typeface="Arial" panose="020B0604020202020204" pitchFamily="34" charset="0"/>
                <a:ea typeface="Arial Bold"/>
                <a:cs typeface="Arial" panose="020B0604020202020204" pitchFamily="34" charset="0"/>
                <a:sym typeface="Arial Bold"/>
              </a:rPr>
              <a:t>authorise</a:t>
            </a:r>
            <a:r>
              <a:rPr kumimoji="0" lang="en-US" sz="1627" b="0" i="0" u="none" strike="noStrike" kern="1200" cap="none" spc="0" normalizeH="0" baseline="0" noProof="0" dirty="0">
                <a:ln>
                  <a:noFill/>
                </a:ln>
                <a:solidFill>
                  <a:srgbClr val="FFFFFF"/>
                </a:solidFill>
                <a:effectLst/>
                <a:uLnTx/>
                <a:uFillTx/>
                <a:latin typeface="Arial" panose="020B0604020202020204" pitchFamily="34" charset="0"/>
                <a:ea typeface="Arial Bold"/>
                <a:cs typeface="Arial" panose="020B0604020202020204" pitchFamily="34" charset="0"/>
                <a:sym typeface="Arial Bold"/>
              </a:rPr>
              <a:t> running </a:t>
            </a:r>
            <a:br>
              <a:rPr kumimoji="0" lang="en-US" sz="1627" b="0" i="0" u="none" strike="noStrike" kern="1200" cap="none" spc="0" normalizeH="0" baseline="0" noProof="0" dirty="0">
                <a:ln>
                  <a:noFill/>
                </a:ln>
                <a:solidFill>
                  <a:srgbClr val="FFFFFF"/>
                </a:solidFill>
                <a:effectLst/>
                <a:uLnTx/>
                <a:uFillTx/>
                <a:latin typeface="Arial" panose="020B0604020202020204" pitchFamily="34" charset="0"/>
                <a:ea typeface="Arial Bold"/>
                <a:cs typeface="Arial" panose="020B0604020202020204" pitchFamily="34" charset="0"/>
                <a:sym typeface="Arial Bold"/>
              </a:rPr>
            </a:br>
            <a:r>
              <a:rPr kumimoji="0" lang="en-US" sz="1627" b="0" i="0" u="none" strike="noStrike" kern="1200" cap="none" spc="0" normalizeH="0" baseline="0" noProof="0" dirty="0">
                <a:ln>
                  <a:noFill/>
                </a:ln>
                <a:solidFill>
                  <a:srgbClr val="FFFFFF"/>
                </a:solidFill>
                <a:effectLst/>
                <a:uLnTx/>
                <a:uFillTx/>
                <a:latin typeface="Arial" panose="020B0604020202020204" pitchFamily="34" charset="0"/>
                <a:ea typeface="Arial Bold"/>
                <a:cs typeface="Arial" panose="020B0604020202020204" pitchFamily="34" charset="0"/>
                <a:sym typeface="Arial Bold"/>
              </a:rPr>
              <a:t>a bus service (</a:t>
            </a:r>
            <a:r>
              <a:rPr kumimoji="0" lang="en-US" sz="1627" b="0" i="1" u="none" strike="noStrike" kern="1200" cap="none" spc="0" normalizeH="0" baseline="0" noProof="0" dirty="0">
                <a:ln>
                  <a:noFill/>
                </a:ln>
                <a:solidFill>
                  <a:srgbClr val="FFFFFF"/>
                </a:solidFill>
                <a:effectLst/>
                <a:uLnTx/>
                <a:uFillTx/>
                <a:latin typeface="Arial" panose="020B0604020202020204" pitchFamily="34" charset="0"/>
                <a:ea typeface="Arial Bold"/>
                <a:cs typeface="Arial" panose="020B0604020202020204" pitchFamily="34" charset="0"/>
                <a:sym typeface="Arial Bold"/>
              </a:rPr>
              <a:t>London City Council v A-G </a:t>
            </a:r>
            <a:r>
              <a:rPr kumimoji="0" lang="en-US" sz="1627" b="0" i="0" u="none" strike="noStrike" kern="1200" cap="none" spc="0" normalizeH="0" baseline="0" noProof="0" dirty="0">
                <a:ln>
                  <a:noFill/>
                </a:ln>
                <a:solidFill>
                  <a:srgbClr val="FFFFFF"/>
                </a:solidFill>
                <a:effectLst/>
                <a:uLnTx/>
                <a:uFillTx/>
                <a:latin typeface="Arial" panose="020B0604020202020204" pitchFamily="34" charset="0"/>
                <a:ea typeface="Arial Bold"/>
                <a:cs typeface="Arial" panose="020B0604020202020204" pitchFamily="34" charset="0"/>
                <a:sym typeface="Arial Bold"/>
              </a:rPr>
              <a:t>[1902] AC 165)</a:t>
            </a:r>
            <a:br>
              <a:rPr kumimoji="0" lang="en-US" sz="1627" b="0" i="0" u="none" strike="noStrike" kern="1200" cap="none" spc="0" normalizeH="0" baseline="0" noProof="0" dirty="0">
                <a:ln>
                  <a:noFill/>
                </a:ln>
                <a:solidFill>
                  <a:srgbClr val="FFFFFF"/>
                </a:solidFill>
                <a:effectLst/>
                <a:uLnTx/>
                <a:uFillTx/>
                <a:latin typeface="Arial" panose="020B0604020202020204" pitchFamily="34" charset="0"/>
                <a:ea typeface="Arial Bold"/>
                <a:cs typeface="Arial" panose="020B0604020202020204" pitchFamily="34" charset="0"/>
                <a:sym typeface="Arial Bold"/>
              </a:rPr>
            </a:br>
            <a:endParaRPr kumimoji="0" lang="en-US" sz="1627" b="0" i="0" u="none" strike="noStrike" kern="1200" cap="none" spc="0" normalizeH="0" baseline="0" noProof="0" dirty="0">
              <a:ln>
                <a:noFill/>
              </a:ln>
              <a:solidFill>
                <a:srgbClr val="FFFFFF"/>
              </a:solidFill>
              <a:effectLst/>
              <a:uLnTx/>
              <a:uFillTx/>
              <a:latin typeface="Arial" panose="020B0604020202020204" pitchFamily="34" charset="0"/>
              <a:ea typeface="Arial Bold"/>
              <a:cs typeface="Arial" panose="020B0604020202020204" pitchFamily="34" charset="0"/>
              <a:sym typeface="Arial Bold"/>
            </a:endParaRPr>
          </a:p>
          <a:p>
            <a:pPr marL="285750" marR="0" lvl="0" indent="-285750" algn="l" defTabSz="914400" rtl="0" eaLnBrk="1" fontAlgn="auto" latinLnBrk="0" hangingPunct="1">
              <a:lnSpc>
                <a:spcPct val="100000"/>
              </a:lnSpc>
              <a:spcBef>
                <a:spcPts val="0"/>
              </a:spcBef>
              <a:spcAft>
                <a:spcPts val="1200"/>
              </a:spcAft>
              <a:buClrTx/>
              <a:buSzTx/>
              <a:buFont typeface="Arial" panose="020B0604020202020204" pitchFamily="34" charset="0"/>
              <a:buChar char="•"/>
              <a:tabLst/>
              <a:defRPr/>
            </a:pPr>
            <a:r>
              <a:rPr kumimoji="0" lang="en-US" sz="1627" b="0" i="0" u="none" strike="noStrike" kern="1200" cap="none" spc="0" normalizeH="0" baseline="0" noProof="0" dirty="0">
                <a:ln>
                  <a:noFill/>
                </a:ln>
                <a:solidFill>
                  <a:srgbClr val="FFFFFF"/>
                </a:solidFill>
                <a:effectLst/>
                <a:uLnTx/>
                <a:uFillTx/>
                <a:latin typeface="Arial" panose="020B0604020202020204" pitchFamily="34" charset="0"/>
                <a:ea typeface="Arial Bold"/>
                <a:cs typeface="Arial" panose="020B0604020202020204" pitchFamily="34" charset="0"/>
                <a:sym typeface="Arial Bold"/>
              </a:rPr>
              <a:t>A statutory power </a:t>
            </a:r>
            <a:r>
              <a:rPr kumimoji="0" lang="en-US" sz="1627" b="0" i="0" u="none" strike="noStrike" kern="1200" cap="none" spc="0" normalizeH="0" baseline="0" noProof="0" dirty="0" err="1">
                <a:ln>
                  <a:noFill/>
                </a:ln>
                <a:solidFill>
                  <a:srgbClr val="FFFFFF"/>
                </a:solidFill>
                <a:effectLst/>
                <a:uLnTx/>
                <a:uFillTx/>
                <a:latin typeface="Arial" panose="020B0604020202020204" pitchFamily="34" charset="0"/>
                <a:ea typeface="Arial Bold"/>
                <a:cs typeface="Arial" panose="020B0604020202020204" pitchFamily="34" charset="0"/>
                <a:sym typeface="Arial Bold"/>
              </a:rPr>
              <a:t>authorising</a:t>
            </a:r>
            <a:r>
              <a:rPr kumimoji="0" lang="en-US" sz="1627" b="0" i="0" u="none" strike="noStrike" kern="1200" cap="none" spc="0" normalizeH="0" baseline="0" noProof="0" dirty="0">
                <a:ln>
                  <a:noFill/>
                </a:ln>
                <a:solidFill>
                  <a:srgbClr val="FFFFFF"/>
                </a:solidFill>
                <a:effectLst/>
                <a:uLnTx/>
                <a:uFillTx/>
                <a:latin typeface="Arial" panose="020B0604020202020204" pitchFamily="34" charset="0"/>
                <a:ea typeface="Arial Bold"/>
                <a:cs typeface="Arial" panose="020B0604020202020204" pitchFamily="34" charset="0"/>
                <a:sym typeface="Arial Bold"/>
              </a:rPr>
              <a:t> customs agents to seize </a:t>
            </a:r>
            <a:br>
              <a:rPr kumimoji="0" lang="en-US" sz="1627" b="0" i="0" u="none" strike="noStrike" kern="1200" cap="none" spc="0" normalizeH="0" baseline="0" noProof="0" dirty="0">
                <a:ln>
                  <a:noFill/>
                </a:ln>
                <a:solidFill>
                  <a:srgbClr val="FFFFFF"/>
                </a:solidFill>
                <a:effectLst/>
                <a:uLnTx/>
                <a:uFillTx/>
                <a:latin typeface="Arial" panose="020B0604020202020204" pitchFamily="34" charset="0"/>
                <a:ea typeface="Arial Bold"/>
                <a:cs typeface="Arial" panose="020B0604020202020204" pitchFamily="34" charset="0"/>
                <a:sym typeface="Arial Bold"/>
              </a:rPr>
            </a:br>
            <a:r>
              <a:rPr kumimoji="0" lang="en-US" sz="1627" b="0" i="0" u="none" strike="noStrike" kern="1200" cap="none" spc="0" normalizeH="0" baseline="0" noProof="0" dirty="0">
                <a:ln>
                  <a:noFill/>
                </a:ln>
                <a:solidFill>
                  <a:srgbClr val="FFFFFF"/>
                </a:solidFill>
                <a:effectLst/>
                <a:uLnTx/>
                <a:uFillTx/>
                <a:latin typeface="Arial" panose="020B0604020202020204" pitchFamily="34" charset="0"/>
                <a:ea typeface="Arial Bold"/>
                <a:cs typeface="Arial" panose="020B0604020202020204" pitchFamily="34" charset="0"/>
                <a:sym typeface="Arial Bold"/>
              </a:rPr>
              <a:t>‘goods, moveable property, or monies in the form of cash’ </a:t>
            </a:r>
            <a:br>
              <a:rPr kumimoji="0" lang="en-US" sz="1627" b="0" i="0" u="none" strike="noStrike" kern="1200" cap="none" spc="0" normalizeH="0" baseline="0" noProof="0" dirty="0">
                <a:ln>
                  <a:noFill/>
                </a:ln>
                <a:solidFill>
                  <a:srgbClr val="FFFFFF"/>
                </a:solidFill>
                <a:effectLst/>
                <a:uLnTx/>
                <a:uFillTx/>
                <a:latin typeface="Arial" panose="020B0604020202020204" pitchFamily="34" charset="0"/>
                <a:ea typeface="Arial Bold"/>
                <a:cs typeface="Arial" panose="020B0604020202020204" pitchFamily="34" charset="0"/>
                <a:sym typeface="Arial Bold"/>
              </a:rPr>
            </a:br>
            <a:r>
              <a:rPr kumimoji="0" lang="en-US" sz="1627" b="0" i="0" u="none" strike="noStrike" kern="1200" cap="none" spc="0" normalizeH="0" baseline="0" noProof="0" dirty="0">
                <a:ln>
                  <a:noFill/>
                </a:ln>
                <a:solidFill>
                  <a:srgbClr val="FFFFFF"/>
                </a:solidFill>
                <a:effectLst/>
                <a:uLnTx/>
                <a:uFillTx/>
                <a:latin typeface="Arial" panose="020B0604020202020204" pitchFamily="34" charset="0"/>
                <a:ea typeface="Arial Bold"/>
                <a:cs typeface="Arial" panose="020B0604020202020204" pitchFamily="34" charset="0"/>
                <a:sym typeface="Arial Bold"/>
              </a:rPr>
              <a:t>did not </a:t>
            </a:r>
            <a:r>
              <a:rPr kumimoji="0" lang="en-US" sz="1627" b="0" i="0" u="none" strike="noStrike" kern="1200" cap="none" spc="0" normalizeH="0" baseline="0" noProof="0" dirty="0" err="1">
                <a:ln>
                  <a:noFill/>
                </a:ln>
                <a:solidFill>
                  <a:srgbClr val="FFFFFF"/>
                </a:solidFill>
                <a:effectLst/>
                <a:uLnTx/>
                <a:uFillTx/>
                <a:latin typeface="Arial" panose="020B0604020202020204" pitchFamily="34" charset="0"/>
                <a:ea typeface="Arial Bold"/>
                <a:cs typeface="Arial" panose="020B0604020202020204" pitchFamily="34" charset="0"/>
                <a:sym typeface="Arial Bold"/>
              </a:rPr>
              <a:t>authorise</a:t>
            </a:r>
            <a:r>
              <a:rPr kumimoji="0" lang="en-US" sz="1627" b="0" i="0" u="none" strike="noStrike" kern="1200" cap="none" spc="0" normalizeH="0" baseline="0" noProof="0" dirty="0">
                <a:ln>
                  <a:noFill/>
                </a:ln>
                <a:solidFill>
                  <a:srgbClr val="FFFFFF"/>
                </a:solidFill>
                <a:effectLst/>
                <a:uLnTx/>
                <a:uFillTx/>
                <a:latin typeface="Arial" panose="020B0604020202020204" pitchFamily="34" charset="0"/>
                <a:ea typeface="Arial Bold"/>
                <a:cs typeface="Arial" panose="020B0604020202020204" pitchFamily="34" charset="0"/>
                <a:sym typeface="Arial Bold"/>
              </a:rPr>
              <a:t> seizure of money in a bank account </a:t>
            </a:r>
            <a:br>
              <a:rPr kumimoji="0" lang="en-US" sz="1627" b="0" i="0" u="none" strike="noStrike" kern="1200" cap="none" spc="0" normalizeH="0" baseline="0" noProof="0" dirty="0">
                <a:ln>
                  <a:noFill/>
                </a:ln>
                <a:solidFill>
                  <a:srgbClr val="FFFFFF"/>
                </a:solidFill>
                <a:effectLst/>
                <a:uLnTx/>
                <a:uFillTx/>
                <a:latin typeface="Arial" panose="020B0604020202020204" pitchFamily="34" charset="0"/>
                <a:ea typeface="Arial Bold"/>
                <a:cs typeface="Arial" panose="020B0604020202020204" pitchFamily="34" charset="0"/>
                <a:sym typeface="Arial Bold"/>
              </a:rPr>
            </a:br>
            <a:r>
              <a:rPr kumimoji="0" lang="en-US" sz="1627" b="0" i="0" u="none" strike="noStrike" kern="1200" cap="none" spc="0" normalizeH="0" baseline="0" noProof="0" dirty="0">
                <a:ln>
                  <a:noFill/>
                </a:ln>
                <a:solidFill>
                  <a:srgbClr val="FFFFFF"/>
                </a:solidFill>
                <a:effectLst/>
                <a:uLnTx/>
                <a:uFillTx/>
                <a:latin typeface="Arial" panose="020B0604020202020204" pitchFamily="34" charset="0"/>
                <a:ea typeface="Arial Bold"/>
                <a:cs typeface="Arial" panose="020B0604020202020204" pitchFamily="34" charset="0"/>
                <a:sym typeface="Arial Bold"/>
              </a:rPr>
              <a:t>(</a:t>
            </a:r>
            <a:r>
              <a:rPr kumimoji="0" lang="en-US" sz="1627" b="0" i="1" u="none" strike="noStrike" kern="1200" cap="none" spc="0" normalizeH="0" baseline="0" noProof="0" dirty="0">
                <a:ln>
                  <a:noFill/>
                </a:ln>
                <a:solidFill>
                  <a:srgbClr val="FFFFFF"/>
                </a:solidFill>
                <a:effectLst/>
                <a:uLnTx/>
                <a:uFillTx/>
                <a:latin typeface="Arial" panose="020B0604020202020204" pitchFamily="34" charset="0"/>
                <a:ea typeface="Arial Bold"/>
                <a:cs typeface="Arial" panose="020B0604020202020204" pitchFamily="34" charset="0"/>
                <a:sym typeface="Arial Bold"/>
              </a:rPr>
              <a:t>Vickers v Minister for Business &amp; Consumer Affairs </a:t>
            </a:r>
            <a:r>
              <a:rPr kumimoji="0" lang="en-US" sz="1627" b="0" i="0" u="none" strike="noStrike" kern="1200" cap="none" spc="0" normalizeH="0" baseline="0" noProof="0" dirty="0">
                <a:ln>
                  <a:noFill/>
                </a:ln>
                <a:solidFill>
                  <a:srgbClr val="FFFFFF"/>
                </a:solidFill>
                <a:effectLst/>
                <a:uLnTx/>
                <a:uFillTx/>
                <a:latin typeface="Arial" panose="020B0604020202020204" pitchFamily="34" charset="0"/>
                <a:ea typeface="Arial Bold"/>
                <a:cs typeface="Arial" panose="020B0604020202020204" pitchFamily="34" charset="0"/>
                <a:sym typeface="Arial Bold"/>
              </a:rPr>
              <a:t>(1982) </a:t>
            </a:r>
            <a:br>
              <a:rPr kumimoji="0" lang="en-US" sz="1627" b="0" i="0" u="none" strike="noStrike" kern="1200" cap="none" spc="0" normalizeH="0" baseline="0" noProof="0" dirty="0">
                <a:ln>
                  <a:noFill/>
                </a:ln>
                <a:solidFill>
                  <a:srgbClr val="FFFFFF"/>
                </a:solidFill>
                <a:effectLst/>
                <a:uLnTx/>
                <a:uFillTx/>
                <a:latin typeface="Arial" panose="020B0604020202020204" pitchFamily="34" charset="0"/>
                <a:ea typeface="Arial Bold"/>
                <a:cs typeface="Arial" panose="020B0604020202020204" pitchFamily="34" charset="0"/>
                <a:sym typeface="Arial Bold"/>
              </a:rPr>
            </a:br>
            <a:r>
              <a:rPr kumimoji="0" lang="en-US" sz="1627" b="0" i="0" u="none" strike="noStrike" kern="1200" cap="none" spc="0" normalizeH="0" baseline="0" noProof="0" dirty="0">
                <a:ln>
                  <a:noFill/>
                </a:ln>
                <a:solidFill>
                  <a:srgbClr val="FFFFFF"/>
                </a:solidFill>
                <a:effectLst/>
                <a:uLnTx/>
                <a:uFillTx/>
                <a:latin typeface="Arial" panose="020B0604020202020204" pitchFamily="34" charset="0"/>
                <a:ea typeface="Arial Bold"/>
                <a:cs typeface="Arial" panose="020B0604020202020204" pitchFamily="34" charset="0"/>
                <a:sym typeface="Arial Bold"/>
              </a:rPr>
              <a:t>43 ALR 389)</a:t>
            </a:r>
          </a:p>
          <a:p>
            <a:pPr marL="285750" marR="0" lvl="0" indent="-285750" algn="l" defTabSz="914400" rtl="0" eaLnBrk="1" fontAlgn="auto" latinLnBrk="0" hangingPunct="1">
              <a:lnSpc>
                <a:spcPct val="100000"/>
              </a:lnSpc>
              <a:spcBef>
                <a:spcPts val="0"/>
              </a:spcBef>
              <a:spcAft>
                <a:spcPts val="1200"/>
              </a:spcAft>
              <a:buClrTx/>
              <a:buSzTx/>
              <a:buFont typeface="Arial" panose="020B0604020202020204" pitchFamily="34" charset="0"/>
              <a:buChar char="•"/>
              <a:tabLst/>
              <a:defRPr/>
            </a:pPr>
            <a:r>
              <a:rPr kumimoji="0" lang="en-US" sz="1627" b="0" i="0" u="none" strike="noStrike" kern="1200" cap="none" spc="0" normalizeH="0" baseline="0" noProof="0" dirty="0">
                <a:ln>
                  <a:noFill/>
                </a:ln>
                <a:solidFill>
                  <a:srgbClr val="FFFFFF"/>
                </a:solidFill>
                <a:effectLst/>
                <a:uLnTx/>
                <a:uFillTx/>
                <a:latin typeface="Arial" panose="020B0604020202020204" pitchFamily="34" charset="0"/>
                <a:ea typeface="Arial Bold"/>
                <a:cs typeface="Arial" panose="020B0604020202020204" pitchFamily="34" charset="0"/>
                <a:sym typeface="Arial Bold"/>
              </a:rPr>
              <a:t>ADJR Act ground in s 5(1)(d) – ‘that the decision was not </a:t>
            </a:r>
            <a:r>
              <a:rPr kumimoji="0" lang="en-US" sz="1627" b="0" i="0" u="none" strike="noStrike" kern="1200" cap="none" spc="0" normalizeH="0" baseline="0" noProof="0" dirty="0" err="1">
                <a:ln>
                  <a:noFill/>
                </a:ln>
                <a:solidFill>
                  <a:srgbClr val="FFFFFF"/>
                </a:solidFill>
                <a:effectLst/>
                <a:uLnTx/>
                <a:uFillTx/>
                <a:latin typeface="Arial" panose="020B0604020202020204" pitchFamily="34" charset="0"/>
                <a:ea typeface="Arial Bold"/>
                <a:cs typeface="Arial" panose="020B0604020202020204" pitchFamily="34" charset="0"/>
                <a:sym typeface="Arial Bold"/>
              </a:rPr>
              <a:t>authorised</a:t>
            </a:r>
            <a:r>
              <a:rPr kumimoji="0" lang="en-US" sz="1627" b="0" i="0" u="none" strike="noStrike" kern="1200" cap="none" spc="0" normalizeH="0" baseline="0" noProof="0" dirty="0">
                <a:ln>
                  <a:noFill/>
                </a:ln>
                <a:solidFill>
                  <a:srgbClr val="FFFFFF"/>
                </a:solidFill>
                <a:effectLst/>
                <a:uLnTx/>
                <a:uFillTx/>
                <a:latin typeface="Arial" panose="020B0604020202020204" pitchFamily="34" charset="0"/>
                <a:ea typeface="Arial Bold"/>
                <a:cs typeface="Arial" panose="020B0604020202020204" pitchFamily="34" charset="0"/>
                <a:sym typeface="Arial Bold"/>
              </a:rPr>
              <a:t> by the enactment in pursuance of which it was purported to be made’</a:t>
            </a:r>
          </a:p>
          <a:p>
            <a:pPr marL="285750" marR="0" lvl="0" indent="-285750" algn="l" defTabSz="914400" rtl="0" eaLnBrk="1" fontAlgn="auto" latinLnBrk="0" hangingPunct="1">
              <a:lnSpc>
                <a:spcPct val="100000"/>
              </a:lnSpc>
              <a:spcBef>
                <a:spcPts val="0"/>
              </a:spcBef>
              <a:spcAft>
                <a:spcPts val="1200"/>
              </a:spcAft>
              <a:buClrTx/>
              <a:buSzTx/>
              <a:buFont typeface="Arial" panose="020B0604020202020204" pitchFamily="34" charset="0"/>
              <a:buChar char="•"/>
              <a:tabLst/>
              <a:defRPr/>
            </a:pPr>
            <a:endParaRPr kumimoji="0" lang="en-US" sz="1627" b="0" i="0" u="none" strike="noStrike" kern="1200" cap="none" spc="0" normalizeH="0" baseline="0" noProof="0" dirty="0">
              <a:ln>
                <a:noFill/>
              </a:ln>
              <a:solidFill>
                <a:srgbClr val="FFFFFF"/>
              </a:solidFill>
              <a:effectLst/>
              <a:uLnTx/>
              <a:uFillTx/>
              <a:latin typeface="Arial" panose="020B0604020202020204" pitchFamily="34" charset="0"/>
              <a:ea typeface="Arial Bold"/>
              <a:cs typeface="Arial" panose="020B0604020202020204" pitchFamily="34" charset="0"/>
              <a:sym typeface="Arial Bold"/>
            </a:endParaRPr>
          </a:p>
        </p:txBody>
      </p:sp>
      <p:sp>
        <p:nvSpPr>
          <p:cNvPr id="10" name="TextBox 10">
            <a:extLst>
              <a:ext uri="{FF2B5EF4-FFF2-40B4-BE49-F238E27FC236}">
                <a16:creationId xmlns:a16="http://schemas.microsoft.com/office/drawing/2014/main" id="{8C5AAF1B-3BFC-EBA9-675D-BD22195788B7}"/>
              </a:ext>
            </a:extLst>
          </p:cNvPr>
          <p:cNvSpPr txBox="1"/>
          <p:nvPr/>
        </p:nvSpPr>
        <p:spPr>
          <a:xfrm>
            <a:off x="10195446" y="6347803"/>
            <a:ext cx="1773879" cy="193258"/>
          </a:xfrm>
          <a:prstGeom prst="rect">
            <a:avLst/>
          </a:prstGeom>
        </p:spPr>
        <p:txBody>
          <a:bodyPr lIns="0" tIns="0" rIns="0" bIns="0" rtlCol="0" anchor="t">
            <a:spAutoFit/>
          </a:bodyPr>
          <a:lstStyle/>
          <a:p>
            <a:pPr marL="0" marR="0" lvl="0" indent="0" algn="l" defTabSz="914400" rtl="0" eaLnBrk="1" fontAlgn="auto" latinLnBrk="0" hangingPunct="1">
              <a:lnSpc>
                <a:spcPts val="1422"/>
              </a:lnSpc>
              <a:spcBef>
                <a:spcPts val="0"/>
              </a:spcBef>
              <a:spcAft>
                <a:spcPts val="0"/>
              </a:spcAft>
              <a:buClrTx/>
              <a:buSzTx/>
              <a:buFontTx/>
              <a:buNone/>
              <a:tabLst/>
              <a:defRPr/>
            </a:pPr>
            <a:r>
              <a:rPr kumimoji="0" lang="en-US" sz="1016" b="0" i="0" u="none" strike="noStrike" kern="1200" cap="none" spc="0" normalizeH="0" baseline="0" noProof="0">
                <a:ln>
                  <a:noFill/>
                </a:ln>
                <a:solidFill>
                  <a:srgbClr val="FFFFFF"/>
                </a:solidFill>
                <a:effectLst/>
                <a:uLnTx/>
                <a:uFillTx/>
                <a:latin typeface="Arial"/>
                <a:ea typeface="Arial"/>
                <a:cs typeface="Arial"/>
                <a:sym typeface="Arial"/>
              </a:rPr>
              <a:t>Administrative Law –LAW1023</a:t>
            </a:r>
          </a:p>
        </p:txBody>
      </p:sp>
      <p:pic>
        <p:nvPicPr>
          <p:cNvPr id="6" name="Picture 2" descr="Image result for tram vs bus">
            <a:extLst>
              <a:ext uri="{FF2B5EF4-FFF2-40B4-BE49-F238E27FC236}">
                <a16:creationId xmlns:a16="http://schemas.microsoft.com/office/drawing/2014/main" id="{7B6429C8-FCB2-34A9-8316-8D55257AB084}"/>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7239001" y="4017562"/>
            <a:ext cx="2667000" cy="200484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89835187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rgbClr val="000054"/>
        </a:solidFill>
        <a:effectLst/>
      </p:bgPr>
    </p:bg>
    <p:spTree>
      <p:nvGrpSpPr>
        <p:cNvPr id="1" name="">
          <a:extLst>
            <a:ext uri="{FF2B5EF4-FFF2-40B4-BE49-F238E27FC236}">
              <a16:creationId xmlns:a16="http://schemas.microsoft.com/office/drawing/2014/main" id="{7C4644EE-BDF6-59B2-02C0-DAB2DC1A244C}"/>
            </a:ext>
          </a:extLst>
        </p:cNvPr>
        <p:cNvGrpSpPr/>
        <p:nvPr/>
      </p:nvGrpSpPr>
      <p:grpSpPr>
        <a:xfrm>
          <a:off x="0" y="0"/>
          <a:ext cx="0" cy="0"/>
          <a:chOff x="0" y="0"/>
          <a:chExt cx="0" cy="0"/>
        </a:xfrm>
      </p:grpSpPr>
      <p:grpSp>
        <p:nvGrpSpPr>
          <p:cNvPr id="2" name="Group 2">
            <a:extLst>
              <a:ext uri="{FF2B5EF4-FFF2-40B4-BE49-F238E27FC236}">
                <a16:creationId xmlns:a16="http://schemas.microsoft.com/office/drawing/2014/main" id="{11E6FAD9-8C82-A420-2702-CF6010621618}"/>
              </a:ext>
            </a:extLst>
          </p:cNvPr>
          <p:cNvGrpSpPr/>
          <p:nvPr/>
        </p:nvGrpSpPr>
        <p:grpSpPr>
          <a:xfrm rot="-10800000">
            <a:off x="11045567" y="-12700"/>
            <a:ext cx="1146433" cy="1146433"/>
            <a:chOff x="0" y="0"/>
            <a:chExt cx="1630482" cy="1630482"/>
          </a:xfrm>
        </p:grpSpPr>
        <p:sp>
          <p:nvSpPr>
            <p:cNvPr id="3" name="Freeform 3">
              <a:extLst>
                <a:ext uri="{FF2B5EF4-FFF2-40B4-BE49-F238E27FC236}">
                  <a16:creationId xmlns:a16="http://schemas.microsoft.com/office/drawing/2014/main" id="{3D7B8D9D-9766-13C7-C3C0-A276F7FE9995}"/>
                </a:ext>
              </a:extLst>
            </p:cNvPr>
            <p:cNvSpPr/>
            <p:nvPr/>
          </p:nvSpPr>
          <p:spPr>
            <a:xfrm>
              <a:off x="0" y="0"/>
              <a:ext cx="1630426" cy="1630426"/>
            </a:xfrm>
            <a:custGeom>
              <a:avLst/>
              <a:gdLst/>
              <a:ahLst/>
              <a:cxnLst/>
              <a:rect l="l" t="t" r="r" b="b"/>
              <a:pathLst>
                <a:path w="1630426" h="1630426">
                  <a:moveTo>
                    <a:pt x="0" y="0"/>
                  </a:moveTo>
                  <a:lnTo>
                    <a:pt x="543433" y="0"/>
                  </a:lnTo>
                  <a:lnTo>
                    <a:pt x="543433" y="543433"/>
                  </a:lnTo>
                  <a:lnTo>
                    <a:pt x="1086993" y="543433"/>
                  </a:lnTo>
                  <a:lnTo>
                    <a:pt x="1086993" y="1086993"/>
                  </a:lnTo>
                  <a:lnTo>
                    <a:pt x="1630426" y="1086993"/>
                  </a:lnTo>
                  <a:lnTo>
                    <a:pt x="1630426" y="1630426"/>
                  </a:lnTo>
                  <a:lnTo>
                    <a:pt x="0" y="1630426"/>
                  </a:lnTo>
                  <a:lnTo>
                    <a:pt x="0" y="1086993"/>
                  </a:lnTo>
                  <a:lnTo>
                    <a:pt x="0" y="543433"/>
                  </a:lnTo>
                  <a:close/>
                </a:path>
              </a:pathLst>
            </a:custGeom>
            <a:solidFill>
              <a:srgbClr val="FFFFFF"/>
            </a:solid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AU" sz="1800" b="0" i="0" u="none" strike="noStrike" kern="1200" cap="none" spc="0" normalizeH="0" baseline="0" noProof="0">
                <a:ln>
                  <a:noFill/>
                </a:ln>
                <a:solidFill>
                  <a:prstClr val="black"/>
                </a:solidFill>
                <a:effectLst/>
                <a:uLnTx/>
                <a:uFillTx/>
                <a:latin typeface="Calibri"/>
                <a:ea typeface="+mn-ea"/>
                <a:cs typeface="+mn-cs"/>
              </a:endParaRPr>
            </a:p>
          </p:txBody>
        </p:sp>
      </p:grpSp>
      <p:sp>
        <p:nvSpPr>
          <p:cNvPr id="5" name="TextBox 5">
            <a:extLst>
              <a:ext uri="{FF2B5EF4-FFF2-40B4-BE49-F238E27FC236}">
                <a16:creationId xmlns:a16="http://schemas.microsoft.com/office/drawing/2014/main" id="{2DB45417-7DE2-51D6-2280-2CF8DB5F58B8}"/>
              </a:ext>
            </a:extLst>
          </p:cNvPr>
          <p:cNvSpPr txBox="1"/>
          <p:nvPr/>
        </p:nvSpPr>
        <p:spPr>
          <a:xfrm>
            <a:off x="392084" y="560536"/>
            <a:ext cx="11190316" cy="409471"/>
          </a:xfrm>
          <a:prstGeom prst="rect">
            <a:avLst/>
          </a:prstGeom>
        </p:spPr>
        <p:txBody>
          <a:bodyPr wrap="square" lIns="0" tIns="0" rIns="0" bIns="0" rtlCol="0" anchor="t">
            <a:spAutoFit/>
          </a:bodyPr>
          <a:lstStyle/>
          <a:p>
            <a:pPr marL="0" marR="0" lvl="0" indent="0" algn="l" defTabSz="914400" rtl="0" eaLnBrk="1" fontAlgn="auto" latinLnBrk="0" hangingPunct="1">
              <a:lnSpc>
                <a:spcPts val="3494"/>
              </a:lnSpc>
              <a:spcBef>
                <a:spcPts val="0"/>
              </a:spcBef>
              <a:spcAft>
                <a:spcPts val="0"/>
              </a:spcAft>
              <a:buClrTx/>
              <a:buSzTx/>
              <a:buFontTx/>
              <a:buNone/>
              <a:tabLst/>
              <a:defRPr/>
            </a:pPr>
            <a:r>
              <a:rPr kumimoji="0" lang="en-US" sz="2496" b="1" u="none" strike="noStrike" kern="1200" cap="none" spc="0" normalizeH="0" baseline="0" noProof="0" dirty="0">
                <a:ln>
                  <a:noFill/>
                </a:ln>
                <a:solidFill>
                  <a:srgbClr val="FFFFFF"/>
                </a:solidFill>
                <a:effectLst/>
                <a:uLnTx/>
                <a:uFillTx/>
                <a:latin typeface="Arial Bold"/>
                <a:ea typeface="Arial Bold"/>
                <a:cs typeface="Arial Bold"/>
                <a:sym typeface="Arial Bold"/>
              </a:rPr>
              <a:t>Acting Beyond Power – Decisions </a:t>
            </a:r>
          </a:p>
        </p:txBody>
      </p:sp>
      <p:sp>
        <p:nvSpPr>
          <p:cNvPr id="9" name="TextBox 9">
            <a:extLst>
              <a:ext uri="{FF2B5EF4-FFF2-40B4-BE49-F238E27FC236}">
                <a16:creationId xmlns:a16="http://schemas.microsoft.com/office/drawing/2014/main" id="{E34FAD6B-AB9A-0014-13FD-E323B76D2E80}"/>
              </a:ext>
            </a:extLst>
          </p:cNvPr>
          <p:cNvSpPr txBox="1"/>
          <p:nvPr/>
        </p:nvSpPr>
        <p:spPr>
          <a:xfrm>
            <a:off x="392084" y="1295400"/>
            <a:ext cx="7834102" cy="5834611"/>
          </a:xfrm>
          <a:prstGeom prst="rect">
            <a:avLst/>
          </a:prstGeom>
        </p:spPr>
        <p:txBody>
          <a:bodyPr wrap="square" lIns="0" tIns="0" rIns="0" bIns="0" rtlCol="0" anchor="t">
            <a:spAutoFit/>
          </a:bodyPr>
          <a:lstStyle/>
          <a:p>
            <a:pPr marL="285750" marR="0" lvl="0" indent="-285750" algn="l" defTabSz="914400" rtl="0" eaLnBrk="1" fontAlgn="auto" latinLnBrk="0" hangingPunct="1">
              <a:lnSpc>
                <a:spcPct val="100000"/>
              </a:lnSpc>
              <a:spcBef>
                <a:spcPts val="0"/>
              </a:spcBef>
              <a:spcAft>
                <a:spcPts val="1200"/>
              </a:spcAft>
              <a:buClrTx/>
              <a:buSzTx/>
              <a:buFont typeface="Arial" panose="020B0604020202020204" pitchFamily="34" charset="0"/>
              <a:buChar char="•"/>
              <a:tabLst/>
              <a:defRPr/>
            </a:pPr>
            <a:r>
              <a:rPr kumimoji="0" lang="en-US" sz="1627" b="0" i="1" u="none" strike="noStrike" kern="1200" cap="none" spc="0" normalizeH="0" baseline="0" noProof="0" dirty="0">
                <a:ln>
                  <a:noFill/>
                </a:ln>
                <a:solidFill>
                  <a:srgbClr val="FFFFFF"/>
                </a:solidFill>
                <a:effectLst/>
                <a:uLnTx/>
                <a:uFillTx/>
                <a:latin typeface="Arial" panose="020B0604020202020204" pitchFamily="34" charset="0"/>
                <a:ea typeface="Arial Bold"/>
                <a:cs typeface="Arial" panose="020B0604020202020204" pitchFamily="34" charset="0"/>
                <a:sym typeface="Arial Bold"/>
              </a:rPr>
              <a:t>Entick v Carrington </a:t>
            </a:r>
            <a:r>
              <a:rPr kumimoji="0" lang="en-US" sz="1627" b="0" i="0" u="none" strike="noStrike" kern="1200" cap="none" spc="0" normalizeH="0" baseline="0" noProof="0" dirty="0">
                <a:ln>
                  <a:noFill/>
                </a:ln>
                <a:solidFill>
                  <a:srgbClr val="FFFFFF"/>
                </a:solidFill>
                <a:effectLst/>
                <a:uLnTx/>
                <a:uFillTx/>
                <a:latin typeface="Arial" panose="020B0604020202020204" pitchFamily="34" charset="0"/>
                <a:ea typeface="Arial Bold"/>
                <a:cs typeface="Arial" panose="020B0604020202020204" pitchFamily="34" charset="0"/>
                <a:sym typeface="Arial Bold"/>
              </a:rPr>
              <a:t>(1765) 19 St Tr 1030</a:t>
            </a:r>
          </a:p>
          <a:p>
            <a:pPr marL="285750" marR="0" lvl="0" indent="-285750" algn="l" defTabSz="914400" rtl="0" eaLnBrk="1" fontAlgn="auto" latinLnBrk="0" hangingPunct="1">
              <a:lnSpc>
                <a:spcPct val="100000"/>
              </a:lnSpc>
              <a:spcBef>
                <a:spcPts val="0"/>
              </a:spcBef>
              <a:spcAft>
                <a:spcPts val="1200"/>
              </a:spcAft>
              <a:buClrTx/>
              <a:buSzTx/>
              <a:buFont typeface="Arial" panose="020B0604020202020204" pitchFamily="34" charset="0"/>
              <a:buChar char="•"/>
              <a:tabLst/>
              <a:defRPr/>
            </a:pPr>
            <a:r>
              <a:rPr kumimoji="0" lang="en-US" sz="1627" b="0" i="0" u="none" strike="noStrike" kern="1200" cap="none" spc="0" normalizeH="0" baseline="0" noProof="0" dirty="0">
                <a:ln>
                  <a:noFill/>
                </a:ln>
                <a:solidFill>
                  <a:srgbClr val="FFFFFF"/>
                </a:solidFill>
                <a:effectLst/>
                <a:uLnTx/>
                <a:uFillTx/>
                <a:latin typeface="Arial" panose="020B0604020202020204" pitchFamily="34" charset="0"/>
                <a:ea typeface="Arial Bold"/>
                <a:cs typeface="Arial" panose="020B0604020202020204" pitchFamily="34" charset="0"/>
                <a:sym typeface="Arial Bold"/>
              </a:rPr>
              <a:t>Secretary of State issued search warrant for seditious material against Entick. Entick sued for trespass and won. 	All govt action must be sourced in law; </a:t>
            </a:r>
            <a:r>
              <a:rPr kumimoji="0" lang="en-US" sz="1627" b="0" i="0" u="none" strike="noStrike" kern="1200" cap="none" spc="0" normalizeH="0" baseline="0" noProof="0" dirty="0" err="1">
                <a:ln>
                  <a:noFill/>
                </a:ln>
                <a:solidFill>
                  <a:srgbClr val="FFFFFF"/>
                </a:solidFill>
                <a:effectLst/>
                <a:uLnTx/>
                <a:uFillTx/>
                <a:latin typeface="Arial" panose="020B0604020202020204" pitchFamily="34" charset="0"/>
                <a:ea typeface="Arial Bold"/>
                <a:cs typeface="Arial" panose="020B0604020202020204" pitchFamily="34" charset="0"/>
                <a:sym typeface="Arial Bold"/>
              </a:rPr>
              <a:t>esp</a:t>
            </a:r>
            <a:r>
              <a:rPr kumimoji="0" lang="en-US" sz="1627" b="0" i="0" u="none" strike="noStrike" kern="1200" cap="none" spc="0" normalizeH="0" baseline="0" noProof="0" dirty="0">
                <a:ln>
                  <a:noFill/>
                </a:ln>
                <a:solidFill>
                  <a:srgbClr val="FFFFFF"/>
                </a:solidFill>
                <a:effectLst/>
                <a:uLnTx/>
                <a:uFillTx/>
                <a:latin typeface="Arial" panose="020B0604020202020204" pitchFamily="34" charset="0"/>
                <a:ea typeface="Arial Bold"/>
                <a:cs typeface="Arial" panose="020B0604020202020204" pitchFamily="34" charset="0"/>
                <a:sym typeface="Arial Bold"/>
              </a:rPr>
              <a:t> if it affects rights such as private property. Lord Camden CJ: rights 	preserved unless taken away ‘by some public law for the good of the whole’ – in this case no such law existed.</a:t>
            </a:r>
            <a:br>
              <a:rPr kumimoji="0" lang="en-US" sz="1627" b="0" i="0" u="none" strike="noStrike" kern="1200" cap="none" spc="0" normalizeH="0" baseline="0" noProof="0" dirty="0">
                <a:ln>
                  <a:noFill/>
                </a:ln>
                <a:solidFill>
                  <a:srgbClr val="FFFFFF"/>
                </a:solidFill>
                <a:effectLst/>
                <a:uLnTx/>
                <a:uFillTx/>
                <a:latin typeface="Arial" panose="020B0604020202020204" pitchFamily="34" charset="0"/>
                <a:ea typeface="Arial Bold"/>
                <a:cs typeface="Arial" panose="020B0604020202020204" pitchFamily="34" charset="0"/>
                <a:sym typeface="Arial Bold"/>
              </a:rPr>
            </a:br>
            <a:endParaRPr kumimoji="0" lang="en-US" sz="1627" b="0" i="0" u="none" strike="noStrike" kern="1200" cap="none" spc="0" normalizeH="0" baseline="0" noProof="0" dirty="0">
              <a:ln>
                <a:noFill/>
              </a:ln>
              <a:solidFill>
                <a:srgbClr val="FFFFFF"/>
              </a:solidFill>
              <a:effectLst/>
              <a:uLnTx/>
              <a:uFillTx/>
              <a:latin typeface="Arial" panose="020B0604020202020204" pitchFamily="34" charset="0"/>
              <a:ea typeface="Arial Bold"/>
              <a:cs typeface="Arial" panose="020B0604020202020204" pitchFamily="34" charset="0"/>
              <a:sym typeface="Arial Bold"/>
            </a:endParaRPr>
          </a:p>
          <a:p>
            <a:pPr marL="285750" marR="0" lvl="0" indent="-285750" algn="l" defTabSz="914400" rtl="0" eaLnBrk="1" fontAlgn="auto" latinLnBrk="0" hangingPunct="1">
              <a:lnSpc>
                <a:spcPct val="100000"/>
              </a:lnSpc>
              <a:spcBef>
                <a:spcPts val="0"/>
              </a:spcBef>
              <a:spcAft>
                <a:spcPts val="1200"/>
              </a:spcAft>
              <a:buClrTx/>
              <a:buSzTx/>
              <a:buFont typeface="Arial" panose="020B0604020202020204" pitchFamily="34" charset="0"/>
              <a:buChar char="•"/>
              <a:tabLst/>
              <a:defRPr/>
            </a:pPr>
            <a:r>
              <a:rPr kumimoji="0" lang="en-US" sz="1627" b="0" i="1" u="none" strike="noStrike" kern="1200" cap="none" spc="0" normalizeH="0" baseline="0" noProof="0" dirty="0">
                <a:ln>
                  <a:noFill/>
                </a:ln>
                <a:solidFill>
                  <a:srgbClr val="FFFFFF"/>
                </a:solidFill>
                <a:effectLst/>
                <a:uLnTx/>
                <a:uFillTx/>
                <a:latin typeface="Arial" panose="020B0604020202020204" pitchFamily="34" charset="0"/>
                <a:ea typeface="Arial Bold"/>
                <a:cs typeface="Arial" panose="020B0604020202020204" pitchFamily="34" charset="0"/>
                <a:sym typeface="Arial Bold"/>
              </a:rPr>
              <a:t>A v Hayden (No 2) </a:t>
            </a:r>
            <a:r>
              <a:rPr kumimoji="0" lang="en-US" sz="1627" b="0" i="0" u="none" strike="noStrike" kern="1200" cap="none" spc="0" normalizeH="0" baseline="0" noProof="0" dirty="0">
                <a:ln>
                  <a:noFill/>
                </a:ln>
                <a:solidFill>
                  <a:srgbClr val="FFFFFF"/>
                </a:solidFill>
                <a:effectLst/>
                <a:uLnTx/>
                <a:uFillTx/>
                <a:latin typeface="Arial" panose="020B0604020202020204" pitchFamily="34" charset="0"/>
                <a:ea typeface="Arial Bold"/>
                <a:cs typeface="Arial" panose="020B0604020202020204" pitchFamily="34" charset="0"/>
                <a:sym typeface="Arial Bold"/>
              </a:rPr>
              <a:t>(1984) 156 CLR 532</a:t>
            </a:r>
          </a:p>
          <a:p>
            <a:pPr marL="285750" marR="0" lvl="0" indent="-285750" algn="l" defTabSz="914400" rtl="0" eaLnBrk="1" fontAlgn="auto" latinLnBrk="0" hangingPunct="1">
              <a:lnSpc>
                <a:spcPct val="100000"/>
              </a:lnSpc>
              <a:spcBef>
                <a:spcPts val="0"/>
              </a:spcBef>
              <a:spcAft>
                <a:spcPts val="1200"/>
              </a:spcAft>
              <a:buClrTx/>
              <a:buSzTx/>
              <a:buFont typeface="Arial" panose="020B0604020202020204" pitchFamily="34" charset="0"/>
              <a:buChar char="•"/>
              <a:tabLst/>
              <a:defRPr/>
            </a:pPr>
            <a:r>
              <a:rPr kumimoji="0" lang="en-US" sz="1627" b="0" i="0" u="none" strike="noStrike" kern="1200" cap="none" spc="0" normalizeH="0" baseline="0" noProof="0" dirty="0">
                <a:ln>
                  <a:noFill/>
                </a:ln>
                <a:solidFill>
                  <a:srgbClr val="FFFFFF"/>
                </a:solidFill>
                <a:effectLst/>
                <a:uLnTx/>
                <a:uFillTx/>
                <a:latin typeface="Arial" panose="020B0604020202020204" pitchFamily="34" charset="0"/>
                <a:ea typeface="Arial Bold"/>
                <a:cs typeface="Arial" panose="020B0604020202020204" pitchFamily="34" charset="0"/>
                <a:sym typeface="Arial Bold"/>
              </a:rPr>
              <a:t>ASIS* officers not </a:t>
            </a:r>
            <a:r>
              <a:rPr kumimoji="0" lang="en-US" sz="1627" b="0" i="0" u="none" strike="noStrike" kern="1200" cap="none" spc="0" normalizeH="0" baseline="0" noProof="0" dirty="0" err="1">
                <a:ln>
                  <a:noFill/>
                </a:ln>
                <a:solidFill>
                  <a:srgbClr val="FFFFFF"/>
                </a:solidFill>
                <a:effectLst/>
                <a:uLnTx/>
                <a:uFillTx/>
                <a:latin typeface="Arial" panose="020B0604020202020204" pitchFamily="34" charset="0"/>
                <a:ea typeface="Arial Bold"/>
                <a:cs typeface="Arial" panose="020B0604020202020204" pitchFamily="34" charset="0"/>
                <a:sym typeface="Arial Bold"/>
              </a:rPr>
              <a:t>authorised</a:t>
            </a:r>
            <a:r>
              <a:rPr kumimoji="0" lang="en-US" sz="1627" b="0" i="0" u="none" strike="noStrike" kern="1200" cap="none" spc="0" normalizeH="0" baseline="0" noProof="0" dirty="0">
                <a:ln>
                  <a:noFill/>
                </a:ln>
                <a:solidFill>
                  <a:srgbClr val="FFFFFF"/>
                </a:solidFill>
                <a:effectLst/>
                <a:uLnTx/>
                <a:uFillTx/>
                <a:latin typeface="Arial" panose="020B0604020202020204" pitchFamily="34" charset="0"/>
                <a:ea typeface="Arial Bold"/>
                <a:cs typeface="Arial" panose="020B0604020202020204" pitchFamily="34" charset="0"/>
                <a:sym typeface="Arial Bold"/>
              </a:rPr>
              <a:t> to commit criminal offences, without express statutory exemption from prosecution. Crown in the past had ‘dispensing power’ but HCA said its danger had been </a:t>
            </a:r>
            <a:r>
              <a:rPr kumimoji="0" lang="en-US" sz="1627" b="0" i="0" u="none" strike="noStrike" kern="1200" cap="none" spc="0" normalizeH="0" baseline="0" noProof="0" dirty="0" err="1">
                <a:ln>
                  <a:noFill/>
                </a:ln>
                <a:solidFill>
                  <a:srgbClr val="FFFFFF"/>
                </a:solidFill>
                <a:effectLst/>
                <a:uLnTx/>
                <a:uFillTx/>
                <a:latin typeface="Arial" panose="020B0604020202020204" pitchFamily="34" charset="0"/>
                <a:ea typeface="Arial Bold"/>
                <a:cs typeface="Arial" panose="020B0604020202020204" pitchFamily="34" charset="0"/>
                <a:sym typeface="Arial Bold"/>
              </a:rPr>
              <a:t>recognised</a:t>
            </a:r>
            <a:r>
              <a:rPr kumimoji="0" lang="en-US" sz="1627" b="0" i="0" u="none" strike="noStrike" kern="1200" cap="none" spc="0" normalizeH="0" baseline="0" noProof="0" dirty="0">
                <a:ln>
                  <a:noFill/>
                </a:ln>
                <a:solidFill>
                  <a:srgbClr val="FFFFFF"/>
                </a:solidFill>
                <a:effectLst/>
                <a:uLnTx/>
                <a:uFillTx/>
                <a:latin typeface="Arial" panose="020B0604020202020204" pitchFamily="34" charset="0"/>
                <a:ea typeface="Arial Bold"/>
                <a:cs typeface="Arial" panose="020B0604020202020204" pitchFamily="34" charset="0"/>
                <a:sym typeface="Arial Bold"/>
              </a:rPr>
              <a:t> and it had 	been fully abolished by 1689 Bill of Rights (one of the plaintiff ASIS officers argued that it was not beyond executive power for a Minister to order an agent to kill someone).</a:t>
            </a:r>
          </a:p>
          <a:p>
            <a:pPr marL="285750" marR="0" lvl="0" indent="-285750" algn="l" defTabSz="914400" rtl="0" eaLnBrk="1" fontAlgn="auto" latinLnBrk="0" hangingPunct="1">
              <a:lnSpc>
                <a:spcPct val="100000"/>
              </a:lnSpc>
              <a:spcBef>
                <a:spcPts val="0"/>
              </a:spcBef>
              <a:spcAft>
                <a:spcPts val="1200"/>
              </a:spcAft>
              <a:buClrTx/>
              <a:buSzTx/>
              <a:buFont typeface="Arial" panose="020B0604020202020204" pitchFamily="34" charset="0"/>
              <a:buChar char="•"/>
              <a:tabLst/>
              <a:defRPr/>
            </a:pPr>
            <a:endParaRPr kumimoji="0" lang="en-US" sz="1627" b="0" i="0" u="none" strike="noStrike" kern="1200" cap="none" spc="0" normalizeH="0" baseline="0" noProof="0" dirty="0">
              <a:ln>
                <a:noFill/>
              </a:ln>
              <a:solidFill>
                <a:srgbClr val="FFFFFF"/>
              </a:solidFill>
              <a:effectLst/>
              <a:uLnTx/>
              <a:uFillTx/>
              <a:latin typeface="Arial" panose="020B0604020202020204" pitchFamily="34" charset="0"/>
              <a:ea typeface="Arial Bold"/>
              <a:cs typeface="Arial" panose="020B0604020202020204" pitchFamily="34" charset="0"/>
              <a:sym typeface="Arial Bold"/>
            </a:endParaRPr>
          </a:p>
          <a:p>
            <a:pPr marL="285750" marR="0" lvl="0" indent="-285750" algn="l" defTabSz="914400" rtl="0" eaLnBrk="1" fontAlgn="auto" latinLnBrk="0" hangingPunct="1">
              <a:lnSpc>
                <a:spcPct val="100000"/>
              </a:lnSpc>
              <a:spcBef>
                <a:spcPts val="0"/>
              </a:spcBef>
              <a:spcAft>
                <a:spcPts val="1200"/>
              </a:spcAft>
              <a:buClrTx/>
              <a:buSzTx/>
              <a:buFont typeface="Arial" panose="020B0604020202020204" pitchFamily="34" charset="0"/>
              <a:buChar char="•"/>
              <a:tabLst/>
              <a:defRPr/>
            </a:pPr>
            <a:r>
              <a:rPr kumimoji="0" lang="en-US" sz="1627" b="0" i="1" u="none" strike="noStrike" kern="1200" cap="none" spc="0" normalizeH="0" baseline="0" noProof="0" dirty="0">
                <a:ln>
                  <a:noFill/>
                </a:ln>
                <a:solidFill>
                  <a:srgbClr val="FFFFFF"/>
                </a:solidFill>
                <a:effectLst/>
                <a:uLnTx/>
                <a:uFillTx/>
                <a:latin typeface="Arial" panose="020B0604020202020204" pitchFamily="34" charset="0"/>
                <a:ea typeface="Arial Bold"/>
                <a:cs typeface="Arial" panose="020B0604020202020204" pitchFamily="34" charset="0"/>
                <a:sym typeface="Arial Bold"/>
              </a:rPr>
              <a:t>ICAC v Cunneen </a:t>
            </a:r>
            <a:r>
              <a:rPr kumimoji="0" lang="en-US" sz="1627" b="0" i="0" u="none" strike="noStrike" kern="1200" cap="none" spc="0" normalizeH="0" baseline="0" noProof="0" dirty="0">
                <a:ln>
                  <a:noFill/>
                </a:ln>
                <a:solidFill>
                  <a:srgbClr val="FFFFFF"/>
                </a:solidFill>
                <a:effectLst/>
                <a:uLnTx/>
                <a:uFillTx/>
                <a:latin typeface="Arial" panose="020B0604020202020204" pitchFamily="34" charset="0"/>
                <a:ea typeface="Arial Bold"/>
                <a:cs typeface="Arial" panose="020B0604020202020204" pitchFamily="34" charset="0"/>
                <a:sym typeface="Arial Bold"/>
              </a:rPr>
              <a:t>(2015) 318 ALR 391</a:t>
            </a:r>
          </a:p>
          <a:p>
            <a:pPr marL="285750" marR="0" lvl="0" indent="-285750" algn="l" defTabSz="914400" rtl="0" eaLnBrk="1" fontAlgn="auto" latinLnBrk="0" hangingPunct="1">
              <a:lnSpc>
                <a:spcPct val="100000"/>
              </a:lnSpc>
              <a:spcBef>
                <a:spcPts val="0"/>
              </a:spcBef>
              <a:spcAft>
                <a:spcPts val="1200"/>
              </a:spcAft>
              <a:buClrTx/>
              <a:buSzTx/>
              <a:buFont typeface="Arial" panose="020B0604020202020204" pitchFamily="34" charset="0"/>
              <a:buChar char="•"/>
              <a:tabLst/>
              <a:defRPr/>
            </a:pPr>
            <a:r>
              <a:rPr kumimoji="0" lang="en-US" sz="1627" b="0" i="0" u="none" strike="noStrike" kern="1200" cap="none" spc="0" normalizeH="0" baseline="0" noProof="0" dirty="0">
                <a:ln>
                  <a:noFill/>
                </a:ln>
                <a:solidFill>
                  <a:srgbClr val="FFFFFF"/>
                </a:solidFill>
                <a:effectLst/>
                <a:uLnTx/>
                <a:uFillTx/>
                <a:latin typeface="Arial" panose="020B0604020202020204" pitchFamily="34" charset="0"/>
                <a:ea typeface="Arial Bold"/>
                <a:cs typeface="Arial" panose="020B0604020202020204" pitchFamily="34" charset="0"/>
                <a:sym typeface="Arial Bold"/>
              </a:rPr>
              <a:t>Cunneen’s advice to her son’s </a:t>
            </a:r>
            <a:r>
              <a:rPr lang="en-US" sz="1627" dirty="0">
                <a:solidFill>
                  <a:srgbClr val="FFFFFF"/>
                </a:solidFill>
                <a:latin typeface="Arial" panose="020B0604020202020204" pitchFamily="34" charset="0"/>
                <a:ea typeface="Arial Bold"/>
                <a:cs typeface="Arial" panose="020B0604020202020204" pitchFamily="34" charset="0"/>
                <a:sym typeface="Arial Bold"/>
              </a:rPr>
              <a:t>girlfriend </a:t>
            </a:r>
            <a:r>
              <a:rPr kumimoji="0" lang="en-US" sz="1627" b="0" i="0" u="none" strike="noStrike" kern="1200" cap="none" spc="0" normalizeH="0" baseline="0" noProof="0" dirty="0">
                <a:ln>
                  <a:noFill/>
                </a:ln>
                <a:solidFill>
                  <a:srgbClr val="FFFFFF"/>
                </a:solidFill>
                <a:effectLst/>
                <a:uLnTx/>
                <a:uFillTx/>
                <a:latin typeface="Arial" panose="020B0604020202020204" pitchFamily="34" charset="0"/>
                <a:ea typeface="Arial Bold"/>
                <a:cs typeface="Arial" panose="020B0604020202020204" pitchFamily="34" charset="0"/>
                <a:sym typeface="Arial Bold"/>
              </a:rPr>
              <a:t>(to fake chest pains) did not fall within the definition of corrupt conduct under the Act. Therefore ICAC had no authority to investigate.</a:t>
            </a:r>
          </a:p>
          <a:p>
            <a:pPr marL="285750" marR="0" lvl="0" indent="-285750" algn="l" defTabSz="914400" rtl="0" eaLnBrk="1" fontAlgn="auto" latinLnBrk="0" hangingPunct="1">
              <a:lnSpc>
                <a:spcPct val="100000"/>
              </a:lnSpc>
              <a:spcBef>
                <a:spcPts val="0"/>
              </a:spcBef>
              <a:spcAft>
                <a:spcPts val="1200"/>
              </a:spcAft>
              <a:buClrTx/>
              <a:buSzTx/>
              <a:buFont typeface="Arial" panose="020B0604020202020204" pitchFamily="34" charset="0"/>
              <a:buChar char="•"/>
              <a:tabLst/>
              <a:defRPr/>
            </a:pPr>
            <a:r>
              <a:rPr kumimoji="0" lang="en-US" sz="1627" b="0" i="0" u="none" strike="noStrike" kern="1200" cap="none" spc="0" normalizeH="0" baseline="0" noProof="0" dirty="0">
                <a:ln>
                  <a:noFill/>
                </a:ln>
                <a:solidFill>
                  <a:srgbClr val="FFFFFF"/>
                </a:solidFill>
                <a:effectLst/>
                <a:uLnTx/>
                <a:uFillTx/>
                <a:latin typeface="Arial" panose="020B0604020202020204" pitchFamily="34" charset="0"/>
                <a:ea typeface="Arial Bold"/>
                <a:cs typeface="Arial" panose="020B0604020202020204" pitchFamily="34" charset="0"/>
                <a:sym typeface="Arial Bold"/>
              </a:rPr>
              <a:t>   </a:t>
            </a:r>
          </a:p>
        </p:txBody>
      </p:sp>
      <p:sp>
        <p:nvSpPr>
          <p:cNvPr id="10" name="TextBox 10">
            <a:extLst>
              <a:ext uri="{FF2B5EF4-FFF2-40B4-BE49-F238E27FC236}">
                <a16:creationId xmlns:a16="http://schemas.microsoft.com/office/drawing/2014/main" id="{FF93F513-A6FC-C34A-524D-A9E3BFE6B152}"/>
              </a:ext>
            </a:extLst>
          </p:cNvPr>
          <p:cNvSpPr txBox="1"/>
          <p:nvPr/>
        </p:nvSpPr>
        <p:spPr>
          <a:xfrm>
            <a:off x="10195446" y="6347803"/>
            <a:ext cx="1773879" cy="193258"/>
          </a:xfrm>
          <a:prstGeom prst="rect">
            <a:avLst/>
          </a:prstGeom>
        </p:spPr>
        <p:txBody>
          <a:bodyPr lIns="0" tIns="0" rIns="0" bIns="0" rtlCol="0" anchor="t">
            <a:spAutoFit/>
          </a:bodyPr>
          <a:lstStyle/>
          <a:p>
            <a:pPr marL="0" marR="0" lvl="0" indent="0" algn="l" defTabSz="914400" rtl="0" eaLnBrk="1" fontAlgn="auto" latinLnBrk="0" hangingPunct="1">
              <a:lnSpc>
                <a:spcPts val="1422"/>
              </a:lnSpc>
              <a:spcBef>
                <a:spcPts val="0"/>
              </a:spcBef>
              <a:spcAft>
                <a:spcPts val="0"/>
              </a:spcAft>
              <a:buClrTx/>
              <a:buSzTx/>
              <a:buFontTx/>
              <a:buNone/>
              <a:tabLst/>
              <a:defRPr/>
            </a:pPr>
            <a:r>
              <a:rPr kumimoji="0" lang="en-US" sz="1016" b="0" i="0" u="none" strike="noStrike" kern="1200" cap="none" spc="0" normalizeH="0" baseline="0" noProof="0">
                <a:ln>
                  <a:noFill/>
                </a:ln>
                <a:solidFill>
                  <a:srgbClr val="FFFFFF"/>
                </a:solidFill>
                <a:effectLst/>
                <a:uLnTx/>
                <a:uFillTx/>
                <a:latin typeface="Arial"/>
                <a:ea typeface="Arial"/>
                <a:cs typeface="Arial"/>
                <a:sym typeface="Arial"/>
              </a:rPr>
              <a:t>Administrative Law –LAW1023</a:t>
            </a:r>
          </a:p>
        </p:txBody>
      </p:sp>
      <p:pic>
        <p:nvPicPr>
          <p:cNvPr id="4" name="Picture 3">
            <a:extLst>
              <a:ext uri="{FF2B5EF4-FFF2-40B4-BE49-F238E27FC236}">
                <a16:creationId xmlns:a16="http://schemas.microsoft.com/office/drawing/2014/main" id="{CC72A0B4-BEAD-BF3E-38AD-5F3744C1E2F2}"/>
              </a:ext>
            </a:extLst>
          </p:cNvPr>
          <p:cNvPicPr>
            <a:picLocks noChangeAspect="1"/>
          </p:cNvPicPr>
          <p:nvPr/>
        </p:nvPicPr>
        <p:blipFill>
          <a:blip r:embed="rId2"/>
          <a:stretch>
            <a:fillRect/>
          </a:stretch>
        </p:blipFill>
        <p:spPr>
          <a:xfrm>
            <a:off x="8540305" y="1981200"/>
            <a:ext cx="3429020" cy="1928824"/>
          </a:xfrm>
          <a:prstGeom prst="rect">
            <a:avLst/>
          </a:prstGeom>
        </p:spPr>
      </p:pic>
    </p:spTree>
    <p:extLst>
      <p:ext uri="{BB962C8B-B14F-4D97-AF65-F5344CB8AC3E}">
        <p14:creationId xmlns:p14="http://schemas.microsoft.com/office/powerpoint/2010/main" val="3441767695"/>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rgbClr val="000054"/>
        </a:solidFill>
        <a:effectLst/>
      </p:bgPr>
    </p:bg>
    <p:spTree>
      <p:nvGrpSpPr>
        <p:cNvPr id="1" name="">
          <a:extLst>
            <a:ext uri="{FF2B5EF4-FFF2-40B4-BE49-F238E27FC236}">
              <a16:creationId xmlns:a16="http://schemas.microsoft.com/office/drawing/2014/main" id="{4A6454F0-D22C-C3F1-AD18-1AD5B044F5E4}"/>
            </a:ext>
          </a:extLst>
        </p:cNvPr>
        <p:cNvGrpSpPr/>
        <p:nvPr/>
      </p:nvGrpSpPr>
      <p:grpSpPr>
        <a:xfrm>
          <a:off x="0" y="0"/>
          <a:ext cx="0" cy="0"/>
          <a:chOff x="0" y="0"/>
          <a:chExt cx="0" cy="0"/>
        </a:xfrm>
      </p:grpSpPr>
      <p:grpSp>
        <p:nvGrpSpPr>
          <p:cNvPr id="2" name="Group 2">
            <a:extLst>
              <a:ext uri="{FF2B5EF4-FFF2-40B4-BE49-F238E27FC236}">
                <a16:creationId xmlns:a16="http://schemas.microsoft.com/office/drawing/2014/main" id="{5CD3BEDE-9ABF-2ADD-EB9E-DD96CD1FEF27}"/>
              </a:ext>
            </a:extLst>
          </p:cNvPr>
          <p:cNvGrpSpPr/>
          <p:nvPr/>
        </p:nvGrpSpPr>
        <p:grpSpPr>
          <a:xfrm rot="-10800000">
            <a:off x="11045567" y="-12700"/>
            <a:ext cx="1146433" cy="1146433"/>
            <a:chOff x="0" y="0"/>
            <a:chExt cx="1630482" cy="1630482"/>
          </a:xfrm>
        </p:grpSpPr>
        <p:sp>
          <p:nvSpPr>
            <p:cNvPr id="3" name="Freeform 3">
              <a:extLst>
                <a:ext uri="{FF2B5EF4-FFF2-40B4-BE49-F238E27FC236}">
                  <a16:creationId xmlns:a16="http://schemas.microsoft.com/office/drawing/2014/main" id="{274B661B-A1C7-FB00-FA73-5A03C849127E}"/>
                </a:ext>
              </a:extLst>
            </p:cNvPr>
            <p:cNvSpPr/>
            <p:nvPr/>
          </p:nvSpPr>
          <p:spPr>
            <a:xfrm>
              <a:off x="0" y="0"/>
              <a:ext cx="1630426" cy="1630426"/>
            </a:xfrm>
            <a:custGeom>
              <a:avLst/>
              <a:gdLst/>
              <a:ahLst/>
              <a:cxnLst/>
              <a:rect l="l" t="t" r="r" b="b"/>
              <a:pathLst>
                <a:path w="1630426" h="1630426">
                  <a:moveTo>
                    <a:pt x="0" y="0"/>
                  </a:moveTo>
                  <a:lnTo>
                    <a:pt x="543433" y="0"/>
                  </a:lnTo>
                  <a:lnTo>
                    <a:pt x="543433" y="543433"/>
                  </a:lnTo>
                  <a:lnTo>
                    <a:pt x="1086993" y="543433"/>
                  </a:lnTo>
                  <a:lnTo>
                    <a:pt x="1086993" y="1086993"/>
                  </a:lnTo>
                  <a:lnTo>
                    <a:pt x="1630426" y="1086993"/>
                  </a:lnTo>
                  <a:lnTo>
                    <a:pt x="1630426" y="1630426"/>
                  </a:lnTo>
                  <a:lnTo>
                    <a:pt x="0" y="1630426"/>
                  </a:lnTo>
                  <a:lnTo>
                    <a:pt x="0" y="1086993"/>
                  </a:lnTo>
                  <a:lnTo>
                    <a:pt x="0" y="543433"/>
                  </a:lnTo>
                  <a:close/>
                </a:path>
              </a:pathLst>
            </a:custGeom>
            <a:solidFill>
              <a:srgbClr val="FFFFFF"/>
            </a:solid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AU" sz="1800" b="0" i="0" u="none" strike="noStrike" kern="1200" cap="none" spc="0" normalizeH="0" baseline="0" noProof="0">
                <a:ln>
                  <a:noFill/>
                </a:ln>
                <a:solidFill>
                  <a:prstClr val="black"/>
                </a:solidFill>
                <a:effectLst/>
                <a:uLnTx/>
                <a:uFillTx/>
                <a:latin typeface="Calibri"/>
                <a:ea typeface="+mn-ea"/>
                <a:cs typeface="+mn-cs"/>
              </a:endParaRPr>
            </a:p>
          </p:txBody>
        </p:sp>
      </p:grpSp>
      <p:sp>
        <p:nvSpPr>
          <p:cNvPr id="5" name="TextBox 5">
            <a:extLst>
              <a:ext uri="{FF2B5EF4-FFF2-40B4-BE49-F238E27FC236}">
                <a16:creationId xmlns:a16="http://schemas.microsoft.com/office/drawing/2014/main" id="{53BF948F-0039-793F-28C2-A7F39FE93FC3}"/>
              </a:ext>
            </a:extLst>
          </p:cNvPr>
          <p:cNvSpPr txBox="1"/>
          <p:nvPr/>
        </p:nvSpPr>
        <p:spPr>
          <a:xfrm>
            <a:off x="392084" y="560536"/>
            <a:ext cx="11190316" cy="409471"/>
          </a:xfrm>
          <a:prstGeom prst="rect">
            <a:avLst/>
          </a:prstGeom>
        </p:spPr>
        <p:txBody>
          <a:bodyPr wrap="square" lIns="0" tIns="0" rIns="0" bIns="0" rtlCol="0" anchor="t">
            <a:spAutoFit/>
          </a:bodyPr>
          <a:lstStyle/>
          <a:p>
            <a:pPr marL="0" marR="0" lvl="0" indent="0" algn="l" defTabSz="914400" rtl="0" eaLnBrk="1" fontAlgn="auto" latinLnBrk="0" hangingPunct="1">
              <a:lnSpc>
                <a:spcPts val="3494"/>
              </a:lnSpc>
              <a:spcBef>
                <a:spcPts val="0"/>
              </a:spcBef>
              <a:spcAft>
                <a:spcPts val="0"/>
              </a:spcAft>
              <a:buClrTx/>
              <a:buSzTx/>
              <a:buFontTx/>
              <a:buNone/>
              <a:tabLst/>
              <a:defRPr/>
            </a:pPr>
            <a:r>
              <a:rPr kumimoji="0" lang="en-US" sz="2496" b="1" u="none" strike="noStrike" kern="1200" cap="none" spc="0" normalizeH="0" baseline="0" noProof="0" dirty="0">
                <a:ln>
                  <a:noFill/>
                </a:ln>
                <a:solidFill>
                  <a:srgbClr val="FFFFFF"/>
                </a:solidFill>
                <a:effectLst/>
                <a:uLnTx/>
                <a:uFillTx/>
                <a:latin typeface="Arial Bold"/>
                <a:ea typeface="Arial Bold"/>
                <a:cs typeface="Arial Bold"/>
                <a:sym typeface="Arial Bold"/>
              </a:rPr>
              <a:t>Subordinate Legislation – purposive powers</a:t>
            </a:r>
          </a:p>
        </p:txBody>
      </p:sp>
      <p:sp>
        <p:nvSpPr>
          <p:cNvPr id="9" name="TextBox 9">
            <a:extLst>
              <a:ext uri="{FF2B5EF4-FFF2-40B4-BE49-F238E27FC236}">
                <a16:creationId xmlns:a16="http://schemas.microsoft.com/office/drawing/2014/main" id="{ACA3974F-7C22-DDBD-5B0E-D956379408EA}"/>
              </a:ext>
            </a:extLst>
          </p:cNvPr>
          <p:cNvSpPr txBox="1"/>
          <p:nvPr/>
        </p:nvSpPr>
        <p:spPr>
          <a:xfrm>
            <a:off x="392084" y="1295400"/>
            <a:ext cx="9285316" cy="3870611"/>
          </a:xfrm>
          <a:prstGeom prst="rect">
            <a:avLst/>
          </a:prstGeom>
        </p:spPr>
        <p:txBody>
          <a:bodyPr wrap="square" lIns="0" tIns="0" rIns="0" bIns="0" rtlCol="0" anchor="t">
            <a:spAutoFit/>
          </a:bodyPr>
          <a:lstStyle/>
          <a:p>
            <a:pPr marL="285750" marR="0" lvl="0" indent="-285750" algn="l" defTabSz="914400" rtl="0" eaLnBrk="1" fontAlgn="auto" latinLnBrk="0" hangingPunct="1">
              <a:lnSpc>
                <a:spcPct val="100000"/>
              </a:lnSpc>
              <a:spcBef>
                <a:spcPts val="0"/>
              </a:spcBef>
              <a:spcAft>
                <a:spcPts val="1200"/>
              </a:spcAft>
              <a:buClrTx/>
              <a:buSzTx/>
              <a:buFont typeface="Arial" panose="020B0604020202020204" pitchFamily="34" charset="0"/>
              <a:buChar char="•"/>
              <a:tabLst/>
              <a:defRPr/>
            </a:pPr>
            <a:r>
              <a:rPr kumimoji="0" lang="en-US" sz="1627" b="0" i="1" u="none" strike="noStrike" kern="1200" cap="none" spc="0" normalizeH="0" baseline="0" noProof="0" dirty="0">
                <a:ln>
                  <a:noFill/>
                </a:ln>
                <a:solidFill>
                  <a:srgbClr val="FFFFFF"/>
                </a:solidFill>
                <a:effectLst/>
                <a:uLnTx/>
                <a:uFillTx/>
                <a:latin typeface="Arial" panose="020B0604020202020204" pitchFamily="34" charset="0"/>
                <a:ea typeface="Arial Bold"/>
                <a:cs typeface="Arial" panose="020B0604020202020204" pitchFamily="34" charset="0"/>
                <a:sym typeface="Arial Bold"/>
              </a:rPr>
              <a:t>Vanstone v Clark </a:t>
            </a:r>
            <a:r>
              <a:rPr kumimoji="0" lang="en-US" sz="1627" b="0" i="0" u="none" strike="noStrike" kern="1200" cap="none" spc="0" normalizeH="0" baseline="0" noProof="0" dirty="0">
                <a:ln>
                  <a:noFill/>
                </a:ln>
                <a:solidFill>
                  <a:srgbClr val="FFFFFF"/>
                </a:solidFill>
                <a:effectLst/>
                <a:uLnTx/>
                <a:uFillTx/>
                <a:latin typeface="Arial" panose="020B0604020202020204" pitchFamily="34" charset="0"/>
                <a:ea typeface="Arial Bold"/>
                <a:cs typeface="Arial" panose="020B0604020202020204" pitchFamily="34" charset="0"/>
                <a:sym typeface="Arial Bold"/>
              </a:rPr>
              <a:t>(2005) 147 FCR 299</a:t>
            </a:r>
          </a:p>
          <a:p>
            <a:pPr marL="285750" marR="0" lvl="0" indent="-285750" algn="l" defTabSz="914400" rtl="0" eaLnBrk="1" fontAlgn="auto" latinLnBrk="0" hangingPunct="1">
              <a:lnSpc>
                <a:spcPct val="100000"/>
              </a:lnSpc>
              <a:spcBef>
                <a:spcPts val="0"/>
              </a:spcBef>
              <a:spcAft>
                <a:spcPts val="1200"/>
              </a:spcAft>
              <a:buClrTx/>
              <a:buSzTx/>
              <a:buFont typeface="Arial" panose="020B0604020202020204" pitchFamily="34" charset="0"/>
              <a:buChar char="•"/>
              <a:tabLst/>
              <a:defRPr/>
            </a:pPr>
            <a:r>
              <a:rPr kumimoji="0" lang="en-US" sz="1627" b="0" i="0" u="none" strike="noStrike" kern="1200" cap="none" spc="0" normalizeH="0" baseline="0" noProof="0" dirty="0">
                <a:ln>
                  <a:noFill/>
                </a:ln>
                <a:solidFill>
                  <a:srgbClr val="FFFFFF"/>
                </a:solidFill>
                <a:effectLst/>
                <a:uLnTx/>
                <a:uFillTx/>
                <a:latin typeface="Arial" panose="020B0604020202020204" pitchFamily="34" charset="0"/>
                <a:ea typeface="Arial Bold"/>
                <a:cs typeface="Arial" panose="020B0604020202020204" pitchFamily="34" charset="0"/>
                <a:sym typeface="Arial Bold"/>
              </a:rPr>
              <a:t>ATSIC Act 1989 (</a:t>
            </a:r>
            <a:r>
              <a:rPr kumimoji="0" lang="en-US" sz="1627" b="0" i="0" u="none" strike="noStrike" kern="1200" cap="none" spc="0" normalizeH="0" baseline="0" noProof="0" dirty="0" err="1">
                <a:ln>
                  <a:noFill/>
                </a:ln>
                <a:solidFill>
                  <a:srgbClr val="FFFFFF"/>
                </a:solidFill>
                <a:effectLst/>
                <a:uLnTx/>
                <a:uFillTx/>
                <a:latin typeface="Arial" panose="020B0604020202020204" pitchFamily="34" charset="0"/>
                <a:ea typeface="Arial Bold"/>
                <a:cs typeface="Arial" panose="020B0604020202020204" pitchFamily="34" charset="0"/>
                <a:sym typeface="Arial Bold"/>
              </a:rPr>
              <a:t>Cth</a:t>
            </a:r>
            <a:r>
              <a:rPr kumimoji="0" lang="en-US" sz="1627" b="0" i="0" u="none" strike="noStrike" kern="1200" cap="none" spc="0" normalizeH="0" baseline="0" noProof="0" dirty="0">
                <a:ln>
                  <a:noFill/>
                </a:ln>
                <a:solidFill>
                  <a:srgbClr val="FFFFFF"/>
                </a:solidFill>
                <a:effectLst/>
                <a:uLnTx/>
                <a:uFillTx/>
                <a:latin typeface="Arial" panose="020B0604020202020204" pitchFamily="34" charset="0"/>
                <a:ea typeface="Arial Bold"/>
                <a:cs typeface="Arial" panose="020B0604020202020204" pitchFamily="34" charset="0"/>
                <a:sym typeface="Arial Bold"/>
              </a:rPr>
              <a:t>) provided that Minister could suspend a Commissioner for ‘</a:t>
            </a:r>
            <a:r>
              <a:rPr kumimoji="0" lang="en-US" sz="1627" b="0" i="0" u="none" strike="noStrike" kern="1200" cap="none" spc="0" normalizeH="0" baseline="0" noProof="0" dirty="0" err="1">
                <a:ln>
                  <a:noFill/>
                </a:ln>
                <a:solidFill>
                  <a:srgbClr val="FFFFFF"/>
                </a:solidFill>
                <a:effectLst/>
                <a:uLnTx/>
                <a:uFillTx/>
                <a:latin typeface="Arial" panose="020B0604020202020204" pitchFamily="34" charset="0"/>
                <a:ea typeface="Arial Bold"/>
                <a:cs typeface="Arial" panose="020B0604020202020204" pitchFamily="34" charset="0"/>
                <a:sym typeface="Arial Bold"/>
              </a:rPr>
              <a:t>misbehaviour</a:t>
            </a:r>
            <a:r>
              <a:rPr kumimoji="0" lang="en-US" sz="1627" b="0" i="0" u="none" strike="noStrike" kern="1200" cap="none" spc="0" normalizeH="0" baseline="0" noProof="0" dirty="0">
                <a:ln>
                  <a:noFill/>
                </a:ln>
                <a:solidFill>
                  <a:srgbClr val="FFFFFF"/>
                </a:solidFill>
                <a:effectLst/>
                <a:uLnTx/>
                <a:uFillTx/>
                <a:latin typeface="Arial" panose="020B0604020202020204" pitchFamily="34" charset="0"/>
                <a:ea typeface="Arial Bold"/>
                <a:cs typeface="Arial" panose="020B0604020202020204" pitchFamily="34" charset="0"/>
                <a:sym typeface="Arial Bold"/>
              </a:rPr>
              <a:t>’ after making a determination under s4A. Vanstone made ATSIC (</a:t>
            </a:r>
            <a:r>
              <a:rPr kumimoji="0" lang="en-US" sz="1627" b="0" i="0" u="none" strike="noStrike" kern="1200" cap="none" spc="0" normalizeH="0" baseline="0" noProof="0" dirty="0" err="1">
                <a:ln>
                  <a:noFill/>
                </a:ln>
                <a:solidFill>
                  <a:srgbClr val="FFFFFF"/>
                </a:solidFill>
                <a:effectLst/>
                <a:uLnTx/>
                <a:uFillTx/>
                <a:latin typeface="Arial" panose="020B0604020202020204" pitchFamily="34" charset="0"/>
                <a:ea typeface="Arial Bold"/>
                <a:cs typeface="Arial" panose="020B0604020202020204" pitchFamily="34" charset="0"/>
                <a:sym typeface="Arial Bold"/>
              </a:rPr>
              <a:t>Misbehaviour</a:t>
            </a:r>
            <a:r>
              <a:rPr kumimoji="0" lang="en-US" sz="1627" b="0" i="0" u="none" strike="noStrike" kern="1200" cap="none" spc="0" normalizeH="0" baseline="0" noProof="0" dirty="0">
                <a:ln>
                  <a:noFill/>
                </a:ln>
                <a:solidFill>
                  <a:srgbClr val="FFFFFF"/>
                </a:solidFill>
                <a:effectLst/>
                <a:uLnTx/>
                <a:uFillTx/>
                <a:latin typeface="Arial" panose="020B0604020202020204" pitchFamily="34" charset="0"/>
                <a:ea typeface="Arial Bold"/>
                <a:cs typeface="Arial" panose="020B0604020202020204" pitchFamily="34" charset="0"/>
                <a:sym typeface="Arial Bold"/>
              </a:rPr>
              <a:t>) Determination 2002, specifying conduct including disruption of meetings, harassment, dishonesty, bribery, criminal conviction carrying term of imprisonment and more. </a:t>
            </a:r>
          </a:p>
          <a:p>
            <a:pPr marL="285750" marR="0" lvl="0" indent="-285750" algn="l" defTabSz="914400" rtl="0" eaLnBrk="1" fontAlgn="auto" latinLnBrk="0" hangingPunct="1">
              <a:lnSpc>
                <a:spcPct val="100000"/>
              </a:lnSpc>
              <a:spcBef>
                <a:spcPts val="0"/>
              </a:spcBef>
              <a:spcAft>
                <a:spcPts val="1200"/>
              </a:spcAft>
              <a:buClrTx/>
              <a:buSzTx/>
              <a:buFont typeface="Arial" panose="020B0604020202020204" pitchFamily="34" charset="0"/>
              <a:buChar char="•"/>
              <a:tabLst/>
              <a:defRPr/>
            </a:pPr>
            <a:r>
              <a:rPr kumimoji="0" lang="en-US" sz="1627" b="0" i="0" u="none" strike="noStrike" kern="1200" cap="none" spc="0" normalizeH="0" baseline="0" noProof="0" dirty="0">
                <a:ln>
                  <a:noFill/>
                </a:ln>
                <a:solidFill>
                  <a:srgbClr val="FFFFFF"/>
                </a:solidFill>
                <a:effectLst/>
                <a:uLnTx/>
                <a:uFillTx/>
                <a:latin typeface="Arial" panose="020B0604020202020204" pitchFamily="34" charset="0"/>
                <a:ea typeface="Arial Bold"/>
                <a:cs typeface="Arial" panose="020B0604020202020204" pitchFamily="34" charset="0"/>
                <a:sym typeface="Arial Bold"/>
              </a:rPr>
              <a:t>Geoff Clark, the Commissioner in question who had been convicted of obstructing police, challenged his suspension. HCA said Minister failed to take into account a relevant consideration (</a:t>
            </a:r>
            <a:r>
              <a:rPr kumimoji="0" lang="en-US" sz="1627" b="0" i="0" u="none" strike="noStrike" kern="1200" cap="none" spc="0" normalizeH="0" baseline="0" noProof="0" dirty="0" err="1">
                <a:ln>
                  <a:noFill/>
                </a:ln>
                <a:solidFill>
                  <a:srgbClr val="FFFFFF"/>
                </a:solidFill>
                <a:effectLst/>
                <a:uLnTx/>
                <a:uFillTx/>
                <a:latin typeface="Arial" panose="020B0604020202020204" pitchFamily="34" charset="0"/>
                <a:ea typeface="Arial Bold"/>
                <a:cs typeface="Arial" panose="020B0604020202020204" pitchFamily="34" charset="0"/>
                <a:sym typeface="Arial Bold"/>
              </a:rPr>
              <a:t>ie</a:t>
            </a:r>
            <a:r>
              <a:rPr kumimoji="0" lang="en-US" sz="1627" b="0" i="0" u="none" strike="noStrike" kern="1200" cap="none" spc="0" normalizeH="0" baseline="0" noProof="0" dirty="0">
                <a:ln>
                  <a:noFill/>
                </a:ln>
                <a:solidFill>
                  <a:srgbClr val="FFFFFF"/>
                </a:solidFill>
                <a:effectLst/>
                <a:uLnTx/>
                <a:uFillTx/>
                <a:latin typeface="Arial" panose="020B0604020202020204" pitchFamily="34" charset="0"/>
                <a:ea typeface="Arial Bold"/>
                <a:cs typeface="Arial" panose="020B0604020202020204" pitchFamily="34" charset="0"/>
                <a:sym typeface="Arial Bold"/>
              </a:rPr>
              <a:t> that in some jurisdictions’ offences carrying terms of imprisonment were relatively trivial </a:t>
            </a:r>
            <a:r>
              <a:rPr kumimoji="0" lang="en-US" sz="1627" b="0" i="0" u="none" strike="noStrike" kern="1200" cap="none" spc="0" normalizeH="0" baseline="0" noProof="0" dirty="0" err="1">
                <a:ln>
                  <a:noFill/>
                </a:ln>
                <a:solidFill>
                  <a:srgbClr val="FFFFFF"/>
                </a:solidFill>
                <a:effectLst/>
                <a:uLnTx/>
                <a:uFillTx/>
                <a:latin typeface="Arial" panose="020B0604020202020204" pitchFamily="34" charset="0"/>
                <a:ea typeface="Arial Bold"/>
                <a:cs typeface="Arial" panose="020B0604020202020204" pitchFamily="34" charset="0"/>
                <a:sym typeface="Arial Bold"/>
              </a:rPr>
              <a:t>eg</a:t>
            </a:r>
            <a:r>
              <a:rPr kumimoji="0" lang="en-US" sz="1627" b="0" i="0" u="none" strike="noStrike" kern="1200" cap="none" spc="0" normalizeH="0" baseline="0" noProof="0" dirty="0">
                <a:ln>
                  <a:noFill/>
                </a:ln>
                <a:solidFill>
                  <a:srgbClr val="FFFFFF"/>
                </a:solidFill>
                <a:effectLst/>
                <a:uLnTx/>
                <a:uFillTx/>
                <a:latin typeface="Arial" panose="020B0604020202020204" pitchFamily="34" charset="0"/>
                <a:ea typeface="Arial Bold"/>
                <a:cs typeface="Arial" panose="020B0604020202020204" pitchFamily="34" charset="0"/>
                <a:sym typeface="Arial Bold"/>
              </a:rPr>
              <a:t> intoxication, offensive language offences), rendering the Determination disproportionate. Might have been OK if it had specified actual </a:t>
            </a:r>
            <a:r>
              <a:rPr kumimoji="0" lang="en-US" sz="1627" b="0" i="0" u="none" strike="noStrike" kern="1200" cap="none" spc="0" normalizeH="0" baseline="0" noProof="0" dirty="0" err="1">
                <a:ln>
                  <a:noFill/>
                </a:ln>
                <a:solidFill>
                  <a:srgbClr val="FFFFFF"/>
                </a:solidFill>
                <a:effectLst/>
                <a:uLnTx/>
                <a:uFillTx/>
                <a:latin typeface="Arial" panose="020B0604020202020204" pitchFamily="34" charset="0"/>
                <a:ea typeface="Arial Bold"/>
                <a:cs typeface="Arial" panose="020B0604020202020204" pitchFamily="34" charset="0"/>
                <a:sym typeface="Arial Bold"/>
              </a:rPr>
              <a:t>behaviour</a:t>
            </a:r>
            <a:r>
              <a:rPr kumimoji="0" lang="en-US" sz="1627" b="0" i="0" u="none" strike="noStrike" kern="1200" cap="none" spc="0" normalizeH="0" baseline="0" noProof="0" dirty="0">
                <a:ln>
                  <a:noFill/>
                </a:ln>
                <a:solidFill>
                  <a:srgbClr val="FFFFFF"/>
                </a:solidFill>
                <a:effectLst/>
                <a:uLnTx/>
                <a:uFillTx/>
                <a:latin typeface="Arial" panose="020B0604020202020204" pitchFamily="34" charset="0"/>
                <a:ea typeface="Arial Bold"/>
                <a:cs typeface="Arial" panose="020B0604020202020204" pitchFamily="34" charset="0"/>
                <a:sym typeface="Arial Bold"/>
              </a:rPr>
              <a:t>.</a:t>
            </a:r>
          </a:p>
          <a:p>
            <a:pPr marL="285750" marR="0" lvl="0" indent="-285750" algn="l" defTabSz="914400" rtl="0" eaLnBrk="1" fontAlgn="auto" latinLnBrk="0" hangingPunct="1">
              <a:lnSpc>
                <a:spcPct val="100000"/>
              </a:lnSpc>
              <a:spcBef>
                <a:spcPts val="0"/>
              </a:spcBef>
              <a:spcAft>
                <a:spcPts val="1200"/>
              </a:spcAft>
              <a:buClrTx/>
              <a:buSzTx/>
              <a:buFont typeface="Arial" panose="020B0604020202020204" pitchFamily="34" charset="0"/>
              <a:buChar char="•"/>
              <a:tabLst/>
              <a:defRPr/>
            </a:pPr>
            <a:r>
              <a:rPr kumimoji="0" lang="en-US" sz="1627" b="0" i="0" u="none" strike="noStrike" kern="1200" cap="none" spc="0" normalizeH="0" baseline="0" noProof="0" dirty="0">
                <a:ln>
                  <a:noFill/>
                </a:ln>
                <a:solidFill>
                  <a:srgbClr val="FFFFFF"/>
                </a:solidFill>
                <a:effectLst/>
                <a:uLnTx/>
                <a:uFillTx/>
                <a:latin typeface="Arial" panose="020B0604020202020204" pitchFamily="34" charset="0"/>
                <a:ea typeface="Arial Bold"/>
                <a:cs typeface="Arial" panose="020B0604020202020204" pitchFamily="34" charset="0"/>
                <a:sym typeface="Arial Bold"/>
              </a:rPr>
              <a:t>NB lack of ‘reasonable proportionality’ potentially easier to establish than </a:t>
            </a:r>
            <a:r>
              <a:rPr kumimoji="0" lang="en-US" sz="1627" b="0" i="0" u="none" strike="noStrike" kern="1200" cap="none" spc="0" normalizeH="0" baseline="0" noProof="0" dirty="0" err="1">
                <a:ln>
                  <a:noFill/>
                </a:ln>
                <a:solidFill>
                  <a:srgbClr val="FFFFFF"/>
                </a:solidFill>
                <a:effectLst/>
                <a:uLnTx/>
                <a:uFillTx/>
                <a:latin typeface="Arial" panose="020B0604020202020204" pitchFamily="34" charset="0"/>
                <a:ea typeface="Arial Bold"/>
                <a:cs typeface="Arial" panose="020B0604020202020204" pitchFamily="34" charset="0"/>
                <a:sym typeface="Arial Bold"/>
              </a:rPr>
              <a:t>Wednesbury</a:t>
            </a:r>
            <a:r>
              <a:rPr kumimoji="0" lang="en-US" sz="1627" b="0" i="0" u="none" strike="noStrike" kern="1200" cap="none" spc="0" normalizeH="0" baseline="0" noProof="0" dirty="0">
                <a:ln>
                  <a:noFill/>
                </a:ln>
                <a:solidFill>
                  <a:srgbClr val="FFFFFF"/>
                </a:solidFill>
                <a:effectLst/>
                <a:uLnTx/>
                <a:uFillTx/>
                <a:latin typeface="Arial" panose="020B0604020202020204" pitchFamily="34" charset="0"/>
                <a:ea typeface="Arial Bold"/>
                <a:cs typeface="Arial" panose="020B0604020202020204" pitchFamily="34" charset="0"/>
                <a:sym typeface="Arial Bold"/>
              </a:rPr>
              <a:t> unreasonableness, but still a very high bar and only applies to purposive legislation. </a:t>
            </a:r>
          </a:p>
          <a:p>
            <a:pPr marL="285750" marR="0" lvl="0" indent="-285750" algn="l" defTabSz="914400" rtl="0" eaLnBrk="1" fontAlgn="auto" latinLnBrk="0" hangingPunct="1">
              <a:lnSpc>
                <a:spcPct val="100000"/>
              </a:lnSpc>
              <a:spcBef>
                <a:spcPts val="0"/>
              </a:spcBef>
              <a:spcAft>
                <a:spcPts val="1200"/>
              </a:spcAft>
              <a:buClrTx/>
              <a:buSzTx/>
              <a:buFont typeface="Arial" panose="020B0604020202020204" pitchFamily="34" charset="0"/>
              <a:buChar char="•"/>
              <a:tabLst/>
              <a:defRPr/>
            </a:pPr>
            <a:r>
              <a:rPr kumimoji="0" lang="en-US" sz="1627" b="0" i="0" u="none" strike="noStrike" kern="1200" cap="none" spc="0" normalizeH="0" baseline="0" noProof="0" dirty="0">
                <a:ln>
                  <a:noFill/>
                </a:ln>
                <a:solidFill>
                  <a:srgbClr val="FFFFFF"/>
                </a:solidFill>
                <a:effectLst/>
                <a:uLnTx/>
                <a:uFillTx/>
                <a:latin typeface="Arial" panose="020B0604020202020204" pitchFamily="34" charset="0"/>
                <a:ea typeface="Arial Bold"/>
                <a:cs typeface="Arial" panose="020B0604020202020204" pitchFamily="34" charset="0"/>
                <a:sym typeface="Arial Bold"/>
              </a:rPr>
              <a:t>In Australia  - irrationality test   </a:t>
            </a:r>
          </a:p>
        </p:txBody>
      </p:sp>
      <p:sp>
        <p:nvSpPr>
          <p:cNvPr id="10" name="TextBox 10">
            <a:extLst>
              <a:ext uri="{FF2B5EF4-FFF2-40B4-BE49-F238E27FC236}">
                <a16:creationId xmlns:a16="http://schemas.microsoft.com/office/drawing/2014/main" id="{3E2C47DF-3DC9-7581-E6EF-734AB231A54B}"/>
              </a:ext>
            </a:extLst>
          </p:cNvPr>
          <p:cNvSpPr txBox="1"/>
          <p:nvPr/>
        </p:nvSpPr>
        <p:spPr>
          <a:xfrm>
            <a:off x="10195446" y="6347803"/>
            <a:ext cx="1773879" cy="193258"/>
          </a:xfrm>
          <a:prstGeom prst="rect">
            <a:avLst/>
          </a:prstGeom>
        </p:spPr>
        <p:txBody>
          <a:bodyPr lIns="0" tIns="0" rIns="0" bIns="0" rtlCol="0" anchor="t">
            <a:spAutoFit/>
          </a:bodyPr>
          <a:lstStyle/>
          <a:p>
            <a:pPr marL="0" marR="0" lvl="0" indent="0" algn="l" defTabSz="914400" rtl="0" eaLnBrk="1" fontAlgn="auto" latinLnBrk="0" hangingPunct="1">
              <a:lnSpc>
                <a:spcPts val="1422"/>
              </a:lnSpc>
              <a:spcBef>
                <a:spcPts val="0"/>
              </a:spcBef>
              <a:spcAft>
                <a:spcPts val="0"/>
              </a:spcAft>
              <a:buClrTx/>
              <a:buSzTx/>
              <a:buFontTx/>
              <a:buNone/>
              <a:tabLst/>
              <a:defRPr/>
            </a:pPr>
            <a:r>
              <a:rPr kumimoji="0" lang="en-US" sz="1016" b="0" i="0" u="none" strike="noStrike" kern="1200" cap="none" spc="0" normalizeH="0" baseline="0" noProof="0">
                <a:ln>
                  <a:noFill/>
                </a:ln>
                <a:solidFill>
                  <a:srgbClr val="FFFFFF"/>
                </a:solidFill>
                <a:effectLst/>
                <a:uLnTx/>
                <a:uFillTx/>
                <a:latin typeface="Arial"/>
                <a:ea typeface="Arial"/>
                <a:cs typeface="Arial"/>
                <a:sym typeface="Arial"/>
              </a:rPr>
              <a:t>Administrative Law –LAW1023</a:t>
            </a:r>
          </a:p>
        </p:txBody>
      </p:sp>
      <p:pic>
        <p:nvPicPr>
          <p:cNvPr id="4" name="Picture 2" descr="Image result for vanstone">
            <a:extLst>
              <a:ext uri="{FF2B5EF4-FFF2-40B4-BE49-F238E27FC236}">
                <a16:creationId xmlns:a16="http://schemas.microsoft.com/office/drawing/2014/main" id="{44207BDD-92E8-6AED-D176-2F025100377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884440" y="4769070"/>
            <a:ext cx="2063549" cy="1415007"/>
          </a:xfrm>
          <a:prstGeom prst="rect">
            <a:avLst/>
          </a:prstGeom>
          <a:noFill/>
          <a:extLst>
            <a:ext uri="{909E8E84-426E-40DD-AFC4-6F175D3DCCD1}">
              <a14:hiddenFill xmlns:a14="http://schemas.microsoft.com/office/drawing/2010/main">
                <a:solidFill>
                  <a:srgbClr val="FFFFFF"/>
                </a:solidFill>
              </a14:hiddenFill>
            </a:ext>
          </a:extLst>
        </p:spPr>
      </p:pic>
      <p:pic>
        <p:nvPicPr>
          <p:cNvPr id="6" name="Picture 4" descr="Image result for clark atsic">
            <a:extLst>
              <a:ext uri="{FF2B5EF4-FFF2-40B4-BE49-F238E27FC236}">
                <a16:creationId xmlns:a16="http://schemas.microsoft.com/office/drawing/2014/main" id="{24C073F8-2EA0-8369-D730-C40323B12764}"/>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9797573" y="3399623"/>
            <a:ext cx="2159560" cy="1215940"/>
          </a:xfrm>
          <a:prstGeom prst="rect">
            <a:avLst/>
          </a:prstGeom>
          <a:noFill/>
          <a:extLst>
            <a:ext uri="{909E8E84-426E-40DD-AFC4-6F175D3DCCD1}">
              <a14:hiddenFill xmlns:a14="http://schemas.microsoft.com/office/drawing/2010/main">
                <a:solidFill>
                  <a:srgbClr val="FFFFFF"/>
                </a:solidFill>
              </a14:hiddenFill>
            </a:ext>
          </a:extLst>
        </p:spPr>
      </p:pic>
      <p:pic>
        <p:nvPicPr>
          <p:cNvPr id="7" name="Picture 2" descr="Image result for clark atsic">
            <a:extLst>
              <a:ext uri="{FF2B5EF4-FFF2-40B4-BE49-F238E27FC236}">
                <a16:creationId xmlns:a16="http://schemas.microsoft.com/office/drawing/2014/main" id="{E3719571-41F6-D826-A72F-770ED851B2BF}"/>
              </a:ext>
            </a:extLst>
          </p:cNvPr>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10287000" y="777617"/>
            <a:ext cx="1967540" cy="177953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052790391"/>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rgbClr val="000054"/>
        </a:solidFill>
        <a:effectLst/>
      </p:bgPr>
    </p:bg>
    <p:spTree>
      <p:nvGrpSpPr>
        <p:cNvPr id="1" name="">
          <a:extLst>
            <a:ext uri="{FF2B5EF4-FFF2-40B4-BE49-F238E27FC236}">
              <a16:creationId xmlns:a16="http://schemas.microsoft.com/office/drawing/2014/main" id="{9B4A4A33-7593-3928-6FD4-8995FC168342}"/>
            </a:ext>
          </a:extLst>
        </p:cNvPr>
        <p:cNvGrpSpPr/>
        <p:nvPr/>
      </p:nvGrpSpPr>
      <p:grpSpPr>
        <a:xfrm>
          <a:off x="0" y="0"/>
          <a:ext cx="0" cy="0"/>
          <a:chOff x="0" y="0"/>
          <a:chExt cx="0" cy="0"/>
        </a:xfrm>
      </p:grpSpPr>
      <p:grpSp>
        <p:nvGrpSpPr>
          <p:cNvPr id="2" name="Group 2">
            <a:extLst>
              <a:ext uri="{FF2B5EF4-FFF2-40B4-BE49-F238E27FC236}">
                <a16:creationId xmlns:a16="http://schemas.microsoft.com/office/drawing/2014/main" id="{79ADF7B2-88F7-801C-C04A-7F50684614D6}"/>
              </a:ext>
            </a:extLst>
          </p:cNvPr>
          <p:cNvGrpSpPr/>
          <p:nvPr/>
        </p:nvGrpSpPr>
        <p:grpSpPr>
          <a:xfrm rot="-10800000">
            <a:off x="11045567" y="-12700"/>
            <a:ext cx="1146433" cy="1146433"/>
            <a:chOff x="0" y="0"/>
            <a:chExt cx="1630482" cy="1630482"/>
          </a:xfrm>
        </p:grpSpPr>
        <p:sp>
          <p:nvSpPr>
            <p:cNvPr id="3" name="Freeform 3">
              <a:extLst>
                <a:ext uri="{FF2B5EF4-FFF2-40B4-BE49-F238E27FC236}">
                  <a16:creationId xmlns:a16="http://schemas.microsoft.com/office/drawing/2014/main" id="{2FF351B3-4400-80D0-D261-3A704029A309}"/>
                </a:ext>
              </a:extLst>
            </p:cNvPr>
            <p:cNvSpPr/>
            <p:nvPr/>
          </p:nvSpPr>
          <p:spPr>
            <a:xfrm>
              <a:off x="0" y="0"/>
              <a:ext cx="1630426" cy="1630426"/>
            </a:xfrm>
            <a:custGeom>
              <a:avLst/>
              <a:gdLst/>
              <a:ahLst/>
              <a:cxnLst/>
              <a:rect l="l" t="t" r="r" b="b"/>
              <a:pathLst>
                <a:path w="1630426" h="1630426">
                  <a:moveTo>
                    <a:pt x="0" y="0"/>
                  </a:moveTo>
                  <a:lnTo>
                    <a:pt x="543433" y="0"/>
                  </a:lnTo>
                  <a:lnTo>
                    <a:pt x="543433" y="543433"/>
                  </a:lnTo>
                  <a:lnTo>
                    <a:pt x="1086993" y="543433"/>
                  </a:lnTo>
                  <a:lnTo>
                    <a:pt x="1086993" y="1086993"/>
                  </a:lnTo>
                  <a:lnTo>
                    <a:pt x="1630426" y="1086993"/>
                  </a:lnTo>
                  <a:lnTo>
                    <a:pt x="1630426" y="1630426"/>
                  </a:lnTo>
                  <a:lnTo>
                    <a:pt x="0" y="1630426"/>
                  </a:lnTo>
                  <a:lnTo>
                    <a:pt x="0" y="1086993"/>
                  </a:lnTo>
                  <a:lnTo>
                    <a:pt x="0" y="543433"/>
                  </a:lnTo>
                  <a:close/>
                </a:path>
              </a:pathLst>
            </a:custGeom>
            <a:solidFill>
              <a:srgbClr val="FFFFFF"/>
            </a:solid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AU" sz="1800" b="0" i="0" u="none" strike="noStrike" kern="1200" cap="none" spc="0" normalizeH="0" baseline="0" noProof="0">
                <a:ln>
                  <a:noFill/>
                </a:ln>
                <a:solidFill>
                  <a:prstClr val="black"/>
                </a:solidFill>
                <a:effectLst/>
                <a:uLnTx/>
                <a:uFillTx/>
                <a:latin typeface="Calibri"/>
                <a:ea typeface="+mn-ea"/>
                <a:cs typeface="+mn-cs"/>
              </a:endParaRPr>
            </a:p>
          </p:txBody>
        </p:sp>
      </p:grpSp>
      <p:sp>
        <p:nvSpPr>
          <p:cNvPr id="5" name="TextBox 5">
            <a:extLst>
              <a:ext uri="{FF2B5EF4-FFF2-40B4-BE49-F238E27FC236}">
                <a16:creationId xmlns:a16="http://schemas.microsoft.com/office/drawing/2014/main" id="{E50F3A78-B9DC-C993-18D4-014BF708A300}"/>
              </a:ext>
            </a:extLst>
          </p:cNvPr>
          <p:cNvSpPr txBox="1"/>
          <p:nvPr/>
        </p:nvSpPr>
        <p:spPr>
          <a:xfrm>
            <a:off x="392084" y="560536"/>
            <a:ext cx="11190316" cy="409471"/>
          </a:xfrm>
          <a:prstGeom prst="rect">
            <a:avLst/>
          </a:prstGeom>
        </p:spPr>
        <p:txBody>
          <a:bodyPr wrap="square" lIns="0" tIns="0" rIns="0" bIns="0" rtlCol="0" anchor="t">
            <a:spAutoFit/>
          </a:bodyPr>
          <a:lstStyle/>
          <a:p>
            <a:pPr marL="0" marR="0" lvl="0" indent="0" algn="l" defTabSz="914400" rtl="0" eaLnBrk="1" fontAlgn="auto" latinLnBrk="0" hangingPunct="1">
              <a:lnSpc>
                <a:spcPts val="3494"/>
              </a:lnSpc>
              <a:spcBef>
                <a:spcPts val="0"/>
              </a:spcBef>
              <a:spcAft>
                <a:spcPts val="0"/>
              </a:spcAft>
              <a:buClrTx/>
              <a:buSzTx/>
              <a:buFontTx/>
              <a:buNone/>
              <a:tabLst/>
              <a:defRPr/>
            </a:pPr>
            <a:r>
              <a:rPr kumimoji="0" lang="en-US" sz="2496" b="1" u="none" strike="noStrike" kern="1200" cap="none" spc="0" normalizeH="0" baseline="0" noProof="0" dirty="0">
                <a:ln>
                  <a:noFill/>
                </a:ln>
                <a:solidFill>
                  <a:srgbClr val="FFFFFF"/>
                </a:solidFill>
                <a:effectLst/>
                <a:uLnTx/>
                <a:uFillTx/>
                <a:latin typeface="Arial Bold"/>
                <a:ea typeface="Arial Bold"/>
                <a:cs typeface="Arial Bold"/>
                <a:sym typeface="Arial Bold"/>
              </a:rPr>
              <a:t>Acting Beyond Power – Subordinate Legislation continued</a:t>
            </a:r>
          </a:p>
        </p:txBody>
      </p:sp>
      <p:sp>
        <p:nvSpPr>
          <p:cNvPr id="9" name="TextBox 9">
            <a:extLst>
              <a:ext uri="{FF2B5EF4-FFF2-40B4-BE49-F238E27FC236}">
                <a16:creationId xmlns:a16="http://schemas.microsoft.com/office/drawing/2014/main" id="{1705528B-29A1-C418-FC73-6267879EE5FE}"/>
              </a:ext>
            </a:extLst>
          </p:cNvPr>
          <p:cNvSpPr txBox="1"/>
          <p:nvPr/>
        </p:nvSpPr>
        <p:spPr>
          <a:xfrm>
            <a:off x="392084" y="1295400"/>
            <a:ext cx="6618316" cy="2965555"/>
          </a:xfrm>
          <a:prstGeom prst="rect">
            <a:avLst/>
          </a:prstGeom>
        </p:spPr>
        <p:txBody>
          <a:bodyPr wrap="square" lIns="0" tIns="0" rIns="0" bIns="0" rtlCol="0" anchor="t">
            <a:spAutoFit/>
          </a:bodyPr>
          <a:lstStyle/>
          <a:p>
            <a:pPr marL="285750" marR="0" lvl="0" indent="-285750" algn="l" defTabSz="914400" rtl="0" eaLnBrk="1" fontAlgn="auto" latinLnBrk="0" hangingPunct="1">
              <a:lnSpc>
                <a:spcPct val="100000"/>
              </a:lnSpc>
              <a:spcBef>
                <a:spcPts val="0"/>
              </a:spcBef>
              <a:spcAft>
                <a:spcPts val="1200"/>
              </a:spcAft>
              <a:buClrTx/>
              <a:buSzTx/>
              <a:buFont typeface="Arial" panose="020B0604020202020204" pitchFamily="34" charset="0"/>
              <a:buChar char="•"/>
              <a:tabLst/>
              <a:defRPr/>
            </a:pPr>
            <a:r>
              <a:rPr kumimoji="0" lang="en-US" sz="1627" b="0" i="1" u="none" strike="noStrike" kern="1200" cap="none" spc="0" normalizeH="0" baseline="0" noProof="0" dirty="0">
                <a:ln>
                  <a:noFill/>
                </a:ln>
                <a:solidFill>
                  <a:srgbClr val="FFFFFF"/>
                </a:solidFill>
                <a:effectLst/>
                <a:uLnTx/>
                <a:uFillTx/>
                <a:latin typeface="Arial" panose="020B0604020202020204" pitchFamily="34" charset="0"/>
                <a:ea typeface="Arial Bold"/>
                <a:cs typeface="Arial" panose="020B0604020202020204" pitchFamily="34" charset="0"/>
                <a:sym typeface="Arial Bold"/>
              </a:rPr>
              <a:t>Plaintiff M47/2012 v Director-General of Security </a:t>
            </a:r>
            <a:r>
              <a:rPr kumimoji="0" lang="en-US" sz="1627" b="0" i="0" u="none" strike="noStrike" kern="1200" cap="none" spc="0" normalizeH="0" baseline="0" noProof="0" dirty="0">
                <a:ln>
                  <a:noFill/>
                </a:ln>
                <a:solidFill>
                  <a:srgbClr val="FFFFFF"/>
                </a:solidFill>
                <a:effectLst/>
                <a:uLnTx/>
                <a:uFillTx/>
                <a:latin typeface="Arial" panose="020B0604020202020204" pitchFamily="34" charset="0"/>
                <a:ea typeface="Arial Bold"/>
                <a:cs typeface="Arial" panose="020B0604020202020204" pitchFamily="34" charset="0"/>
                <a:sym typeface="Arial Bold"/>
              </a:rPr>
              <a:t>(2012) 251 CLR 1</a:t>
            </a:r>
          </a:p>
          <a:p>
            <a:pPr marL="285750" marR="0" lvl="0" indent="-285750" algn="l" defTabSz="914400" rtl="0" eaLnBrk="1" fontAlgn="auto" latinLnBrk="0" hangingPunct="1">
              <a:lnSpc>
                <a:spcPct val="100000"/>
              </a:lnSpc>
              <a:spcBef>
                <a:spcPts val="0"/>
              </a:spcBef>
              <a:spcAft>
                <a:spcPts val="1200"/>
              </a:spcAft>
              <a:buClrTx/>
              <a:buSzTx/>
              <a:buFont typeface="Arial" panose="020B0604020202020204" pitchFamily="34" charset="0"/>
              <a:buChar char="•"/>
              <a:tabLst/>
              <a:defRPr/>
            </a:pPr>
            <a:r>
              <a:rPr kumimoji="0" lang="en-US" sz="1627" b="0" i="0" u="none" strike="noStrike" kern="1200" cap="none" spc="0" normalizeH="0" baseline="0" noProof="0" dirty="0">
                <a:ln>
                  <a:noFill/>
                </a:ln>
                <a:solidFill>
                  <a:srgbClr val="FFFFFF"/>
                </a:solidFill>
                <a:effectLst/>
                <a:uLnTx/>
                <a:uFillTx/>
                <a:latin typeface="Arial" panose="020B0604020202020204" pitchFamily="34" charset="0"/>
                <a:ea typeface="Arial Bold"/>
                <a:cs typeface="Arial" panose="020B0604020202020204" pitchFamily="34" charset="0"/>
                <a:sym typeface="Arial Bold"/>
              </a:rPr>
              <a:t>Plaintiff was confirmed as refugee by delegate of Minister, but refused permanent protection visa on basis of ‘Public Interest Criterion 4002’ (part of the Migration Regulations 1994) due to adverse ASIO assessment. </a:t>
            </a:r>
          </a:p>
          <a:p>
            <a:pPr marL="285750" marR="0" lvl="0" indent="-285750" algn="l" defTabSz="914400" rtl="0" eaLnBrk="1" fontAlgn="auto" latinLnBrk="0" hangingPunct="1">
              <a:lnSpc>
                <a:spcPct val="100000"/>
              </a:lnSpc>
              <a:spcBef>
                <a:spcPts val="0"/>
              </a:spcBef>
              <a:spcAft>
                <a:spcPts val="1200"/>
              </a:spcAft>
              <a:buClrTx/>
              <a:buSzTx/>
              <a:buFont typeface="Arial" panose="020B0604020202020204" pitchFamily="34" charset="0"/>
              <a:buChar char="•"/>
              <a:tabLst/>
              <a:defRPr/>
            </a:pPr>
            <a:r>
              <a:rPr kumimoji="0" lang="en-US" sz="1627" b="0" i="0" u="none" strike="noStrike" kern="1200" cap="none" spc="0" normalizeH="0" baseline="0" noProof="0" dirty="0">
                <a:ln>
                  <a:noFill/>
                </a:ln>
                <a:solidFill>
                  <a:srgbClr val="FFFFFF"/>
                </a:solidFill>
                <a:effectLst/>
                <a:uLnTx/>
                <a:uFillTx/>
                <a:latin typeface="Arial" panose="020B0604020202020204" pitchFamily="34" charset="0"/>
                <a:ea typeface="Arial Bold"/>
                <a:cs typeface="Arial" panose="020B0604020202020204" pitchFamily="34" charset="0"/>
                <a:sym typeface="Arial Bold"/>
              </a:rPr>
              <a:t>HCA held PIC4002 invalid because it denied merits review process under s 500 of the </a:t>
            </a:r>
            <a:r>
              <a:rPr kumimoji="0" lang="en-US" sz="1627" b="0" i="1" u="none" strike="noStrike" kern="1200" cap="none" spc="0" normalizeH="0" baseline="0" noProof="0" dirty="0">
                <a:ln>
                  <a:noFill/>
                </a:ln>
                <a:solidFill>
                  <a:srgbClr val="FFFFFF"/>
                </a:solidFill>
                <a:effectLst/>
                <a:uLnTx/>
                <a:uFillTx/>
                <a:latin typeface="Arial" panose="020B0604020202020204" pitchFamily="34" charset="0"/>
                <a:ea typeface="Arial Bold"/>
                <a:cs typeface="Arial" panose="020B0604020202020204" pitchFamily="34" charset="0"/>
                <a:sym typeface="Arial Bold"/>
              </a:rPr>
              <a:t>Migration Act 1958 (</a:t>
            </a:r>
            <a:r>
              <a:rPr kumimoji="0" lang="en-US" sz="1627" b="0" i="1" u="none" strike="noStrike" kern="1200" cap="none" spc="0" normalizeH="0" baseline="0" noProof="0" dirty="0" err="1">
                <a:ln>
                  <a:noFill/>
                </a:ln>
                <a:solidFill>
                  <a:srgbClr val="FFFFFF"/>
                </a:solidFill>
                <a:effectLst/>
                <a:uLnTx/>
                <a:uFillTx/>
                <a:latin typeface="Arial" panose="020B0604020202020204" pitchFamily="34" charset="0"/>
                <a:ea typeface="Arial Bold"/>
                <a:cs typeface="Arial" panose="020B0604020202020204" pitchFamily="34" charset="0"/>
                <a:sym typeface="Arial Bold"/>
              </a:rPr>
              <a:t>Cth</a:t>
            </a:r>
            <a:r>
              <a:rPr kumimoji="0" lang="en-US" sz="1627" b="0" i="1" u="none" strike="noStrike" kern="1200" cap="none" spc="0" normalizeH="0" baseline="0" noProof="0" dirty="0">
                <a:ln>
                  <a:noFill/>
                </a:ln>
                <a:solidFill>
                  <a:srgbClr val="FFFFFF"/>
                </a:solidFill>
                <a:effectLst/>
                <a:uLnTx/>
                <a:uFillTx/>
                <a:latin typeface="Arial" panose="020B0604020202020204" pitchFamily="34" charset="0"/>
                <a:ea typeface="Arial Bold"/>
                <a:cs typeface="Arial" panose="020B0604020202020204" pitchFamily="34" charset="0"/>
                <a:sym typeface="Arial Bold"/>
              </a:rPr>
              <a:t>) </a:t>
            </a:r>
            <a:r>
              <a:rPr kumimoji="0" lang="en-US" sz="1627" b="0" i="0" u="none" strike="noStrike" kern="1200" cap="none" spc="0" normalizeH="0" baseline="0" noProof="0" dirty="0">
                <a:ln>
                  <a:noFill/>
                </a:ln>
                <a:solidFill>
                  <a:srgbClr val="FFFFFF"/>
                </a:solidFill>
                <a:effectLst/>
                <a:uLnTx/>
                <a:uFillTx/>
                <a:latin typeface="Arial" panose="020B0604020202020204" pitchFamily="34" charset="0"/>
                <a:ea typeface="Arial Bold"/>
                <a:cs typeface="Arial" panose="020B0604020202020204" pitchFamily="34" charset="0"/>
                <a:sym typeface="Arial Bold"/>
              </a:rPr>
              <a:t>and effectively handed power to ASIO to make decision – the subordinate legislation was inconsistent with the Act.</a:t>
            </a:r>
          </a:p>
          <a:p>
            <a:pPr marR="0" lvl="0" algn="l" defTabSz="914400" rtl="0" eaLnBrk="1" fontAlgn="auto" latinLnBrk="0" hangingPunct="1">
              <a:lnSpc>
                <a:spcPct val="100000"/>
              </a:lnSpc>
              <a:spcBef>
                <a:spcPts val="0"/>
              </a:spcBef>
              <a:spcAft>
                <a:spcPts val="1200"/>
              </a:spcAft>
              <a:buClrTx/>
              <a:buSzTx/>
              <a:tabLst/>
              <a:defRPr/>
            </a:pPr>
            <a:endParaRPr kumimoji="0" lang="en-US" sz="1627" b="0" i="0" u="none" strike="noStrike" kern="1200" cap="none" spc="0" normalizeH="0" baseline="0" noProof="0" dirty="0">
              <a:ln>
                <a:noFill/>
              </a:ln>
              <a:solidFill>
                <a:srgbClr val="FFFFFF"/>
              </a:solidFill>
              <a:effectLst/>
              <a:uLnTx/>
              <a:uFillTx/>
              <a:latin typeface="Arial" panose="020B0604020202020204" pitchFamily="34" charset="0"/>
              <a:ea typeface="Arial Bold"/>
              <a:cs typeface="Arial" panose="020B0604020202020204" pitchFamily="34" charset="0"/>
              <a:sym typeface="Arial Bold"/>
            </a:endParaRPr>
          </a:p>
        </p:txBody>
      </p:sp>
      <p:sp>
        <p:nvSpPr>
          <p:cNvPr id="10" name="TextBox 10">
            <a:extLst>
              <a:ext uri="{FF2B5EF4-FFF2-40B4-BE49-F238E27FC236}">
                <a16:creationId xmlns:a16="http://schemas.microsoft.com/office/drawing/2014/main" id="{B2E082FA-EB8A-E2F7-64FF-130F5A0E0B49}"/>
              </a:ext>
            </a:extLst>
          </p:cNvPr>
          <p:cNvSpPr txBox="1"/>
          <p:nvPr/>
        </p:nvSpPr>
        <p:spPr>
          <a:xfrm>
            <a:off x="10195446" y="6347803"/>
            <a:ext cx="1773879" cy="193258"/>
          </a:xfrm>
          <a:prstGeom prst="rect">
            <a:avLst/>
          </a:prstGeom>
        </p:spPr>
        <p:txBody>
          <a:bodyPr lIns="0" tIns="0" rIns="0" bIns="0" rtlCol="0" anchor="t">
            <a:spAutoFit/>
          </a:bodyPr>
          <a:lstStyle/>
          <a:p>
            <a:pPr marL="0" marR="0" lvl="0" indent="0" algn="l" defTabSz="914400" rtl="0" eaLnBrk="1" fontAlgn="auto" latinLnBrk="0" hangingPunct="1">
              <a:lnSpc>
                <a:spcPts val="1422"/>
              </a:lnSpc>
              <a:spcBef>
                <a:spcPts val="0"/>
              </a:spcBef>
              <a:spcAft>
                <a:spcPts val="0"/>
              </a:spcAft>
              <a:buClrTx/>
              <a:buSzTx/>
              <a:buFontTx/>
              <a:buNone/>
              <a:tabLst/>
              <a:defRPr/>
            </a:pPr>
            <a:r>
              <a:rPr kumimoji="0" lang="en-US" sz="1016" b="0" i="0" u="none" strike="noStrike" kern="1200" cap="none" spc="0" normalizeH="0" baseline="0" noProof="0">
                <a:ln>
                  <a:noFill/>
                </a:ln>
                <a:solidFill>
                  <a:srgbClr val="FFFFFF"/>
                </a:solidFill>
                <a:effectLst/>
                <a:uLnTx/>
                <a:uFillTx/>
                <a:latin typeface="Arial"/>
                <a:ea typeface="Arial"/>
                <a:cs typeface="Arial"/>
                <a:sym typeface="Arial"/>
              </a:rPr>
              <a:t>Administrative Law –LAW1023</a:t>
            </a:r>
          </a:p>
        </p:txBody>
      </p:sp>
      <p:pic>
        <p:nvPicPr>
          <p:cNvPr id="9218" name="Picture 2" descr="Macquarie Government: ASIO, the national security service of Australia">
            <a:extLst>
              <a:ext uri="{FF2B5EF4-FFF2-40B4-BE49-F238E27FC236}">
                <a16:creationId xmlns:a16="http://schemas.microsoft.com/office/drawing/2014/main" id="{32147841-86B2-802C-0633-4559577831C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924800" y="1676400"/>
            <a:ext cx="3276600" cy="155966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969514942"/>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solidFill>
          <a:srgbClr val="000054"/>
        </a:solidFill>
        <a:effectLst/>
      </p:bgPr>
    </p:bg>
    <p:spTree>
      <p:nvGrpSpPr>
        <p:cNvPr id="1" name="">
          <a:extLst>
            <a:ext uri="{FF2B5EF4-FFF2-40B4-BE49-F238E27FC236}">
              <a16:creationId xmlns:a16="http://schemas.microsoft.com/office/drawing/2014/main" id="{85DA7B14-C9A2-A2E6-D468-3B10581B4C9C}"/>
            </a:ext>
          </a:extLst>
        </p:cNvPr>
        <p:cNvGrpSpPr/>
        <p:nvPr/>
      </p:nvGrpSpPr>
      <p:grpSpPr>
        <a:xfrm>
          <a:off x="0" y="0"/>
          <a:ext cx="0" cy="0"/>
          <a:chOff x="0" y="0"/>
          <a:chExt cx="0" cy="0"/>
        </a:xfrm>
      </p:grpSpPr>
      <p:grpSp>
        <p:nvGrpSpPr>
          <p:cNvPr id="2" name="Group 2">
            <a:extLst>
              <a:ext uri="{FF2B5EF4-FFF2-40B4-BE49-F238E27FC236}">
                <a16:creationId xmlns:a16="http://schemas.microsoft.com/office/drawing/2014/main" id="{A779BABC-7B0D-EA18-C325-7E048FC1AF0D}"/>
              </a:ext>
            </a:extLst>
          </p:cNvPr>
          <p:cNvGrpSpPr/>
          <p:nvPr/>
        </p:nvGrpSpPr>
        <p:grpSpPr>
          <a:xfrm rot="-10800000">
            <a:off x="11045567" y="-12700"/>
            <a:ext cx="1146433" cy="1146433"/>
            <a:chOff x="0" y="0"/>
            <a:chExt cx="1630482" cy="1630482"/>
          </a:xfrm>
        </p:grpSpPr>
        <p:sp>
          <p:nvSpPr>
            <p:cNvPr id="3" name="Freeform 3">
              <a:extLst>
                <a:ext uri="{FF2B5EF4-FFF2-40B4-BE49-F238E27FC236}">
                  <a16:creationId xmlns:a16="http://schemas.microsoft.com/office/drawing/2014/main" id="{E7CB823C-0821-DA26-8157-43571BD08D8B}"/>
                </a:ext>
              </a:extLst>
            </p:cNvPr>
            <p:cNvSpPr/>
            <p:nvPr/>
          </p:nvSpPr>
          <p:spPr>
            <a:xfrm>
              <a:off x="0" y="0"/>
              <a:ext cx="1630426" cy="1630426"/>
            </a:xfrm>
            <a:custGeom>
              <a:avLst/>
              <a:gdLst/>
              <a:ahLst/>
              <a:cxnLst/>
              <a:rect l="l" t="t" r="r" b="b"/>
              <a:pathLst>
                <a:path w="1630426" h="1630426">
                  <a:moveTo>
                    <a:pt x="0" y="0"/>
                  </a:moveTo>
                  <a:lnTo>
                    <a:pt x="543433" y="0"/>
                  </a:lnTo>
                  <a:lnTo>
                    <a:pt x="543433" y="543433"/>
                  </a:lnTo>
                  <a:lnTo>
                    <a:pt x="1086993" y="543433"/>
                  </a:lnTo>
                  <a:lnTo>
                    <a:pt x="1086993" y="1086993"/>
                  </a:lnTo>
                  <a:lnTo>
                    <a:pt x="1630426" y="1086993"/>
                  </a:lnTo>
                  <a:lnTo>
                    <a:pt x="1630426" y="1630426"/>
                  </a:lnTo>
                  <a:lnTo>
                    <a:pt x="0" y="1630426"/>
                  </a:lnTo>
                  <a:lnTo>
                    <a:pt x="0" y="1086993"/>
                  </a:lnTo>
                  <a:lnTo>
                    <a:pt x="0" y="543433"/>
                  </a:lnTo>
                  <a:close/>
                </a:path>
              </a:pathLst>
            </a:custGeom>
            <a:solidFill>
              <a:srgbClr val="FFFFFF"/>
            </a:solid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AU" sz="1800" b="0" i="0" u="none" strike="noStrike" kern="1200" cap="none" spc="0" normalizeH="0" baseline="0" noProof="0">
                <a:ln>
                  <a:noFill/>
                </a:ln>
                <a:solidFill>
                  <a:prstClr val="black"/>
                </a:solidFill>
                <a:effectLst/>
                <a:uLnTx/>
                <a:uFillTx/>
                <a:latin typeface="Calibri"/>
                <a:ea typeface="+mn-ea"/>
                <a:cs typeface="+mn-cs"/>
              </a:endParaRPr>
            </a:p>
          </p:txBody>
        </p:sp>
      </p:grpSp>
      <p:sp>
        <p:nvSpPr>
          <p:cNvPr id="5" name="TextBox 5">
            <a:extLst>
              <a:ext uri="{FF2B5EF4-FFF2-40B4-BE49-F238E27FC236}">
                <a16:creationId xmlns:a16="http://schemas.microsoft.com/office/drawing/2014/main" id="{DC30CB2F-CCB1-4C15-878C-229EC0D56193}"/>
              </a:ext>
            </a:extLst>
          </p:cNvPr>
          <p:cNvSpPr txBox="1"/>
          <p:nvPr/>
        </p:nvSpPr>
        <p:spPr>
          <a:xfrm>
            <a:off x="392084" y="560536"/>
            <a:ext cx="11190316" cy="858312"/>
          </a:xfrm>
          <a:prstGeom prst="rect">
            <a:avLst/>
          </a:prstGeom>
        </p:spPr>
        <p:txBody>
          <a:bodyPr wrap="square" lIns="0" tIns="0" rIns="0" bIns="0" rtlCol="0" anchor="t">
            <a:spAutoFit/>
          </a:bodyPr>
          <a:lstStyle/>
          <a:p>
            <a:pPr marL="0" marR="0" lvl="0" indent="0" algn="l" defTabSz="914400" rtl="0" eaLnBrk="1" fontAlgn="auto" latinLnBrk="0" hangingPunct="1">
              <a:lnSpc>
                <a:spcPts val="3494"/>
              </a:lnSpc>
              <a:spcBef>
                <a:spcPts val="0"/>
              </a:spcBef>
              <a:spcAft>
                <a:spcPts val="0"/>
              </a:spcAft>
              <a:buClrTx/>
              <a:buSzTx/>
              <a:buFontTx/>
              <a:buNone/>
              <a:tabLst/>
              <a:defRPr/>
            </a:pPr>
            <a:r>
              <a:rPr kumimoji="0" lang="en-US" sz="2496" b="1" i="1" u="none" strike="noStrike" kern="1200" cap="none" spc="0" normalizeH="0" baseline="0" noProof="0" dirty="0">
                <a:ln>
                  <a:noFill/>
                </a:ln>
                <a:solidFill>
                  <a:srgbClr val="FFFFFF"/>
                </a:solidFill>
                <a:effectLst/>
                <a:uLnTx/>
                <a:uFillTx/>
                <a:latin typeface="Arial Bold"/>
                <a:ea typeface="Arial Bold"/>
                <a:cs typeface="Arial Bold"/>
                <a:sym typeface="Arial Bold"/>
              </a:rPr>
              <a:t>Djokovic v Minister for Immigration, Citizenship, Migrant Services and Multicultural Affairs </a:t>
            </a:r>
            <a:r>
              <a:rPr kumimoji="0" lang="en-US" sz="2496" b="1" u="none" strike="noStrike" kern="1200" cap="none" spc="0" normalizeH="0" baseline="0" noProof="0" dirty="0">
                <a:ln>
                  <a:noFill/>
                </a:ln>
                <a:solidFill>
                  <a:srgbClr val="FFFFFF"/>
                </a:solidFill>
                <a:effectLst/>
                <a:uLnTx/>
                <a:uFillTx/>
                <a:latin typeface="Arial Bold"/>
                <a:ea typeface="Arial Bold"/>
                <a:cs typeface="Arial Bold"/>
                <a:sym typeface="Arial Bold"/>
              </a:rPr>
              <a:t>[2022] FedCFamC2G 7</a:t>
            </a:r>
          </a:p>
        </p:txBody>
      </p:sp>
      <p:sp>
        <p:nvSpPr>
          <p:cNvPr id="9" name="TextBox 9">
            <a:extLst>
              <a:ext uri="{FF2B5EF4-FFF2-40B4-BE49-F238E27FC236}">
                <a16:creationId xmlns:a16="http://schemas.microsoft.com/office/drawing/2014/main" id="{172439CA-0252-A7A5-95B6-D06BF69488E2}"/>
              </a:ext>
            </a:extLst>
          </p:cNvPr>
          <p:cNvSpPr txBox="1"/>
          <p:nvPr/>
        </p:nvSpPr>
        <p:spPr>
          <a:xfrm>
            <a:off x="392084" y="1524000"/>
            <a:ext cx="6846916" cy="3870611"/>
          </a:xfrm>
          <a:prstGeom prst="rect">
            <a:avLst/>
          </a:prstGeom>
        </p:spPr>
        <p:txBody>
          <a:bodyPr wrap="square" lIns="0" tIns="0" rIns="0" bIns="0" rtlCol="0" anchor="t">
            <a:spAutoFit/>
          </a:bodyPr>
          <a:lstStyle/>
          <a:p>
            <a:pPr marL="285750" marR="0" lvl="0" indent="-285750" algn="l" defTabSz="914400" rtl="0" eaLnBrk="1" fontAlgn="auto" latinLnBrk="0" hangingPunct="1">
              <a:lnSpc>
                <a:spcPct val="100000"/>
              </a:lnSpc>
              <a:spcBef>
                <a:spcPts val="0"/>
              </a:spcBef>
              <a:spcAft>
                <a:spcPts val="1200"/>
              </a:spcAft>
              <a:buClrTx/>
              <a:buSzTx/>
              <a:buFont typeface="Arial" panose="020B0604020202020204" pitchFamily="34" charset="0"/>
              <a:buChar char="•"/>
              <a:tabLst/>
              <a:defRPr/>
            </a:pPr>
            <a:r>
              <a:rPr lang="en-US" sz="1627" dirty="0">
                <a:solidFill>
                  <a:srgbClr val="FFFFFF"/>
                </a:solidFill>
                <a:latin typeface="Arial" panose="020B0604020202020204" pitchFamily="34" charset="0"/>
                <a:ea typeface="Arial Bold"/>
                <a:cs typeface="Arial" panose="020B0604020202020204" pitchFamily="34" charset="0"/>
                <a:sym typeface="Arial Bold"/>
              </a:rPr>
              <a:t>E</a:t>
            </a:r>
            <a:r>
              <a:rPr kumimoji="0" lang="en-US" sz="1627" b="0" i="0" u="none" strike="noStrike" kern="1200" cap="none" spc="0" normalizeH="0" baseline="0" noProof="0" dirty="0" err="1">
                <a:ln>
                  <a:noFill/>
                </a:ln>
                <a:solidFill>
                  <a:srgbClr val="FFFFFF"/>
                </a:solidFill>
                <a:effectLst/>
                <a:uLnTx/>
                <a:uFillTx/>
                <a:latin typeface="Arial" panose="020B0604020202020204" pitchFamily="34" charset="0"/>
                <a:ea typeface="Arial Bold"/>
                <a:cs typeface="Arial" panose="020B0604020202020204" pitchFamily="34" charset="0"/>
                <a:sym typeface="Arial Bold"/>
              </a:rPr>
              <a:t>xercise</a:t>
            </a:r>
            <a:r>
              <a:rPr kumimoji="0" lang="en-US" sz="1627" b="0" i="0" u="none" strike="noStrike" kern="1200" cap="none" spc="0" normalizeH="0" baseline="0" noProof="0" dirty="0">
                <a:ln>
                  <a:noFill/>
                </a:ln>
                <a:solidFill>
                  <a:srgbClr val="FFFFFF"/>
                </a:solidFill>
                <a:effectLst/>
                <a:uLnTx/>
                <a:uFillTx/>
                <a:latin typeface="Arial" panose="020B0604020202020204" pitchFamily="34" charset="0"/>
                <a:ea typeface="Arial Bold"/>
                <a:cs typeface="Arial" panose="020B0604020202020204" pitchFamily="34" charset="0"/>
                <a:sym typeface="Arial Bold"/>
              </a:rPr>
              <a:t> of power conferred by s 133C(3) of </a:t>
            </a:r>
            <a:r>
              <a:rPr kumimoji="0" lang="en-US" sz="1627" b="0" i="1" u="none" strike="noStrike" kern="1200" cap="none" spc="0" normalizeH="0" baseline="0" noProof="0" dirty="0">
                <a:ln>
                  <a:noFill/>
                </a:ln>
                <a:solidFill>
                  <a:srgbClr val="FFFFFF"/>
                </a:solidFill>
                <a:effectLst/>
                <a:uLnTx/>
                <a:uFillTx/>
                <a:latin typeface="Arial" panose="020B0604020202020204" pitchFamily="34" charset="0"/>
                <a:ea typeface="Arial Bold"/>
                <a:cs typeface="Arial" panose="020B0604020202020204" pitchFamily="34" charset="0"/>
                <a:sym typeface="Arial Bold"/>
              </a:rPr>
              <a:t>Migration Act </a:t>
            </a:r>
            <a:r>
              <a:rPr kumimoji="0" lang="en-US" sz="1627" b="0" i="0" u="none" strike="noStrike" kern="1200" cap="none" spc="0" normalizeH="0" baseline="0" noProof="0" dirty="0">
                <a:ln>
                  <a:noFill/>
                </a:ln>
                <a:solidFill>
                  <a:srgbClr val="FFFFFF"/>
                </a:solidFill>
                <a:effectLst/>
                <a:uLnTx/>
                <a:uFillTx/>
                <a:latin typeface="Arial" panose="020B0604020202020204" pitchFamily="34" charset="0"/>
                <a:ea typeface="Arial Bold"/>
                <a:cs typeface="Arial" panose="020B0604020202020204" pitchFamily="34" charset="0"/>
                <a:sym typeface="Arial Bold"/>
              </a:rPr>
              <a:t>(where Minister for Immigration makes decision to cancel applicant’s visa)</a:t>
            </a:r>
          </a:p>
          <a:p>
            <a:pPr marL="285750" marR="0" lvl="0" indent="-285750" algn="l" defTabSz="914400" rtl="0" eaLnBrk="1" fontAlgn="auto" latinLnBrk="0" hangingPunct="1">
              <a:lnSpc>
                <a:spcPct val="100000"/>
              </a:lnSpc>
              <a:spcBef>
                <a:spcPts val="0"/>
              </a:spcBef>
              <a:spcAft>
                <a:spcPts val="1200"/>
              </a:spcAft>
              <a:buClrTx/>
              <a:buSzTx/>
              <a:buFont typeface="Arial" panose="020B0604020202020204" pitchFamily="34" charset="0"/>
              <a:buChar char="•"/>
              <a:tabLst/>
              <a:defRPr/>
            </a:pPr>
            <a:r>
              <a:rPr kumimoji="0" lang="en-US" sz="1627" b="0" i="0" u="none" strike="noStrike" kern="1200" cap="none" spc="0" normalizeH="0" baseline="0" noProof="0" dirty="0">
                <a:ln>
                  <a:noFill/>
                </a:ln>
                <a:solidFill>
                  <a:srgbClr val="FFFFFF"/>
                </a:solidFill>
                <a:effectLst/>
                <a:uLnTx/>
                <a:uFillTx/>
                <a:latin typeface="Arial" panose="020B0604020202020204" pitchFamily="34" charset="0"/>
                <a:ea typeface="Arial Bold"/>
                <a:cs typeface="Arial" panose="020B0604020202020204" pitchFamily="34" charset="0"/>
                <a:sym typeface="Arial Bold"/>
              </a:rPr>
              <a:t>Are their preconditions to the exercise of discretion?</a:t>
            </a:r>
          </a:p>
          <a:p>
            <a:pPr marL="285750" marR="0" lvl="0" indent="-285750" algn="l" defTabSz="914400" rtl="0" eaLnBrk="1" fontAlgn="auto" latinLnBrk="0" hangingPunct="1">
              <a:lnSpc>
                <a:spcPct val="100000"/>
              </a:lnSpc>
              <a:spcBef>
                <a:spcPts val="0"/>
              </a:spcBef>
              <a:spcAft>
                <a:spcPts val="1200"/>
              </a:spcAft>
              <a:buClrTx/>
              <a:buSzTx/>
              <a:buFont typeface="Arial" panose="020B0604020202020204" pitchFamily="34" charset="0"/>
              <a:buChar char="•"/>
              <a:tabLst/>
              <a:defRPr/>
            </a:pPr>
            <a:r>
              <a:rPr kumimoji="0" lang="en-US" sz="1627" b="0" i="0" u="none" strike="noStrike" kern="1200" cap="none" spc="0" normalizeH="0" baseline="0" noProof="0" dirty="0">
                <a:ln>
                  <a:noFill/>
                </a:ln>
                <a:solidFill>
                  <a:srgbClr val="FFFFFF"/>
                </a:solidFill>
                <a:effectLst/>
                <a:uLnTx/>
                <a:uFillTx/>
                <a:latin typeface="Arial" panose="020B0604020202020204" pitchFamily="34" charset="0"/>
                <a:ea typeface="Arial Bold"/>
                <a:cs typeface="Arial" panose="020B0604020202020204" pitchFamily="34" charset="0"/>
                <a:sym typeface="Arial Bold"/>
              </a:rPr>
              <a:t>Can the minister be satisfied it is in the public interest to cancel the visa under s116 </a:t>
            </a:r>
            <a:r>
              <a:rPr kumimoji="0" lang="en-US" sz="1627" b="0" i="1" u="none" strike="noStrike" kern="1200" cap="none" spc="0" normalizeH="0" baseline="0" noProof="0" dirty="0">
                <a:ln>
                  <a:noFill/>
                </a:ln>
                <a:solidFill>
                  <a:srgbClr val="FFFFFF"/>
                </a:solidFill>
                <a:effectLst/>
                <a:uLnTx/>
                <a:uFillTx/>
                <a:latin typeface="Arial" panose="020B0604020202020204" pitchFamily="34" charset="0"/>
                <a:ea typeface="Arial Bold"/>
                <a:cs typeface="Arial" panose="020B0604020202020204" pitchFamily="34" charset="0"/>
                <a:sym typeface="Arial Bold"/>
              </a:rPr>
              <a:t>Migration Act</a:t>
            </a:r>
            <a:r>
              <a:rPr kumimoji="0" lang="en-US" sz="1627" b="0" i="0" u="none" strike="noStrike" kern="1200" cap="none" spc="0" normalizeH="0" baseline="0" noProof="0" dirty="0">
                <a:ln>
                  <a:noFill/>
                </a:ln>
                <a:solidFill>
                  <a:srgbClr val="FFFFFF"/>
                </a:solidFill>
                <a:effectLst/>
                <a:uLnTx/>
                <a:uFillTx/>
                <a:latin typeface="Arial" panose="020B0604020202020204" pitchFamily="34" charset="0"/>
                <a:ea typeface="Arial Bold"/>
                <a:cs typeface="Arial" panose="020B0604020202020204" pitchFamily="34" charset="0"/>
                <a:sym typeface="Arial Bold"/>
              </a:rPr>
              <a:t>? </a:t>
            </a:r>
          </a:p>
          <a:p>
            <a:pPr marL="285750" marR="0" lvl="0" indent="-285750" algn="l" defTabSz="914400" rtl="0" eaLnBrk="1" fontAlgn="auto" latinLnBrk="0" hangingPunct="1">
              <a:lnSpc>
                <a:spcPct val="100000"/>
              </a:lnSpc>
              <a:spcBef>
                <a:spcPts val="0"/>
              </a:spcBef>
              <a:spcAft>
                <a:spcPts val="1200"/>
              </a:spcAft>
              <a:buClrTx/>
              <a:buSzTx/>
              <a:buFont typeface="Arial" panose="020B0604020202020204" pitchFamily="34" charset="0"/>
              <a:buChar char="•"/>
              <a:tabLst/>
              <a:defRPr/>
            </a:pPr>
            <a:r>
              <a:rPr kumimoji="0" lang="en-US" sz="1627" b="0" i="0" u="none" strike="noStrike" kern="1200" cap="none" spc="0" normalizeH="0" baseline="0" noProof="0" dirty="0">
                <a:ln>
                  <a:noFill/>
                </a:ln>
                <a:solidFill>
                  <a:srgbClr val="FFFFFF"/>
                </a:solidFill>
                <a:effectLst/>
                <a:uLnTx/>
                <a:uFillTx/>
                <a:latin typeface="Arial" panose="020B0604020202020204" pitchFamily="34" charset="0"/>
                <a:ea typeface="Arial Bold"/>
                <a:cs typeface="Arial" panose="020B0604020202020204" pitchFamily="34" charset="0"/>
                <a:sym typeface="Arial Bold"/>
              </a:rPr>
              <a:t>Judge Kelly at [58] ministerial satisfaction respecting the matters in each limb of s 133C(3)(a) and (b) is essential to the existence of the Minister’s statutory discretionary personal power to consider cancellation….. In each case, the nature of the satisfaction of the Minister that is necessary and sufficient to engage the power in s 133C(3) “is a state of mind formed reasonably and on a correct understanding and application of the applicable law.”</a:t>
            </a:r>
          </a:p>
          <a:p>
            <a:pPr marR="0" lvl="0" algn="l" defTabSz="914400" rtl="0" eaLnBrk="1" fontAlgn="auto" latinLnBrk="0" hangingPunct="1">
              <a:lnSpc>
                <a:spcPct val="100000"/>
              </a:lnSpc>
              <a:spcBef>
                <a:spcPts val="0"/>
              </a:spcBef>
              <a:spcAft>
                <a:spcPts val="1200"/>
              </a:spcAft>
              <a:buClrTx/>
              <a:buSzTx/>
              <a:tabLst/>
              <a:defRPr/>
            </a:pPr>
            <a:endParaRPr kumimoji="0" lang="en-US" sz="1627" b="0" i="0" u="none" strike="noStrike" kern="1200" cap="none" spc="0" normalizeH="0" baseline="0" noProof="0" dirty="0">
              <a:ln>
                <a:noFill/>
              </a:ln>
              <a:solidFill>
                <a:srgbClr val="FFFFFF"/>
              </a:solidFill>
              <a:effectLst/>
              <a:uLnTx/>
              <a:uFillTx/>
              <a:latin typeface="Arial" panose="020B0604020202020204" pitchFamily="34" charset="0"/>
              <a:ea typeface="Arial Bold"/>
              <a:cs typeface="Arial" panose="020B0604020202020204" pitchFamily="34" charset="0"/>
              <a:sym typeface="Arial Bold"/>
            </a:endParaRPr>
          </a:p>
        </p:txBody>
      </p:sp>
      <p:sp>
        <p:nvSpPr>
          <p:cNvPr id="10" name="TextBox 10">
            <a:extLst>
              <a:ext uri="{FF2B5EF4-FFF2-40B4-BE49-F238E27FC236}">
                <a16:creationId xmlns:a16="http://schemas.microsoft.com/office/drawing/2014/main" id="{65A2D5A2-C184-5AAE-D145-4D56E47E2DFE}"/>
              </a:ext>
            </a:extLst>
          </p:cNvPr>
          <p:cNvSpPr txBox="1"/>
          <p:nvPr/>
        </p:nvSpPr>
        <p:spPr>
          <a:xfrm>
            <a:off x="10195446" y="6347803"/>
            <a:ext cx="1773879" cy="193258"/>
          </a:xfrm>
          <a:prstGeom prst="rect">
            <a:avLst/>
          </a:prstGeom>
        </p:spPr>
        <p:txBody>
          <a:bodyPr lIns="0" tIns="0" rIns="0" bIns="0" rtlCol="0" anchor="t">
            <a:spAutoFit/>
          </a:bodyPr>
          <a:lstStyle/>
          <a:p>
            <a:pPr marL="0" marR="0" lvl="0" indent="0" algn="l" defTabSz="914400" rtl="0" eaLnBrk="1" fontAlgn="auto" latinLnBrk="0" hangingPunct="1">
              <a:lnSpc>
                <a:spcPts val="1422"/>
              </a:lnSpc>
              <a:spcBef>
                <a:spcPts val="0"/>
              </a:spcBef>
              <a:spcAft>
                <a:spcPts val="0"/>
              </a:spcAft>
              <a:buClrTx/>
              <a:buSzTx/>
              <a:buFontTx/>
              <a:buNone/>
              <a:tabLst/>
              <a:defRPr/>
            </a:pPr>
            <a:r>
              <a:rPr kumimoji="0" lang="en-US" sz="1016" b="0" i="0" u="none" strike="noStrike" kern="1200" cap="none" spc="0" normalizeH="0" baseline="0" noProof="0">
                <a:ln>
                  <a:noFill/>
                </a:ln>
                <a:solidFill>
                  <a:srgbClr val="FFFFFF"/>
                </a:solidFill>
                <a:effectLst/>
                <a:uLnTx/>
                <a:uFillTx/>
                <a:latin typeface="Arial"/>
                <a:ea typeface="Arial"/>
                <a:cs typeface="Arial"/>
                <a:sym typeface="Arial"/>
              </a:rPr>
              <a:t>Administrative Law –LAW1023</a:t>
            </a:r>
          </a:p>
        </p:txBody>
      </p:sp>
      <p:pic>
        <p:nvPicPr>
          <p:cNvPr id="10242" name="Picture 2" descr="Novak Djokovic - Wikipedia">
            <a:extLst>
              <a:ext uri="{FF2B5EF4-FFF2-40B4-BE49-F238E27FC236}">
                <a16:creationId xmlns:a16="http://schemas.microsoft.com/office/drawing/2014/main" id="{A1C69F8F-011B-9F01-D5E2-31446206AE7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229600" y="1133733"/>
            <a:ext cx="3962400" cy="4953000"/>
          </a:xfrm>
          <a:prstGeom prst="rect">
            <a:avLst/>
          </a:prstGeom>
          <a:noFill/>
          <a:extLst>
            <a:ext uri="{909E8E84-426E-40DD-AFC4-6F175D3DCCD1}">
              <a14:hiddenFill xmlns:a14="http://schemas.microsoft.com/office/drawing/2010/main">
                <a:solidFill>
                  <a:srgbClr val="FFFFFF"/>
                </a:solidFill>
              </a14:hiddenFill>
            </a:ext>
          </a:extLst>
        </p:spPr>
      </p:pic>
      <p:sp>
        <p:nvSpPr>
          <p:cNvPr id="4" name="TextBox 3">
            <a:extLst>
              <a:ext uri="{FF2B5EF4-FFF2-40B4-BE49-F238E27FC236}">
                <a16:creationId xmlns:a16="http://schemas.microsoft.com/office/drawing/2014/main" id="{10F9A34E-0647-3D58-C2BA-05598C66937F}"/>
              </a:ext>
            </a:extLst>
          </p:cNvPr>
          <p:cNvSpPr txBox="1"/>
          <p:nvPr/>
        </p:nvSpPr>
        <p:spPr>
          <a:xfrm>
            <a:off x="8534400" y="6161363"/>
            <a:ext cx="1773879" cy="261610"/>
          </a:xfrm>
          <a:prstGeom prst="rect">
            <a:avLst/>
          </a:prstGeom>
          <a:noFill/>
        </p:spPr>
        <p:txBody>
          <a:bodyPr wrap="square" rtlCol="0">
            <a:spAutoFit/>
          </a:bodyPr>
          <a:lstStyle/>
          <a:p>
            <a:r>
              <a:rPr lang="en-US" sz="1100" dirty="0">
                <a:solidFill>
                  <a:schemeClr val="bg1"/>
                </a:solidFill>
              </a:rPr>
              <a:t>Source: </a:t>
            </a:r>
            <a:r>
              <a:rPr lang="en-US" sz="1100" dirty="0" err="1">
                <a:solidFill>
                  <a:schemeClr val="bg1"/>
                </a:solidFill>
              </a:rPr>
              <a:t>Wikicommons</a:t>
            </a:r>
            <a:endParaRPr lang="en-AU" sz="1100" dirty="0">
              <a:solidFill>
                <a:schemeClr val="bg1"/>
              </a:solidFill>
            </a:endParaRPr>
          </a:p>
        </p:txBody>
      </p:sp>
    </p:spTree>
    <p:extLst>
      <p:ext uri="{BB962C8B-B14F-4D97-AF65-F5344CB8AC3E}">
        <p14:creationId xmlns:p14="http://schemas.microsoft.com/office/powerpoint/2010/main" val="1719787237"/>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solidFill>
          <a:srgbClr val="000054"/>
        </a:solidFill>
        <a:effectLst/>
      </p:bgPr>
    </p:bg>
    <p:spTree>
      <p:nvGrpSpPr>
        <p:cNvPr id="1" name="">
          <a:extLst>
            <a:ext uri="{FF2B5EF4-FFF2-40B4-BE49-F238E27FC236}">
              <a16:creationId xmlns:a16="http://schemas.microsoft.com/office/drawing/2014/main" id="{65DCB1FF-2C04-1968-F161-823D87547B45}"/>
            </a:ext>
          </a:extLst>
        </p:cNvPr>
        <p:cNvGrpSpPr/>
        <p:nvPr/>
      </p:nvGrpSpPr>
      <p:grpSpPr>
        <a:xfrm>
          <a:off x="0" y="0"/>
          <a:ext cx="0" cy="0"/>
          <a:chOff x="0" y="0"/>
          <a:chExt cx="0" cy="0"/>
        </a:xfrm>
      </p:grpSpPr>
      <p:grpSp>
        <p:nvGrpSpPr>
          <p:cNvPr id="2" name="Group 2">
            <a:extLst>
              <a:ext uri="{FF2B5EF4-FFF2-40B4-BE49-F238E27FC236}">
                <a16:creationId xmlns:a16="http://schemas.microsoft.com/office/drawing/2014/main" id="{296C1229-4732-214B-B4A0-D6D5DE6146FC}"/>
              </a:ext>
            </a:extLst>
          </p:cNvPr>
          <p:cNvGrpSpPr/>
          <p:nvPr/>
        </p:nvGrpSpPr>
        <p:grpSpPr>
          <a:xfrm rot="-10800000">
            <a:off x="11045567" y="-12700"/>
            <a:ext cx="1146433" cy="1146433"/>
            <a:chOff x="0" y="0"/>
            <a:chExt cx="1630482" cy="1630482"/>
          </a:xfrm>
        </p:grpSpPr>
        <p:sp>
          <p:nvSpPr>
            <p:cNvPr id="3" name="Freeform 3">
              <a:extLst>
                <a:ext uri="{FF2B5EF4-FFF2-40B4-BE49-F238E27FC236}">
                  <a16:creationId xmlns:a16="http://schemas.microsoft.com/office/drawing/2014/main" id="{DE1074F7-F6EE-D594-1305-34D6A5183380}"/>
                </a:ext>
              </a:extLst>
            </p:cNvPr>
            <p:cNvSpPr/>
            <p:nvPr/>
          </p:nvSpPr>
          <p:spPr>
            <a:xfrm>
              <a:off x="0" y="0"/>
              <a:ext cx="1630426" cy="1630426"/>
            </a:xfrm>
            <a:custGeom>
              <a:avLst/>
              <a:gdLst/>
              <a:ahLst/>
              <a:cxnLst/>
              <a:rect l="l" t="t" r="r" b="b"/>
              <a:pathLst>
                <a:path w="1630426" h="1630426">
                  <a:moveTo>
                    <a:pt x="0" y="0"/>
                  </a:moveTo>
                  <a:lnTo>
                    <a:pt x="543433" y="0"/>
                  </a:lnTo>
                  <a:lnTo>
                    <a:pt x="543433" y="543433"/>
                  </a:lnTo>
                  <a:lnTo>
                    <a:pt x="1086993" y="543433"/>
                  </a:lnTo>
                  <a:lnTo>
                    <a:pt x="1086993" y="1086993"/>
                  </a:lnTo>
                  <a:lnTo>
                    <a:pt x="1630426" y="1086993"/>
                  </a:lnTo>
                  <a:lnTo>
                    <a:pt x="1630426" y="1630426"/>
                  </a:lnTo>
                  <a:lnTo>
                    <a:pt x="0" y="1630426"/>
                  </a:lnTo>
                  <a:lnTo>
                    <a:pt x="0" y="1086993"/>
                  </a:lnTo>
                  <a:lnTo>
                    <a:pt x="0" y="543433"/>
                  </a:lnTo>
                  <a:close/>
                </a:path>
              </a:pathLst>
            </a:custGeom>
            <a:solidFill>
              <a:srgbClr val="FFFFFF"/>
            </a:solid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AU" sz="1800" b="0" i="0" u="none" strike="noStrike" kern="1200" cap="none" spc="0" normalizeH="0" baseline="0" noProof="0">
                <a:ln>
                  <a:noFill/>
                </a:ln>
                <a:solidFill>
                  <a:prstClr val="black"/>
                </a:solidFill>
                <a:effectLst/>
                <a:uLnTx/>
                <a:uFillTx/>
                <a:latin typeface="Calibri"/>
                <a:ea typeface="+mn-ea"/>
                <a:cs typeface="+mn-cs"/>
              </a:endParaRPr>
            </a:p>
          </p:txBody>
        </p:sp>
      </p:grpSp>
      <p:sp>
        <p:nvSpPr>
          <p:cNvPr id="5" name="TextBox 5">
            <a:extLst>
              <a:ext uri="{FF2B5EF4-FFF2-40B4-BE49-F238E27FC236}">
                <a16:creationId xmlns:a16="http://schemas.microsoft.com/office/drawing/2014/main" id="{12A4DBB0-25D4-591B-8AAD-D54549C89828}"/>
              </a:ext>
            </a:extLst>
          </p:cNvPr>
          <p:cNvSpPr txBox="1"/>
          <p:nvPr/>
        </p:nvSpPr>
        <p:spPr>
          <a:xfrm>
            <a:off x="392084" y="560536"/>
            <a:ext cx="11190316" cy="409471"/>
          </a:xfrm>
          <a:prstGeom prst="rect">
            <a:avLst/>
          </a:prstGeom>
        </p:spPr>
        <p:txBody>
          <a:bodyPr wrap="square" lIns="0" tIns="0" rIns="0" bIns="0" rtlCol="0" anchor="t">
            <a:spAutoFit/>
          </a:bodyPr>
          <a:lstStyle/>
          <a:p>
            <a:pPr marL="0" marR="0" lvl="0" indent="0" algn="l" defTabSz="914400" rtl="0" eaLnBrk="1" fontAlgn="auto" latinLnBrk="0" hangingPunct="1">
              <a:lnSpc>
                <a:spcPts val="3494"/>
              </a:lnSpc>
              <a:spcBef>
                <a:spcPts val="0"/>
              </a:spcBef>
              <a:spcAft>
                <a:spcPts val="0"/>
              </a:spcAft>
              <a:buClrTx/>
              <a:buSzTx/>
              <a:buFontTx/>
              <a:buNone/>
              <a:tabLst/>
              <a:defRPr/>
            </a:pPr>
            <a:r>
              <a:rPr kumimoji="0" lang="en-US" sz="2496" b="1" i="0" u="none" strike="noStrike" kern="1200" cap="none" spc="0" normalizeH="0" baseline="0" noProof="0" dirty="0">
                <a:ln>
                  <a:noFill/>
                </a:ln>
                <a:solidFill>
                  <a:srgbClr val="FFFFFF"/>
                </a:solidFill>
                <a:effectLst/>
                <a:uLnTx/>
                <a:uFillTx/>
                <a:latin typeface="Arial Bold"/>
                <a:ea typeface="Arial Bold"/>
                <a:cs typeface="Arial Bold"/>
                <a:sym typeface="Arial Bold"/>
              </a:rPr>
              <a:t>Mandatory Procedures</a:t>
            </a:r>
          </a:p>
        </p:txBody>
      </p:sp>
      <p:sp>
        <p:nvSpPr>
          <p:cNvPr id="9" name="TextBox 9">
            <a:extLst>
              <a:ext uri="{FF2B5EF4-FFF2-40B4-BE49-F238E27FC236}">
                <a16:creationId xmlns:a16="http://schemas.microsoft.com/office/drawing/2014/main" id="{93DFAD3A-7DF9-E48F-35B9-871998B1EEDB}"/>
              </a:ext>
            </a:extLst>
          </p:cNvPr>
          <p:cNvSpPr txBox="1"/>
          <p:nvPr/>
        </p:nvSpPr>
        <p:spPr>
          <a:xfrm>
            <a:off x="392084" y="1524000"/>
            <a:ext cx="9894916" cy="3369833"/>
          </a:xfrm>
          <a:prstGeom prst="rect">
            <a:avLst/>
          </a:prstGeom>
        </p:spPr>
        <p:txBody>
          <a:bodyPr wrap="square" lIns="0" tIns="0" rIns="0" bIns="0" rtlCol="0" anchor="t">
            <a:spAutoFit/>
          </a:bodyPr>
          <a:lstStyle/>
          <a:p>
            <a:pPr marL="285750" marR="0" lvl="0" indent="-285750" algn="l" defTabSz="914400" rtl="0" eaLnBrk="1" fontAlgn="auto" latinLnBrk="0" hangingPunct="1">
              <a:lnSpc>
                <a:spcPct val="100000"/>
              </a:lnSpc>
              <a:spcBef>
                <a:spcPts val="0"/>
              </a:spcBef>
              <a:spcAft>
                <a:spcPts val="1200"/>
              </a:spcAft>
              <a:buClrTx/>
              <a:buSzTx/>
              <a:buFont typeface="Arial" panose="020B0604020202020204" pitchFamily="34" charset="0"/>
              <a:buChar char="•"/>
              <a:tabLst/>
              <a:defRPr/>
            </a:pPr>
            <a:r>
              <a:rPr lang="en-US" sz="1627" dirty="0">
                <a:solidFill>
                  <a:srgbClr val="FFFFFF"/>
                </a:solidFill>
                <a:latin typeface="Arial" panose="020B0604020202020204" pitchFamily="34" charset="0"/>
                <a:ea typeface="Arial Bold"/>
                <a:cs typeface="Arial" panose="020B0604020202020204" pitchFamily="34" charset="0"/>
                <a:sym typeface="Arial Bold"/>
              </a:rPr>
              <a:t>ADJR Act s5(1)(b): ‘that procedures that were required by law to be observed in connection with the making of the decision were not observed</a:t>
            </a:r>
          </a:p>
          <a:p>
            <a:pPr marL="285750" marR="0" lvl="0" indent="-285750" algn="l" defTabSz="914400" rtl="0" eaLnBrk="1" fontAlgn="auto" latinLnBrk="0" hangingPunct="1">
              <a:lnSpc>
                <a:spcPct val="100000"/>
              </a:lnSpc>
              <a:spcBef>
                <a:spcPts val="0"/>
              </a:spcBef>
              <a:spcAft>
                <a:spcPts val="1200"/>
              </a:spcAft>
              <a:buClrTx/>
              <a:buSzTx/>
              <a:buFont typeface="Arial" panose="020B0604020202020204" pitchFamily="34" charset="0"/>
              <a:buChar char="•"/>
              <a:tabLst/>
              <a:defRPr/>
            </a:pPr>
            <a:r>
              <a:rPr lang="en-US" sz="1627" dirty="0">
                <a:solidFill>
                  <a:srgbClr val="FFFFFF"/>
                </a:solidFill>
                <a:latin typeface="Arial" panose="020B0604020202020204" pitchFamily="34" charset="0"/>
                <a:ea typeface="Arial Bold"/>
                <a:cs typeface="Arial" panose="020B0604020202020204" pitchFamily="34" charset="0"/>
                <a:sym typeface="Arial Bold"/>
              </a:rPr>
              <a:t>Common law name: ‘disregard of essential procedural requirement’ (see </a:t>
            </a:r>
            <a:r>
              <a:rPr lang="en-US" sz="1627" dirty="0" err="1">
                <a:solidFill>
                  <a:srgbClr val="FFFFFF"/>
                </a:solidFill>
                <a:latin typeface="Arial" panose="020B0604020202020204" pitchFamily="34" charset="0"/>
                <a:ea typeface="Arial Bold"/>
                <a:cs typeface="Arial" panose="020B0604020202020204" pitchFamily="34" charset="0"/>
                <a:sym typeface="Arial Bold"/>
              </a:rPr>
              <a:t>eg</a:t>
            </a:r>
            <a:r>
              <a:rPr lang="en-US" sz="1627" dirty="0">
                <a:solidFill>
                  <a:srgbClr val="FFFFFF"/>
                </a:solidFill>
                <a:latin typeface="Arial" panose="020B0604020202020204" pitchFamily="34" charset="0"/>
                <a:ea typeface="Arial Bold"/>
                <a:cs typeface="Arial" panose="020B0604020202020204" pitchFamily="34" charset="0"/>
                <a:sym typeface="Arial Bold"/>
              </a:rPr>
              <a:t> </a:t>
            </a:r>
            <a:r>
              <a:rPr lang="en-US" sz="1627" i="1" dirty="0">
                <a:solidFill>
                  <a:srgbClr val="FFFFFF"/>
                </a:solidFill>
                <a:latin typeface="Arial" panose="020B0604020202020204" pitchFamily="34" charset="0"/>
                <a:ea typeface="Arial Bold"/>
                <a:cs typeface="Arial" panose="020B0604020202020204" pitchFamily="34" charset="0"/>
                <a:sym typeface="Arial Bold"/>
              </a:rPr>
              <a:t>ABC v </a:t>
            </a:r>
            <a:r>
              <a:rPr lang="en-US" sz="1627" i="1" dirty="0" err="1">
                <a:solidFill>
                  <a:srgbClr val="FFFFFF"/>
                </a:solidFill>
                <a:latin typeface="Arial" panose="020B0604020202020204" pitchFamily="34" charset="0"/>
                <a:ea typeface="Arial Bold"/>
                <a:cs typeface="Arial" panose="020B0604020202020204" pitchFamily="34" charset="0"/>
                <a:sym typeface="Arial Bold"/>
              </a:rPr>
              <a:t>Redmore</a:t>
            </a:r>
            <a:r>
              <a:rPr lang="en-US" sz="1627" i="1" dirty="0">
                <a:solidFill>
                  <a:srgbClr val="FFFFFF"/>
                </a:solidFill>
                <a:latin typeface="Arial" panose="020B0604020202020204" pitchFamily="34" charset="0"/>
                <a:ea typeface="Arial Bold"/>
                <a:cs typeface="Arial" panose="020B0604020202020204" pitchFamily="34" charset="0"/>
                <a:sym typeface="Arial Bold"/>
              </a:rPr>
              <a:t> </a:t>
            </a:r>
            <a:r>
              <a:rPr lang="en-US" sz="1627" dirty="0">
                <a:solidFill>
                  <a:srgbClr val="FFFFFF"/>
                </a:solidFill>
                <a:latin typeface="Arial" panose="020B0604020202020204" pitchFamily="34" charset="0"/>
                <a:ea typeface="Arial Bold"/>
                <a:cs typeface="Arial" panose="020B0604020202020204" pitchFamily="34" charset="0"/>
                <a:sym typeface="Arial Bold"/>
              </a:rPr>
              <a:t>(1989) 166 CLR 456) (tb [16.2.5])</a:t>
            </a:r>
          </a:p>
          <a:p>
            <a:pPr marL="285750" marR="0" lvl="0" indent="-285750" algn="l" defTabSz="914400" rtl="0" eaLnBrk="1" fontAlgn="auto" latinLnBrk="0" hangingPunct="1">
              <a:lnSpc>
                <a:spcPct val="100000"/>
              </a:lnSpc>
              <a:spcBef>
                <a:spcPts val="0"/>
              </a:spcBef>
              <a:spcAft>
                <a:spcPts val="1200"/>
              </a:spcAft>
              <a:buClrTx/>
              <a:buSzTx/>
              <a:buFont typeface="Arial" panose="020B0604020202020204" pitchFamily="34" charset="0"/>
              <a:buChar char="•"/>
              <a:tabLst/>
              <a:defRPr/>
            </a:pPr>
            <a:r>
              <a:rPr lang="en-US" sz="1627" dirty="0">
                <a:solidFill>
                  <a:srgbClr val="FFFFFF"/>
                </a:solidFill>
                <a:latin typeface="Arial" panose="020B0604020202020204" pitchFamily="34" charset="0"/>
                <a:ea typeface="Arial Bold"/>
                <a:cs typeface="Arial" panose="020B0604020202020204" pitchFamily="34" charset="0"/>
                <a:sym typeface="Arial Bold"/>
              </a:rPr>
              <a:t>Historically, courts distinguished between mandatory and directory rules (examples of mandatory rules include provision of copy of warrant; public notification of a development application now we use different approach from HCA case of Project Blue Sky</a:t>
            </a:r>
          </a:p>
          <a:p>
            <a:pPr marL="285750" marR="0" lvl="0" indent="-285750" algn="l" defTabSz="914400" rtl="0" eaLnBrk="1" fontAlgn="auto" latinLnBrk="0" hangingPunct="1">
              <a:lnSpc>
                <a:spcPct val="100000"/>
              </a:lnSpc>
              <a:spcBef>
                <a:spcPts val="0"/>
              </a:spcBef>
              <a:spcAft>
                <a:spcPts val="1200"/>
              </a:spcAft>
              <a:buClrTx/>
              <a:buSzTx/>
              <a:buFont typeface="Arial" panose="020B0604020202020204" pitchFamily="34" charset="0"/>
              <a:buChar char="•"/>
              <a:tabLst/>
              <a:defRPr/>
            </a:pPr>
            <a:r>
              <a:rPr lang="en-US" sz="1627" dirty="0">
                <a:solidFill>
                  <a:srgbClr val="FFFFFF"/>
                </a:solidFill>
                <a:latin typeface="Arial" panose="020B0604020202020204" pitchFamily="34" charset="0"/>
                <a:ea typeface="Arial Bold"/>
                <a:cs typeface="Arial" panose="020B0604020202020204" pitchFamily="34" charset="0"/>
                <a:sym typeface="Arial Bold"/>
              </a:rPr>
              <a:t>ADJR Act s5(1)(b): ‘that procedures that were required by law to be observed in connection with the making of the decision were not observed’ (see also s6(1)(b) re conduct)</a:t>
            </a:r>
          </a:p>
          <a:p>
            <a:pPr marL="285750" marR="0" lvl="0" indent="-285750" algn="l" defTabSz="914400" rtl="0" eaLnBrk="1" fontAlgn="auto" latinLnBrk="0" hangingPunct="1">
              <a:lnSpc>
                <a:spcPct val="100000"/>
              </a:lnSpc>
              <a:spcBef>
                <a:spcPts val="0"/>
              </a:spcBef>
              <a:spcAft>
                <a:spcPts val="1200"/>
              </a:spcAft>
              <a:buClrTx/>
              <a:buSzTx/>
              <a:buFont typeface="Arial" panose="020B0604020202020204" pitchFamily="34" charset="0"/>
              <a:buChar char="•"/>
              <a:tabLst/>
              <a:defRPr/>
            </a:pPr>
            <a:r>
              <a:rPr lang="en-US" sz="1627" dirty="0">
                <a:solidFill>
                  <a:srgbClr val="FFFFFF"/>
                </a:solidFill>
                <a:latin typeface="Arial" panose="020B0604020202020204" pitchFamily="34" charset="0"/>
                <a:ea typeface="Arial Bold"/>
                <a:cs typeface="Arial" panose="020B0604020202020204" pitchFamily="34" charset="0"/>
                <a:sym typeface="Arial Bold"/>
              </a:rPr>
              <a:t>NB some Acts spell out consequences – </a:t>
            </a:r>
            <a:r>
              <a:rPr lang="en-US" sz="1627" dirty="0" err="1">
                <a:solidFill>
                  <a:srgbClr val="FFFFFF"/>
                </a:solidFill>
                <a:latin typeface="Arial" panose="020B0604020202020204" pitchFamily="34" charset="0"/>
                <a:ea typeface="Arial Bold"/>
                <a:cs typeface="Arial" panose="020B0604020202020204" pitchFamily="34" charset="0"/>
                <a:sym typeface="Arial Bold"/>
              </a:rPr>
              <a:t>eg</a:t>
            </a:r>
            <a:r>
              <a:rPr lang="en-US" sz="1627" dirty="0">
                <a:solidFill>
                  <a:srgbClr val="FFFFFF"/>
                </a:solidFill>
                <a:latin typeface="Arial" panose="020B0604020202020204" pitchFamily="34" charset="0"/>
                <a:ea typeface="Arial Bold"/>
                <a:cs typeface="Arial" panose="020B0604020202020204" pitchFamily="34" charset="0"/>
                <a:sym typeface="Arial Bold"/>
              </a:rPr>
              <a:t> </a:t>
            </a:r>
            <a:r>
              <a:rPr lang="en-US" sz="1627" i="1" dirty="0">
                <a:solidFill>
                  <a:srgbClr val="FFFFFF"/>
                </a:solidFill>
                <a:latin typeface="Arial" panose="020B0604020202020204" pitchFamily="34" charset="0"/>
                <a:ea typeface="Arial Bold"/>
                <a:cs typeface="Arial" panose="020B0604020202020204" pitchFamily="34" charset="0"/>
                <a:sym typeface="Arial Bold"/>
              </a:rPr>
              <a:t>Legislative Instruments Act 2003 </a:t>
            </a:r>
            <a:r>
              <a:rPr lang="en-US" sz="1627" dirty="0">
                <a:solidFill>
                  <a:srgbClr val="FFFFFF"/>
                </a:solidFill>
                <a:latin typeface="Arial" panose="020B0604020202020204" pitchFamily="34" charset="0"/>
                <a:ea typeface="Arial Bold"/>
                <a:cs typeface="Arial" panose="020B0604020202020204" pitchFamily="34" charset="0"/>
                <a:sym typeface="Arial Bold"/>
              </a:rPr>
              <a:t>(</a:t>
            </a:r>
            <a:r>
              <a:rPr lang="en-US" sz="1627" dirty="0" err="1">
                <a:solidFill>
                  <a:srgbClr val="FFFFFF"/>
                </a:solidFill>
                <a:latin typeface="Arial" panose="020B0604020202020204" pitchFamily="34" charset="0"/>
                <a:ea typeface="Arial Bold"/>
                <a:cs typeface="Arial" panose="020B0604020202020204" pitchFamily="34" charset="0"/>
                <a:sym typeface="Arial Bold"/>
              </a:rPr>
              <a:t>Cth</a:t>
            </a:r>
            <a:r>
              <a:rPr lang="en-US" sz="1627" dirty="0">
                <a:solidFill>
                  <a:srgbClr val="FFFFFF"/>
                </a:solidFill>
                <a:latin typeface="Arial" panose="020B0604020202020204" pitchFamily="34" charset="0"/>
                <a:ea typeface="Arial Bold"/>
                <a:cs typeface="Arial" panose="020B0604020202020204" pitchFamily="34" charset="0"/>
                <a:sym typeface="Arial Bold"/>
              </a:rPr>
              <a:t>) says LIs are unenforceable if not registered on Federal Register.</a:t>
            </a:r>
          </a:p>
        </p:txBody>
      </p:sp>
      <p:sp>
        <p:nvSpPr>
          <p:cNvPr id="10" name="TextBox 10">
            <a:extLst>
              <a:ext uri="{FF2B5EF4-FFF2-40B4-BE49-F238E27FC236}">
                <a16:creationId xmlns:a16="http://schemas.microsoft.com/office/drawing/2014/main" id="{B3002306-1BCD-0F4B-C625-2B289B72A7FA}"/>
              </a:ext>
            </a:extLst>
          </p:cNvPr>
          <p:cNvSpPr txBox="1"/>
          <p:nvPr/>
        </p:nvSpPr>
        <p:spPr>
          <a:xfrm>
            <a:off x="10195446" y="6347803"/>
            <a:ext cx="1773879" cy="193258"/>
          </a:xfrm>
          <a:prstGeom prst="rect">
            <a:avLst/>
          </a:prstGeom>
        </p:spPr>
        <p:txBody>
          <a:bodyPr lIns="0" tIns="0" rIns="0" bIns="0" rtlCol="0" anchor="t">
            <a:spAutoFit/>
          </a:bodyPr>
          <a:lstStyle/>
          <a:p>
            <a:pPr marL="0" marR="0" lvl="0" indent="0" algn="l" defTabSz="914400" rtl="0" eaLnBrk="1" fontAlgn="auto" latinLnBrk="0" hangingPunct="1">
              <a:lnSpc>
                <a:spcPts val="1422"/>
              </a:lnSpc>
              <a:spcBef>
                <a:spcPts val="0"/>
              </a:spcBef>
              <a:spcAft>
                <a:spcPts val="0"/>
              </a:spcAft>
              <a:buClrTx/>
              <a:buSzTx/>
              <a:buFontTx/>
              <a:buNone/>
              <a:tabLst/>
              <a:defRPr/>
            </a:pPr>
            <a:r>
              <a:rPr kumimoji="0" lang="en-US" sz="1016" b="0" i="0" u="none" strike="noStrike" kern="1200" cap="none" spc="0" normalizeH="0" baseline="0" noProof="0">
                <a:ln>
                  <a:noFill/>
                </a:ln>
                <a:solidFill>
                  <a:srgbClr val="FFFFFF"/>
                </a:solidFill>
                <a:effectLst/>
                <a:uLnTx/>
                <a:uFillTx/>
                <a:latin typeface="Arial"/>
                <a:ea typeface="Arial"/>
                <a:cs typeface="Arial"/>
                <a:sym typeface="Arial"/>
              </a:rPr>
              <a:t>Administrative Law –LAW1023</a:t>
            </a:r>
          </a:p>
        </p:txBody>
      </p:sp>
    </p:spTree>
    <p:extLst>
      <p:ext uri="{BB962C8B-B14F-4D97-AF65-F5344CB8AC3E}">
        <p14:creationId xmlns:p14="http://schemas.microsoft.com/office/powerpoint/2010/main" val="2699520628"/>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bg>
      <p:bgPr>
        <a:solidFill>
          <a:srgbClr val="000054"/>
        </a:solidFill>
        <a:effectLst/>
      </p:bgPr>
    </p:bg>
    <p:spTree>
      <p:nvGrpSpPr>
        <p:cNvPr id="1" name="">
          <a:extLst>
            <a:ext uri="{FF2B5EF4-FFF2-40B4-BE49-F238E27FC236}">
              <a16:creationId xmlns:a16="http://schemas.microsoft.com/office/drawing/2014/main" id="{4FD4257E-EAA9-4665-D50C-119F7511D618}"/>
            </a:ext>
          </a:extLst>
        </p:cNvPr>
        <p:cNvGrpSpPr/>
        <p:nvPr/>
      </p:nvGrpSpPr>
      <p:grpSpPr>
        <a:xfrm>
          <a:off x="0" y="0"/>
          <a:ext cx="0" cy="0"/>
          <a:chOff x="0" y="0"/>
          <a:chExt cx="0" cy="0"/>
        </a:xfrm>
      </p:grpSpPr>
      <p:grpSp>
        <p:nvGrpSpPr>
          <p:cNvPr id="2" name="Group 2">
            <a:extLst>
              <a:ext uri="{FF2B5EF4-FFF2-40B4-BE49-F238E27FC236}">
                <a16:creationId xmlns:a16="http://schemas.microsoft.com/office/drawing/2014/main" id="{71347091-1FD4-4769-F102-C37AA470589A}"/>
              </a:ext>
            </a:extLst>
          </p:cNvPr>
          <p:cNvGrpSpPr/>
          <p:nvPr/>
        </p:nvGrpSpPr>
        <p:grpSpPr>
          <a:xfrm rot="-10800000">
            <a:off x="11045567" y="-12700"/>
            <a:ext cx="1146433" cy="1146433"/>
            <a:chOff x="0" y="0"/>
            <a:chExt cx="1630482" cy="1630482"/>
          </a:xfrm>
        </p:grpSpPr>
        <p:sp>
          <p:nvSpPr>
            <p:cNvPr id="3" name="Freeform 3">
              <a:extLst>
                <a:ext uri="{FF2B5EF4-FFF2-40B4-BE49-F238E27FC236}">
                  <a16:creationId xmlns:a16="http://schemas.microsoft.com/office/drawing/2014/main" id="{5B71C149-3DC3-217F-9380-370E361E189F}"/>
                </a:ext>
              </a:extLst>
            </p:cNvPr>
            <p:cNvSpPr/>
            <p:nvPr/>
          </p:nvSpPr>
          <p:spPr>
            <a:xfrm>
              <a:off x="0" y="0"/>
              <a:ext cx="1630426" cy="1630426"/>
            </a:xfrm>
            <a:custGeom>
              <a:avLst/>
              <a:gdLst/>
              <a:ahLst/>
              <a:cxnLst/>
              <a:rect l="l" t="t" r="r" b="b"/>
              <a:pathLst>
                <a:path w="1630426" h="1630426">
                  <a:moveTo>
                    <a:pt x="0" y="0"/>
                  </a:moveTo>
                  <a:lnTo>
                    <a:pt x="543433" y="0"/>
                  </a:lnTo>
                  <a:lnTo>
                    <a:pt x="543433" y="543433"/>
                  </a:lnTo>
                  <a:lnTo>
                    <a:pt x="1086993" y="543433"/>
                  </a:lnTo>
                  <a:lnTo>
                    <a:pt x="1086993" y="1086993"/>
                  </a:lnTo>
                  <a:lnTo>
                    <a:pt x="1630426" y="1086993"/>
                  </a:lnTo>
                  <a:lnTo>
                    <a:pt x="1630426" y="1630426"/>
                  </a:lnTo>
                  <a:lnTo>
                    <a:pt x="0" y="1630426"/>
                  </a:lnTo>
                  <a:lnTo>
                    <a:pt x="0" y="1086993"/>
                  </a:lnTo>
                  <a:lnTo>
                    <a:pt x="0" y="543433"/>
                  </a:lnTo>
                  <a:close/>
                </a:path>
              </a:pathLst>
            </a:custGeom>
            <a:solidFill>
              <a:srgbClr val="FFFFFF"/>
            </a:solid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AU" sz="1800" b="0" i="0" u="none" strike="noStrike" kern="1200" cap="none" spc="0" normalizeH="0" baseline="0" noProof="0">
                <a:ln>
                  <a:noFill/>
                </a:ln>
                <a:solidFill>
                  <a:prstClr val="black"/>
                </a:solidFill>
                <a:effectLst/>
                <a:uLnTx/>
                <a:uFillTx/>
                <a:latin typeface="Calibri"/>
                <a:ea typeface="+mn-ea"/>
                <a:cs typeface="+mn-cs"/>
              </a:endParaRPr>
            </a:p>
          </p:txBody>
        </p:sp>
      </p:grpSp>
      <p:sp>
        <p:nvSpPr>
          <p:cNvPr id="5" name="TextBox 5">
            <a:extLst>
              <a:ext uri="{FF2B5EF4-FFF2-40B4-BE49-F238E27FC236}">
                <a16:creationId xmlns:a16="http://schemas.microsoft.com/office/drawing/2014/main" id="{F8F3491E-A80A-6F34-E8A7-C1CEE2BA54EA}"/>
              </a:ext>
            </a:extLst>
          </p:cNvPr>
          <p:cNvSpPr txBox="1"/>
          <p:nvPr/>
        </p:nvSpPr>
        <p:spPr>
          <a:xfrm>
            <a:off x="392084" y="560536"/>
            <a:ext cx="11190316" cy="409471"/>
          </a:xfrm>
          <a:prstGeom prst="rect">
            <a:avLst/>
          </a:prstGeom>
        </p:spPr>
        <p:txBody>
          <a:bodyPr wrap="square" lIns="0" tIns="0" rIns="0" bIns="0" rtlCol="0" anchor="t">
            <a:spAutoFit/>
          </a:bodyPr>
          <a:lstStyle/>
          <a:p>
            <a:pPr marL="0" marR="0" lvl="0" indent="0" algn="l" defTabSz="914400" rtl="0" eaLnBrk="1" fontAlgn="auto" latinLnBrk="0" hangingPunct="1">
              <a:lnSpc>
                <a:spcPts val="3494"/>
              </a:lnSpc>
              <a:spcBef>
                <a:spcPts val="0"/>
              </a:spcBef>
              <a:spcAft>
                <a:spcPts val="0"/>
              </a:spcAft>
              <a:buClrTx/>
              <a:buSzTx/>
              <a:buFontTx/>
              <a:buNone/>
              <a:tabLst/>
              <a:defRPr/>
            </a:pPr>
            <a:r>
              <a:rPr kumimoji="0" lang="en-US" sz="2496" b="1" u="none" strike="noStrike" kern="1200" cap="none" spc="0" normalizeH="0" baseline="0" noProof="0" dirty="0">
                <a:ln>
                  <a:noFill/>
                </a:ln>
                <a:solidFill>
                  <a:srgbClr val="FFFFFF"/>
                </a:solidFill>
                <a:effectLst/>
                <a:uLnTx/>
                <a:uFillTx/>
                <a:latin typeface="Arial Bold"/>
                <a:ea typeface="Arial Bold"/>
                <a:cs typeface="Arial Bold"/>
                <a:sym typeface="Arial Bold"/>
              </a:rPr>
              <a:t>Procedural requirements</a:t>
            </a:r>
          </a:p>
        </p:txBody>
      </p:sp>
      <p:sp>
        <p:nvSpPr>
          <p:cNvPr id="9" name="TextBox 9">
            <a:extLst>
              <a:ext uri="{FF2B5EF4-FFF2-40B4-BE49-F238E27FC236}">
                <a16:creationId xmlns:a16="http://schemas.microsoft.com/office/drawing/2014/main" id="{B00BA5EE-93A6-8BDB-4A52-F204BDA7DCCD}"/>
              </a:ext>
            </a:extLst>
          </p:cNvPr>
          <p:cNvSpPr txBox="1"/>
          <p:nvPr/>
        </p:nvSpPr>
        <p:spPr>
          <a:xfrm>
            <a:off x="392084" y="1524000"/>
            <a:ext cx="7456516" cy="3774110"/>
          </a:xfrm>
          <a:prstGeom prst="rect">
            <a:avLst/>
          </a:prstGeom>
        </p:spPr>
        <p:txBody>
          <a:bodyPr wrap="square" lIns="0" tIns="0" rIns="0" bIns="0" rtlCol="0" anchor="t">
            <a:spAutoFit/>
          </a:bodyPr>
          <a:lstStyle/>
          <a:p>
            <a:pPr marL="285750" marR="0" lvl="0" indent="-285750" algn="l" defTabSz="914400" rtl="0" eaLnBrk="1" fontAlgn="auto" latinLnBrk="0" hangingPunct="1">
              <a:lnSpc>
                <a:spcPct val="100000"/>
              </a:lnSpc>
              <a:spcBef>
                <a:spcPts val="0"/>
              </a:spcBef>
              <a:spcAft>
                <a:spcPts val="1200"/>
              </a:spcAft>
              <a:buClrTx/>
              <a:buSzTx/>
              <a:buFont typeface="Arial" panose="020B0604020202020204" pitchFamily="34" charset="0"/>
              <a:buChar char="•"/>
              <a:tabLst/>
              <a:defRPr/>
            </a:pPr>
            <a:r>
              <a:rPr lang="en-US" sz="1627" b="1" dirty="0">
                <a:solidFill>
                  <a:srgbClr val="FFFFFF"/>
                </a:solidFill>
                <a:latin typeface="Arial" panose="020B0604020202020204" pitchFamily="34" charset="0"/>
                <a:ea typeface="Arial Bold"/>
                <a:cs typeface="Arial" panose="020B0604020202020204" pitchFamily="34" charset="0"/>
                <a:sym typeface="Arial Bold"/>
              </a:rPr>
              <a:t>Project Bluesky (again)</a:t>
            </a:r>
          </a:p>
          <a:p>
            <a:pPr marL="285750" marR="0" lvl="0" indent="-285750" algn="l" defTabSz="914400" rtl="0" eaLnBrk="1" fontAlgn="auto" latinLnBrk="0" hangingPunct="1">
              <a:lnSpc>
                <a:spcPct val="100000"/>
              </a:lnSpc>
              <a:spcBef>
                <a:spcPts val="0"/>
              </a:spcBef>
              <a:spcAft>
                <a:spcPts val="1200"/>
              </a:spcAft>
              <a:buClrTx/>
              <a:buSzTx/>
              <a:buFont typeface="Arial" panose="020B0604020202020204" pitchFamily="34" charset="0"/>
              <a:buChar char="•"/>
              <a:tabLst/>
              <a:defRPr/>
            </a:pPr>
            <a:r>
              <a:rPr lang="en-US" sz="1627" b="1" dirty="0">
                <a:solidFill>
                  <a:srgbClr val="FFFFFF"/>
                </a:solidFill>
                <a:latin typeface="Arial" panose="020B0604020202020204" pitchFamily="34" charset="0"/>
                <a:ea typeface="Arial Bold"/>
                <a:cs typeface="Arial" panose="020B0604020202020204" pitchFamily="34" charset="0"/>
                <a:sym typeface="Arial Bold"/>
              </a:rPr>
              <a:t>Facts:</a:t>
            </a:r>
            <a:r>
              <a:rPr lang="en-US" sz="1627" dirty="0">
                <a:solidFill>
                  <a:srgbClr val="FFFFFF"/>
                </a:solidFill>
                <a:latin typeface="Arial" panose="020B0604020202020204" pitchFamily="34" charset="0"/>
                <a:ea typeface="Arial Bold"/>
                <a:cs typeface="Arial" panose="020B0604020202020204" pitchFamily="34" charset="0"/>
                <a:sym typeface="Arial Bold"/>
              </a:rPr>
              <a:t> </a:t>
            </a:r>
            <a:r>
              <a:rPr lang="en-US" sz="1627" i="1" dirty="0">
                <a:solidFill>
                  <a:srgbClr val="FFFFFF"/>
                </a:solidFill>
                <a:latin typeface="Arial" panose="020B0604020202020204" pitchFamily="34" charset="0"/>
                <a:ea typeface="Arial Bold"/>
                <a:cs typeface="Arial" panose="020B0604020202020204" pitchFamily="34" charset="0"/>
                <a:sym typeface="Arial Bold"/>
              </a:rPr>
              <a:t>Australian Broadcasting Authority (ABA) </a:t>
            </a:r>
            <a:r>
              <a:rPr lang="en-US" sz="1627" dirty="0">
                <a:solidFill>
                  <a:srgbClr val="FFFFFF"/>
                </a:solidFill>
                <a:latin typeface="Arial" panose="020B0604020202020204" pitchFamily="34" charset="0"/>
                <a:ea typeface="Arial Bold"/>
                <a:cs typeface="Arial" panose="020B0604020202020204" pitchFamily="34" charset="0"/>
                <a:sym typeface="Arial Bold"/>
              </a:rPr>
              <a:t>required to make </a:t>
            </a:r>
            <a:br>
              <a:rPr lang="en-US" sz="1627" dirty="0">
                <a:solidFill>
                  <a:srgbClr val="FFFFFF"/>
                </a:solidFill>
                <a:latin typeface="Arial" panose="020B0604020202020204" pitchFamily="34" charset="0"/>
                <a:ea typeface="Arial Bold"/>
                <a:cs typeface="Arial" panose="020B0604020202020204" pitchFamily="34" charset="0"/>
                <a:sym typeface="Arial Bold"/>
              </a:rPr>
            </a:br>
            <a:r>
              <a:rPr lang="en-US" sz="1627" dirty="0">
                <a:solidFill>
                  <a:srgbClr val="FFFFFF"/>
                </a:solidFill>
                <a:latin typeface="Arial" panose="020B0604020202020204" pitchFamily="34" charset="0"/>
                <a:ea typeface="Arial Bold"/>
                <a:cs typeface="Arial" panose="020B0604020202020204" pitchFamily="34" charset="0"/>
                <a:sym typeface="Arial Bold"/>
              </a:rPr>
              <a:t>program standards re: Australian content (s.122 Broadcasting Services Act 1992 (</a:t>
            </a:r>
            <a:r>
              <a:rPr lang="en-US" sz="1627" dirty="0" err="1">
                <a:solidFill>
                  <a:srgbClr val="FFFFFF"/>
                </a:solidFill>
                <a:latin typeface="Arial" panose="020B0604020202020204" pitchFamily="34" charset="0"/>
                <a:ea typeface="Arial Bold"/>
                <a:cs typeface="Arial" panose="020B0604020202020204" pitchFamily="34" charset="0"/>
                <a:sym typeface="Arial Bold"/>
              </a:rPr>
              <a:t>Cth</a:t>
            </a:r>
            <a:r>
              <a:rPr lang="en-US" sz="1627" dirty="0">
                <a:solidFill>
                  <a:srgbClr val="FFFFFF"/>
                </a:solidFill>
                <a:latin typeface="Arial" panose="020B0604020202020204" pitchFamily="34" charset="0"/>
                <a:ea typeface="Arial Bold"/>
                <a:cs typeface="Arial" panose="020B0604020202020204" pitchFamily="34" charset="0"/>
                <a:sym typeface="Arial Bold"/>
              </a:rPr>
              <a:t>)).  </a:t>
            </a:r>
          </a:p>
          <a:p>
            <a:pPr marL="285750" marR="0" lvl="0" indent="-285750" algn="l" defTabSz="914400" rtl="0" eaLnBrk="1" fontAlgn="auto" latinLnBrk="0" hangingPunct="1">
              <a:lnSpc>
                <a:spcPct val="100000"/>
              </a:lnSpc>
              <a:spcBef>
                <a:spcPts val="0"/>
              </a:spcBef>
              <a:spcAft>
                <a:spcPts val="1200"/>
              </a:spcAft>
              <a:buClrTx/>
              <a:buSzTx/>
              <a:buFont typeface="Arial" panose="020B0604020202020204" pitchFamily="34" charset="0"/>
              <a:buChar char="•"/>
              <a:tabLst/>
              <a:defRPr/>
            </a:pPr>
            <a:r>
              <a:rPr lang="en-US" sz="1627" dirty="0">
                <a:solidFill>
                  <a:srgbClr val="FFFFFF"/>
                </a:solidFill>
                <a:latin typeface="Arial" panose="020B0604020202020204" pitchFamily="34" charset="0"/>
                <a:ea typeface="Arial Bold"/>
                <a:cs typeface="Arial" panose="020B0604020202020204" pitchFamily="34" charset="0"/>
                <a:sym typeface="Arial Bold"/>
              </a:rPr>
              <a:t>s160 Act – ABA to perform functions in manner consistent with (d) Australia’s </a:t>
            </a:r>
            <a:r>
              <a:rPr lang="en-US" sz="1627" dirty="0" err="1">
                <a:solidFill>
                  <a:srgbClr val="FFFFFF"/>
                </a:solidFill>
                <a:latin typeface="Arial" panose="020B0604020202020204" pitchFamily="34" charset="0"/>
                <a:ea typeface="Arial Bold"/>
                <a:cs typeface="Arial" panose="020B0604020202020204" pitchFamily="34" charset="0"/>
                <a:sym typeface="Arial Bold"/>
              </a:rPr>
              <a:t>intl</a:t>
            </a:r>
            <a:r>
              <a:rPr lang="en-US" sz="1627" dirty="0">
                <a:solidFill>
                  <a:srgbClr val="FFFFFF"/>
                </a:solidFill>
                <a:latin typeface="Arial" panose="020B0604020202020204" pitchFamily="34" charset="0"/>
                <a:ea typeface="Arial Bold"/>
                <a:cs typeface="Arial" panose="020B0604020202020204" pitchFamily="34" charset="0"/>
                <a:sym typeface="Arial Bold"/>
              </a:rPr>
              <a:t> obligations (conventions or agreements with other countries)</a:t>
            </a:r>
          </a:p>
          <a:p>
            <a:pPr marL="285750" marR="0" lvl="0" indent="-285750" algn="l" defTabSz="914400" rtl="0" eaLnBrk="1" fontAlgn="auto" latinLnBrk="0" hangingPunct="1">
              <a:lnSpc>
                <a:spcPct val="100000"/>
              </a:lnSpc>
              <a:spcBef>
                <a:spcPts val="0"/>
              </a:spcBef>
              <a:spcAft>
                <a:spcPts val="1200"/>
              </a:spcAft>
              <a:buClrTx/>
              <a:buSzTx/>
              <a:buFont typeface="Arial" panose="020B0604020202020204" pitchFamily="34" charset="0"/>
              <a:buChar char="•"/>
              <a:tabLst/>
              <a:defRPr/>
            </a:pPr>
            <a:r>
              <a:rPr lang="en-US" sz="1627" dirty="0">
                <a:solidFill>
                  <a:srgbClr val="FFFFFF"/>
                </a:solidFill>
                <a:latin typeface="Arial" panose="020B0604020202020204" pitchFamily="34" charset="0"/>
                <a:ea typeface="Arial Bold"/>
                <a:cs typeface="Arial" panose="020B0604020202020204" pitchFamily="34" charset="0"/>
                <a:sym typeface="Arial Bold"/>
              </a:rPr>
              <a:t>ABA - content standard requiring TV networks to have Aust content of 50-55%</a:t>
            </a:r>
          </a:p>
          <a:p>
            <a:pPr marL="285750" marR="0" lvl="0" indent="-285750" algn="l" defTabSz="914400" rtl="0" eaLnBrk="1" fontAlgn="auto" latinLnBrk="0" hangingPunct="1">
              <a:lnSpc>
                <a:spcPct val="100000"/>
              </a:lnSpc>
              <a:spcBef>
                <a:spcPts val="0"/>
              </a:spcBef>
              <a:spcAft>
                <a:spcPts val="1200"/>
              </a:spcAft>
              <a:buClrTx/>
              <a:buSzTx/>
              <a:buFont typeface="Arial" panose="020B0604020202020204" pitchFamily="34" charset="0"/>
              <a:buChar char="•"/>
              <a:tabLst/>
              <a:defRPr/>
            </a:pPr>
            <a:r>
              <a:rPr lang="en-US" sz="1627" dirty="0">
                <a:solidFill>
                  <a:srgbClr val="FFFFFF"/>
                </a:solidFill>
                <a:latin typeface="Arial" panose="020B0604020202020204" pitchFamily="34" charset="0"/>
                <a:ea typeface="Arial Bold"/>
                <a:cs typeface="Arial" panose="020B0604020202020204" pitchFamily="34" charset="0"/>
                <a:sym typeface="Arial Bold"/>
              </a:rPr>
              <a:t>Project Blue Sky company (NZ) made shows including ‘Xena Warrior Princess’ (pictured): ABA’s content standard inconsistent with protocol made under a trade agreement (‘no less </a:t>
            </a:r>
            <a:r>
              <a:rPr lang="en-US" sz="1627" dirty="0" err="1">
                <a:solidFill>
                  <a:srgbClr val="FFFFFF"/>
                </a:solidFill>
                <a:latin typeface="Arial" panose="020B0604020202020204" pitchFamily="34" charset="0"/>
                <a:ea typeface="Arial Bold"/>
                <a:cs typeface="Arial" panose="020B0604020202020204" pitchFamily="34" charset="0"/>
                <a:sym typeface="Arial Bold"/>
              </a:rPr>
              <a:t>favourable</a:t>
            </a:r>
            <a:r>
              <a:rPr lang="en-US" sz="1627" dirty="0">
                <a:solidFill>
                  <a:srgbClr val="FFFFFF"/>
                </a:solidFill>
                <a:latin typeface="Arial" panose="020B0604020202020204" pitchFamily="34" charset="0"/>
                <a:ea typeface="Arial Bold"/>
                <a:cs typeface="Arial" panose="020B0604020202020204" pitchFamily="34" charset="0"/>
                <a:sym typeface="Arial Bold"/>
              </a:rPr>
              <a:t>’ treatment provision)</a:t>
            </a:r>
          </a:p>
          <a:p>
            <a:pPr marL="285750" marR="0" lvl="0" indent="-285750" algn="l" defTabSz="914400" rtl="0" eaLnBrk="1" fontAlgn="auto" latinLnBrk="0" hangingPunct="1">
              <a:lnSpc>
                <a:spcPct val="100000"/>
              </a:lnSpc>
              <a:spcBef>
                <a:spcPts val="0"/>
              </a:spcBef>
              <a:spcAft>
                <a:spcPts val="1200"/>
              </a:spcAft>
              <a:buClrTx/>
              <a:buSzTx/>
              <a:buFont typeface="Arial" panose="020B0604020202020204" pitchFamily="34" charset="0"/>
              <a:buChar char="•"/>
              <a:tabLst/>
              <a:defRPr/>
            </a:pPr>
            <a:r>
              <a:rPr lang="en-US" sz="1627" dirty="0">
                <a:solidFill>
                  <a:srgbClr val="FFFFFF"/>
                </a:solidFill>
                <a:latin typeface="Arial" panose="020B0604020202020204" pitchFamily="34" charset="0"/>
                <a:ea typeface="Arial Bold"/>
                <a:cs typeface="Arial" panose="020B0604020202020204" pitchFamily="34" charset="0"/>
                <a:sym typeface="Arial Bold"/>
              </a:rPr>
              <a:t>Q: was failure to follow s160(d) a procedural requirement, breach of which would lead to invalidity of the content standard made under s.122?</a:t>
            </a:r>
          </a:p>
        </p:txBody>
      </p:sp>
      <p:sp>
        <p:nvSpPr>
          <p:cNvPr id="10" name="TextBox 10">
            <a:extLst>
              <a:ext uri="{FF2B5EF4-FFF2-40B4-BE49-F238E27FC236}">
                <a16:creationId xmlns:a16="http://schemas.microsoft.com/office/drawing/2014/main" id="{3BA4EE95-AE8E-9270-CFB5-B2AB18BB5D42}"/>
              </a:ext>
            </a:extLst>
          </p:cNvPr>
          <p:cNvSpPr txBox="1"/>
          <p:nvPr/>
        </p:nvSpPr>
        <p:spPr>
          <a:xfrm>
            <a:off x="10195446" y="6347803"/>
            <a:ext cx="1773879" cy="193258"/>
          </a:xfrm>
          <a:prstGeom prst="rect">
            <a:avLst/>
          </a:prstGeom>
        </p:spPr>
        <p:txBody>
          <a:bodyPr lIns="0" tIns="0" rIns="0" bIns="0" rtlCol="0" anchor="t">
            <a:spAutoFit/>
          </a:bodyPr>
          <a:lstStyle/>
          <a:p>
            <a:pPr marL="0" marR="0" lvl="0" indent="0" algn="l" defTabSz="914400" rtl="0" eaLnBrk="1" fontAlgn="auto" latinLnBrk="0" hangingPunct="1">
              <a:lnSpc>
                <a:spcPts val="1422"/>
              </a:lnSpc>
              <a:spcBef>
                <a:spcPts val="0"/>
              </a:spcBef>
              <a:spcAft>
                <a:spcPts val="0"/>
              </a:spcAft>
              <a:buClrTx/>
              <a:buSzTx/>
              <a:buFontTx/>
              <a:buNone/>
              <a:tabLst/>
              <a:defRPr/>
            </a:pPr>
            <a:r>
              <a:rPr kumimoji="0" lang="en-US" sz="1016" b="0" i="0" u="none" strike="noStrike" kern="1200" cap="none" spc="0" normalizeH="0" baseline="0" noProof="0">
                <a:ln>
                  <a:noFill/>
                </a:ln>
                <a:solidFill>
                  <a:srgbClr val="FFFFFF"/>
                </a:solidFill>
                <a:effectLst/>
                <a:uLnTx/>
                <a:uFillTx/>
                <a:latin typeface="Arial"/>
                <a:ea typeface="Arial"/>
                <a:cs typeface="Arial"/>
                <a:sym typeface="Arial"/>
              </a:rPr>
              <a:t>Administrative Law –LAW1023</a:t>
            </a:r>
          </a:p>
        </p:txBody>
      </p:sp>
      <p:pic>
        <p:nvPicPr>
          <p:cNvPr id="4" name="Picture 3">
            <a:extLst>
              <a:ext uri="{FF2B5EF4-FFF2-40B4-BE49-F238E27FC236}">
                <a16:creationId xmlns:a16="http://schemas.microsoft.com/office/drawing/2014/main" id="{B456B67D-A572-71E3-031B-5BAA753DFBE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220200" y="3736732"/>
            <a:ext cx="2110923" cy="1592544"/>
          </a:xfrm>
          <a:prstGeom prst="rect">
            <a:avLst/>
          </a:prstGeom>
        </p:spPr>
      </p:pic>
      <p:pic>
        <p:nvPicPr>
          <p:cNvPr id="6" name="Picture 5">
            <a:extLst>
              <a:ext uri="{FF2B5EF4-FFF2-40B4-BE49-F238E27FC236}">
                <a16:creationId xmlns:a16="http://schemas.microsoft.com/office/drawing/2014/main" id="{7BADA77C-BED1-E8BC-9DB1-8DA7F1E7F51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059895" y="1751822"/>
            <a:ext cx="2333048" cy="1656185"/>
          </a:xfrm>
          <a:prstGeom prst="rect">
            <a:avLst/>
          </a:prstGeom>
        </p:spPr>
      </p:pic>
    </p:spTree>
    <p:extLst>
      <p:ext uri="{BB962C8B-B14F-4D97-AF65-F5344CB8AC3E}">
        <p14:creationId xmlns:p14="http://schemas.microsoft.com/office/powerpoint/2010/main" val="3406341541"/>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bg>
      <p:bgPr>
        <a:solidFill>
          <a:srgbClr val="000054"/>
        </a:solidFill>
        <a:effectLst/>
      </p:bgPr>
    </p:bg>
    <p:spTree>
      <p:nvGrpSpPr>
        <p:cNvPr id="1" name="">
          <a:extLst>
            <a:ext uri="{FF2B5EF4-FFF2-40B4-BE49-F238E27FC236}">
              <a16:creationId xmlns:a16="http://schemas.microsoft.com/office/drawing/2014/main" id="{00D792E7-1DAB-2068-DC58-92CAE32D1C4A}"/>
            </a:ext>
          </a:extLst>
        </p:cNvPr>
        <p:cNvGrpSpPr/>
        <p:nvPr/>
      </p:nvGrpSpPr>
      <p:grpSpPr>
        <a:xfrm>
          <a:off x="0" y="0"/>
          <a:ext cx="0" cy="0"/>
          <a:chOff x="0" y="0"/>
          <a:chExt cx="0" cy="0"/>
        </a:xfrm>
      </p:grpSpPr>
      <p:grpSp>
        <p:nvGrpSpPr>
          <p:cNvPr id="2" name="Group 2">
            <a:extLst>
              <a:ext uri="{FF2B5EF4-FFF2-40B4-BE49-F238E27FC236}">
                <a16:creationId xmlns:a16="http://schemas.microsoft.com/office/drawing/2014/main" id="{37EAC5C9-3BB4-E6B4-9D14-DD2E53AF435E}"/>
              </a:ext>
            </a:extLst>
          </p:cNvPr>
          <p:cNvGrpSpPr/>
          <p:nvPr/>
        </p:nvGrpSpPr>
        <p:grpSpPr>
          <a:xfrm rot="-10800000">
            <a:off x="11045567" y="-12700"/>
            <a:ext cx="1146433" cy="1146433"/>
            <a:chOff x="0" y="0"/>
            <a:chExt cx="1630482" cy="1630482"/>
          </a:xfrm>
        </p:grpSpPr>
        <p:sp>
          <p:nvSpPr>
            <p:cNvPr id="3" name="Freeform 3">
              <a:extLst>
                <a:ext uri="{FF2B5EF4-FFF2-40B4-BE49-F238E27FC236}">
                  <a16:creationId xmlns:a16="http://schemas.microsoft.com/office/drawing/2014/main" id="{5ACBEDFC-5D50-A8CF-0C59-366BC619654B}"/>
                </a:ext>
              </a:extLst>
            </p:cNvPr>
            <p:cNvSpPr/>
            <p:nvPr/>
          </p:nvSpPr>
          <p:spPr>
            <a:xfrm>
              <a:off x="0" y="0"/>
              <a:ext cx="1630426" cy="1630426"/>
            </a:xfrm>
            <a:custGeom>
              <a:avLst/>
              <a:gdLst/>
              <a:ahLst/>
              <a:cxnLst/>
              <a:rect l="l" t="t" r="r" b="b"/>
              <a:pathLst>
                <a:path w="1630426" h="1630426">
                  <a:moveTo>
                    <a:pt x="0" y="0"/>
                  </a:moveTo>
                  <a:lnTo>
                    <a:pt x="543433" y="0"/>
                  </a:lnTo>
                  <a:lnTo>
                    <a:pt x="543433" y="543433"/>
                  </a:lnTo>
                  <a:lnTo>
                    <a:pt x="1086993" y="543433"/>
                  </a:lnTo>
                  <a:lnTo>
                    <a:pt x="1086993" y="1086993"/>
                  </a:lnTo>
                  <a:lnTo>
                    <a:pt x="1630426" y="1086993"/>
                  </a:lnTo>
                  <a:lnTo>
                    <a:pt x="1630426" y="1630426"/>
                  </a:lnTo>
                  <a:lnTo>
                    <a:pt x="0" y="1630426"/>
                  </a:lnTo>
                  <a:lnTo>
                    <a:pt x="0" y="1086993"/>
                  </a:lnTo>
                  <a:lnTo>
                    <a:pt x="0" y="543433"/>
                  </a:lnTo>
                  <a:close/>
                </a:path>
              </a:pathLst>
            </a:custGeom>
            <a:solidFill>
              <a:srgbClr val="FFFFFF"/>
            </a:solid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AU" sz="1800" b="0" i="0" u="none" strike="noStrike" kern="1200" cap="none" spc="0" normalizeH="0" baseline="0" noProof="0">
                <a:ln>
                  <a:noFill/>
                </a:ln>
                <a:solidFill>
                  <a:prstClr val="black"/>
                </a:solidFill>
                <a:effectLst/>
                <a:uLnTx/>
                <a:uFillTx/>
                <a:latin typeface="Calibri"/>
                <a:ea typeface="+mn-ea"/>
                <a:cs typeface="+mn-cs"/>
              </a:endParaRPr>
            </a:p>
          </p:txBody>
        </p:sp>
      </p:grpSp>
      <p:sp>
        <p:nvSpPr>
          <p:cNvPr id="5" name="TextBox 5">
            <a:extLst>
              <a:ext uri="{FF2B5EF4-FFF2-40B4-BE49-F238E27FC236}">
                <a16:creationId xmlns:a16="http://schemas.microsoft.com/office/drawing/2014/main" id="{1D81008F-F27E-EBE2-F6A7-1B18F07A9017}"/>
              </a:ext>
            </a:extLst>
          </p:cNvPr>
          <p:cNvSpPr txBox="1"/>
          <p:nvPr/>
        </p:nvSpPr>
        <p:spPr>
          <a:xfrm>
            <a:off x="392084" y="560536"/>
            <a:ext cx="11190316" cy="858312"/>
          </a:xfrm>
          <a:prstGeom prst="rect">
            <a:avLst/>
          </a:prstGeom>
        </p:spPr>
        <p:txBody>
          <a:bodyPr wrap="square" lIns="0" tIns="0" rIns="0" bIns="0" rtlCol="0" anchor="t">
            <a:spAutoFit/>
          </a:bodyPr>
          <a:lstStyle/>
          <a:p>
            <a:pPr marL="0" marR="0" lvl="0" indent="0" algn="l" defTabSz="914400" rtl="0" eaLnBrk="1" fontAlgn="auto" latinLnBrk="0" hangingPunct="1">
              <a:lnSpc>
                <a:spcPts val="3494"/>
              </a:lnSpc>
              <a:spcBef>
                <a:spcPts val="0"/>
              </a:spcBef>
              <a:spcAft>
                <a:spcPts val="0"/>
              </a:spcAft>
              <a:buClrTx/>
              <a:buSzTx/>
              <a:buFontTx/>
              <a:buNone/>
              <a:tabLst/>
              <a:defRPr/>
            </a:pPr>
            <a:r>
              <a:rPr kumimoji="0" lang="en-US" sz="2496" b="1" u="none" strike="noStrike" kern="1200" cap="none" spc="0" normalizeH="0" baseline="0" noProof="0" dirty="0">
                <a:ln>
                  <a:noFill/>
                </a:ln>
                <a:solidFill>
                  <a:srgbClr val="FFFFFF"/>
                </a:solidFill>
                <a:effectLst/>
                <a:uLnTx/>
                <a:uFillTx/>
                <a:latin typeface="Arial Bold"/>
                <a:ea typeface="Arial Bold"/>
                <a:cs typeface="Arial Bold"/>
                <a:sym typeface="Arial Bold"/>
              </a:rPr>
              <a:t>Procedural Ultra Vires – </a:t>
            </a:r>
            <a:r>
              <a:rPr kumimoji="0" lang="en-US" sz="2496" b="1" i="1" u="none" strike="noStrike" kern="1200" cap="none" spc="0" normalizeH="0" baseline="0" noProof="0" dirty="0">
                <a:ln>
                  <a:noFill/>
                </a:ln>
                <a:solidFill>
                  <a:srgbClr val="FFFFFF"/>
                </a:solidFill>
                <a:effectLst/>
                <a:uLnTx/>
                <a:uFillTx/>
                <a:latin typeface="Arial Bold"/>
                <a:ea typeface="Arial Bold"/>
                <a:cs typeface="Arial Bold"/>
                <a:sym typeface="Arial Bold"/>
              </a:rPr>
              <a:t>Project Blue Sky </a:t>
            </a:r>
            <a:r>
              <a:rPr kumimoji="0" lang="en-US" sz="2496" b="1" u="none" strike="noStrike" kern="1200" cap="none" spc="0" normalizeH="0" baseline="0" noProof="0" dirty="0">
                <a:ln>
                  <a:noFill/>
                </a:ln>
                <a:solidFill>
                  <a:srgbClr val="FFFFFF"/>
                </a:solidFill>
                <a:effectLst/>
                <a:uLnTx/>
                <a:uFillTx/>
                <a:latin typeface="Arial Bold"/>
                <a:ea typeface="Arial Bold"/>
                <a:cs typeface="Arial Bold"/>
                <a:sym typeface="Arial Bold"/>
              </a:rPr>
              <a:t>- McHugh, Gummow, Kirby and Hayne J</a:t>
            </a:r>
          </a:p>
        </p:txBody>
      </p:sp>
      <p:sp>
        <p:nvSpPr>
          <p:cNvPr id="9" name="TextBox 9">
            <a:extLst>
              <a:ext uri="{FF2B5EF4-FFF2-40B4-BE49-F238E27FC236}">
                <a16:creationId xmlns:a16="http://schemas.microsoft.com/office/drawing/2014/main" id="{A88C38F5-22C7-0DAD-B06F-CA8CDEAA2A30}"/>
              </a:ext>
            </a:extLst>
          </p:cNvPr>
          <p:cNvSpPr txBox="1"/>
          <p:nvPr/>
        </p:nvSpPr>
        <p:spPr>
          <a:xfrm>
            <a:off x="392084" y="1524000"/>
            <a:ext cx="9894916" cy="4473661"/>
          </a:xfrm>
          <a:prstGeom prst="rect">
            <a:avLst/>
          </a:prstGeom>
        </p:spPr>
        <p:txBody>
          <a:bodyPr wrap="square" lIns="0" tIns="0" rIns="0" bIns="0" rtlCol="0" anchor="t">
            <a:spAutoFit/>
          </a:bodyPr>
          <a:lstStyle/>
          <a:p>
            <a:pPr marL="285750" marR="0" lvl="0" indent="-285750" algn="l" defTabSz="914400" rtl="0" eaLnBrk="1" fontAlgn="auto" latinLnBrk="0" hangingPunct="1">
              <a:lnSpc>
                <a:spcPct val="100000"/>
              </a:lnSpc>
              <a:spcBef>
                <a:spcPts val="0"/>
              </a:spcBef>
              <a:spcAft>
                <a:spcPts val="1200"/>
              </a:spcAft>
              <a:buClrTx/>
              <a:buSzTx/>
              <a:buFont typeface="Arial" panose="020B0604020202020204" pitchFamily="34" charset="0"/>
              <a:buChar char="•"/>
              <a:tabLst/>
              <a:defRPr/>
            </a:pPr>
            <a:r>
              <a:rPr lang="en-US" sz="1627" dirty="0">
                <a:solidFill>
                  <a:srgbClr val="FFFFFF"/>
                </a:solidFill>
                <a:latin typeface="Arial" panose="020B0604020202020204" pitchFamily="34" charset="0"/>
                <a:ea typeface="Arial Bold"/>
                <a:cs typeface="Arial" panose="020B0604020202020204" pitchFamily="34" charset="0"/>
                <a:sym typeface="Arial Bold"/>
              </a:rPr>
              <a:t>HCA held (per McHugh, Gummow, Kirby and Hayne JJ):</a:t>
            </a:r>
          </a:p>
          <a:p>
            <a:pPr marL="285750" marR="0" lvl="0" indent="-285750" algn="l" defTabSz="914400" rtl="0" eaLnBrk="1" fontAlgn="auto" latinLnBrk="0" hangingPunct="1">
              <a:lnSpc>
                <a:spcPct val="100000"/>
              </a:lnSpc>
              <a:spcBef>
                <a:spcPts val="0"/>
              </a:spcBef>
              <a:spcAft>
                <a:spcPts val="1200"/>
              </a:spcAft>
              <a:buClrTx/>
              <a:buSzTx/>
              <a:buFont typeface="Arial" panose="020B0604020202020204" pitchFamily="34" charset="0"/>
              <a:buChar char="•"/>
              <a:tabLst/>
              <a:defRPr/>
            </a:pPr>
            <a:r>
              <a:rPr lang="en-US" sz="1627" dirty="0">
                <a:solidFill>
                  <a:srgbClr val="FFFFFF"/>
                </a:solidFill>
                <a:latin typeface="Arial" panose="020B0604020202020204" pitchFamily="34" charset="0"/>
                <a:ea typeface="Arial Bold"/>
                <a:cs typeface="Arial" panose="020B0604020202020204" pitchFamily="34" charset="0"/>
                <a:sym typeface="Arial Bold"/>
              </a:rPr>
              <a:t>	‘An act done in breach of a condition regulating the exercise of a statutory power is not 	necessarily invalid and of no effect.’ </a:t>
            </a:r>
          </a:p>
          <a:p>
            <a:pPr marL="285750" marR="0" lvl="0" indent="-285750" algn="l" defTabSz="914400" rtl="0" eaLnBrk="1" fontAlgn="auto" latinLnBrk="0" hangingPunct="1">
              <a:lnSpc>
                <a:spcPct val="100000"/>
              </a:lnSpc>
              <a:spcBef>
                <a:spcPts val="0"/>
              </a:spcBef>
              <a:spcAft>
                <a:spcPts val="1200"/>
              </a:spcAft>
              <a:buClrTx/>
              <a:buSzTx/>
              <a:buFont typeface="Arial" panose="020B0604020202020204" pitchFamily="34" charset="0"/>
              <a:buChar char="•"/>
              <a:tabLst/>
              <a:defRPr/>
            </a:pPr>
            <a:r>
              <a:rPr lang="en-US" sz="1627" dirty="0" err="1">
                <a:solidFill>
                  <a:srgbClr val="FFFFFF"/>
                </a:solidFill>
                <a:latin typeface="Arial" panose="020B0604020202020204" pitchFamily="34" charset="0"/>
                <a:ea typeface="Arial Bold"/>
                <a:cs typeface="Arial" panose="020B0604020202020204" pitchFamily="34" charset="0"/>
                <a:sym typeface="Arial Bold"/>
              </a:rPr>
              <a:t>Criticised</a:t>
            </a:r>
            <a:r>
              <a:rPr lang="en-US" sz="1627" dirty="0">
                <a:solidFill>
                  <a:srgbClr val="FFFFFF"/>
                </a:solidFill>
                <a:latin typeface="Arial" panose="020B0604020202020204" pitchFamily="34" charset="0"/>
                <a:ea typeface="Arial Bold"/>
                <a:cs typeface="Arial" panose="020B0604020202020204" pitchFamily="34" charset="0"/>
                <a:sym typeface="Arial Bold"/>
              </a:rPr>
              <a:t> traditional mandatory/directory distinction…</a:t>
            </a:r>
          </a:p>
          <a:p>
            <a:pPr marL="285750" marR="0" lvl="0" indent="-285750" algn="l" defTabSz="914400" rtl="0" eaLnBrk="1" fontAlgn="auto" latinLnBrk="0" hangingPunct="1">
              <a:lnSpc>
                <a:spcPct val="100000"/>
              </a:lnSpc>
              <a:spcBef>
                <a:spcPts val="0"/>
              </a:spcBef>
              <a:spcAft>
                <a:spcPts val="1200"/>
              </a:spcAft>
              <a:buClrTx/>
              <a:buSzTx/>
              <a:buFont typeface="Arial" panose="020B0604020202020204" pitchFamily="34" charset="0"/>
              <a:buChar char="•"/>
              <a:tabLst/>
              <a:defRPr/>
            </a:pPr>
            <a:r>
              <a:rPr lang="en-US" sz="1627" dirty="0">
                <a:solidFill>
                  <a:srgbClr val="FFFFFF"/>
                </a:solidFill>
                <a:latin typeface="Arial" panose="020B0604020202020204" pitchFamily="34" charset="0"/>
                <a:ea typeface="Arial Bold"/>
                <a:cs typeface="Arial" panose="020B0604020202020204" pitchFamily="34" charset="0"/>
                <a:sym typeface="Arial Bold"/>
              </a:rPr>
              <a:t>Instead, should look to parliamentary intention:</a:t>
            </a:r>
          </a:p>
          <a:p>
            <a:pPr marL="285750" marR="0" lvl="0" indent="-285750" algn="l" defTabSz="914400" rtl="0" eaLnBrk="1" fontAlgn="auto" latinLnBrk="0" hangingPunct="1">
              <a:lnSpc>
                <a:spcPct val="100000"/>
              </a:lnSpc>
              <a:spcBef>
                <a:spcPts val="0"/>
              </a:spcBef>
              <a:spcAft>
                <a:spcPts val="1200"/>
              </a:spcAft>
              <a:buClrTx/>
              <a:buSzTx/>
              <a:buFont typeface="Arial" panose="020B0604020202020204" pitchFamily="34" charset="0"/>
              <a:buChar char="•"/>
              <a:tabLst/>
              <a:defRPr/>
            </a:pPr>
            <a:r>
              <a:rPr lang="en-US" sz="1627" dirty="0">
                <a:solidFill>
                  <a:srgbClr val="FFFFFF"/>
                </a:solidFill>
                <a:latin typeface="Arial" panose="020B0604020202020204" pitchFamily="34" charset="0"/>
                <a:ea typeface="Arial Bold"/>
                <a:cs typeface="Arial" panose="020B0604020202020204" pitchFamily="34" charset="0"/>
                <a:sym typeface="Arial Bold"/>
              </a:rPr>
              <a:t>	(</a:t>
            </a:r>
            <a:r>
              <a:rPr lang="en-US" sz="1627" dirty="0" err="1">
                <a:solidFill>
                  <a:srgbClr val="FFFFFF"/>
                </a:solidFill>
                <a:latin typeface="Arial" panose="020B0604020202020204" pitchFamily="34" charset="0"/>
                <a:ea typeface="Arial Bold"/>
                <a:cs typeface="Arial" panose="020B0604020202020204" pitchFamily="34" charset="0"/>
                <a:sym typeface="Arial Bold"/>
              </a:rPr>
              <a:t>i</a:t>
            </a:r>
            <a:r>
              <a:rPr lang="en-US" sz="1627" dirty="0">
                <a:solidFill>
                  <a:srgbClr val="FFFFFF"/>
                </a:solidFill>
                <a:latin typeface="Arial" panose="020B0604020202020204" pitchFamily="34" charset="0"/>
                <a:ea typeface="Arial Bold"/>
                <a:cs typeface="Arial" panose="020B0604020202020204" pitchFamily="34" charset="0"/>
                <a:sym typeface="Arial Bold"/>
              </a:rPr>
              <a:t>) Language of the statute</a:t>
            </a:r>
          </a:p>
          <a:p>
            <a:pPr marL="285750" marR="0" lvl="0" indent="-285750" algn="l" defTabSz="914400" rtl="0" eaLnBrk="1" fontAlgn="auto" latinLnBrk="0" hangingPunct="1">
              <a:lnSpc>
                <a:spcPct val="100000"/>
              </a:lnSpc>
              <a:spcBef>
                <a:spcPts val="0"/>
              </a:spcBef>
              <a:spcAft>
                <a:spcPts val="1200"/>
              </a:spcAft>
              <a:buClrTx/>
              <a:buSzTx/>
              <a:buFont typeface="Arial" panose="020B0604020202020204" pitchFamily="34" charset="0"/>
              <a:buChar char="•"/>
              <a:tabLst/>
              <a:defRPr/>
            </a:pPr>
            <a:r>
              <a:rPr lang="en-US" sz="1627" dirty="0">
                <a:solidFill>
                  <a:srgbClr val="FFFFFF"/>
                </a:solidFill>
                <a:latin typeface="Arial" panose="020B0604020202020204" pitchFamily="34" charset="0"/>
                <a:ea typeface="Arial Bold"/>
                <a:cs typeface="Arial" panose="020B0604020202020204" pitchFamily="34" charset="0"/>
                <a:sym typeface="Arial Bold"/>
              </a:rPr>
              <a:t>	(ii) Subject matter and objects of statute</a:t>
            </a:r>
          </a:p>
          <a:p>
            <a:pPr marL="285750" marR="0" lvl="0" indent="-285750" algn="l" defTabSz="914400" rtl="0" eaLnBrk="1" fontAlgn="auto" latinLnBrk="0" hangingPunct="1">
              <a:lnSpc>
                <a:spcPct val="100000"/>
              </a:lnSpc>
              <a:spcBef>
                <a:spcPts val="0"/>
              </a:spcBef>
              <a:spcAft>
                <a:spcPts val="1200"/>
              </a:spcAft>
              <a:buClrTx/>
              <a:buSzTx/>
              <a:buFont typeface="Arial" panose="020B0604020202020204" pitchFamily="34" charset="0"/>
              <a:buChar char="•"/>
              <a:tabLst/>
              <a:defRPr/>
            </a:pPr>
            <a:r>
              <a:rPr lang="en-US" sz="1627" dirty="0">
                <a:solidFill>
                  <a:srgbClr val="FFFFFF"/>
                </a:solidFill>
                <a:latin typeface="Arial" panose="020B0604020202020204" pitchFamily="34" charset="0"/>
                <a:ea typeface="Arial Bold"/>
                <a:cs typeface="Arial" panose="020B0604020202020204" pitchFamily="34" charset="0"/>
                <a:sym typeface="Arial Bold"/>
              </a:rPr>
              <a:t>	(iii) Consequences to the parties of a finding that actions done in breach of the condition are void </a:t>
            </a:r>
          </a:p>
          <a:p>
            <a:pPr marL="285750" marR="0" lvl="0" indent="-285750" algn="l" defTabSz="914400" rtl="0" eaLnBrk="1" fontAlgn="auto" latinLnBrk="0" hangingPunct="1">
              <a:lnSpc>
                <a:spcPct val="100000"/>
              </a:lnSpc>
              <a:spcBef>
                <a:spcPts val="0"/>
              </a:spcBef>
              <a:spcAft>
                <a:spcPts val="1200"/>
              </a:spcAft>
              <a:buClrTx/>
              <a:buSzTx/>
              <a:buFont typeface="Arial" panose="020B0604020202020204" pitchFamily="34" charset="0"/>
              <a:buChar char="•"/>
              <a:tabLst/>
              <a:defRPr/>
            </a:pPr>
            <a:r>
              <a:rPr lang="en-US" sz="1200" dirty="0">
                <a:solidFill>
                  <a:srgbClr val="FFFFFF"/>
                </a:solidFill>
                <a:latin typeface="Arial" panose="020B0604020202020204" pitchFamily="34" charset="0"/>
                <a:ea typeface="Arial Bold"/>
                <a:cs typeface="Arial" panose="020B0604020202020204" pitchFamily="34" charset="0"/>
                <a:sym typeface="Arial Bold"/>
              </a:rPr>
              <a:t>NB ‘no decisive rule’ – ‘contestable judgment’. In this case, s 160 directed to policy guidance for ABA – impossible in practice to have regard to 900+ treaties to which Australia is party – much inconvenience if many acts of ABA (</a:t>
            </a:r>
            <a:r>
              <a:rPr lang="en-US" sz="1200" dirty="0" err="1">
                <a:solidFill>
                  <a:srgbClr val="FFFFFF"/>
                </a:solidFill>
                <a:latin typeface="Arial" panose="020B0604020202020204" pitchFamily="34" charset="0"/>
                <a:ea typeface="Arial Bold"/>
                <a:cs typeface="Arial" panose="020B0604020202020204" pitchFamily="34" charset="0"/>
                <a:sym typeface="Arial Bold"/>
              </a:rPr>
              <a:t>eg</a:t>
            </a:r>
            <a:r>
              <a:rPr lang="en-US" sz="1200" dirty="0">
                <a:solidFill>
                  <a:srgbClr val="FFFFFF"/>
                </a:solidFill>
                <a:latin typeface="Arial" panose="020B0604020202020204" pitchFamily="34" charset="0"/>
                <a:ea typeface="Arial Bold"/>
                <a:cs typeface="Arial" panose="020B0604020202020204" pitchFamily="34" charset="0"/>
                <a:sym typeface="Arial Bold"/>
              </a:rPr>
              <a:t> grants of </a:t>
            </a:r>
            <a:r>
              <a:rPr lang="en-US" sz="1200" dirty="0" err="1">
                <a:solidFill>
                  <a:srgbClr val="FFFFFF"/>
                </a:solidFill>
                <a:latin typeface="Arial" panose="020B0604020202020204" pitchFamily="34" charset="0"/>
                <a:ea typeface="Arial Bold"/>
                <a:cs typeface="Arial" panose="020B0604020202020204" pitchFamily="34" charset="0"/>
                <a:sym typeface="Arial Bold"/>
              </a:rPr>
              <a:t>licences</a:t>
            </a:r>
            <a:r>
              <a:rPr lang="en-US" sz="1200" dirty="0">
                <a:solidFill>
                  <a:srgbClr val="FFFFFF"/>
                </a:solidFill>
                <a:latin typeface="Arial" panose="020B0604020202020204" pitchFamily="34" charset="0"/>
                <a:ea typeface="Arial Bold"/>
                <a:cs typeface="Arial" panose="020B0604020202020204" pitchFamily="34" charset="0"/>
                <a:sym typeface="Arial Bold"/>
              </a:rPr>
              <a:t>) were invalidated – court found no Parl. intention that breach should lead to invalidity. Still, foreign producers could sue </a:t>
            </a:r>
            <a:br>
              <a:rPr lang="en-US" sz="1200" dirty="0">
                <a:solidFill>
                  <a:srgbClr val="FFFFFF"/>
                </a:solidFill>
                <a:latin typeface="Arial" panose="020B0604020202020204" pitchFamily="34" charset="0"/>
                <a:ea typeface="Arial Bold"/>
                <a:cs typeface="Arial" panose="020B0604020202020204" pitchFamily="34" charset="0"/>
                <a:sym typeface="Arial Bold"/>
              </a:rPr>
            </a:br>
            <a:r>
              <a:rPr lang="en-US" sz="1200" dirty="0">
                <a:solidFill>
                  <a:srgbClr val="FFFFFF"/>
                </a:solidFill>
                <a:latin typeface="Arial" panose="020B0604020202020204" pitchFamily="34" charset="0"/>
                <a:ea typeface="Arial Bold"/>
                <a:cs typeface="Arial" panose="020B0604020202020204" pitchFamily="34" charset="0"/>
                <a:sym typeface="Arial Bold"/>
              </a:rPr>
              <a:t>for breach of s 160, and effect was threat to local content.</a:t>
            </a:r>
            <a:br>
              <a:rPr lang="en-US" sz="1627" dirty="0">
                <a:solidFill>
                  <a:srgbClr val="FFFFFF"/>
                </a:solidFill>
                <a:latin typeface="Arial" panose="020B0604020202020204" pitchFamily="34" charset="0"/>
                <a:ea typeface="Arial Bold"/>
                <a:cs typeface="Arial" panose="020B0604020202020204" pitchFamily="34" charset="0"/>
                <a:sym typeface="Arial Bold"/>
              </a:rPr>
            </a:br>
            <a:endParaRPr lang="en-US" sz="1627" dirty="0">
              <a:solidFill>
                <a:srgbClr val="FFFFFF"/>
              </a:solidFill>
              <a:latin typeface="Arial" panose="020B0604020202020204" pitchFamily="34" charset="0"/>
              <a:ea typeface="Arial Bold"/>
              <a:cs typeface="Arial" panose="020B0604020202020204" pitchFamily="34" charset="0"/>
              <a:sym typeface="Arial Bold"/>
            </a:endParaRPr>
          </a:p>
          <a:p>
            <a:pPr marL="285750" marR="0" lvl="0" indent="-285750" algn="l" defTabSz="914400" rtl="0" eaLnBrk="1" fontAlgn="auto" latinLnBrk="0" hangingPunct="1">
              <a:lnSpc>
                <a:spcPct val="100000"/>
              </a:lnSpc>
              <a:spcBef>
                <a:spcPts val="0"/>
              </a:spcBef>
              <a:spcAft>
                <a:spcPts val="1200"/>
              </a:spcAft>
              <a:buClrTx/>
              <a:buSzTx/>
              <a:buFont typeface="Arial" panose="020B0604020202020204" pitchFamily="34" charset="0"/>
              <a:buChar char="•"/>
              <a:tabLst/>
              <a:defRPr/>
            </a:pPr>
            <a:r>
              <a:rPr lang="en-US" sz="1627" dirty="0">
                <a:solidFill>
                  <a:srgbClr val="FFFFFF"/>
                </a:solidFill>
                <a:latin typeface="Arial" panose="020B0604020202020204" pitchFamily="34" charset="0"/>
                <a:ea typeface="Arial Bold"/>
                <a:cs typeface="Arial" panose="020B0604020202020204" pitchFamily="34" charset="0"/>
                <a:sym typeface="Arial Bold"/>
              </a:rPr>
              <a:t>NB Brennan CJ dissented, holding Standard invalid</a:t>
            </a:r>
          </a:p>
        </p:txBody>
      </p:sp>
      <p:sp>
        <p:nvSpPr>
          <p:cNvPr id="10" name="TextBox 10">
            <a:extLst>
              <a:ext uri="{FF2B5EF4-FFF2-40B4-BE49-F238E27FC236}">
                <a16:creationId xmlns:a16="http://schemas.microsoft.com/office/drawing/2014/main" id="{DA140951-B072-9EC3-BFDE-77018CADCA3B}"/>
              </a:ext>
            </a:extLst>
          </p:cNvPr>
          <p:cNvSpPr txBox="1"/>
          <p:nvPr/>
        </p:nvSpPr>
        <p:spPr>
          <a:xfrm>
            <a:off x="10195446" y="6347803"/>
            <a:ext cx="1773879" cy="193258"/>
          </a:xfrm>
          <a:prstGeom prst="rect">
            <a:avLst/>
          </a:prstGeom>
        </p:spPr>
        <p:txBody>
          <a:bodyPr lIns="0" tIns="0" rIns="0" bIns="0" rtlCol="0" anchor="t">
            <a:spAutoFit/>
          </a:bodyPr>
          <a:lstStyle/>
          <a:p>
            <a:pPr marL="0" marR="0" lvl="0" indent="0" algn="l" defTabSz="914400" rtl="0" eaLnBrk="1" fontAlgn="auto" latinLnBrk="0" hangingPunct="1">
              <a:lnSpc>
                <a:spcPts val="1422"/>
              </a:lnSpc>
              <a:spcBef>
                <a:spcPts val="0"/>
              </a:spcBef>
              <a:spcAft>
                <a:spcPts val="0"/>
              </a:spcAft>
              <a:buClrTx/>
              <a:buSzTx/>
              <a:buFontTx/>
              <a:buNone/>
              <a:tabLst/>
              <a:defRPr/>
            </a:pPr>
            <a:r>
              <a:rPr kumimoji="0" lang="en-US" sz="1016" b="0" i="0" u="none" strike="noStrike" kern="1200" cap="none" spc="0" normalizeH="0" baseline="0" noProof="0">
                <a:ln>
                  <a:noFill/>
                </a:ln>
                <a:solidFill>
                  <a:srgbClr val="FFFFFF"/>
                </a:solidFill>
                <a:effectLst/>
                <a:uLnTx/>
                <a:uFillTx/>
                <a:latin typeface="Arial"/>
                <a:ea typeface="Arial"/>
                <a:cs typeface="Arial"/>
                <a:sym typeface="Arial"/>
              </a:rPr>
              <a:t>Administrative Law –LAW1023</a:t>
            </a:r>
          </a:p>
        </p:txBody>
      </p:sp>
    </p:spTree>
    <p:extLst>
      <p:ext uri="{BB962C8B-B14F-4D97-AF65-F5344CB8AC3E}">
        <p14:creationId xmlns:p14="http://schemas.microsoft.com/office/powerpoint/2010/main" val="1802688514"/>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bg>
      <p:bgPr>
        <a:solidFill>
          <a:srgbClr val="000054"/>
        </a:solidFill>
        <a:effectLst/>
      </p:bgPr>
    </p:bg>
    <p:spTree>
      <p:nvGrpSpPr>
        <p:cNvPr id="1" name="">
          <a:extLst>
            <a:ext uri="{FF2B5EF4-FFF2-40B4-BE49-F238E27FC236}">
              <a16:creationId xmlns:a16="http://schemas.microsoft.com/office/drawing/2014/main" id="{68E8FBD2-924D-4E98-A195-098B23957BA0}"/>
            </a:ext>
          </a:extLst>
        </p:cNvPr>
        <p:cNvGrpSpPr/>
        <p:nvPr/>
      </p:nvGrpSpPr>
      <p:grpSpPr>
        <a:xfrm>
          <a:off x="0" y="0"/>
          <a:ext cx="0" cy="0"/>
          <a:chOff x="0" y="0"/>
          <a:chExt cx="0" cy="0"/>
        </a:xfrm>
      </p:grpSpPr>
      <p:grpSp>
        <p:nvGrpSpPr>
          <p:cNvPr id="2" name="Group 2">
            <a:extLst>
              <a:ext uri="{FF2B5EF4-FFF2-40B4-BE49-F238E27FC236}">
                <a16:creationId xmlns:a16="http://schemas.microsoft.com/office/drawing/2014/main" id="{4226289D-ABAE-0986-E813-E269908EB924}"/>
              </a:ext>
            </a:extLst>
          </p:cNvPr>
          <p:cNvGrpSpPr/>
          <p:nvPr/>
        </p:nvGrpSpPr>
        <p:grpSpPr>
          <a:xfrm rot="-10800000">
            <a:off x="11045567" y="-12700"/>
            <a:ext cx="1146433" cy="1146433"/>
            <a:chOff x="0" y="0"/>
            <a:chExt cx="1630482" cy="1630482"/>
          </a:xfrm>
        </p:grpSpPr>
        <p:sp>
          <p:nvSpPr>
            <p:cNvPr id="3" name="Freeform 3">
              <a:extLst>
                <a:ext uri="{FF2B5EF4-FFF2-40B4-BE49-F238E27FC236}">
                  <a16:creationId xmlns:a16="http://schemas.microsoft.com/office/drawing/2014/main" id="{7C5AA4E6-061C-BE2E-3E94-541128ABFDFA}"/>
                </a:ext>
              </a:extLst>
            </p:cNvPr>
            <p:cNvSpPr/>
            <p:nvPr/>
          </p:nvSpPr>
          <p:spPr>
            <a:xfrm>
              <a:off x="0" y="0"/>
              <a:ext cx="1630426" cy="1630426"/>
            </a:xfrm>
            <a:custGeom>
              <a:avLst/>
              <a:gdLst/>
              <a:ahLst/>
              <a:cxnLst/>
              <a:rect l="l" t="t" r="r" b="b"/>
              <a:pathLst>
                <a:path w="1630426" h="1630426">
                  <a:moveTo>
                    <a:pt x="0" y="0"/>
                  </a:moveTo>
                  <a:lnTo>
                    <a:pt x="543433" y="0"/>
                  </a:lnTo>
                  <a:lnTo>
                    <a:pt x="543433" y="543433"/>
                  </a:lnTo>
                  <a:lnTo>
                    <a:pt x="1086993" y="543433"/>
                  </a:lnTo>
                  <a:lnTo>
                    <a:pt x="1086993" y="1086993"/>
                  </a:lnTo>
                  <a:lnTo>
                    <a:pt x="1630426" y="1086993"/>
                  </a:lnTo>
                  <a:lnTo>
                    <a:pt x="1630426" y="1630426"/>
                  </a:lnTo>
                  <a:lnTo>
                    <a:pt x="0" y="1630426"/>
                  </a:lnTo>
                  <a:lnTo>
                    <a:pt x="0" y="1086993"/>
                  </a:lnTo>
                  <a:lnTo>
                    <a:pt x="0" y="543433"/>
                  </a:lnTo>
                  <a:close/>
                </a:path>
              </a:pathLst>
            </a:custGeom>
            <a:solidFill>
              <a:srgbClr val="FFFFFF"/>
            </a:solid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AU" sz="1800" b="0" i="0" u="none" strike="noStrike" kern="1200" cap="none" spc="0" normalizeH="0" baseline="0" noProof="0">
                <a:ln>
                  <a:noFill/>
                </a:ln>
                <a:solidFill>
                  <a:prstClr val="black"/>
                </a:solidFill>
                <a:effectLst/>
                <a:uLnTx/>
                <a:uFillTx/>
                <a:latin typeface="Calibri"/>
                <a:ea typeface="+mn-ea"/>
                <a:cs typeface="+mn-cs"/>
              </a:endParaRPr>
            </a:p>
          </p:txBody>
        </p:sp>
      </p:grpSp>
      <p:sp>
        <p:nvSpPr>
          <p:cNvPr id="5" name="TextBox 5">
            <a:extLst>
              <a:ext uri="{FF2B5EF4-FFF2-40B4-BE49-F238E27FC236}">
                <a16:creationId xmlns:a16="http://schemas.microsoft.com/office/drawing/2014/main" id="{EA0A2802-2FD3-46F4-2175-DD70FFF643A2}"/>
              </a:ext>
            </a:extLst>
          </p:cNvPr>
          <p:cNvSpPr txBox="1"/>
          <p:nvPr/>
        </p:nvSpPr>
        <p:spPr>
          <a:xfrm>
            <a:off x="392084" y="560536"/>
            <a:ext cx="11190316" cy="409471"/>
          </a:xfrm>
          <a:prstGeom prst="rect">
            <a:avLst/>
          </a:prstGeom>
        </p:spPr>
        <p:txBody>
          <a:bodyPr wrap="square" lIns="0" tIns="0" rIns="0" bIns="0" rtlCol="0" anchor="t">
            <a:spAutoFit/>
          </a:bodyPr>
          <a:lstStyle/>
          <a:p>
            <a:pPr marL="0" marR="0" lvl="0" indent="0" algn="l" defTabSz="914400" rtl="0" eaLnBrk="1" fontAlgn="auto" latinLnBrk="0" hangingPunct="1">
              <a:lnSpc>
                <a:spcPts val="3494"/>
              </a:lnSpc>
              <a:spcBef>
                <a:spcPts val="0"/>
              </a:spcBef>
              <a:spcAft>
                <a:spcPts val="0"/>
              </a:spcAft>
              <a:buClrTx/>
              <a:buSzTx/>
              <a:buFontTx/>
              <a:buNone/>
              <a:tabLst/>
              <a:defRPr/>
            </a:pPr>
            <a:r>
              <a:rPr kumimoji="0" lang="en-US" sz="2496" b="1" u="none" strike="noStrike" kern="1200" cap="none" spc="0" normalizeH="0" baseline="0" noProof="0" dirty="0">
                <a:ln>
                  <a:noFill/>
                </a:ln>
                <a:solidFill>
                  <a:srgbClr val="FFFFFF"/>
                </a:solidFill>
                <a:effectLst/>
                <a:uLnTx/>
                <a:uFillTx/>
                <a:latin typeface="Arial Bold"/>
                <a:ea typeface="Arial Bold"/>
                <a:cs typeface="Arial Bold"/>
                <a:sym typeface="Arial Bold"/>
              </a:rPr>
              <a:t>Aftermath of Project Blue Sky Decision</a:t>
            </a:r>
          </a:p>
        </p:txBody>
      </p:sp>
      <p:sp>
        <p:nvSpPr>
          <p:cNvPr id="9" name="TextBox 9">
            <a:extLst>
              <a:ext uri="{FF2B5EF4-FFF2-40B4-BE49-F238E27FC236}">
                <a16:creationId xmlns:a16="http://schemas.microsoft.com/office/drawing/2014/main" id="{F7921C0F-ADEE-8C8B-E387-4FD1AEC3DDD0}"/>
              </a:ext>
            </a:extLst>
          </p:cNvPr>
          <p:cNvSpPr txBox="1"/>
          <p:nvPr/>
        </p:nvSpPr>
        <p:spPr>
          <a:xfrm>
            <a:off x="392084" y="1524000"/>
            <a:ext cx="7151716" cy="5122556"/>
          </a:xfrm>
          <a:prstGeom prst="rect">
            <a:avLst/>
          </a:prstGeom>
        </p:spPr>
        <p:txBody>
          <a:bodyPr wrap="square" lIns="0" tIns="0" rIns="0" bIns="0" rtlCol="0" anchor="t">
            <a:spAutoFit/>
          </a:bodyPr>
          <a:lstStyle/>
          <a:p>
            <a:pPr marL="285750" marR="0" lvl="0" indent="-285750" algn="l" defTabSz="914400" rtl="0" eaLnBrk="1" fontAlgn="auto" latinLnBrk="0" hangingPunct="1">
              <a:lnSpc>
                <a:spcPct val="100000"/>
              </a:lnSpc>
              <a:spcBef>
                <a:spcPts val="0"/>
              </a:spcBef>
              <a:spcAft>
                <a:spcPts val="1200"/>
              </a:spcAft>
              <a:buClrTx/>
              <a:buSzTx/>
              <a:buFont typeface="Arial" panose="020B0604020202020204" pitchFamily="34" charset="0"/>
              <a:buChar char="•"/>
              <a:tabLst/>
              <a:defRPr/>
            </a:pPr>
            <a:r>
              <a:rPr lang="en-US" sz="1627" dirty="0">
                <a:solidFill>
                  <a:srgbClr val="FFFFFF"/>
                </a:solidFill>
                <a:latin typeface="Arial" panose="020B0604020202020204" pitchFamily="34" charset="0"/>
                <a:ea typeface="Arial Bold"/>
                <a:cs typeface="Arial" panose="020B0604020202020204" pitchFamily="34" charset="0"/>
                <a:sym typeface="Arial Bold"/>
              </a:rPr>
              <a:t>Letter from Australian actors to John Howard: http://www.independent.co.uk/news/neighbours-fall-out-down-under-over-kiwi-tv-invasion-1168190.html</a:t>
            </a:r>
            <a:br>
              <a:rPr lang="en-US" sz="1627" dirty="0">
                <a:solidFill>
                  <a:srgbClr val="FFFFFF"/>
                </a:solidFill>
                <a:latin typeface="Arial" panose="020B0604020202020204" pitchFamily="34" charset="0"/>
                <a:ea typeface="Arial Bold"/>
                <a:cs typeface="Arial" panose="020B0604020202020204" pitchFamily="34" charset="0"/>
                <a:sym typeface="Arial Bold"/>
              </a:rPr>
            </a:br>
            <a:endParaRPr lang="en-US" sz="1627" dirty="0">
              <a:solidFill>
                <a:srgbClr val="FFFFFF"/>
              </a:solidFill>
              <a:latin typeface="Arial" panose="020B0604020202020204" pitchFamily="34" charset="0"/>
              <a:ea typeface="Arial Bold"/>
              <a:cs typeface="Arial" panose="020B0604020202020204" pitchFamily="34" charset="0"/>
              <a:sym typeface="Arial Bold"/>
            </a:endParaRPr>
          </a:p>
          <a:p>
            <a:pPr marL="285750" marR="0" lvl="0" indent="-285750" algn="l" defTabSz="914400" rtl="0" eaLnBrk="1" fontAlgn="auto" latinLnBrk="0" hangingPunct="1">
              <a:lnSpc>
                <a:spcPct val="100000"/>
              </a:lnSpc>
              <a:spcBef>
                <a:spcPts val="0"/>
              </a:spcBef>
              <a:spcAft>
                <a:spcPts val="1200"/>
              </a:spcAft>
              <a:buClrTx/>
              <a:buSzTx/>
              <a:buFont typeface="Arial" panose="020B0604020202020204" pitchFamily="34" charset="0"/>
              <a:buChar char="•"/>
              <a:tabLst/>
              <a:defRPr/>
            </a:pPr>
            <a:r>
              <a:rPr lang="en-US" sz="1627" dirty="0">
                <a:solidFill>
                  <a:srgbClr val="FFFFFF"/>
                </a:solidFill>
                <a:latin typeface="Arial" panose="020B0604020202020204" pitchFamily="34" charset="0"/>
                <a:ea typeface="Arial Bold"/>
                <a:cs typeface="Arial" panose="020B0604020202020204" pitchFamily="34" charset="0"/>
                <a:sym typeface="Arial Bold"/>
              </a:rPr>
              <a:t>Parliament Inquiry – Government responded by limiting application of PBS ruling to NZ only </a:t>
            </a:r>
            <a:br>
              <a:rPr lang="en-US" sz="1627" dirty="0">
                <a:solidFill>
                  <a:srgbClr val="FFFFFF"/>
                </a:solidFill>
                <a:latin typeface="Arial" panose="020B0604020202020204" pitchFamily="34" charset="0"/>
                <a:ea typeface="Arial Bold"/>
                <a:cs typeface="Arial" panose="020B0604020202020204" pitchFamily="34" charset="0"/>
                <a:sym typeface="Arial Bold"/>
              </a:rPr>
            </a:br>
            <a:endParaRPr lang="en-US" sz="1627" dirty="0">
              <a:solidFill>
                <a:srgbClr val="FFFFFF"/>
              </a:solidFill>
              <a:latin typeface="Arial" panose="020B0604020202020204" pitchFamily="34" charset="0"/>
              <a:ea typeface="Arial Bold"/>
              <a:cs typeface="Arial" panose="020B0604020202020204" pitchFamily="34" charset="0"/>
              <a:sym typeface="Arial Bold"/>
            </a:endParaRPr>
          </a:p>
          <a:p>
            <a:pPr marL="285750" marR="0" lvl="0" indent="-285750" algn="l" defTabSz="914400" rtl="0" eaLnBrk="1" fontAlgn="auto" latinLnBrk="0" hangingPunct="1">
              <a:lnSpc>
                <a:spcPct val="100000"/>
              </a:lnSpc>
              <a:spcBef>
                <a:spcPts val="0"/>
              </a:spcBef>
              <a:spcAft>
                <a:spcPts val="1200"/>
              </a:spcAft>
              <a:buClrTx/>
              <a:buSzTx/>
              <a:buFont typeface="Arial" panose="020B0604020202020204" pitchFamily="34" charset="0"/>
              <a:buChar char="•"/>
              <a:tabLst/>
              <a:defRPr/>
            </a:pPr>
            <a:r>
              <a:rPr lang="en-US" sz="1627" dirty="0">
                <a:solidFill>
                  <a:srgbClr val="FFFFFF"/>
                </a:solidFill>
                <a:latin typeface="Arial" panose="020B0604020202020204" pitchFamily="34" charset="0"/>
                <a:ea typeface="Arial Bold"/>
                <a:cs typeface="Arial" panose="020B0604020202020204" pitchFamily="34" charset="0"/>
                <a:sym typeface="Arial Bold"/>
              </a:rPr>
              <a:t>This is still the case: See Australian Content Standard: https://www.legislation.gov.au/Details/F2016L00392 </a:t>
            </a:r>
            <a:br>
              <a:rPr lang="en-US" sz="1627" dirty="0">
                <a:solidFill>
                  <a:srgbClr val="FFFFFF"/>
                </a:solidFill>
                <a:latin typeface="Arial" panose="020B0604020202020204" pitchFamily="34" charset="0"/>
                <a:ea typeface="Arial Bold"/>
                <a:cs typeface="Arial" panose="020B0604020202020204" pitchFamily="34" charset="0"/>
                <a:sym typeface="Arial Bold"/>
              </a:rPr>
            </a:br>
            <a:endParaRPr lang="en-US" sz="1627" dirty="0">
              <a:solidFill>
                <a:srgbClr val="FFFFFF"/>
              </a:solidFill>
              <a:latin typeface="Arial" panose="020B0604020202020204" pitchFamily="34" charset="0"/>
              <a:ea typeface="Arial Bold"/>
              <a:cs typeface="Arial" panose="020B0604020202020204" pitchFamily="34" charset="0"/>
              <a:sym typeface="Arial Bold"/>
            </a:endParaRPr>
          </a:p>
          <a:p>
            <a:pPr marL="285750" marR="0" lvl="0" indent="-285750" algn="l" defTabSz="914400" rtl="0" eaLnBrk="1" fontAlgn="auto" latinLnBrk="0" hangingPunct="1">
              <a:lnSpc>
                <a:spcPct val="100000"/>
              </a:lnSpc>
              <a:spcBef>
                <a:spcPts val="0"/>
              </a:spcBef>
              <a:spcAft>
                <a:spcPts val="1200"/>
              </a:spcAft>
              <a:buClrTx/>
              <a:buSzTx/>
              <a:buFont typeface="Arial" panose="020B0604020202020204" pitchFamily="34" charset="0"/>
              <a:buChar char="•"/>
              <a:tabLst/>
              <a:defRPr/>
            </a:pPr>
            <a:r>
              <a:rPr lang="en-US" sz="1627" dirty="0">
                <a:solidFill>
                  <a:srgbClr val="FFFFFF"/>
                </a:solidFill>
                <a:latin typeface="Arial" panose="020B0604020202020204" pitchFamily="34" charset="0"/>
                <a:ea typeface="Arial Bold"/>
                <a:cs typeface="Arial" panose="020B0604020202020204" pitchFamily="34" charset="0"/>
                <a:sym typeface="Arial Bold"/>
              </a:rPr>
              <a:t>…which </a:t>
            </a:r>
            <a:r>
              <a:rPr lang="en-US" sz="1627" dirty="0" err="1">
                <a:solidFill>
                  <a:srgbClr val="FFFFFF"/>
                </a:solidFill>
                <a:latin typeface="Arial" panose="020B0604020202020204" pitchFamily="34" charset="0"/>
                <a:ea typeface="Arial Bold"/>
                <a:cs typeface="Arial" panose="020B0604020202020204" pitchFamily="34" charset="0"/>
                <a:sym typeface="Arial Bold"/>
              </a:rPr>
              <a:t>recognises</a:t>
            </a:r>
            <a:r>
              <a:rPr lang="en-US" sz="1627" dirty="0">
                <a:solidFill>
                  <a:srgbClr val="FFFFFF"/>
                </a:solidFill>
                <a:latin typeface="Arial" panose="020B0604020202020204" pitchFamily="34" charset="0"/>
                <a:ea typeface="Arial Bold"/>
                <a:cs typeface="Arial" panose="020B0604020202020204" pitchFamily="34" charset="0"/>
                <a:sym typeface="Arial Bold"/>
              </a:rPr>
              <a:t> NZ programs in s 5(3):</a:t>
            </a:r>
          </a:p>
          <a:p>
            <a:pPr marL="285750" marR="0" lvl="0" indent="-285750" algn="l" defTabSz="914400" rtl="0" eaLnBrk="1" fontAlgn="auto" latinLnBrk="0" hangingPunct="1">
              <a:lnSpc>
                <a:spcPct val="100000"/>
              </a:lnSpc>
              <a:spcBef>
                <a:spcPts val="0"/>
              </a:spcBef>
              <a:spcAft>
                <a:spcPts val="1200"/>
              </a:spcAft>
              <a:buClrTx/>
              <a:buSzTx/>
              <a:buFont typeface="Arial" panose="020B0604020202020204" pitchFamily="34" charset="0"/>
              <a:buChar char="•"/>
              <a:tabLst/>
              <a:defRPr/>
            </a:pPr>
            <a:br>
              <a:rPr lang="en-US" sz="1627" dirty="0">
                <a:solidFill>
                  <a:srgbClr val="FFFFFF"/>
                </a:solidFill>
                <a:latin typeface="Arial" panose="020B0604020202020204" pitchFamily="34" charset="0"/>
                <a:ea typeface="Arial Bold"/>
                <a:cs typeface="Arial" panose="020B0604020202020204" pitchFamily="34" charset="0"/>
                <a:sym typeface="Arial Bold"/>
              </a:rPr>
            </a:br>
            <a:r>
              <a:rPr lang="en-US" sz="1627" dirty="0">
                <a:solidFill>
                  <a:srgbClr val="FFFFFF"/>
                </a:solidFill>
                <a:latin typeface="Arial" panose="020B0604020202020204" pitchFamily="34" charset="0"/>
                <a:ea typeface="Arial Bold"/>
                <a:cs typeface="Arial" panose="020B0604020202020204" pitchFamily="34" charset="0"/>
                <a:sym typeface="Arial Bold"/>
              </a:rPr>
              <a:t>‘While Australian culture and New Zealand culture are different from each other, in order to be consistent with the Protocol on Trade in Services to the Australia New Zealand Closer Economic Relations Trade Agreement, this standard </a:t>
            </a:r>
            <a:r>
              <a:rPr lang="en-US" sz="1627" dirty="0" err="1">
                <a:solidFill>
                  <a:srgbClr val="FFFFFF"/>
                </a:solidFill>
                <a:latin typeface="Arial" panose="020B0604020202020204" pitchFamily="34" charset="0"/>
                <a:ea typeface="Arial Bold"/>
                <a:cs typeface="Arial" panose="020B0604020202020204" pitchFamily="34" charset="0"/>
                <a:sym typeface="Arial Bold"/>
              </a:rPr>
              <a:t>recognises</a:t>
            </a:r>
            <a:r>
              <a:rPr lang="en-US" sz="1627" dirty="0">
                <a:solidFill>
                  <a:srgbClr val="FFFFFF"/>
                </a:solidFill>
                <a:latin typeface="Arial" panose="020B0604020202020204" pitchFamily="34" charset="0"/>
                <a:ea typeface="Arial Bold"/>
                <a:cs typeface="Arial" panose="020B0604020202020204" pitchFamily="34" charset="0"/>
                <a:sym typeface="Arial Bold"/>
              </a:rPr>
              <a:t> New Zealand programs and Australia/New Zealand programs equally with Australian programs for the purposes of compliance with this standard’.</a:t>
            </a:r>
          </a:p>
        </p:txBody>
      </p:sp>
      <p:sp>
        <p:nvSpPr>
          <p:cNvPr id="10" name="TextBox 10">
            <a:extLst>
              <a:ext uri="{FF2B5EF4-FFF2-40B4-BE49-F238E27FC236}">
                <a16:creationId xmlns:a16="http://schemas.microsoft.com/office/drawing/2014/main" id="{DCF8512C-2D4E-F50E-3394-113CE9BFD942}"/>
              </a:ext>
            </a:extLst>
          </p:cNvPr>
          <p:cNvSpPr txBox="1"/>
          <p:nvPr/>
        </p:nvSpPr>
        <p:spPr>
          <a:xfrm>
            <a:off x="10195446" y="6347803"/>
            <a:ext cx="1773879" cy="193258"/>
          </a:xfrm>
          <a:prstGeom prst="rect">
            <a:avLst/>
          </a:prstGeom>
        </p:spPr>
        <p:txBody>
          <a:bodyPr lIns="0" tIns="0" rIns="0" bIns="0" rtlCol="0" anchor="t">
            <a:spAutoFit/>
          </a:bodyPr>
          <a:lstStyle/>
          <a:p>
            <a:pPr marL="0" marR="0" lvl="0" indent="0" algn="l" defTabSz="914400" rtl="0" eaLnBrk="1" fontAlgn="auto" latinLnBrk="0" hangingPunct="1">
              <a:lnSpc>
                <a:spcPts val="1422"/>
              </a:lnSpc>
              <a:spcBef>
                <a:spcPts val="0"/>
              </a:spcBef>
              <a:spcAft>
                <a:spcPts val="0"/>
              </a:spcAft>
              <a:buClrTx/>
              <a:buSzTx/>
              <a:buFontTx/>
              <a:buNone/>
              <a:tabLst/>
              <a:defRPr/>
            </a:pPr>
            <a:r>
              <a:rPr kumimoji="0" lang="en-US" sz="1016" b="0" i="0" u="none" strike="noStrike" kern="1200" cap="none" spc="0" normalizeH="0" baseline="0" noProof="0">
                <a:ln>
                  <a:noFill/>
                </a:ln>
                <a:solidFill>
                  <a:srgbClr val="FFFFFF"/>
                </a:solidFill>
                <a:effectLst/>
                <a:uLnTx/>
                <a:uFillTx/>
                <a:latin typeface="Arial"/>
                <a:ea typeface="Arial"/>
                <a:cs typeface="Arial"/>
                <a:sym typeface="Arial"/>
              </a:rPr>
              <a:t>Administrative Law –LAW1023</a:t>
            </a:r>
          </a:p>
        </p:txBody>
      </p:sp>
      <p:pic>
        <p:nvPicPr>
          <p:cNvPr id="8" name="Picture 7">
            <a:extLst>
              <a:ext uri="{FF2B5EF4-FFF2-40B4-BE49-F238E27FC236}">
                <a16:creationId xmlns:a16="http://schemas.microsoft.com/office/drawing/2014/main" id="{41435CEB-C849-2356-BFEB-5219955DF414}"/>
              </a:ext>
            </a:extLst>
          </p:cNvPr>
          <p:cNvPicPr>
            <a:picLocks noChangeAspect="1"/>
          </p:cNvPicPr>
          <p:nvPr/>
        </p:nvPicPr>
        <p:blipFill>
          <a:blip r:embed="rId2"/>
          <a:srcRect l="10417" t="27778" r="11806" b="41111"/>
          <a:stretch/>
        </p:blipFill>
        <p:spPr>
          <a:xfrm>
            <a:off x="7627204" y="1543204"/>
            <a:ext cx="4191000" cy="1047750"/>
          </a:xfrm>
          <a:prstGeom prst="rect">
            <a:avLst/>
          </a:prstGeom>
        </p:spPr>
      </p:pic>
      <p:pic>
        <p:nvPicPr>
          <p:cNvPr id="11266" name="Picture 2" descr="Trump's 100% tariffs on foreign movies ...">
            <a:extLst>
              <a:ext uri="{FF2B5EF4-FFF2-40B4-BE49-F238E27FC236}">
                <a16:creationId xmlns:a16="http://schemas.microsoft.com/office/drawing/2014/main" id="{26FB98FF-BD3D-5E84-AA2A-1A4EB0BA90C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534400" y="3466947"/>
            <a:ext cx="2847975" cy="16002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613038157"/>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bg>
      <p:bgPr>
        <a:solidFill>
          <a:srgbClr val="000054"/>
        </a:solidFill>
        <a:effectLst/>
      </p:bgPr>
    </p:bg>
    <p:spTree>
      <p:nvGrpSpPr>
        <p:cNvPr id="1" name="">
          <a:extLst>
            <a:ext uri="{FF2B5EF4-FFF2-40B4-BE49-F238E27FC236}">
              <a16:creationId xmlns:a16="http://schemas.microsoft.com/office/drawing/2014/main" id="{BCD08B15-588D-1E3A-9B25-EE87CD90BD71}"/>
            </a:ext>
          </a:extLst>
        </p:cNvPr>
        <p:cNvGrpSpPr/>
        <p:nvPr/>
      </p:nvGrpSpPr>
      <p:grpSpPr>
        <a:xfrm>
          <a:off x="0" y="0"/>
          <a:ext cx="0" cy="0"/>
          <a:chOff x="0" y="0"/>
          <a:chExt cx="0" cy="0"/>
        </a:xfrm>
      </p:grpSpPr>
      <p:grpSp>
        <p:nvGrpSpPr>
          <p:cNvPr id="2" name="Group 2">
            <a:extLst>
              <a:ext uri="{FF2B5EF4-FFF2-40B4-BE49-F238E27FC236}">
                <a16:creationId xmlns:a16="http://schemas.microsoft.com/office/drawing/2014/main" id="{CAAD44BB-C685-6295-0A9D-9C178882DFB7}"/>
              </a:ext>
            </a:extLst>
          </p:cNvPr>
          <p:cNvGrpSpPr/>
          <p:nvPr/>
        </p:nvGrpSpPr>
        <p:grpSpPr>
          <a:xfrm rot="-10800000">
            <a:off x="11045567" y="-12700"/>
            <a:ext cx="1146433" cy="1146433"/>
            <a:chOff x="0" y="0"/>
            <a:chExt cx="1630482" cy="1630482"/>
          </a:xfrm>
        </p:grpSpPr>
        <p:sp>
          <p:nvSpPr>
            <p:cNvPr id="3" name="Freeform 3">
              <a:extLst>
                <a:ext uri="{FF2B5EF4-FFF2-40B4-BE49-F238E27FC236}">
                  <a16:creationId xmlns:a16="http://schemas.microsoft.com/office/drawing/2014/main" id="{1490F799-4304-6A1B-F1C9-4C133F681D92}"/>
                </a:ext>
              </a:extLst>
            </p:cNvPr>
            <p:cNvSpPr/>
            <p:nvPr/>
          </p:nvSpPr>
          <p:spPr>
            <a:xfrm>
              <a:off x="0" y="0"/>
              <a:ext cx="1630426" cy="1630426"/>
            </a:xfrm>
            <a:custGeom>
              <a:avLst/>
              <a:gdLst/>
              <a:ahLst/>
              <a:cxnLst/>
              <a:rect l="l" t="t" r="r" b="b"/>
              <a:pathLst>
                <a:path w="1630426" h="1630426">
                  <a:moveTo>
                    <a:pt x="0" y="0"/>
                  </a:moveTo>
                  <a:lnTo>
                    <a:pt x="543433" y="0"/>
                  </a:lnTo>
                  <a:lnTo>
                    <a:pt x="543433" y="543433"/>
                  </a:lnTo>
                  <a:lnTo>
                    <a:pt x="1086993" y="543433"/>
                  </a:lnTo>
                  <a:lnTo>
                    <a:pt x="1086993" y="1086993"/>
                  </a:lnTo>
                  <a:lnTo>
                    <a:pt x="1630426" y="1086993"/>
                  </a:lnTo>
                  <a:lnTo>
                    <a:pt x="1630426" y="1630426"/>
                  </a:lnTo>
                  <a:lnTo>
                    <a:pt x="0" y="1630426"/>
                  </a:lnTo>
                  <a:lnTo>
                    <a:pt x="0" y="1086993"/>
                  </a:lnTo>
                  <a:lnTo>
                    <a:pt x="0" y="543433"/>
                  </a:lnTo>
                  <a:close/>
                </a:path>
              </a:pathLst>
            </a:custGeom>
            <a:solidFill>
              <a:srgbClr val="FFFFFF"/>
            </a:solid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AU" sz="1800" b="0" i="0" u="none" strike="noStrike" kern="1200" cap="none" spc="0" normalizeH="0" baseline="0" noProof="0">
                <a:ln>
                  <a:noFill/>
                </a:ln>
                <a:solidFill>
                  <a:prstClr val="black"/>
                </a:solidFill>
                <a:effectLst/>
                <a:uLnTx/>
                <a:uFillTx/>
                <a:latin typeface="Calibri"/>
                <a:ea typeface="+mn-ea"/>
                <a:cs typeface="+mn-cs"/>
              </a:endParaRPr>
            </a:p>
          </p:txBody>
        </p:sp>
      </p:grpSp>
      <p:sp>
        <p:nvSpPr>
          <p:cNvPr id="5" name="TextBox 5">
            <a:extLst>
              <a:ext uri="{FF2B5EF4-FFF2-40B4-BE49-F238E27FC236}">
                <a16:creationId xmlns:a16="http://schemas.microsoft.com/office/drawing/2014/main" id="{A212D084-7876-145B-1E19-B326232406E6}"/>
              </a:ext>
            </a:extLst>
          </p:cNvPr>
          <p:cNvSpPr txBox="1"/>
          <p:nvPr/>
        </p:nvSpPr>
        <p:spPr>
          <a:xfrm>
            <a:off x="392084" y="560536"/>
            <a:ext cx="11190316" cy="409471"/>
          </a:xfrm>
          <a:prstGeom prst="rect">
            <a:avLst/>
          </a:prstGeom>
        </p:spPr>
        <p:txBody>
          <a:bodyPr wrap="square" lIns="0" tIns="0" rIns="0" bIns="0" rtlCol="0" anchor="t">
            <a:spAutoFit/>
          </a:bodyPr>
          <a:lstStyle/>
          <a:p>
            <a:pPr marL="0" marR="0" lvl="0" indent="0" algn="l" defTabSz="914400" rtl="0" eaLnBrk="1" fontAlgn="auto" latinLnBrk="0" hangingPunct="1">
              <a:lnSpc>
                <a:spcPts val="3494"/>
              </a:lnSpc>
              <a:spcBef>
                <a:spcPts val="0"/>
              </a:spcBef>
              <a:spcAft>
                <a:spcPts val="0"/>
              </a:spcAft>
              <a:buClrTx/>
              <a:buSzTx/>
              <a:buFontTx/>
              <a:buNone/>
              <a:tabLst/>
              <a:defRPr/>
            </a:pPr>
            <a:r>
              <a:rPr kumimoji="0" lang="en-US" sz="2496" b="1" u="none" strike="noStrike" kern="1200" cap="none" spc="0" normalizeH="0" baseline="0" noProof="0" dirty="0">
                <a:ln>
                  <a:noFill/>
                </a:ln>
                <a:solidFill>
                  <a:srgbClr val="FFFFFF"/>
                </a:solidFill>
                <a:effectLst/>
                <a:uLnTx/>
                <a:uFillTx/>
                <a:latin typeface="Arial Bold"/>
                <a:ea typeface="Arial Bold"/>
                <a:cs typeface="Arial Bold"/>
                <a:sym typeface="Arial Bold"/>
              </a:rPr>
              <a:t>Application of PBS Decision – Migration Cases</a:t>
            </a:r>
          </a:p>
        </p:txBody>
      </p:sp>
      <p:sp>
        <p:nvSpPr>
          <p:cNvPr id="9" name="TextBox 9">
            <a:extLst>
              <a:ext uri="{FF2B5EF4-FFF2-40B4-BE49-F238E27FC236}">
                <a16:creationId xmlns:a16="http://schemas.microsoft.com/office/drawing/2014/main" id="{A9ED866E-F82A-6ABE-C062-5348E8565E30}"/>
              </a:ext>
            </a:extLst>
          </p:cNvPr>
          <p:cNvSpPr txBox="1"/>
          <p:nvPr/>
        </p:nvSpPr>
        <p:spPr>
          <a:xfrm>
            <a:off x="392084" y="1524000"/>
            <a:ext cx="9894916" cy="3927998"/>
          </a:xfrm>
          <a:prstGeom prst="rect">
            <a:avLst/>
          </a:prstGeom>
        </p:spPr>
        <p:txBody>
          <a:bodyPr wrap="square" lIns="0" tIns="0" rIns="0" bIns="0" rtlCol="0" anchor="t">
            <a:spAutoFit/>
          </a:bodyPr>
          <a:lstStyle/>
          <a:p>
            <a:pPr marL="285750" marR="0" lvl="0" indent="-285750" algn="l" defTabSz="914400" rtl="0" eaLnBrk="1" fontAlgn="auto" latinLnBrk="0" hangingPunct="1">
              <a:lnSpc>
                <a:spcPct val="100000"/>
              </a:lnSpc>
              <a:spcBef>
                <a:spcPts val="0"/>
              </a:spcBef>
              <a:spcAft>
                <a:spcPts val="1200"/>
              </a:spcAft>
              <a:buClrTx/>
              <a:buSzTx/>
              <a:buFont typeface="Arial" panose="020B0604020202020204" pitchFamily="34" charset="0"/>
              <a:buChar char="•"/>
              <a:tabLst/>
              <a:defRPr/>
            </a:pPr>
            <a:r>
              <a:rPr lang="en-US" sz="1627" i="1" dirty="0">
                <a:solidFill>
                  <a:srgbClr val="FFFFFF"/>
                </a:solidFill>
                <a:latin typeface="Arial" panose="020B0604020202020204" pitchFamily="34" charset="0"/>
                <a:ea typeface="Arial Bold"/>
                <a:cs typeface="Arial" panose="020B0604020202020204" pitchFamily="34" charset="0"/>
                <a:sym typeface="Arial Bold"/>
              </a:rPr>
              <a:t>SAAP v Minister Immigration </a:t>
            </a:r>
            <a:r>
              <a:rPr lang="en-US" sz="1627" dirty="0">
                <a:solidFill>
                  <a:srgbClr val="FFFFFF"/>
                </a:solidFill>
                <a:latin typeface="Arial" panose="020B0604020202020204" pitchFamily="34" charset="0"/>
                <a:ea typeface="Arial Bold"/>
                <a:cs typeface="Arial" panose="020B0604020202020204" pitchFamily="34" charset="0"/>
                <a:sym typeface="Arial Bold"/>
              </a:rPr>
              <a:t>(2005) HCA 24</a:t>
            </a:r>
          </a:p>
          <a:p>
            <a:pPr marL="742950" lvl="1" indent="-285750">
              <a:spcAft>
                <a:spcPts val="1200"/>
              </a:spcAft>
              <a:buFont typeface="Arial" panose="020B0604020202020204" pitchFamily="34" charset="0"/>
              <a:buChar char="•"/>
              <a:defRPr/>
            </a:pPr>
            <a:r>
              <a:rPr lang="en-US" sz="1627" dirty="0">
                <a:solidFill>
                  <a:srgbClr val="FFFFFF"/>
                </a:solidFill>
                <a:latin typeface="Arial" panose="020B0604020202020204" pitchFamily="34" charset="0"/>
                <a:ea typeface="Arial Bold"/>
                <a:cs typeface="Arial" panose="020B0604020202020204" pitchFamily="34" charset="0"/>
                <a:sym typeface="Arial Bold"/>
              </a:rPr>
              <a:t>Section 424A Migration Act – information used to reach decision must be provided to applicant in writing </a:t>
            </a:r>
          </a:p>
          <a:p>
            <a:pPr marL="742950" lvl="1" indent="-285750">
              <a:spcAft>
                <a:spcPts val="1200"/>
              </a:spcAft>
              <a:buFont typeface="Arial" panose="020B0604020202020204" pitchFamily="34" charset="0"/>
              <a:buChar char="•"/>
              <a:defRPr/>
            </a:pPr>
            <a:r>
              <a:rPr lang="en-US" sz="1627" dirty="0">
                <a:solidFill>
                  <a:srgbClr val="FFFFFF"/>
                </a:solidFill>
                <a:latin typeface="Arial" panose="020B0604020202020204" pitchFamily="34" charset="0"/>
                <a:ea typeface="Arial Bold"/>
                <a:cs typeface="Arial" panose="020B0604020202020204" pitchFamily="34" charset="0"/>
                <a:sym typeface="Arial Bold"/>
              </a:rPr>
              <a:t>Refugee Review Tribunal – gave oral comment rather than written comment on evidence used</a:t>
            </a:r>
          </a:p>
          <a:p>
            <a:pPr marL="742950" lvl="1" indent="-285750">
              <a:spcAft>
                <a:spcPts val="1200"/>
              </a:spcAft>
              <a:buFont typeface="Arial" panose="020B0604020202020204" pitchFamily="34" charset="0"/>
              <a:buChar char="•"/>
              <a:defRPr/>
            </a:pPr>
            <a:r>
              <a:rPr lang="en-US" sz="1627" dirty="0">
                <a:solidFill>
                  <a:srgbClr val="FFFFFF"/>
                </a:solidFill>
                <a:latin typeface="Arial" panose="020B0604020202020204" pitchFamily="34" charset="0"/>
                <a:ea typeface="Arial Bold"/>
                <a:cs typeface="Arial" panose="020B0604020202020204" pitchFamily="34" charset="0"/>
                <a:sym typeface="Arial Bold"/>
              </a:rPr>
              <a:t>HCA held – breach of s 424A, given importance of s 424A obligation in scheme of Act this constitutes an invalid  decision (see </a:t>
            </a:r>
            <a:r>
              <a:rPr lang="en-US" sz="1627" dirty="0" err="1">
                <a:solidFill>
                  <a:srgbClr val="FFFFFF"/>
                </a:solidFill>
                <a:latin typeface="Arial" panose="020B0604020202020204" pitchFamily="34" charset="0"/>
                <a:ea typeface="Arial Bold"/>
                <a:cs typeface="Arial" panose="020B0604020202020204" pitchFamily="34" charset="0"/>
                <a:sym typeface="Arial Bold"/>
              </a:rPr>
              <a:t>eg</a:t>
            </a:r>
            <a:r>
              <a:rPr lang="en-US" sz="1627" dirty="0">
                <a:solidFill>
                  <a:srgbClr val="FFFFFF"/>
                </a:solidFill>
                <a:latin typeface="Arial" panose="020B0604020202020204" pitchFamily="34" charset="0"/>
                <a:ea typeface="Arial Bold"/>
                <a:cs typeface="Arial" panose="020B0604020202020204" pitchFamily="34" charset="0"/>
                <a:sym typeface="Arial Bold"/>
              </a:rPr>
              <a:t> Hayne J – mandatory language used by Parliament, ‘must’, plus context)</a:t>
            </a:r>
          </a:p>
          <a:p>
            <a:pPr marL="285750" marR="0" lvl="0" indent="-285750" algn="l" defTabSz="914400" rtl="0" eaLnBrk="1" fontAlgn="auto" latinLnBrk="0" hangingPunct="1">
              <a:lnSpc>
                <a:spcPct val="100000"/>
              </a:lnSpc>
              <a:spcBef>
                <a:spcPts val="0"/>
              </a:spcBef>
              <a:spcAft>
                <a:spcPts val="1200"/>
              </a:spcAft>
              <a:buClrTx/>
              <a:buSzTx/>
              <a:buFont typeface="Arial" panose="020B0604020202020204" pitchFamily="34" charset="0"/>
              <a:buChar char="•"/>
              <a:tabLst/>
              <a:defRPr/>
            </a:pPr>
            <a:r>
              <a:rPr lang="en-US" sz="1627" i="1" dirty="0">
                <a:solidFill>
                  <a:srgbClr val="FFFFFF"/>
                </a:solidFill>
                <a:latin typeface="Arial" panose="020B0604020202020204" pitchFamily="34" charset="0"/>
                <a:ea typeface="Arial Bold"/>
                <a:cs typeface="Arial" panose="020B0604020202020204" pitchFamily="34" charset="0"/>
                <a:sym typeface="Arial Bold"/>
              </a:rPr>
              <a:t>Minister Immigration v SZIZO </a:t>
            </a:r>
            <a:r>
              <a:rPr lang="en-US" sz="1627" dirty="0">
                <a:solidFill>
                  <a:srgbClr val="FFFFFF"/>
                </a:solidFill>
                <a:latin typeface="Arial" panose="020B0604020202020204" pitchFamily="34" charset="0"/>
                <a:ea typeface="Arial Bold"/>
                <a:cs typeface="Arial" panose="020B0604020202020204" pitchFamily="34" charset="0"/>
                <a:sym typeface="Arial Bold"/>
              </a:rPr>
              <a:t>(2009) HCA 37</a:t>
            </a:r>
          </a:p>
          <a:p>
            <a:pPr marL="742950" lvl="1" indent="-285750">
              <a:spcAft>
                <a:spcPts val="1200"/>
              </a:spcAft>
              <a:buFont typeface="Arial" panose="020B0604020202020204" pitchFamily="34" charset="0"/>
              <a:buChar char="•"/>
              <a:defRPr/>
            </a:pPr>
            <a:r>
              <a:rPr lang="en-US" sz="1627" dirty="0">
                <a:solidFill>
                  <a:srgbClr val="FFFFFF"/>
                </a:solidFill>
                <a:latin typeface="Arial" panose="020B0604020202020204" pitchFamily="34" charset="0"/>
                <a:ea typeface="Arial Bold"/>
                <a:cs typeface="Arial" panose="020B0604020202020204" pitchFamily="34" charset="0"/>
                <a:sym typeface="Arial Bold"/>
              </a:rPr>
              <a:t>Section 441G Migration Act – </a:t>
            </a:r>
            <a:r>
              <a:rPr lang="en-US" sz="1627" dirty="0" err="1">
                <a:solidFill>
                  <a:srgbClr val="FFFFFF"/>
                </a:solidFill>
                <a:latin typeface="Arial" panose="020B0604020202020204" pitchFamily="34" charset="0"/>
                <a:ea typeface="Arial Bold"/>
                <a:cs typeface="Arial" panose="020B0604020202020204" pitchFamily="34" charset="0"/>
                <a:sym typeface="Arial Bold"/>
              </a:rPr>
              <a:t>authorised</a:t>
            </a:r>
            <a:r>
              <a:rPr lang="en-US" sz="1627" dirty="0">
                <a:solidFill>
                  <a:srgbClr val="FFFFFF"/>
                </a:solidFill>
                <a:latin typeface="Arial" panose="020B0604020202020204" pitchFamily="34" charset="0"/>
                <a:ea typeface="Arial Bold"/>
                <a:cs typeface="Arial" panose="020B0604020202020204" pitchFamily="34" charset="0"/>
                <a:sym typeface="Arial Bold"/>
              </a:rPr>
              <a:t> recipient to receive docs </a:t>
            </a:r>
          </a:p>
          <a:p>
            <a:pPr marL="742950" lvl="1" indent="-285750">
              <a:spcAft>
                <a:spcPts val="1200"/>
              </a:spcAft>
              <a:buFont typeface="Arial" panose="020B0604020202020204" pitchFamily="34" charset="0"/>
              <a:buChar char="•"/>
              <a:defRPr/>
            </a:pPr>
            <a:r>
              <a:rPr lang="en-US" sz="1627" dirty="0">
                <a:solidFill>
                  <a:srgbClr val="FFFFFF"/>
                </a:solidFill>
                <a:latin typeface="Arial" panose="020B0604020202020204" pitchFamily="34" charset="0"/>
                <a:ea typeface="Arial Bold"/>
                <a:cs typeface="Arial" panose="020B0604020202020204" pitchFamily="34" charset="0"/>
                <a:sym typeface="Arial Bold"/>
              </a:rPr>
              <a:t>HCA held: Here failure to notify </a:t>
            </a:r>
            <a:r>
              <a:rPr lang="en-US" sz="1627" dirty="0" err="1">
                <a:solidFill>
                  <a:srgbClr val="FFFFFF"/>
                </a:solidFill>
                <a:latin typeface="Arial" panose="020B0604020202020204" pitchFamily="34" charset="0"/>
                <a:ea typeface="Arial Bold"/>
                <a:cs typeface="Arial" panose="020B0604020202020204" pitchFamily="34" charset="0"/>
                <a:sym typeface="Arial Bold"/>
              </a:rPr>
              <a:t>authorised</a:t>
            </a:r>
            <a:r>
              <a:rPr lang="en-US" sz="1627" dirty="0">
                <a:solidFill>
                  <a:srgbClr val="FFFFFF"/>
                </a:solidFill>
                <a:latin typeface="Arial" panose="020B0604020202020204" pitchFamily="34" charset="0"/>
                <a:ea typeface="Arial Bold"/>
                <a:cs typeface="Arial" panose="020B0604020202020204" pitchFamily="34" charset="0"/>
                <a:sym typeface="Arial Bold"/>
              </a:rPr>
              <a:t> recipient did not lead to unfairness or denial of natural justice as the applicant attended hearing and make submissions after; decision still valid. The notification was not important in itself but only to ensure that these things took place.</a:t>
            </a:r>
          </a:p>
        </p:txBody>
      </p:sp>
      <p:sp>
        <p:nvSpPr>
          <p:cNvPr id="10" name="TextBox 10">
            <a:extLst>
              <a:ext uri="{FF2B5EF4-FFF2-40B4-BE49-F238E27FC236}">
                <a16:creationId xmlns:a16="http://schemas.microsoft.com/office/drawing/2014/main" id="{8F12F532-EC8E-AD02-2737-167BF69F7F3E}"/>
              </a:ext>
            </a:extLst>
          </p:cNvPr>
          <p:cNvSpPr txBox="1"/>
          <p:nvPr/>
        </p:nvSpPr>
        <p:spPr>
          <a:xfrm>
            <a:off x="10195446" y="6347803"/>
            <a:ext cx="1773879" cy="193258"/>
          </a:xfrm>
          <a:prstGeom prst="rect">
            <a:avLst/>
          </a:prstGeom>
        </p:spPr>
        <p:txBody>
          <a:bodyPr lIns="0" tIns="0" rIns="0" bIns="0" rtlCol="0" anchor="t">
            <a:spAutoFit/>
          </a:bodyPr>
          <a:lstStyle/>
          <a:p>
            <a:pPr marL="0" marR="0" lvl="0" indent="0" algn="l" defTabSz="914400" rtl="0" eaLnBrk="1" fontAlgn="auto" latinLnBrk="0" hangingPunct="1">
              <a:lnSpc>
                <a:spcPts val="1422"/>
              </a:lnSpc>
              <a:spcBef>
                <a:spcPts val="0"/>
              </a:spcBef>
              <a:spcAft>
                <a:spcPts val="0"/>
              </a:spcAft>
              <a:buClrTx/>
              <a:buSzTx/>
              <a:buFontTx/>
              <a:buNone/>
              <a:tabLst/>
              <a:defRPr/>
            </a:pPr>
            <a:r>
              <a:rPr kumimoji="0" lang="en-US" sz="1016" b="0" i="0" u="none" strike="noStrike" kern="1200" cap="none" spc="0" normalizeH="0" baseline="0" noProof="0">
                <a:ln>
                  <a:noFill/>
                </a:ln>
                <a:solidFill>
                  <a:srgbClr val="FFFFFF"/>
                </a:solidFill>
                <a:effectLst/>
                <a:uLnTx/>
                <a:uFillTx/>
                <a:latin typeface="Arial"/>
                <a:ea typeface="Arial"/>
                <a:cs typeface="Arial"/>
                <a:sym typeface="Arial"/>
              </a:rPr>
              <a:t>Administrative Law –LAW1023</a:t>
            </a:r>
          </a:p>
        </p:txBody>
      </p:sp>
    </p:spTree>
    <p:extLst>
      <p:ext uri="{BB962C8B-B14F-4D97-AF65-F5344CB8AC3E}">
        <p14:creationId xmlns:p14="http://schemas.microsoft.com/office/powerpoint/2010/main" val="602493823"/>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bg>
      <p:bgPr>
        <a:solidFill>
          <a:srgbClr val="000054"/>
        </a:solidFill>
        <a:effectLst/>
      </p:bgPr>
    </p:bg>
    <p:spTree>
      <p:nvGrpSpPr>
        <p:cNvPr id="1" name="">
          <a:extLst>
            <a:ext uri="{FF2B5EF4-FFF2-40B4-BE49-F238E27FC236}">
              <a16:creationId xmlns:a16="http://schemas.microsoft.com/office/drawing/2014/main" id="{3D1361DE-3D28-7D5E-31EE-6B4A5E3657C1}"/>
            </a:ext>
          </a:extLst>
        </p:cNvPr>
        <p:cNvGrpSpPr/>
        <p:nvPr/>
      </p:nvGrpSpPr>
      <p:grpSpPr>
        <a:xfrm>
          <a:off x="0" y="0"/>
          <a:ext cx="0" cy="0"/>
          <a:chOff x="0" y="0"/>
          <a:chExt cx="0" cy="0"/>
        </a:xfrm>
      </p:grpSpPr>
      <p:grpSp>
        <p:nvGrpSpPr>
          <p:cNvPr id="2" name="Group 2">
            <a:extLst>
              <a:ext uri="{FF2B5EF4-FFF2-40B4-BE49-F238E27FC236}">
                <a16:creationId xmlns:a16="http://schemas.microsoft.com/office/drawing/2014/main" id="{135B669A-74C4-4697-8B7C-3FF3C2B0934C}"/>
              </a:ext>
            </a:extLst>
          </p:cNvPr>
          <p:cNvGrpSpPr/>
          <p:nvPr/>
        </p:nvGrpSpPr>
        <p:grpSpPr>
          <a:xfrm rot="-10800000">
            <a:off x="11045567" y="-12700"/>
            <a:ext cx="1146433" cy="1146433"/>
            <a:chOff x="0" y="0"/>
            <a:chExt cx="1630482" cy="1630482"/>
          </a:xfrm>
        </p:grpSpPr>
        <p:sp>
          <p:nvSpPr>
            <p:cNvPr id="3" name="Freeform 3">
              <a:extLst>
                <a:ext uri="{FF2B5EF4-FFF2-40B4-BE49-F238E27FC236}">
                  <a16:creationId xmlns:a16="http://schemas.microsoft.com/office/drawing/2014/main" id="{355BCE2E-3BC7-AAB3-BDC1-4E2651CDB905}"/>
                </a:ext>
              </a:extLst>
            </p:cNvPr>
            <p:cNvSpPr/>
            <p:nvPr/>
          </p:nvSpPr>
          <p:spPr>
            <a:xfrm>
              <a:off x="0" y="0"/>
              <a:ext cx="1630426" cy="1630426"/>
            </a:xfrm>
            <a:custGeom>
              <a:avLst/>
              <a:gdLst/>
              <a:ahLst/>
              <a:cxnLst/>
              <a:rect l="l" t="t" r="r" b="b"/>
              <a:pathLst>
                <a:path w="1630426" h="1630426">
                  <a:moveTo>
                    <a:pt x="0" y="0"/>
                  </a:moveTo>
                  <a:lnTo>
                    <a:pt x="543433" y="0"/>
                  </a:lnTo>
                  <a:lnTo>
                    <a:pt x="543433" y="543433"/>
                  </a:lnTo>
                  <a:lnTo>
                    <a:pt x="1086993" y="543433"/>
                  </a:lnTo>
                  <a:lnTo>
                    <a:pt x="1086993" y="1086993"/>
                  </a:lnTo>
                  <a:lnTo>
                    <a:pt x="1630426" y="1086993"/>
                  </a:lnTo>
                  <a:lnTo>
                    <a:pt x="1630426" y="1630426"/>
                  </a:lnTo>
                  <a:lnTo>
                    <a:pt x="0" y="1630426"/>
                  </a:lnTo>
                  <a:lnTo>
                    <a:pt x="0" y="1086993"/>
                  </a:lnTo>
                  <a:lnTo>
                    <a:pt x="0" y="543433"/>
                  </a:lnTo>
                  <a:close/>
                </a:path>
              </a:pathLst>
            </a:custGeom>
            <a:solidFill>
              <a:srgbClr val="FFFFFF"/>
            </a:solid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AU" sz="1800" b="0" i="0" u="none" strike="noStrike" kern="1200" cap="none" spc="0" normalizeH="0" baseline="0" noProof="0">
                <a:ln>
                  <a:noFill/>
                </a:ln>
                <a:solidFill>
                  <a:prstClr val="black"/>
                </a:solidFill>
                <a:effectLst/>
                <a:uLnTx/>
                <a:uFillTx/>
                <a:latin typeface="Calibri"/>
                <a:ea typeface="+mn-ea"/>
                <a:cs typeface="+mn-cs"/>
              </a:endParaRPr>
            </a:p>
          </p:txBody>
        </p:sp>
      </p:grpSp>
      <p:sp>
        <p:nvSpPr>
          <p:cNvPr id="5" name="TextBox 5">
            <a:extLst>
              <a:ext uri="{FF2B5EF4-FFF2-40B4-BE49-F238E27FC236}">
                <a16:creationId xmlns:a16="http://schemas.microsoft.com/office/drawing/2014/main" id="{3339A4FE-58ED-1375-EED3-9BFD1A4F7A9B}"/>
              </a:ext>
            </a:extLst>
          </p:cNvPr>
          <p:cNvSpPr txBox="1"/>
          <p:nvPr/>
        </p:nvSpPr>
        <p:spPr>
          <a:xfrm>
            <a:off x="392084" y="560536"/>
            <a:ext cx="11190316" cy="409471"/>
          </a:xfrm>
          <a:prstGeom prst="rect">
            <a:avLst/>
          </a:prstGeom>
        </p:spPr>
        <p:txBody>
          <a:bodyPr wrap="square" lIns="0" tIns="0" rIns="0" bIns="0" rtlCol="0" anchor="t">
            <a:spAutoFit/>
          </a:bodyPr>
          <a:lstStyle/>
          <a:p>
            <a:pPr marL="0" marR="0" lvl="0" indent="0" algn="l" defTabSz="914400" rtl="0" eaLnBrk="1" fontAlgn="auto" latinLnBrk="0" hangingPunct="1">
              <a:lnSpc>
                <a:spcPts val="3494"/>
              </a:lnSpc>
              <a:spcBef>
                <a:spcPts val="0"/>
              </a:spcBef>
              <a:spcAft>
                <a:spcPts val="0"/>
              </a:spcAft>
              <a:buClrTx/>
              <a:buSzTx/>
              <a:buFontTx/>
              <a:buNone/>
              <a:tabLst/>
              <a:defRPr/>
            </a:pPr>
            <a:r>
              <a:rPr kumimoji="0" lang="en-US" sz="2496" b="1" u="none" strike="noStrike" kern="1200" cap="none" spc="0" normalizeH="0" baseline="0" noProof="0" dirty="0">
                <a:ln>
                  <a:noFill/>
                </a:ln>
                <a:solidFill>
                  <a:srgbClr val="FFFFFF"/>
                </a:solidFill>
                <a:effectLst/>
                <a:uLnTx/>
                <a:uFillTx/>
                <a:latin typeface="Arial Bold"/>
                <a:ea typeface="Arial Bold"/>
                <a:cs typeface="Arial Bold"/>
                <a:sym typeface="Arial Bold"/>
              </a:rPr>
              <a:t>Power Exercised by Wrong Person (Improper Delegation)</a:t>
            </a:r>
          </a:p>
        </p:txBody>
      </p:sp>
      <p:sp>
        <p:nvSpPr>
          <p:cNvPr id="9" name="TextBox 9">
            <a:extLst>
              <a:ext uri="{FF2B5EF4-FFF2-40B4-BE49-F238E27FC236}">
                <a16:creationId xmlns:a16="http://schemas.microsoft.com/office/drawing/2014/main" id="{6097A25B-3F7D-66EA-E519-7D928F27E2C0}"/>
              </a:ext>
            </a:extLst>
          </p:cNvPr>
          <p:cNvSpPr txBox="1"/>
          <p:nvPr/>
        </p:nvSpPr>
        <p:spPr>
          <a:xfrm>
            <a:off x="392084" y="1524000"/>
            <a:ext cx="9894916" cy="4262385"/>
          </a:xfrm>
          <a:prstGeom prst="rect">
            <a:avLst/>
          </a:prstGeom>
        </p:spPr>
        <p:txBody>
          <a:bodyPr wrap="square" lIns="0" tIns="0" rIns="0" bIns="0" rtlCol="0" anchor="t">
            <a:spAutoFit/>
          </a:bodyPr>
          <a:lstStyle/>
          <a:p>
            <a:pPr marL="285750" indent="-285750">
              <a:spcAft>
                <a:spcPts val="1200"/>
              </a:spcAft>
              <a:buFont typeface="Arial" panose="020B0604020202020204" pitchFamily="34" charset="0"/>
              <a:buChar char="•"/>
              <a:defRPr/>
            </a:pPr>
            <a:r>
              <a:rPr lang="en-AU" sz="1800" dirty="0">
                <a:solidFill>
                  <a:schemeClr val="bg1"/>
                </a:solidFill>
                <a:latin typeface="Arial" panose="020B0604020202020204" pitchFamily="34" charset="0"/>
                <a:cs typeface="Arial" panose="020B0604020202020204" pitchFamily="34" charset="0"/>
              </a:rPr>
              <a:t>ADJR Act s5/6(1)(c) – person did not have jurisdiction or (d) – not authorised by statute</a:t>
            </a:r>
            <a:endParaRPr lang="en-US" sz="1627" dirty="0">
              <a:solidFill>
                <a:srgbClr val="FFFFFF"/>
              </a:solidFill>
              <a:latin typeface="Arial" panose="020B0604020202020204" pitchFamily="34" charset="0"/>
              <a:ea typeface="Arial Bold"/>
              <a:cs typeface="Arial" panose="020B0604020202020204" pitchFamily="34" charset="0"/>
              <a:sym typeface="Arial Bold"/>
            </a:endParaRPr>
          </a:p>
          <a:p>
            <a:pPr marL="285750" marR="0" lvl="0" indent="-285750" algn="l" defTabSz="914400" rtl="0" eaLnBrk="1" fontAlgn="auto" latinLnBrk="0" hangingPunct="1">
              <a:lnSpc>
                <a:spcPct val="100000"/>
              </a:lnSpc>
              <a:spcBef>
                <a:spcPts val="0"/>
              </a:spcBef>
              <a:spcAft>
                <a:spcPts val="1200"/>
              </a:spcAft>
              <a:buClrTx/>
              <a:buSzTx/>
              <a:buFont typeface="Arial" panose="020B0604020202020204" pitchFamily="34" charset="0"/>
              <a:buChar char="•"/>
              <a:tabLst/>
              <a:defRPr/>
            </a:pPr>
            <a:r>
              <a:rPr lang="en-US" sz="1627" dirty="0">
                <a:solidFill>
                  <a:srgbClr val="FFFFFF"/>
                </a:solidFill>
                <a:latin typeface="Arial" panose="020B0604020202020204" pitchFamily="34" charset="0"/>
                <a:ea typeface="Arial Bold"/>
                <a:cs typeface="Arial" panose="020B0604020202020204" pitchFamily="34" charset="0"/>
                <a:sym typeface="Arial Bold"/>
              </a:rPr>
              <a:t>Delegation - decision-maker (principal) passes authority to decide to another person (usually someone junior). Only applies in practice to decisions (not regulations). </a:t>
            </a:r>
          </a:p>
          <a:p>
            <a:pPr marL="285750" marR="0" lvl="0" indent="-285750" algn="l" defTabSz="914400" rtl="0" eaLnBrk="1" fontAlgn="auto" latinLnBrk="0" hangingPunct="1">
              <a:lnSpc>
                <a:spcPct val="100000"/>
              </a:lnSpc>
              <a:spcBef>
                <a:spcPts val="0"/>
              </a:spcBef>
              <a:spcAft>
                <a:spcPts val="1200"/>
              </a:spcAft>
              <a:buClrTx/>
              <a:buSzTx/>
              <a:buFont typeface="Arial" panose="020B0604020202020204" pitchFamily="34" charset="0"/>
              <a:buChar char="•"/>
              <a:tabLst/>
              <a:defRPr/>
            </a:pPr>
            <a:r>
              <a:rPr lang="en-US" sz="1627" dirty="0">
                <a:solidFill>
                  <a:srgbClr val="FFFFFF"/>
                </a:solidFill>
                <a:latin typeface="Arial" panose="020B0604020202020204" pitchFamily="34" charset="0"/>
                <a:ea typeface="Arial Bold"/>
                <a:cs typeface="Arial" panose="020B0604020202020204" pitchFamily="34" charset="0"/>
                <a:sym typeface="Arial Bold"/>
              </a:rPr>
              <a:t>Common law presumption against delegation of power and the sub delegation of power, but can be, and often is, varied by statute or by implication.</a:t>
            </a:r>
          </a:p>
          <a:p>
            <a:pPr marL="285750" marR="0" lvl="0" indent="-285750" algn="l" defTabSz="914400" rtl="0" eaLnBrk="1" fontAlgn="auto" latinLnBrk="0" hangingPunct="1">
              <a:lnSpc>
                <a:spcPct val="100000"/>
              </a:lnSpc>
              <a:spcBef>
                <a:spcPts val="0"/>
              </a:spcBef>
              <a:spcAft>
                <a:spcPts val="1200"/>
              </a:spcAft>
              <a:buClrTx/>
              <a:buSzTx/>
              <a:buFont typeface="Arial" panose="020B0604020202020204" pitchFamily="34" charset="0"/>
              <a:buChar char="•"/>
              <a:tabLst/>
              <a:defRPr/>
            </a:pPr>
            <a:r>
              <a:rPr lang="en-US" sz="1627" dirty="0">
                <a:solidFill>
                  <a:srgbClr val="FFFFFF"/>
                </a:solidFill>
                <a:latin typeface="Arial" panose="020B0604020202020204" pitchFamily="34" charset="0"/>
                <a:ea typeface="Arial Bold"/>
                <a:cs typeface="Arial" panose="020B0604020202020204" pitchFamily="34" charset="0"/>
                <a:sym typeface="Arial Bold"/>
              </a:rPr>
              <a:t> Note three distinct categories:</a:t>
            </a:r>
          </a:p>
          <a:p>
            <a:pPr marR="0" lvl="0" algn="l" defTabSz="914400" rtl="0" eaLnBrk="1" fontAlgn="auto" latinLnBrk="0" hangingPunct="1">
              <a:lnSpc>
                <a:spcPct val="100000"/>
              </a:lnSpc>
              <a:spcBef>
                <a:spcPts val="0"/>
              </a:spcBef>
              <a:spcAft>
                <a:spcPts val="1200"/>
              </a:spcAft>
              <a:buClrTx/>
              <a:buSzTx/>
              <a:tabLst/>
              <a:defRPr/>
            </a:pPr>
            <a:r>
              <a:rPr lang="en-US" sz="1627" dirty="0">
                <a:solidFill>
                  <a:srgbClr val="FFFFFF"/>
                </a:solidFill>
                <a:latin typeface="Arial" panose="020B0604020202020204" pitchFamily="34" charset="0"/>
                <a:ea typeface="Arial Bold"/>
                <a:cs typeface="Arial" panose="020B0604020202020204" pitchFamily="34" charset="0"/>
                <a:sym typeface="Arial Bold"/>
              </a:rPr>
              <a:t>	(</a:t>
            </a:r>
            <a:r>
              <a:rPr lang="en-US" sz="1627" dirty="0" err="1">
                <a:solidFill>
                  <a:srgbClr val="FFFFFF"/>
                </a:solidFill>
                <a:latin typeface="Arial" panose="020B0604020202020204" pitchFamily="34" charset="0"/>
                <a:ea typeface="Arial Bold"/>
                <a:cs typeface="Arial" panose="020B0604020202020204" pitchFamily="34" charset="0"/>
                <a:sym typeface="Arial Bold"/>
              </a:rPr>
              <a:t>i</a:t>
            </a:r>
            <a:r>
              <a:rPr lang="en-US" sz="1627" dirty="0">
                <a:solidFill>
                  <a:srgbClr val="FFFFFF"/>
                </a:solidFill>
                <a:latin typeface="Arial" panose="020B0604020202020204" pitchFamily="34" charset="0"/>
                <a:ea typeface="Arial Bold"/>
                <a:cs typeface="Arial" panose="020B0604020202020204" pitchFamily="34" charset="0"/>
                <a:sym typeface="Arial Bold"/>
              </a:rPr>
              <a:t>) express power to delegate; </a:t>
            </a:r>
          </a:p>
          <a:p>
            <a:pPr marR="0" lvl="0" algn="l" defTabSz="914400" rtl="0" eaLnBrk="1" fontAlgn="auto" latinLnBrk="0" hangingPunct="1">
              <a:lnSpc>
                <a:spcPct val="100000"/>
              </a:lnSpc>
              <a:spcBef>
                <a:spcPts val="0"/>
              </a:spcBef>
              <a:spcAft>
                <a:spcPts val="1200"/>
              </a:spcAft>
              <a:buClrTx/>
              <a:buSzTx/>
              <a:tabLst/>
              <a:defRPr/>
            </a:pPr>
            <a:r>
              <a:rPr lang="en-US" sz="1627" dirty="0">
                <a:solidFill>
                  <a:srgbClr val="FFFFFF"/>
                </a:solidFill>
                <a:latin typeface="Arial" panose="020B0604020202020204" pitchFamily="34" charset="0"/>
                <a:ea typeface="Arial Bold"/>
                <a:cs typeface="Arial" panose="020B0604020202020204" pitchFamily="34" charset="0"/>
                <a:sym typeface="Arial Bold"/>
              </a:rPr>
              <a:t>	(ii) implied delegation; and </a:t>
            </a:r>
          </a:p>
          <a:p>
            <a:pPr marR="0" lvl="0" algn="l" defTabSz="914400" rtl="0" eaLnBrk="1" fontAlgn="auto" latinLnBrk="0" hangingPunct="1">
              <a:lnSpc>
                <a:spcPct val="100000"/>
              </a:lnSpc>
              <a:spcBef>
                <a:spcPts val="0"/>
              </a:spcBef>
              <a:spcAft>
                <a:spcPts val="1200"/>
              </a:spcAft>
              <a:buClrTx/>
              <a:buSzTx/>
              <a:tabLst/>
              <a:defRPr/>
            </a:pPr>
            <a:r>
              <a:rPr lang="en-US" sz="1627" dirty="0">
                <a:solidFill>
                  <a:srgbClr val="FFFFFF"/>
                </a:solidFill>
                <a:latin typeface="Arial" panose="020B0604020202020204" pitchFamily="34" charset="0"/>
                <a:ea typeface="Arial Bold"/>
                <a:cs typeface="Arial" panose="020B0604020202020204" pitchFamily="34" charset="0"/>
                <a:sym typeface="Arial Bold"/>
              </a:rPr>
              <a:t>	(iii) agency/alter ego principle</a:t>
            </a:r>
          </a:p>
          <a:p>
            <a:pPr marL="285750" marR="0" lvl="0" indent="-285750" algn="l" defTabSz="914400" rtl="0" eaLnBrk="1" fontAlgn="auto" latinLnBrk="0" hangingPunct="1">
              <a:lnSpc>
                <a:spcPct val="100000"/>
              </a:lnSpc>
              <a:spcBef>
                <a:spcPts val="0"/>
              </a:spcBef>
              <a:spcAft>
                <a:spcPts val="1200"/>
              </a:spcAft>
              <a:buClrTx/>
              <a:buSzTx/>
              <a:buFont typeface="Arial" panose="020B0604020202020204" pitchFamily="34" charset="0"/>
              <a:buChar char="•"/>
              <a:tabLst/>
              <a:defRPr/>
            </a:pPr>
            <a:r>
              <a:rPr lang="en-US" sz="1627" dirty="0">
                <a:solidFill>
                  <a:srgbClr val="FFFFFF"/>
                </a:solidFill>
                <a:latin typeface="Arial" panose="020B0604020202020204" pitchFamily="34" charset="0"/>
                <a:ea typeface="Arial Bold"/>
                <a:cs typeface="Arial" panose="020B0604020202020204" pitchFamily="34" charset="0"/>
                <a:sym typeface="Arial Bold"/>
              </a:rPr>
              <a:t>Ground at common law: ultra vires (acting beyond power)</a:t>
            </a:r>
          </a:p>
          <a:p>
            <a:pPr marL="285750" marR="0" lvl="0" indent="-285750" algn="l" defTabSz="914400" rtl="0" eaLnBrk="1" fontAlgn="auto" latinLnBrk="0" hangingPunct="1">
              <a:lnSpc>
                <a:spcPct val="100000"/>
              </a:lnSpc>
              <a:spcBef>
                <a:spcPts val="0"/>
              </a:spcBef>
              <a:spcAft>
                <a:spcPts val="1200"/>
              </a:spcAft>
              <a:buClrTx/>
              <a:buSzTx/>
              <a:buFont typeface="Arial" panose="020B0604020202020204" pitchFamily="34" charset="0"/>
              <a:buChar char="•"/>
              <a:tabLst/>
              <a:defRPr/>
            </a:pPr>
            <a:r>
              <a:rPr lang="en-US" sz="1627" dirty="0">
                <a:solidFill>
                  <a:srgbClr val="FFFFFF"/>
                </a:solidFill>
                <a:latin typeface="Arial" panose="020B0604020202020204" pitchFamily="34" charset="0"/>
                <a:ea typeface="Arial Bold"/>
                <a:cs typeface="Arial" panose="020B0604020202020204" pitchFamily="34" charset="0"/>
                <a:sym typeface="Arial Bold"/>
              </a:rPr>
              <a:t>ADJR Act provision: ss 5(1)(c) and 6(1)(c) – person did not have jurisdiction or (d) – not </a:t>
            </a:r>
            <a:r>
              <a:rPr lang="en-US" sz="1627" dirty="0" err="1">
                <a:solidFill>
                  <a:srgbClr val="FFFFFF"/>
                </a:solidFill>
                <a:latin typeface="Arial" panose="020B0604020202020204" pitchFamily="34" charset="0"/>
                <a:ea typeface="Arial Bold"/>
                <a:cs typeface="Arial" panose="020B0604020202020204" pitchFamily="34" charset="0"/>
                <a:sym typeface="Arial Bold"/>
              </a:rPr>
              <a:t>authorised</a:t>
            </a:r>
            <a:r>
              <a:rPr lang="en-US" sz="1627" dirty="0">
                <a:solidFill>
                  <a:srgbClr val="FFFFFF"/>
                </a:solidFill>
                <a:latin typeface="Arial" panose="020B0604020202020204" pitchFamily="34" charset="0"/>
                <a:ea typeface="Arial Bold"/>
                <a:cs typeface="Arial" panose="020B0604020202020204" pitchFamily="34" charset="0"/>
                <a:sym typeface="Arial Bold"/>
              </a:rPr>
              <a:t> by statute</a:t>
            </a:r>
          </a:p>
        </p:txBody>
      </p:sp>
      <p:sp>
        <p:nvSpPr>
          <p:cNvPr id="10" name="TextBox 10">
            <a:extLst>
              <a:ext uri="{FF2B5EF4-FFF2-40B4-BE49-F238E27FC236}">
                <a16:creationId xmlns:a16="http://schemas.microsoft.com/office/drawing/2014/main" id="{CD387C57-DC8F-94A7-08AC-D13BE09A187F}"/>
              </a:ext>
            </a:extLst>
          </p:cNvPr>
          <p:cNvSpPr txBox="1"/>
          <p:nvPr/>
        </p:nvSpPr>
        <p:spPr>
          <a:xfrm>
            <a:off x="10195446" y="6347803"/>
            <a:ext cx="1773879" cy="193258"/>
          </a:xfrm>
          <a:prstGeom prst="rect">
            <a:avLst/>
          </a:prstGeom>
        </p:spPr>
        <p:txBody>
          <a:bodyPr lIns="0" tIns="0" rIns="0" bIns="0" rtlCol="0" anchor="t">
            <a:spAutoFit/>
          </a:bodyPr>
          <a:lstStyle/>
          <a:p>
            <a:pPr marL="0" marR="0" lvl="0" indent="0" algn="l" defTabSz="914400" rtl="0" eaLnBrk="1" fontAlgn="auto" latinLnBrk="0" hangingPunct="1">
              <a:lnSpc>
                <a:spcPts val="1422"/>
              </a:lnSpc>
              <a:spcBef>
                <a:spcPts val="0"/>
              </a:spcBef>
              <a:spcAft>
                <a:spcPts val="0"/>
              </a:spcAft>
              <a:buClrTx/>
              <a:buSzTx/>
              <a:buFontTx/>
              <a:buNone/>
              <a:tabLst/>
              <a:defRPr/>
            </a:pPr>
            <a:r>
              <a:rPr kumimoji="0" lang="en-US" sz="1016" b="0" i="0" u="none" strike="noStrike" kern="1200" cap="none" spc="0" normalizeH="0" baseline="0" noProof="0">
                <a:ln>
                  <a:noFill/>
                </a:ln>
                <a:solidFill>
                  <a:srgbClr val="FFFFFF"/>
                </a:solidFill>
                <a:effectLst/>
                <a:uLnTx/>
                <a:uFillTx/>
                <a:latin typeface="Arial"/>
                <a:ea typeface="Arial"/>
                <a:cs typeface="Arial"/>
                <a:sym typeface="Arial"/>
              </a:rPr>
              <a:t>Administrative Law –LAW1023</a:t>
            </a:r>
          </a:p>
        </p:txBody>
      </p:sp>
      <p:pic>
        <p:nvPicPr>
          <p:cNvPr id="4" name="Picture 2" descr="Image result for mission impossible fallout mask">
            <a:extLst>
              <a:ext uri="{FF2B5EF4-FFF2-40B4-BE49-F238E27FC236}">
                <a16:creationId xmlns:a16="http://schemas.microsoft.com/office/drawing/2014/main" id="{C72C2964-E599-1CCF-BAEA-E786EE32BD67}"/>
              </a:ext>
            </a:extLst>
          </p:cNvPr>
          <p:cNvPicPr>
            <a:picLocks noChangeAspect="1" noChangeArrowheads="1"/>
          </p:cNvPicPr>
          <p:nvPr/>
        </p:nvPicPr>
        <p:blipFill rotWithShape="1">
          <a:blip r:embed="rId2" cstate="print">
            <a:extLst>
              <a:ext uri="{28A0092B-C50C-407E-A947-70E740481C1C}">
                <a14:useLocalDpi xmlns:a14="http://schemas.microsoft.com/office/drawing/2010/main" val="0"/>
              </a:ext>
            </a:extLst>
          </a:blip>
          <a:srcRect l="28244" t="5761" r="5853" b="4940"/>
          <a:stretch/>
        </p:blipFill>
        <p:spPr bwMode="auto">
          <a:xfrm>
            <a:off x="8945666" y="2895600"/>
            <a:ext cx="3023659" cy="230461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201376904"/>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bg>
      <p:bgPr>
        <a:solidFill>
          <a:srgbClr val="000054"/>
        </a:solidFill>
        <a:effectLst/>
      </p:bgPr>
    </p:bg>
    <p:spTree>
      <p:nvGrpSpPr>
        <p:cNvPr id="1" name="">
          <a:extLst>
            <a:ext uri="{FF2B5EF4-FFF2-40B4-BE49-F238E27FC236}">
              <a16:creationId xmlns:a16="http://schemas.microsoft.com/office/drawing/2014/main" id="{9889D26F-B82E-A2FD-C743-BF7B2CB13C3F}"/>
            </a:ext>
          </a:extLst>
        </p:cNvPr>
        <p:cNvGrpSpPr/>
        <p:nvPr/>
      </p:nvGrpSpPr>
      <p:grpSpPr>
        <a:xfrm>
          <a:off x="0" y="0"/>
          <a:ext cx="0" cy="0"/>
          <a:chOff x="0" y="0"/>
          <a:chExt cx="0" cy="0"/>
        </a:xfrm>
      </p:grpSpPr>
      <p:grpSp>
        <p:nvGrpSpPr>
          <p:cNvPr id="2" name="Group 2">
            <a:extLst>
              <a:ext uri="{FF2B5EF4-FFF2-40B4-BE49-F238E27FC236}">
                <a16:creationId xmlns:a16="http://schemas.microsoft.com/office/drawing/2014/main" id="{15A54983-FF81-DCFB-FBAF-DA10C59DD388}"/>
              </a:ext>
            </a:extLst>
          </p:cNvPr>
          <p:cNvGrpSpPr/>
          <p:nvPr/>
        </p:nvGrpSpPr>
        <p:grpSpPr>
          <a:xfrm rot="-10800000">
            <a:off x="11045567" y="-12700"/>
            <a:ext cx="1146433" cy="1146433"/>
            <a:chOff x="0" y="0"/>
            <a:chExt cx="1630482" cy="1630482"/>
          </a:xfrm>
        </p:grpSpPr>
        <p:sp>
          <p:nvSpPr>
            <p:cNvPr id="3" name="Freeform 3">
              <a:extLst>
                <a:ext uri="{FF2B5EF4-FFF2-40B4-BE49-F238E27FC236}">
                  <a16:creationId xmlns:a16="http://schemas.microsoft.com/office/drawing/2014/main" id="{B37EA452-9F4F-EB38-D6A3-1C86E51713C9}"/>
                </a:ext>
              </a:extLst>
            </p:cNvPr>
            <p:cNvSpPr/>
            <p:nvPr/>
          </p:nvSpPr>
          <p:spPr>
            <a:xfrm>
              <a:off x="0" y="0"/>
              <a:ext cx="1630426" cy="1630426"/>
            </a:xfrm>
            <a:custGeom>
              <a:avLst/>
              <a:gdLst/>
              <a:ahLst/>
              <a:cxnLst/>
              <a:rect l="l" t="t" r="r" b="b"/>
              <a:pathLst>
                <a:path w="1630426" h="1630426">
                  <a:moveTo>
                    <a:pt x="0" y="0"/>
                  </a:moveTo>
                  <a:lnTo>
                    <a:pt x="543433" y="0"/>
                  </a:lnTo>
                  <a:lnTo>
                    <a:pt x="543433" y="543433"/>
                  </a:lnTo>
                  <a:lnTo>
                    <a:pt x="1086993" y="543433"/>
                  </a:lnTo>
                  <a:lnTo>
                    <a:pt x="1086993" y="1086993"/>
                  </a:lnTo>
                  <a:lnTo>
                    <a:pt x="1630426" y="1086993"/>
                  </a:lnTo>
                  <a:lnTo>
                    <a:pt x="1630426" y="1630426"/>
                  </a:lnTo>
                  <a:lnTo>
                    <a:pt x="0" y="1630426"/>
                  </a:lnTo>
                  <a:lnTo>
                    <a:pt x="0" y="1086993"/>
                  </a:lnTo>
                  <a:lnTo>
                    <a:pt x="0" y="543433"/>
                  </a:lnTo>
                  <a:close/>
                </a:path>
              </a:pathLst>
            </a:custGeom>
            <a:solidFill>
              <a:srgbClr val="FFFFFF"/>
            </a:solid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AU" sz="1800" b="0" i="0" u="none" strike="noStrike" kern="1200" cap="none" spc="0" normalizeH="0" baseline="0" noProof="0">
                <a:ln>
                  <a:noFill/>
                </a:ln>
                <a:solidFill>
                  <a:prstClr val="black"/>
                </a:solidFill>
                <a:effectLst/>
                <a:uLnTx/>
                <a:uFillTx/>
                <a:latin typeface="Calibri"/>
                <a:ea typeface="+mn-ea"/>
                <a:cs typeface="+mn-cs"/>
              </a:endParaRPr>
            </a:p>
          </p:txBody>
        </p:sp>
      </p:grpSp>
      <p:sp>
        <p:nvSpPr>
          <p:cNvPr id="5" name="TextBox 5">
            <a:extLst>
              <a:ext uri="{FF2B5EF4-FFF2-40B4-BE49-F238E27FC236}">
                <a16:creationId xmlns:a16="http://schemas.microsoft.com/office/drawing/2014/main" id="{D6DD1F51-67CE-06E5-EE9D-4FA48BDF5676}"/>
              </a:ext>
            </a:extLst>
          </p:cNvPr>
          <p:cNvSpPr txBox="1"/>
          <p:nvPr/>
        </p:nvSpPr>
        <p:spPr>
          <a:xfrm>
            <a:off x="392084" y="560536"/>
            <a:ext cx="11190316" cy="409471"/>
          </a:xfrm>
          <a:prstGeom prst="rect">
            <a:avLst/>
          </a:prstGeom>
        </p:spPr>
        <p:txBody>
          <a:bodyPr wrap="square" lIns="0" tIns="0" rIns="0" bIns="0" rtlCol="0" anchor="t">
            <a:spAutoFit/>
          </a:bodyPr>
          <a:lstStyle/>
          <a:p>
            <a:pPr marL="0" marR="0" lvl="0" indent="0" algn="l" defTabSz="914400" rtl="0" eaLnBrk="1" fontAlgn="auto" latinLnBrk="0" hangingPunct="1">
              <a:lnSpc>
                <a:spcPts val="3494"/>
              </a:lnSpc>
              <a:spcBef>
                <a:spcPts val="0"/>
              </a:spcBef>
              <a:spcAft>
                <a:spcPts val="0"/>
              </a:spcAft>
              <a:buClrTx/>
              <a:buSzTx/>
              <a:buFontTx/>
              <a:buNone/>
              <a:tabLst/>
              <a:defRPr/>
            </a:pPr>
            <a:r>
              <a:rPr kumimoji="0" lang="en-US" sz="2496" b="1" u="none" strike="noStrike" kern="1200" cap="none" spc="0" normalizeH="0" baseline="0" noProof="0" dirty="0">
                <a:ln>
                  <a:noFill/>
                </a:ln>
                <a:solidFill>
                  <a:srgbClr val="FFFFFF"/>
                </a:solidFill>
                <a:effectLst/>
                <a:uLnTx/>
                <a:uFillTx/>
                <a:latin typeface="Arial Bold"/>
                <a:ea typeface="Arial Bold"/>
                <a:cs typeface="Arial Bold"/>
                <a:sym typeface="Arial Bold"/>
              </a:rPr>
              <a:t>Improper Delegation- express power</a:t>
            </a:r>
          </a:p>
        </p:txBody>
      </p:sp>
      <p:sp>
        <p:nvSpPr>
          <p:cNvPr id="9" name="TextBox 9">
            <a:extLst>
              <a:ext uri="{FF2B5EF4-FFF2-40B4-BE49-F238E27FC236}">
                <a16:creationId xmlns:a16="http://schemas.microsoft.com/office/drawing/2014/main" id="{B023916E-0030-3257-4D4A-B9E9FB3CE178}"/>
              </a:ext>
            </a:extLst>
          </p:cNvPr>
          <p:cNvSpPr txBox="1"/>
          <p:nvPr/>
        </p:nvSpPr>
        <p:spPr>
          <a:xfrm>
            <a:off x="392084" y="1524000"/>
            <a:ext cx="6999316" cy="4178388"/>
          </a:xfrm>
          <a:prstGeom prst="rect">
            <a:avLst/>
          </a:prstGeom>
        </p:spPr>
        <p:txBody>
          <a:bodyPr wrap="square" lIns="0" tIns="0" rIns="0" bIns="0" rtlCol="0" anchor="t">
            <a:spAutoFit/>
          </a:bodyPr>
          <a:lstStyle/>
          <a:p>
            <a:pPr marL="285750" marR="0" lvl="0" indent="-285750" algn="l" defTabSz="914400" rtl="0" eaLnBrk="1" fontAlgn="auto" latinLnBrk="0" hangingPunct="1">
              <a:lnSpc>
                <a:spcPct val="100000"/>
              </a:lnSpc>
              <a:spcBef>
                <a:spcPts val="0"/>
              </a:spcBef>
              <a:spcAft>
                <a:spcPts val="1200"/>
              </a:spcAft>
              <a:buClrTx/>
              <a:buSzTx/>
              <a:buFont typeface="Arial" panose="020B0604020202020204" pitchFamily="34" charset="0"/>
              <a:buChar char="•"/>
              <a:tabLst/>
              <a:defRPr/>
            </a:pPr>
            <a:r>
              <a:rPr lang="en-US" sz="1627" dirty="0">
                <a:solidFill>
                  <a:srgbClr val="FFFFFF"/>
                </a:solidFill>
                <a:latin typeface="Arial" panose="020B0604020202020204" pitchFamily="34" charset="0"/>
                <a:ea typeface="Arial Bold"/>
                <a:cs typeface="Arial" panose="020B0604020202020204" pitchFamily="34" charset="0"/>
                <a:sym typeface="Arial Bold"/>
              </a:rPr>
              <a:t>Express power to delegate</a:t>
            </a:r>
          </a:p>
          <a:p>
            <a:pPr marL="285750" marR="0" lvl="0" indent="-285750" algn="l" defTabSz="914400" rtl="0" eaLnBrk="1" fontAlgn="auto" latinLnBrk="0" hangingPunct="1">
              <a:lnSpc>
                <a:spcPct val="100000"/>
              </a:lnSpc>
              <a:spcBef>
                <a:spcPts val="0"/>
              </a:spcBef>
              <a:spcAft>
                <a:spcPts val="1200"/>
              </a:spcAft>
              <a:buClrTx/>
              <a:buSzTx/>
              <a:buFont typeface="Arial" panose="020B0604020202020204" pitchFamily="34" charset="0"/>
              <a:buChar char="•"/>
              <a:tabLst/>
              <a:defRPr/>
            </a:pPr>
            <a:r>
              <a:rPr lang="en-US" sz="1627" dirty="0">
                <a:solidFill>
                  <a:srgbClr val="FFFFFF"/>
                </a:solidFill>
                <a:latin typeface="Arial" panose="020B0604020202020204" pitchFamily="34" charset="0"/>
                <a:ea typeface="Arial Bold"/>
                <a:cs typeface="Arial" panose="020B0604020202020204" pitchFamily="34" charset="0"/>
                <a:sym typeface="Arial Bold"/>
              </a:rPr>
              <a:t>Note relevant provisions of </a:t>
            </a:r>
            <a:r>
              <a:rPr lang="en-US" sz="1627" i="1" dirty="0">
                <a:solidFill>
                  <a:srgbClr val="FFFFFF"/>
                </a:solidFill>
                <a:latin typeface="Arial" panose="020B0604020202020204" pitchFamily="34" charset="0"/>
                <a:ea typeface="Arial Bold"/>
                <a:cs typeface="Arial" panose="020B0604020202020204" pitchFamily="34" charset="0"/>
                <a:sym typeface="Arial Bold"/>
              </a:rPr>
              <a:t>Acts Interpretation Act 1901 </a:t>
            </a:r>
            <a:r>
              <a:rPr lang="en-US" sz="1627" dirty="0">
                <a:solidFill>
                  <a:srgbClr val="FFFFFF"/>
                </a:solidFill>
                <a:latin typeface="Arial" panose="020B0604020202020204" pitchFamily="34" charset="0"/>
                <a:ea typeface="Arial Bold"/>
                <a:cs typeface="Arial" panose="020B0604020202020204" pitchFamily="34" charset="0"/>
                <a:sym typeface="Arial Bold"/>
              </a:rPr>
              <a:t>(</a:t>
            </a:r>
            <a:r>
              <a:rPr lang="en-US" sz="1627" dirty="0" err="1">
                <a:solidFill>
                  <a:srgbClr val="FFFFFF"/>
                </a:solidFill>
                <a:latin typeface="Arial" panose="020B0604020202020204" pitchFamily="34" charset="0"/>
                <a:ea typeface="Arial Bold"/>
                <a:cs typeface="Arial" panose="020B0604020202020204" pitchFamily="34" charset="0"/>
                <a:sym typeface="Arial Bold"/>
              </a:rPr>
              <a:t>Cth</a:t>
            </a:r>
            <a:r>
              <a:rPr lang="en-US" sz="1627" dirty="0">
                <a:solidFill>
                  <a:srgbClr val="FFFFFF"/>
                </a:solidFill>
                <a:latin typeface="Arial" panose="020B0604020202020204" pitchFamily="34" charset="0"/>
                <a:ea typeface="Arial Bold"/>
                <a:cs typeface="Arial" panose="020B0604020202020204" pitchFamily="34" charset="0"/>
                <a:sym typeface="Arial Bold"/>
              </a:rPr>
              <a:t>):</a:t>
            </a:r>
          </a:p>
          <a:p>
            <a:pPr marL="285750" marR="0" lvl="0" indent="-285750" algn="l" defTabSz="914400" rtl="0" eaLnBrk="1" fontAlgn="auto" latinLnBrk="0" hangingPunct="1">
              <a:lnSpc>
                <a:spcPct val="100000"/>
              </a:lnSpc>
              <a:spcBef>
                <a:spcPts val="0"/>
              </a:spcBef>
              <a:spcAft>
                <a:spcPts val="1200"/>
              </a:spcAft>
              <a:buClrTx/>
              <a:buSzTx/>
              <a:buFont typeface="Arial" panose="020B0604020202020204" pitchFamily="34" charset="0"/>
              <a:buChar char="•"/>
              <a:tabLst/>
              <a:defRPr/>
            </a:pPr>
            <a:r>
              <a:rPr lang="en-US" sz="1627" dirty="0">
                <a:solidFill>
                  <a:srgbClr val="FFFFFF"/>
                </a:solidFill>
                <a:latin typeface="Arial" panose="020B0604020202020204" pitchFamily="34" charset="0"/>
                <a:ea typeface="Arial Bold"/>
                <a:cs typeface="Arial" panose="020B0604020202020204" pitchFamily="34" charset="0"/>
                <a:sym typeface="Arial Bold"/>
              </a:rPr>
              <a:t>s34AA – power to delegate function allows you to delegate to a named person or to an office or position </a:t>
            </a:r>
          </a:p>
          <a:p>
            <a:pPr marL="285750" marR="0" lvl="0" indent="-285750" algn="l" defTabSz="914400" rtl="0" eaLnBrk="1" fontAlgn="auto" latinLnBrk="0" hangingPunct="1">
              <a:lnSpc>
                <a:spcPct val="100000"/>
              </a:lnSpc>
              <a:spcBef>
                <a:spcPts val="0"/>
              </a:spcBef>
              <a:spcAft>
                <a:spcPts val="1200"/>
              </a:spcAft>
              <a:buClrTx/>
              <a:buSzTx/>
              <a:buFont typeface="Arial" panose="020B0604020202020204" pitchFamily="34" charset="0"/>
              <a:buChar char="•"/>
              <a:tabLst/>
              <a:defRPr/>
            </a:pPr>
            <a:r>
              <a:rPr lang="en-US" sz="1627" dirty="0">
                <a:solidFill>
                  <a:srgbClr val="FFFFFF"/>
                </a:solidFill>
                <a:latin typeface="Arial" panose="020B0604020202020204" pitchFamily="34" charset="0"/>
                <a:ea typeface="Arial Bold"/>
                <a:cs typeface="Arial" panose="020B0604020202020204" pitchFamily="34" charset="0"/>
                <a:sym typeface="Arial Bold"/>
              </a:rPr>
              <a:t>s34AB: power to delegate does not include a power to delegate that power of delegation; principal retains power even after delegation</a:t>
            </a:r>
          </a:p>
          <a:p>
            <a:pPr marL="285750" marR="0" lvl="0" indent="-285750" algn="l" defTabSz="914400" rtl="0" eaLnBrk="1" fontAlgn="auto" latinLnBrk="0" hangingPunct="1">
              <a:lnSpc>
                <a:spcPct val="100000"/>
              </a:lnSpc>
              <a:spcBef>
                <a:spcPts val="0"/>
              </a:spcBef>
              <a:spcAft>
                <a:spcPts val="1200"/>
              </a:spcAft>
              <a:buClrTx/>
              <a:buSzTx/>
              <a:buFont typeface="Arial" panose="020B0604020202020204" pitchFamily="34" charset="0"/>
              <a:buChar char="•"/>
              <a:tabLst/>
              <a:defRPr/>
            </a:pPr>
            <a:r>
              <a:rPr lang="en-US" sz="1627" dirty="0">
                <a:solidFill>
                  <a:srgbClr val="FFFFFF"/>
                </a:solidFill>
                <a:latin typeface="Arial" panose="020B0604020202020204" pitchFamily="34" charset="0"/>
                <a:ea typeface="Arial Bold"/>
                <a:cs typeface="Arial" panose="020B0604020202020204" pitchFamily="34" charset="0"/>
                <a:sym typeface="Arial Bold"/>
              </a:rPr>
              <a:t>s34A: if an exercise of power depends on forming an opinion, and that power is delegated, the power is exercised on the basis of the delegate’s opinion Taxation </a:t>
            </a:r>
          </a:p>
          <a:p>
            <a:pPr marL="285750" marR="0" lvl="0" indent="-285750" algn="l" defTabSz="914400" rtl="0" eaLnBrk="1" fontAlgn="auto" latinLnBrk="0" hangingPunct="1">
              <a:lnSpc>
                <a:spcPct val="100000"/>
              </a:lnSpc>
              <a:spcBef>
                <a:spcPts val="0"/>
              </a:spcBef>
              <a:spcAft>
                <a:spcPts val="1200"/>
              </a:spcAft>
              <a:buClrTx/>
              <a:buSzTx/>
              <a:buFont typeface="Arial" panose="020B0604020202020204" pitchFamily="34" charset="0"/>
              <a:buChar char="•"/>
              <a:tabLst/>
              <a:defRPr/>
            </a:pPr>
            <a:r>
              <a:rPr lang="en-US" sz="1627" dirty="0">
                <a:solidFill>
                  <a:srgbClr val="FFFFFF"/>
                </a:solidFill>
                <a:latin typeface="Arial" panose="020B0604020202020204" pitchFamily="34" charset="0"/>
                <a:ea typeface="Arial Bold"/>
                <a:cs typeface="Arial" panose="020B0604020202020204" pitchFamily="34" charset="0"/>
                <a:sym typeface="Arial Bold"/>
              </a:rPr>
              <a:t>Example: </a:t>
            </a:r>
            <a:r>
              <a:rPr lang="en-US" sz="1627" i="1" dirty="0">
                <a:solidFill>
                  <a:srgbClr val="FFFFFF"/>
                </a:solidFill>
                <a:latin typeface="Arial" panose="020B0604020202020204" pitchFamily="34" charset="0"/>
                <a:ea typeface="Arial Bold"/>
                <a:cs typeface="Arial" panose="020B0604020202020204" pitchFamily="34" charset="0"/>
                <a:sym typeface="Arial Bold"/>
              </a:rPr>
              <a:t>Administration Act 1953 (</a:t>
            </a:r>
            <a:r>
              <a:rPr lang="en-US" sz="1627" i="1" dirty="0" err="1">
                <a:solidFill>
                  <a:srgbClr val="FFFFFF"/>
                </a:solidFill>
                <a:latin typeface="Arial" panose="020B0604020202020204" pitchFamily="34" charset="0"/>
                <a:ea typeface="Arial Bold"/>
                <a:cs typeface="Arial" panose="020B0604020202020204" pitchFamily="34" charset="0"/>
                <a:sym typeface="Arial Bold"/>
              </a:rPr>
              <a:t>Cth</a:t>
            </a:r>
            <a:r>
              <a:rPr lang="en-US" sz="1627" i="1" dirty="0">
                <a:solidFill>
                  <a:srgbClr val="FFFFFF"/>
                </a:solidFill>
                <a:latin typeface="Arial" panose="020B0604020202020204" pitchFamily="34" charset="0"/>
                <a:ea typeface="Arial Bold"/>
                <a:cs typeface="Arial" panose="020B0604020202020204" pitchFamily="34" charset="0"/>
                <a:sym typeface="Arial Bold"/>
              </a:rPr>
              <a:t>), </a:t>
            </a:r>
            <a:r>
              <a:rPr lang="en-US" sz="1627" dirty="0">
                <a:solidFill>
                  <a:srgbClr val="FFFFFF"/>
                </a:solidFill>
                <a:latin typeface="Arial" panose="020B0604020202020204" pitchFamily="34" charset="0"/>
                <a:ea typeface="Arial Bold"/>
                <a:cs typeface="Arial" panose="020B0604020202020204" pitchFamily="34" charset="0"/>
                <a:sym typeface="Arial Bold"/>
              </a:rPr>
              <a:t>s 8: ‘The Commissioner of Taxation may…by  writing under his hand, delegate to a Deputy Commissioner…all or any of his functions  under this Act…other than this power of delegation’</a:t>
            </a:r>
          </a:p>
        </p:txBody>
      </p:sp>
      <p:sp>
        <p:nvSpPr>
          <p:cNvPr id="10" name="TextBox 10">
            <a:extLst>
              <a:ext uri="{FF2B5EF4-FFF2-40B4-BE49-F238E27FC236}">
                <a16:creationId xmlns:a16="http://schemas.microsoft.com/office/drawing/2014/main" id="{5058FC15-23A9-FCFE-2F03-0BB11779CF48}"/>
              </a:ext>
            </a:extLst>
          </p:cNvPr>
          <p:cNvSpPr txBox="1"/>
          <p:nvPr/>
        </p:nvSpPr>
        <p:spPr>
          <a:xfrm>
            <a:off x="10195446" y="6347803"/>
            <a:ext cx="1773879" cy="193258"/>
          </a:xfrm>
          <a:prstGeom prst="rect">
            <a:avLst/>
          </a:prstGeom>
        </p:spPr>
        <p:txBody>
          <a:bodyPr lIns="0" tIns="0" rIns="0" bIns="0" rtlCol="0" anchor="t">
            <a:spAutoFit/>
          </a:bodyPr>
          <a:lstStyle/>
          <a:p>
            <a:pPr marL="0" marR="0" lvl="0" indent="0" algn="l" defTabSz="914400" rtl="0" eaLnBrk="1" fontAlgn="auto" latinLnBrk="0" hangingPunct="1">
              <a:lnSpc>
                <a:spcPts val="1422"/>
              </a:lnSpc>
              <a:spcBef>
                <a:spcPts val="0"/>
              </a:spcBef>
              <a:spcAft>
                <a:spcPts val="0"/>
              </a:spcAft>
              <a:buClrTx/>
              <a:buSzTx/>
              <a:buFontTx/>
              <a:buNone/>
              <a:tabLst/>
              <a:defRPr/>
            </a:pPr>
            <a:r>
              <a:rPr kumimoji="0" lang="en-US" sz="1016" b="0" i="0" u="none" strike="noStrike" kern="1200" cap="none" spc="0" normalizeH="0" baseline="0" noProof="0">
                <a:ln>
                  <a:noFill/>
                </a:ln>
                <a:solidFill>
                  <a:srgbClr val="FFFFFF"/>
                </a:solidFill>
                <a:effectLst/>
                <a:uLnTx/>
                <a:uFillTx/>
                <a:latin typeface="Arial"/>
                <a:ea typeface="Arial"/>
                <a:cs typeface="Arial"/>
                <a:sym typeface="Arial"/>
              </a:rPr>
              <a:t>Administrative Law –LAW1023</a:t>
            </a:r>
          </a:p>
        </p:txBody>
      </p:sp>
      <p:pic>
        <p:nvPicPr>
          <p:cNvPr id="6" name="Picture 5" descr="A person sitting at a desk with many hands holding papers&#10;&#10;AI-generated content may be incorrect.">
            <a:extLst>
              <a:ext uri="{FF2B5EF4-FFF2-40B4-BE49-F238E27FC236}">
                <a16:creationId xmlns:a16="http://schemas.microsoft.com/office/drawing/2014/main" id="{D2284798-849B-C7B7-8D0A-EFF44A69DB2F}"/>
              </a:ext>
            </a:extLst>
          </p:cNvPr>
          <p:cNvPicPr>
            <a:picLocks noChangeAspect="1"/>
          </p:cNvPicPr>
          <p:nvPr/>
        </p:nvPicPr>
        <p:blipFill>
          <a:blip r:embed="rId2"/>
          <a:stretch>
            <a:fillRect/>
          </a:stretch>
        </p:blipFill>
        <p:spPr>
          <a:xfrm>
            <a:off x="8382000" y="2743200"/>
            <a:ext cx="3124200" cy="3124200"/>
          </a:xfrm>
          <a:prstGeom prst="rect">
            <a:avLst/>
          </a:prstGeom>
        </p:spPr>
      </p:pic>
      <p:sp>
        <p:nvSpPr>
          <p:cNvPr id="7" name="TextBox 6">
            <a:extLst>
              <a:ext uri="{FF2B5EF4-FFF2-40B4-BE49-F238E27FC236}">
                <a16:creationId xmlns:a16="http://schemas.microsoft.com/office/drawing/2014/main" id="{DC3DDA28-9FCF-1834-37AB-8FC8E42377B5}"/>
              </a:ext>
            </a:extLst>
          </p:cNvPr>
          <p:cNvSpPr txBox="1"/>
          <p:nvPr/>
        </p:nvSpPr>
        <p:spPr>
          <a:xfrm>
            <a:off x="8375904" y="1878076"/>
            <a:ext cx="3090672" cy="769441"/>
          </a:xfrm>
          <a:prstGeom prst="rect">
            <a:avLst/>
          </a:prstGeom>
          <a:noFill/>
        </p:spPr>
        <p:txBody>
          <a:bodyPr wrap="square" rtlCol="0">
            <a:spAutoFit/>
          </a:bodyPr>
          <a:lstStyle/>
          <a:p>
            <a:r>
              <a:rPr lang="en-US" sz="1100" dirty="0">
                <a:solidFill>
                  <a:schemeClr val="bg1"/>
                </a:solidFill>
              </a:rPr>
              <a:t>Courts have </a:t>
            </a:r>
            <a:r>
              <a:rPr lang="en-US" sz="1100" dirty="0" err="1">
                <a:solidFill>
                  <a:schemeClr val="bg1"/>
                </a:solidFill>
              </a:rPr>
              <a:t>recognised</a:t>
            </a:r>
            <a:r>
              <a:rPr lang="en-US" sz="1100" dirty="0">
                <a:solidFill>
                  <a:schemeClr val="bg1"/>
                </a:solidFill>
              </a:rPr>
              <a:t> that where there are thousands or even of millions of notices to issue or actions  to take, this may favour an interpretation that the power was envisaged to be delegated </a:t>
            </a:r>
            <a:endParaRPr lang="en-AU" sz="1100" dirty="0">
              <a:solidFill>
                <a:schemeClr val="bg1"/>
              </a:solidFill>
            </a:endParaRPr>
          </a:p>
        </p:txBody>
      </p:sp>
    </p:spTree>
    <p:extLst>
      <p:ext uri="{BB962C8B-B14F-4D97-AF65-F5344CB8AC3E}">
        <p14:creationId xmlns:p14="http://schemas.microsoft.com/office/powerpoint/2010/main" val="773785674"/>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bg>
      <p:bgPr>
        <a:solidFill>
          <a:srgbClr val="000054"/>
        </a:solidFill>
        <a:effectLst/>
      </p:bgPr>
    </p:bg>
    <p:spTree>
      <p:nvGrpSpPr>
        <p:cNvPr id="1" name="">
          <a:extLst>
            <a:ext uri="{FF2B5EF4-FFF2-40B4-BE49-F238E27FC236}">
              <a16:creationId xmlns:a16="http://schemas.microsoft.com/office/drawing/2014/main" id="{B2AF2368-C8D7-F9D1-C347-AE086D1288D8}"/>
            </a:ext>
          </a:extLst>
        </p:cNvPr>
        <p:cNvGrpSpPr/>
        <p:nvPr/>
      </p:nvGrpSpPr>
      <p:grpSpPr>
        <a:xfrm>
          <a:off x="0" y="0"/>
          <a:ext cx="0" cy="0"/>
          <a:chOff x="0" y="0"/>
          <a:chExt cx="0" cy="0"/>
        </a:xfrm>
      </p:grpSpPr>
      <p:grpSp>
        <p:nvGrpSpPr>
          <p:cNvPr id="2" name="Group 2">
            <a:extLst>
              <a:ext uri="{FF2B5EF4-FFF2-40B4-BE49-F238E27FC236}">
                <a16:creationId xmlns:a16="http://schemas.microsoft.com/office/drawing/2014/main" id="{8E02AE38-A456-A52B-228D-883ADEC6AE0E}"/>
              </a:ext>
            </a:extLst>
          </p:cNvPr>
          <p:cNvGrpSpPr/>
          <p:nvPr/>
        </p:nvGrpSpPr>
        <p:grpSpPr>
          <a:xfrm rot="-10800000">
            <a:off x="11045567" y="-12700"/>
            <a:ext cx="1146433" cy="1146433"/>
            <a:chOff x="0" y="0"/>
            <a:chExt cx="1630482" cy="1630482"/>
          </a:xfrm>
        </p:grpSpPr>
        <p:sp>
          <p:nvSpPr>
            <p:cNvPr id="3" name="Freeform 3">
              <a:extLst>
                <a:ext uri="{FF2B5EF4-FFF2-40B4-BE49-F238E27FC236}">
                  <a16:creationId xmlns:a16="http://schemas.microsoft.com/office/drawing/2014/main" id="{8571D6AF-89DC-643B-553E-3B4B7D72F272}"/>
                </a:ext>
              </a:extLst>
            </p:cNvPr>
            <p:cNvSpPr/>
            <p:nvPr/>
          </p:nvSpPr>
          <p:spPr>
            <a:xfrm>
              <a:off x="0" y="0"/>
              <a:ext cx="1630426" cy="1630426"/>
            </a:xfrm>
            <a:custGeom>
              <a:avLst/>
              <a:gdLst/>
              <a:ahLst/>
              <a:cxnLst/>
              <a:rect l="l" t="t" r="r" b="b"/>
              <a:pathLst>
                <a:path w="1630426" h="1630426">
                  <a:moveTo>
                    <a:pt x="0" y="0"/>
                  </a:moveTo>
                  <a:lnTo>
                    <a:pt x="543433" y="0"/>
                  </a:lnTo>
                  <a:lnTo>
                    <a:pt x="543433" y="543433"/>
                  </a:lnTo>
                  <a:lnTo>
                    <a:pt x="1086993" y="543433"/>
                  </a:lnTo>
                  <a:lnTo>
                    <a:pt x="1086993" y="1086993"/>
                  </a:lnTo>
                  <a:lnTo>
                    <a:pt x="1630426" y="1086993"/>
                  </a:lnTo>
                  <a:lnTo>
                    <a:pt x="1630426" y="1630426"/>
                  </a:lnTo>
                  <a:lnTo>
                    <a:pt x="0" y="1630426"/>
                  </a:lnTo>
                  <a:lnTo>
                    <a:pt x="0" y="1086993"/>
                  </a:lnTo>
                  <a:lnTo>
                    <a:pt x="0" y="543433"/>
                  </a:lnTo>
                  <a:close/>
                </a:path>
              </a:pathLst>
            </a:custGeom>
            <a:solidFill>
              <a:srgbClr val="FFFFFF"/>
            </a:solid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AU" sz="1800" b="0" i="0" u="none" strike="noStrike" kern="1200" cap="none" spc="0" normalizeH="0" baseline="0" noProof="0">
                <a:ln>
                  <a:noFill/>
                </a:ln>
                <a:solidFill>
                  <a:prstClr val="black"/>
                </a:solidFill>
                <a:effectLst/>
                <a:uLnTx/>
                <a:uFillTx/>
                <a:latin typeface="Calibri"/>
                <a:ea typeface="+mn-ea"/>
                <a:cs typeface="+mn-cs"/>
              </a:endParaRPr>
            </a:p>
          </p:txBody>
        </p:sp>
      </p:grpSp>
      <p:sp>
        <p:nvSpPr>
          <p:cNvPr id="5" name="TextBox 5">
            <a:extLst>
              <a:ext uri="{FF2B5EF4-FFF2-40B4-BE49-F238E27FC236}">
                <a16:creationId xmlns:a16="http://schemas.microsoft.com/office/drawing/2014/main" id="{D0711AFD-9586-4158-4C2C-E3BD0D24C9CE}"/>
              </a:ext>
            </a:extLst>
          </p:cNvPr>
          <p:cNvSpPr txBox="1"/>
          <p:nvPr/>
        </p:nvSpPr>
        <p:spPr>
          <a:xfrm>
            <a:off x="392084" y="560536"/>
            <a:ext cx="11190316" cy="409471"/>
          </a:xfrm>
          <a:prstGeom prst="rect">
            <a:avLst/>
          </a:prstGeom>
        </p:spPr>
        <p:txBody>
          <a:bodyPr wrap="square" lIns="0" tIns="0" rIns="0" bIns="0" rtlCol="0" anchor="t">
            <a:spAutoFit/>
          </a:bodyPr>
          <a:lstStyle/>
          <a:p>
            <a:pPr marL="0" marR="0" lvl="0" indent="0" algn="l" defTabSz="914400" rtl="0" eaLnBrk="1" fontAlgn="auto" latinLnBrk="0" hangingPunct="1">
              <a:lnSpc>
                <a:spcPts val="3494"/>
              </a:lnSpc>
              <a:spcBef>
                <a:spcPts val="0"/>
              </a:spcBef>
              <a:spcAft>
                <a:spcPts val="0"/>
              </a:spcAft>
              <a:buClrTx/>
              <a:buSzTx/>
              <a:buFontTx/>
              <a:buNone/>
              <a:tabLst/>
              <a:defRPr/>
            </a:pPr>
            <a:r>
              <a:rPr kumimoji="0" lang="en-US" sz="2496" b="1" u="none" strike="noStrike" kern="1200" cap="none" spc="0" normalizeH="0" baseline="0" noProof="0" dirty="0">
                <a:ln>
                  <a:noFill/>
                </a:ln>
                <a:solidFill>
                  <a:srgbClr val="FFFFFF"/>
                </a:solidFill>
                <a:effectLst/>
                <a:uLnTx/>
                <a:uFillTx/>
                <a:latin typeface="Arial Bold"/>
                <a:ea typeface="Arial Bold"/>
                <a:cs typeface="Arial Bold"/>
                <a:sym typeface="Arial Bold"/>
              </a:rPr>
              <a:t>Improper Delegation- implied power</a:t>
            </a:r>
          </a:p>
        </p:txBody>
      </p:sp>
      <p:sp>
        <p:nvSpPr>
          <p:cNvPr id="9" name="TextBox 9">
            <a:extLst>
              <a:ext uri="{FF2B5EF4-FFF2-40B4-BE49-F238E27FC236}">
                <a16:creationId xmlns:a16="http://schemas.microsoft.com/office/drawing/2014/main" id="{09A60E49-3999-DF22-4A2D-11CA835D042B}"/>
              </a:ext>
            </a:extLst>
          </p:cNvPr>
          <p:cNvSpPr txBox="1"/>
          <p:nvPr/>
        </p:nvSpPr>
        <p:spPr>
          <a:xfrm>
            <a:off x="392084" y="1524000"/>
            <a:ext cx="9894916" cy="3369833"/>
          </a:xfrm>
          <a:prstGeom prst="rect">
            <a:avLst/>
          </a:prstGeom>
        </p:spPr>
        <p:txBody>
          <a:bodyPr wrap="square" lIns="0" tIns="0" rIns="0" bIns="0" rtlCol="0" anchor="t">
            <a:spAutoFit/>
          </a:bodyPr>
          <a:lstStyle/>
          <a:p>
            <a:pPr marL="285750" marR="0" lvl="0" indent="-285750" algn="l" defTabSz="914400" rtl="0" eaLnBrk="1" fontAlgn="auto" latinLnBrk="0" hangingPunct="1">
              <a:lnSpc>
                <a:spcPct val="100000"/>
              </a:lnSpc>
              <a:spcBef>
                <a:spcPts val="0"/>
              </a:spcBef>
              <a:spcAft>
                <a:spcPts val="1200"/>
              </a:spcAft>
              <a:buClrTx/>
              <a:buSzTx/>
              <a:buFont typeface="Arial" panose="020B0604020202020204" pitchFamily="34" charset="0"/>
              <a:buChar char="•"/>
              <a:tabLst/>
              <a:defRPr/>
            </a:pPr>
            <a:r>
              <a:rPr lang="en-US" sz="1627" dirty="0">
                <a:solidFill>
                  <a:srgbClr val="FFFFFF"/>
                </a:solidFill>
                <a:latin typeface="Arial" panose="020B0604020202020204" pitchFamily="34" charset="0"/>
                <a:ea typeface="Arial Bold"/>
                <a:cs typeface="Arial" panose="020B0604020202020204" pitchFamily="34" charset="0"/>
                <a:sym typeface="Arial Bold"/>
              </a:rPr>
              <a:t>Courts may imply into the statute a power to delegate if circumstances dictate need.  </a:t>
            </a:r>
          </a:p>
          <a:p>
            <a:pPr marL="285750" marR="0" lvl="0" indent="-285750" algn="l" defTabSz="914400" rtl="0" eaLnBrk="1" fontAlgn="auto" latinLnBrk="0" hangingPunct="1">
              <a:lnSpc>
                <a:spcPct val="100000"/>
              </a:lnSpc>
              <a:spcBef>
                <a:spcPts val="0"/>
              </a:spcBef>
              <a:spcAft>
                <a:spcPts val="1200"/>
              </a:spcAft>
              <a:buClrTx/>
              <a:buSzTx/>
              <a:buFont typeface="Arial" panose="020B0604020202020204" pitchFamily="34" charset="0"/>
              <a:buChar char="•"/>
              <a:tabLst/>
              <a:defRPr/>
            </a:pPr>
            <a:r>
              <a:rPr lang="en-US" sz="1627" dirty="0">
                <a:solidFill>
                  <a:srgbClr val="FFFFFF"/>
                </a:solidFill>
                <a:latin typeface="Arial" panose="020B0604020202020204" pitchFamily="34" charset="0"/>
                <a:ea typeface="Arial Bold"/>
                <a:cs typeface="Arial" panose="020B0604020202020204" pitchFamily="34" charset="0"/>
                <a:sym typeface="Arial Bold"/>
              </a:rPr>
              <a:t>This usually turns on the words, structure or subject matter of the statute. See </a:t>
            </a:r>
            <a:r>
              <a:rPr lang="en-US" sz="1627" dirty="0" err="1">
                <a:solidFill>
                  <a:srgbClr val="FFFFFF"/>
                </a:solidFill>
                <a:latin typeface="Arial" panose="020B0604020202020204" pitchFamily="34" charset="0"/>
                <a:ea typeface="Arial Bold"/>
                <a:cs typeface="Arial" panose="020B0604020202020204" pitchFamily="34" charset="0"/>
                <a:sym typeface="Arial Bold"/>
              </a:rPr>
              <a:t>eg</a:t>
            </a:r>
            <a:r>
              <a:rPr lang="en-US" sz="1627" dirty="0">
                <a:solidFill>
                  <a:srgbClr val="FFFFFF"/>
                </a:solidFill>
                <a:latin typeface="Arial" panose="020B0604020202020204" pitchFamily="34" charset="0"/>
                <a:ea typeface="Arial Bold"/>
                <a:cs typeface="Arial" panose="020B0604020202020204" pitchFamily="34" charset="0"/>
                <a:sym typeface="Arial Bold"/>
              </a:rPr>
              <a:t> </a:t>
            </a:r>
            <a:r>
              <a:rPr lang="en-US" sz="1627" i="1" dirty="0">
                <a:solidFill>
                  <a:srgbClr val="FFFFFF"/>
                </a:solidFill>
                <a:latin typeface="Arial" panose="020B0604020202020204" pitchFamily="34" charset="0"/>
                <a:ea typeface="Arial Bold"/>
                <a:cs typeface="Arial" panose="020B0604020202020204" pitchFamily="34" charset="0"/>
                <a:sym typeface="Arial Bold"/>
              </a:rPr>
              <a:t>Ex </a:t>
            </a:r>
            <a:r>
              <a:rPr lang="en-US" sz="1627" i="1" dirty="0" err="1">
                <a:solidFill>
                  <a:srgbClr val="FFFFFF"/>
                </a:solidFill>
                <a:latin typeface="Arial" panose="020B0604020202020204" pitchFamily="34" charset="0"/>
                <a:ea typeface="Arial Bold"/>
                <a:cs typeface="Arial" panose="020B0604020202020204" pitchFamily="34" charset="0"/>
                <a:sym typeface="Arial Bold"/>
              </a:rPr>
              <a:t>parte</a:t>
            </a:r>
            <a:r>
              <a:rPr lang="en-US" sz="1627" i="1" dirty="0">
                <a:solidFill>
                  <a:srgbClr val="FFFFFF"/>
                </a:solidFill>
                <a:latin typeface="Arial" panose="020B0604020202020204" pitchFamily="34" charset="0"/>
                <a:ea typeface="Arial Bold"/>
                <a:cs typeface="Arial" panose="020B0604020202020204" pitchFamily="34" charset="0"/>
                <a:sym typeface="Arial Bold"/>
              </a:rPr>
              <a:t> Forster, Re Uni of Sydney</a:t>
            </a:r>
            <a:r>
              <a:rPr lang="en-US" sz="1627" dirty="0">
                <a:solidFill>
                  <a:srgbClr val="FFFFFF"/>
                </a:solidFill>
                <a:latin typeface="Arial" panose="020B0604020202020204" pitchFamily="34" charset="0"/>
                <a:ea typeface="Arial Bold"/>
                <a:cs typeface="Arial" panose="020B0604020202020204" pitchFamily="34" charset="0"/>
                <a:sym typeface="Arial Bold"/>
              </a:rPr>
              <a:t> [1963] SR 723</a:t>
            </a:r>
          </a:p>
          <a:p>
            <a:pPr marL="285750" marR="0" lvl="0" indent="-285750" algn="l" defTabSz="914400" rtl="0" eaLnBrk="1" fontAlgn="auto" latinLnBrk="0" hangingPunct="1">
              <a:lnSpc>
                <a:spcPct val="100000"/>
              </a:lnSpc>
              <a:spcBef>
                <a:spcPts val="0"/>
              </a:spcBef>
              <a:spcAft>
                <a:spcPts val="1200"/>
              </a:spcAft>
              <a:buClrTx/>
              <a:buSzTx/>
              <a:buFont typeface="Arial" panose="020B0604020202020204" pitchFamily="34" charset="0"/>
              <a:buChar char="•"/>
              <a:tabLst/>
              <a:defRPr/>
            </a:pPr>
            <a:r>
              <a:rPr lang="en-US" sz="1627" dirty="0">
                <a:solidFill>
                  <a:srgbClr val="FFFFFF"/>
                </a:solidFill>
                <a:latin typeface="Arial" panose="020B0604020202020204" pitchFamily="34" charset="0"/>
                <a:ea typeface="Arial Bold"/>
                <a:cs typeface="Arial" panose="020B0604020202020204" pitchFamily="34" charset="0"/>
                <a:sym typeface="Arial Bold"/>
              </a:rPr>
              <a:t>Re general rule against sub- or further delegation – the construction of the statute must be considered with:</a:t>
            </a:r>
          </a:p>
          <a:p>
            <a:pPr marL="742950" lvl="1" indent="-285750">
              <a:spcAft>
                <a:spcPts val="1200"/>
              </a:spcAft>
              <a:buFont typeface="Arial" panose="020B0604020202020204" pitchFamily="34" charset="0"/>
              <a:buChar char="•"/>
              <a:defRPr/>
            </a:pPr>
            <a:r>
              <a:rPr lang="en-US" sz="1627" dirty="0">
                <a:solidFill>
                  <a:srgbClr val="FFFFFF"/>
                </a:solidFill>
                <a:latin typeface="Arial" panose="020B0604020202020204" pitchFamily="34" charset="0"/>
                <a:ea typeface="Arial Bold"/>
                <a:cs typeface="Arial" panose="020B0604020202020204" pitchFamily="34" charset="0"/>
                <a:sym typeface="Arial Bold"/>
              </a:rPr>
              <a:t>‘</a:t>
            </a:r>
            <a:r>
              <a:rPr lang="en-US" sz="1627" i="1" dirty="0">
                <a:solidFill>
                  <a:srgbClr val="FFFFFF"/>
                </a:solidFill>
                <a:latin typeface="Arial" panose="020B0604020202020204" pitchFamily="34" charset="0"/>
                <a:ea typeface="Arial Bold"/>
                <a:cs typeface="Arial" panose="020B0604020202020204" pitchFamily="34" charset="0"/>
                <a:sym typeface="Arial Bold"/>
              </a:rPr>
              <a:t>due regard to the purpose and objects of the statute, the character of the power which is conferred, the exigencies of the occasions which may arise with respect to its exercise and other relevant considerations’ </a:t>
            </a:r>
            <a:endParaRPr lang="en-US" sz="1627" dirty="0">
              <a:solidFill>
                <a:srgbClr val="FFFFFF"/>
              </a:solidFill>
              <a:latin typeface="Arial" panose="020B0604020202020204" pitchFamily="34" charset="0"/>
              <a:ea typeface="Arial Bold"/>
              <a:cs typeface="Arial" panose="020B0604020202020204" pitchFamily="34" charset="0"/>
              <a:sym typeface="Arial Bold"/>
            </a:endParaRPr>
          </a:p>
          <a:p>
            <a:pPr marL="285750" marR="0" lvl="0" indent="-285750" algn="l" defTabSz="914400" rtl="0" eaLnBrk="1" fontAlgn="auto" latinLnBrk="0" hangingPunct="1">
              <a:lnSpc>
                <a:spcPct val="100000"/>
              </a:lnSpc>
              <a:spcBef>
                <a:spcPts val="0"/>
              </a:spcBef>
              <a:spcAft>
                <a:spcPts val="1200"/>
              </a:spcAft>
              <a:buClrTx/>
              <a:buSzTx/>
              <a:buFont typeface="Arial" panose="020B0604020202020204" pitchFamily="34" charset="0"/>
              <a:buChar char="•"/>
              <a:tabLst/>
              <a:defRPr/>
            </a:pPr>
            <a:r>
              <a:rPr lang="en-US" sz="1627" dirty="0">
                <a:solidFill>
                  <a:srgbClr val="FFFFFF"/>
                </a:solidFill>
                <a:latin typeface="Arial" panose="020B0604020202020204" pitchFamily="34" charset="0"/>
                <a:ea typeface="Arial Bold"/>
                <a:cs typeface="Arial" panose="020B0604020202020204" pitchFamily="34" charset="0"/>
                <a:sym typeface="Arial Bold"/>
              </a:rPr>
              <a:t>In this case the University Senate (like Council) </a:t>
            </a:r>
            <a:r>
              <a:rPr lang="en-US" sz="1627" dirty="0" err="1">
                <a:solidFill>
                  <a:srgbClr val="FFFFFF"/>
                </a:solidFill>
                <a:latin typeface="Arial" panose="020B0604020202020204" pitchFamily="34" charset="0"/>
                <a:ea typeface="Arial Bold"/>
                <a:cs typeface="Arial" panose="020B0604020202020204" pitchFamily="34" charset="0"/>
                <a:sym typeface="Arial Bold"/>
              </a:rPr>
              <a:t>authorised</a:t>
            </a:r>
            <a:r>
              <a:rPr lang="en-US" sz="1627" dirty="0">
                <a:solidFill>
                  <a:srgbClr val="FFFFFF"/>
                </a:solidFill>
                <a:latin typeface="Arial" panose="020B0604020202020204" pitchFamily="34" charset="0"/>
                <a:ea typeface="Arial Bold"/>
                <a:cs typeface="Arial" panose="020B0604020202020204" pitchFamily="34" charset="0"/>
                <a:sym typeface="Arial Bold"/>
              </a:rPr>
              <a:t> faculties to terminate enrolment of students who had failed twice – held to be allowed (</a:t>
            </a:r>
            <a:r>
              <a:rPr lang="en-US" sz="1627" dirty="0" err="1">
                <a:solidFill>
                  <a:srgbClr val="FFFFFF"/>
                </a:solidFill>
                <a:latin typeface="Arial" panose="020B0604020202020204" pitchFamily="34" charset="0"/>
                <a:ea typeface="Arial Bold"/>
                <a:cs typeface="Arial" panose="020B0604020202020204" pitchFamily="34" charset="0"/>
                <a:sym typeface="Arial Bold"/>
              </a:rPr>
              <a:t>ie</a:t>
            </a:r>
            <a:r>
              <a:rPr lang="en-US" sz="1627" dirty="0">
                <a:solidFill>
                  <a:srgbClr val="FFFFFF"/>
                </a:solidFill>
                <a:latin typeface="Arial" panose="020B0604020202020204" pitchFamily="34" charset="0"/>
                <a:ea typeface="Arial Bold"/>
                <a:cs typeface="Arial" panose="020B0604020202020204" pitchFamily="34" charset="0"/>
                <a:sym typeface="Arial Bold"/>
              </a:rPr>
              <a:t> Senate was allowed to delegate statutory powers to faculty committee; the ‘initial delegation’ being from the legislature to the Senate).</a:t>
            </a:r>
          </a:p>
        </p:txBody>
      </p:sp>
      <p:sp>
        <p:nvSpPr>
          <p:cNvPr id="10" name="TextBox 10">
            <a:extLst>
              <a:ext uri="{FF2B5EF4-FFF2-40B4-BE49-F238E27FC236}">
                <a16:creationId xmlns:a16="http://schemas.microsoft.com/office/drawing/2014/main" id="{9072B72D-282A-84AC-BCD0-67CF64D139BE}"/>
              </a:ext>
            </a:extLst>
          </p:cNvPr>
          <p:cNvSpPr txBox="1"/>
          <p:nvPr/>
        </p:nvSpPr>
        <p:spPr>
          <a:xfrm>
            <a:off x="10195446" y="6347803"/>
            <a:ext cx="1773879" cy="193258"/>
          </a:xfrm>
          <a:prstGeom prst="rect">
            <a:avLst/>
          </a:prstGeom>
        </p:spPr>
        <p:txBody>
          <a:bodyPr lIns="0" tIns="0" rIns="0" bIns="0" rtlCol="0" anchor="t">
            <a:spAutoFit/>
          </a:bodyPr>
          <a:lstStyle/>
          <a:p>
            <a:pPr marL="0" marR="0" lvl="0" indent="0" algn="l" defTabSz="914400" rtl="0" eaLnBrk="1" fontAlgn="auto" latinLnBrk="0" hangingPunct="1">
              <a:lnSpc>
                <a:spcPts val="1422"/>
              </a:lnSpc>
              <a:spcBef>
                <a:spcPts val="0"/>
              </a:spcBef>
              <a:spcAft>
                <a:spcPts val="0"/>
              </a:spcAft>
              <a:buClrTx/>
              <a:buSzTx/>
              <a:buFontTx/>
              <a:buNone/>
              <a:tabLst/>
              <a:defRPr/>
            </a:pPr>
            <a:r>
              <a:rPr kumimoji="0" lang="en-US" sz="1016" b="0" i="0" u="none" strike="noStrike" kern="1200" cap="none" spc="0" normalizeH="0" baseline="0" noProof="0">
                <a:ln>
                  <a:noFill/>
                </a:ln>
                <a:solidFill>
                  <a:srgbClr val="FFFFFF"/>
                </a:solidFill>
                <a:effectLst/>
                <a:uLnTx/>
                <a:uFillTx/>
                <a:latin typeface="Arial"/>
                <a:ea typeface="Arial"/>
                <a:cs typeface="Arial"/>
                <a:sym typeface="Arial"/>
              </a:rPr>
              <a:t>Administrative Law –LAW1023</a:t>
            </a:r>
          </a:p>
        </p:txBody>
      </p:sp>
      <p:sp>
        <p:nvSpPr>
          <p:cNvPr id="4" name="object 8"/>
          <p:cNvSpPr/>
          <p:nvPr/>
        </p:nvSpPr>
        <p:spPr>
          <a:xfrm>
            <a:off x="7239000" y="4983517"/>
            <a:ext cx="2712260" cy="1564341"/>
          </a:xfrm>
          <a:prstGeom prst="rect">
            <a:avLst/>
          </a:prstGeom>
          <a:blipFill>
            <a:blip r:embed="rId2" cstate="print"/>
            <a:stretch>
              <a:fillRect/>
            </a:stretch>
          </a:blipFill>
        </p:spPr>
        <p:txBody>
          <a:bodyPr wrap="square" lIns="0" tIns="0" rIns="0" bIns="0" rtlCol="0"/>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1219170"/>
            <a:endParaRPr sz="2400" dirty="0">
              <a:solidFill>
                <a:srgbClr val="21205F"/>
              </a:solidFill>
              <a:latin typeface="Arial" panose="020B0604020202020204"/>
            </a:endParaRPr>
          </a:p>
        </p:txBody>
      </p:sp>
    </p:spTree>
    <p:extLst>
      <p:ext uri="{BB962C8B-B14F-4D97-AF65-F5344CB8AC3E}">
        <p14:creationId xmlns:p14="http://schemas.microsoft.com/office/powerpoint/2010/main" val="1208905669"/>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bg>
      <p:bgPr>
        <a:solidFill>
          <a:srgbClr val="000054"/>
        </a:solidFill>
        <a:effectLst/>
      </p:bgPr>
    </p:bg>
    <p:spTree>
      <p:nvGrpSpPr>
        <p:cNvPr id="1" name="">
          <a:extLst>
            <a:ext uri="{FF2B5EF4-FFF2-40B4-BE49-F238E27FC236}">
              <a16:creationId xmlns:a16="http://schemas.microsoft.com/office/drawing/2014/main" id="{1E8D7BA7-B09F-ECB6-6713-538344E20A49}"/>
            </a:ext>
          </a:extLst>
        </p:cNvPr>
        <p:cNvGrpSpPr/>
        <p:nvPr/>
      </p:nvGrpSpPr>
      <p:grpSpPr>
        <a:xfrm>
          <a:off x="0" y="0"/>
          <a:ext cx="0" cy="0"/>
          <a:chOff x="0" y="0"/>
          <a:chExt cx="0" cy="0"/>
        </a:xfrm>
      </p:grpSpPr>
      <p:grpSp>
        <p:nvGrpSpPr>
          <p:cNvPr id="2" name="Group 2">
            <a:extLst>
              <a:ext uri="{FF2B5EF4-FFF2-40B4-BE49-F238E27FC236}">
                <a16:creationId xmlns:a16="http://schemas.microsoft.com/office/drawing/2014/main" id="{A6461264-B6CC-B376-B12B-C0E0FD24D284}"/>
              </a:ext>
            </a:extLst>
          </p:cNvPr>
          <p:cNvGrpSpPr/>
          <p:nvPr/>
        </p:nvGrpSpPr>
        <p:grpSpPr>
          <a:xfrm rot="-10800000">
            <a:off x="11045567" y="-12700"/>
            <a:ext cx="1146433" cy="1146433"/>
            <a:chOff x="0" y="0"/>
            <a:chExt cx="1630482" cy="1630482"/>
          </a:xfrm>
        </p:grpSpPr>
        <p:sp>
          <p:nvSpPr>
            <p:cNvPr id="3" name="Freeform 3">
              <a:extLst>
                <a:ext uri="{FF2B5EF4-FFF2-40B4-BE49-F238E27FC236}">
                  <a16:creationId xmlns:a16="http://schemas.microsoft.com/office/drawing/2014/main" id="{D601567E-8E4C-168F-15B8-C220DB7F639E}"/>
                </a:ext>
              </a:extLst>
            </p:cNvPr>
            <p:cNvSpPr/>
            <p:nvPr/>
          </p:nvSpPr>
          <p:spPr>
            <a:xfrm>
              <a:off x="0" y="0"/>
              <a:ext cx="1630426" cy="1630426"/>
            </a:xfrm>
            <a:custGeom>
              <a:avLst/>
              <a:gdLst/>
              <a:ahLst/>
              <a:cxnLst/>
              <a:rect l="l" t="t" r="r" b="b"/>
              <a:pathLst>
                <a:path w="1630426" h="1630426">
                  <a:moveTo>
                    <a:pt x="0" y="0"/>
                  </a:moveTo>
                  <a:lnTo>
                    <a:pt x="543433" y="0"/>
                  </a:lnTo>
                  <a:lnTo>
                    <a:pt x="543433" y="543433"/>
                  </a:lnTo>
                  <a:lnTo>
                    <a:pt x="1086993" y="543433"/>
                  </a:lnTo>
                  <a:lnTo>
                    <a:pt x="1086993" y="1086993"/>
                  </a:lnTo>
                  <a:lnTo>
                    <a:pt x="1630426" y="1086993"/>
                  </a:lnTo>
                  <a:lnTo>
                    <a:pt x="1630426" y="1630426"/>
                  </a:lnTo>
                  <a:lnTo>
                    <a:pt x="0" y="1630426"/>
                  </a:lnTo>
                  <a:lnTo>
                    <a:pt x="0" y="1086993"/>
                  </a:lnTo>
                  <a:lnTo>
                    <a:pt x="0" y="543433"/>
                  </a:lnTo>
                  <a:close/>
                </a:path>
              </a:pathLst>
            </a:custGeom>
            <a:solidFill>
              <a:srgbClr val="FFFFFF"/>
            </a:solid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AU" sz="1800" b="0" i="0" u="none" strike="noStrike" kern="1200" cap="none" spc="0" normalizeH="0" baseline="0" noProof="0">
                <a:ln>
                  <a:noFill/>
                </a:ln>
                <a:solidFill>
                  <a:prstClr val="black"/>
                </a:solidFill>
                <a:effectLst/>
                <a:uLnTx/>
                <a:uFillTx/>
                <a:latin typeface="Calibri"/>
                <a:ea typeface="+mn-ea"/>
                <a:cs typeface="+mn-cs"/>
              </a:endParaRPr>
            </a:p>
          </p:txBody>
        </p:sp>
      </p:grpSp>
      <p:sp>
        <p:nvSpPr>
          <p:cNvPr id="5" name="TextBox 5">
            <a:extLst>
              <a:ext uri="{FF2B5EF4-FFF2-40B4-BE49-F238E27FC236}">
                <a16:creationId xmlns:a16="http://schemas.microsoft.com/office/drawing/2014/main" id="{3D4CC8F0-451D-959C-83B9-D0B402EDE196}"/>
              </a:ext>
            </a:extLst>
          </p:cNvPr>
          <p:cNvSpPr txBox="1"/>
          <p:nvPr/>
        </p:nvSpPr>
        <p:spPr>
          <a:xfrm>
            <a:off x="392084" y="560536"/>
            <a:ext cx="11190316" cy="409471"/>
          </a:xfrm>
          <a:prstGeom prst="rect">
            <a:avLst/>
          </a:prstGeom>
        </p:spPr>
        <p:txBody>
          <a:bodyPr wrap="square" lIns="0" tIns="0" rIns="0" bIns="0" rtlCol="0" anchor="t">
            <a:spAutoFit/>
          </a:bodyPr>
          <a:lstStyle/>
          <a:p>
            <a:pPr marL="0" marR="0" lvl="0" indent="0" algn="l" defTabSz="914400" rtl="0" eaLnBrk="1" fontAlgn="auto" latinLnBrk="0" hangingPunct="1">
              <a:lnSpc>
                <a:spcPts val="3494"/>
              </a:lnSpc>
              <a:spcBef>
                <a:spcPts val="0"/>
              </a:spcBef>
              <a:spcAft>
                <a:spcPts val="0"/>
              </a:spcAft>
              <a:buClrTx/>
              <a:buSzTx/>
              <a:buFontTx/>
              <a:buNone/>
              <a:tabLst/>
              <a:defRPr/>
            </a:pPr>
            <a:r>
              <a:rPr kumimoji="0" lang="en-US" sz="2496" b="1" u="none" strike="noStrike" kern="1200" cap="none" spc="0" normalizeH="0" baseline="0" noProof="0" dirty="0">
                <a:ln>
                  <a:noFill/>
                </a:ln>
                <a:solidFill>
                  <a:srgbClr val="FFFFFF"/>
                </a:solidFill>
                <a:effectLst/>
                <a:uLnTx/>
                <a:uFillTx/>
                <a:latin typeface="Arial Bold"/>
                <a:ea typeface="Arial Bold"/>
                <a:cs typeface="Arial Bold"/>
                <a:sym typeface="Arial Bold"/>
              </a:rPr>
              <a:t>Improper Delegation – agency/alter ego</a:t>
            </a:r>
          </a:p>
        </p:txBody>
      </p:sp>
      <p:sp>
        <p:nvSpPr>
          <p:cNvPr id="9" name="TextBox 9">
            <a:extLst>
              <a:ext uri="{FF2B5EF4-FFF2-40B4-BE49-F238E27FC236}">
                <a16:creationId xmlns:a16="http://schemas.microsoft.com/office/drawing/2014/main" id="{A723459F-795A-31E6-06EB-1FE0C92E5E86}"/>
              </a:ext>
            </a:extLst>
          </p:cNvPr>
          <p:cNvSpPr txBox="1"/>
          <p:nvPr/>
        </p:nvSpPr>
        <p:spPr>
          <a:xfrm>
            <a:off x="392084" y="1524000"/>
            <a:ext cx="8980516" cy="2618666"/>
          </a:xfrm>
          <a:prstGeom prst="rect">
            <a:avLst/>
          </a:prstGeom>
        </p:spPr>
        <p:txBody>
          <a:bodyPr wrap="square" lIns="0" tIns="0" rIns="0" bIns="0" rtlCol="0" anchor="t">
            <a:spAutoFit/>
          </a:bodyPr>
          <a:lstStyle/>
          <a:p>
            <a:pPr marL="285750" marR="0" lvl="0" indent="-285750" algn="l" defTabSz="914400" rtl="0" eaLnBrk="1" fontAlgn="auto" latinLnBrk="0" hangingPunct="1">
              <a:lnSpc>
                <a:spcPct val="100000"/>
              </a:lnSpc>
              <a:spcBef>
                <a:spcPts val="0"/>
              </a:spcBef>
              <a:spcAft>
                <a:spcPts val="1200"/>
              </a:spcAft>
              <a:buClrTx/>
              <a:buSzTx/>
              <a:buFont typeface="Arial" panose="020B0604020202020204" pitchFamily="34" charset="0"/>
              <a:buChar char="•"/>
              <a:tabLst/>
              <a:defRPr/>
            </a:pPr>
            <a:r>
              <a:rPr lang="en-US" sz="1627" dirty="0">
                <a:solidFill>
                  <a:srgbClr val="FFFFFF"/>
                </a:solidFill>
                <a:latin typeface="Arial" panose="020B0604020202020204" pitchFamily="34" charset="0"/>
                <a:ea typeface="Arial Bold"/>
                <a:cs typeface="Arial" panose="020B0604020202020204" pitchFamily="34" charset="0"/>
                <a:sym typeface="Arial Bold"/>
              </a:rPr>
              <a:t>Agency/alter ego principle </a:t>
            </a:r>
          </a:p>
          <a:p>
            <a:pPr marL="285750" marR="0" lvl="0" indent="-285750" algn="l" defTabSz="914400" rtl="0" eaLnBrk="1" fontAlgn="auto" latinLnBrk="0" hangingPunct="1">
              <a:lnSpc>
                <a:spcPct val="100000"/>
              </a:lnSpc>
              <a:spcBef>
                <a:spcPts val="0"/>
              </a:spcBef>
              <a:spcAft>
                <a:spcPts val="1200"/>
              </a:spcAft>
              <a:buClrTx/>
              <a:buSzTx/>
              <a:buFont typeface="Arial" panose="020B0604020202020204" pitchFamily="34" charset="0"/>
              <a:buChar char="•"/>
              <a:tabLst/>
              <a:defRPr/>
            </a:pPr>
            <a:r>
              <a:rPr lang="en-US" sz="1627" dirty="0">
                <a:solidFill>
                  <a:srgbClr val="FFFFFF"/>
                </a:solidFill>
                <a:latin typeface="Arial" panose="020B0604020202020204" pitchFamily="34" charset="0"/>
                <a:ea typeface="Arial Bold"/>
                <a:cs typeface="Arial" panose="020B0604020202020204" pitchFamily="34" charset="0"/>
                <a:sym typeface="Arial Bold"/>
              </a:rPr>
              <a:t>Common law </a:t>
            </a:r>
            <a:r>
              <a:rPr lang="en-US" sz="1627" dirty="0" err="1">
                <a:solidFill>
                  <a:srgbClr val="FFFFFF"/>
                </a:solidFill>
                <a:latin typeface="Arial" panose="020B0604020202020204" pitchFamily="34" charset="0"/>
                <a:ea typeface="Arial Bold"/>
                <a:cs typeface="Arial" panose="020B0604020202020204" pitchFamily="34" charset="0"/>
                <a:sym typeface="Arial Bold"/>
              </a:rPr>
              <a:t>recognises</a:t>
            </a:r>
            <a:r>
              <a:rPr lang="en-US" sz="1627" dirty="0">
                <a:solidFill>
                  <a:srgbClr val="FFFFFF"/>
                </a:solidFill>
                <a:latin typeface="Arial" panose="020B0604020202020204" pitchFamily="34" charset="0"/>
                <a:ea typeface="Arial Bold"/>
                <a:cs typeface="Arial" panose="020B0604020202020204" pitchFamily="34" charset="0"/>
                <a:sym typeface="Arial Bold"/>
              </a:rPr>
              <a:t> that in certain cases, agents can act in name of principal</a:t>
            </a:r>
          </a:p>
          <a:p>
            <a:pPr marL="285750" marR="0" lvl="0" indent="-285750" algn="l" defTabSz="914400" rtl="0" eaLnBrk="1" fontAlgn="auto" latinLnBrk="0" hangingPunct="1">
              <a:lnSpc>
                <a:spcPct val="100000"/>
              </a:lnSpc>
              <a:spcBef>
                <a:spcPts val="0"/>
              </a:spcBef>
              <a:spcAft>
                <a:spcPts val="1200"/>
              </a:spcAft>
              <a:buClrTx/>
              <a:buSzTx/>
              <a:buFont typeface="Arial" panose="020B0604020202020204" pitchFamily="34" charset="0"/>
              <a:buChar char="•"/>
              <a:tabLst/>
              <a:defRPr/>
            </a:pPr>
            <a:r>
              <a:rPr lang="en-US" sz="1627" dirty="0">
                <a:solidFill>
                  <a:srgbClr val="FFFFFF"/>
                </a:solidFill>
                <a:latin typeface="Arial" panose="020B0604020202020204" pitchFamily="34" charset="0"/>
                <a:ea typeface="Arial Bold"/>
                <a:cs typeface="Arial" panose="020B0604020202020204" pitchFamily="34" charset="0"/>
                <a:sym typeface="Arial Bold"/>
              </a:rPr>
              <a:t>Difference between delegation and agency:</a:t>
            </a:r>
          </a:p>
          <a:p>
            <a:pPr marL="285750" marR="0" lvl="0" indent="-285750" algn="l" defTabSz="914400" rtl="0" eaLnBrk="1" fontAlgn="auto" latinLnBrk="0" hangingPunct="1">
              <a:lnSpc>
                <a:spcPct val="100000"/>
              </a:lnSpc>
              <a:spcBef>
                <a:spcPts val="0"/>
              </a:spcBef>
              <a:spcAft>
                <a:spcPts val="1200"/>
              </a:spcAft>
              <a:buClrTx/>
              <a:buSzTx/>
              <a:buFont typeface="Arial" panose="020B0604020202020204" pitchFamily="34" charset="0"/>
              <a:buChar char="•"/>
              <a:tabLst/>
              <a:defRPr/>
            </a:pPr>
            <a:r>
              <a:rPr lang="en-US" sz="1627" dirty="0">
                <a:solidFill>
                  <a:srgbClr val="FFFFFF"/>
                </a:solidFill>
                <a:latin typeface="Arial" panose="020B0604020202020204" pitchFamily="34" charset="0"/>
                <a:ea typeface="Arial Bold"/>
                <a:cs typeface="Arial" panose="020B0604020202020204" pitchFamily="34" charset="0"/>
                <a:sym typeface="Arial Bold"/>
              </a:rPr>
              <a:t>Delegation: person (delegate) acts in their own name (see </a:t>
            </a:r>
            <a:r>
              <a:rPr lang="en-US" sz="1627" i="1" dirty="0">
                <a:solidFill>
                  <a:srgbClr val="FFFFFF"/>
                </a:solidFill>
                <a:latin typeface="Arial" panose="020B0604020202020204" pitchFamily="34" charset="0"/>
                <a:ea typeface="Arial Bold"/>
                <a:cs typeface="Arial" panose="020B0604020202020204" pitchFamily="34" charset="0"/>
                <a:sym typeface="Arial Bold"/>
              </a:rPr>
              <a:t>Re Reference under s 11 Ombudsman Act </a:t>
            </a:r>
            <a:r>
              <a:rPr lang="en-US" sz="1627" dirty="0">
                <a:solidFill>
                  <a:srgbClr val="FFFFFF"/>
                </a:solidFill>
                <a:latin typeface="Arial" panose="020B0604020202020204" pitchFamily="34" charset="0"/>
                <a:ea typeface="Arial Bold"/>
                <a:cs typeface="Arial" panose="020B0604020202020204" pitchFamily="34" charset="0"/>
                <a:sym typeface="Arial Bold"/>
              </a:rPr>
              <a:t>for example of delegate failing to act (sign) in own name as required by statute; </a:t>
            </a:r>
          </a:p>
          <a:p>
            <a:pPr marL="285750" marR="0" lvl="0" indent="-285750" algn="l" defTabSz="914400" rtl="0" eaLnBrk="1" fontAlgn="auto" latinLnBrk="0" hangingPunct="1">
              <a:lnSpc>
                <a:spcPct val="100000"/>
              </a:lnSpc>
              <a:spcBef>
                <a:spcPts val="0"/>
              </a:spcBef>
              <a:spcAft>
                <a:spcPts val="1200"/>
              </a:spcAft>
              <a:buClrTx/>
              <a:buSzTx/>
              <a:buFont typeface="Arial" panose="020B0604020202020204" pitchFamily="34" charset="0"/>
              <a:buChar char="•"/>
              <a:tabLst/>
              <a:defRPr/>
            </a:pPr>
            <a:r>
              <a:rPr lang="en-US" sz="1627" dirty="0">
                <a:solidFill>
                  <a:srgbClr val="FFFFFF"/>
                </a:solidFill>
                <a:latin typeface="Arial" panose="020B0604020202020204" pitchFamily="34" charset="0"/>
                <a:ea typeface="Arial Bold"/>
                <a:cs typeface="Arial" panose="020B0604020202020204" pitchFamily="34" charset="0"/>
                <a:sym typeface="Arial Bold"/>
              </a:rPr>
              <a:t>Agency/alter ego principle: junior  person acts in name of the superior (</a:t>
            </a:r>
            <a:r>
              <a:rPr lang="en-US" sz="1627" dirty="0" err="1">
                <a:solidFill>
                  <a:srgbClr val="FFFFFF"/>
                </a:solidFill>
                <a:latin typeface="Arial" panose="020B0604020202020204" pitchFamily="34" charset="0"/>
                <a:ea typeface="Arial Bold"/>
                <a:cs typeface="Arial" panose="020B0604020202020204" pitchFamily="34" charset="0"/>
                <a:sym typeface="Arial Bold"/>
              </a:rPr>
              <a:t>eg</a:t>
            </a:r>
            <a:r>
              <a:rPr lang="en-US" sz="1627" dirty="0">
                <a:solidFill>
                  <a:srgbClr val="FFFFFF"/>
                </a:solidFill>
                <a:latin typeface="Arial" panose="020B0604020202020204" pitchFamily="34" charset="0"/>
                <a:ea typeface="Arial Bold"/>
                <a:cs typeface="Arial" panose="020B0604020202020204" pitchFamily="34" charset="0"/>
                <a:sym typeface="Arial Bold"/>
              </a:rPr>
              <a:t> ‘Mary Jones, on behalf of the Minister’ – see </a:t>
            </a:r>
            <a:r>
              <a:rPr lang="en-US" sz="1627" dirty="0" err="1">
                <a:solidFill>
                  <a:srgbClr val="FFFFFF"/>
                </a:solidFill>
                <a:latin typeface="Arial" panose="020B0604020202020204" pitchFamily="34" charset="0"/>
                <a:ea typeface="Arial Bold"/>
                <a:cs typeface="Arial" panose="020B0604020202020204" pitchFamily="34" charset="0"/>
                <a:sym typeface="Arial Bold"/>
              </a:rPr>
              <a:t>eg</a:t>
            </a:r>
            <a:r>
              <a:rPr lang="en-US" sz="1627" dirty="0">
                <a:solidFill>
                  <a:srgbClr val="FFFFFF"/>
                </a:solidFill>
                <a:latin typeface="Arial" panose="020B0604020202020204" pitchFamily="34" charset="0"/>
                <a:ea typeface="Arial Bold"/>
                <a:cs typeface="Arial" panose="020B0604020202020204" pitchFamily="34" charset="0"/>
                <a:sym typeface="Arial Bold"/>
              </a:rPr>
              <a:t> O’Reilly case discussed below) </a:t>
            </a:r>
          </a:p>
        </p:txBody>
      </p:sp>
      <p:sp>
        <p:nvSpPr>
          <p:cNvPr id="10" name="TextBox 10">
            <a:extLst>
              <a:ext uri="{FF2B5EF4-FFF2-40B4-BE49-F238E27FC236}">
                <a16:creationId xmlns:a16="http://schemas.microsoft.com/office/drawing/2014/main" id="{8AA8A27C-67F9-F978-4B8C-3E5DE7042700}"/>
              </a:ext>
            </a:extLst>
          </p:cNvPr>
          <p:cNvSpPr txBox="1"/>
          <p:nvPr/>
        </p:nvSpPr>
        <p:spPr>
          <a:xfrm>
            <a:off x="10195446" y="6347803"/>
            <a:ext cx="1773879" cy="193258"/>
          </a:xfrm>
          <a:prstGeom prst="rect">
            <a:avLst/>
          </a:prstGeom>
        </p:spPr>
        <p:txBody>
          <a:bodyPr lIns="0" tIns="0" rIns="0" bIns="0" rtlCol="0" anchor="t">
            <a:spAutoFit/>
          </a:bodyPr>
          <a:lstStyle/>
          <a:p>
            <a:pPr marL="0" marR="0" lvl="0" indent="0" algn="l" defTabSz="914400" rtl="0" eaLnBrk="1" fontAlgn="auto" latinLnBrk="0" hangingPunct="1">
              <a:lnSpc>
                <a:spcPts val="1422"/>
              </a:lnSpc>
              <a:spcBef>
                <a:spcPts val="0"/>
              </a:spcBef>
              <a:spcAft>
                <a:spcPts val="0"/>
              </a:spcAft>
              <a:buClrTx/>
              <a:buSzTx/>
              <a:buFontTx/>
              <a:buNone/>
              <a:tabLst/>
              <a:defRPr/>
            </a:pPr>
            <a:r>
              <a:rPr kumimoji="0" lang="en-US" sz="1016" b="0" i="0" u="none" strike="noStrike" kern="1200" cap="none" spc="0" normalizeH="0" baseline="0" noProof="0">
                <a:ln>
                  <a:noFill/>
                </a:ln>
                <a:solidFill>
                  <a:srgbClr val="FFFFFF"/>
                </a:solidFill>
                <a:effectLst/>
                <a:uLnTx/>
                <a:uFillTx/>
                <a:latin typeface="Arial"/>
                <a:ea typeface="Arial"/>
                <a:cs typeface="Arial"/>
                <a:sym typeface="Arial"/>
              </a:rPr>
              <a:t>Administrative Law –LAW1023</a:t>
            </a:r>
          </a:p>
        </p:txBody>
      </p:sp>
      <p:pic>
        <p:nvPicPr>
          <p:cNvPr id="2050" name="Picture 2" descr="Image result for in the name of"/>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9720426" y="1690688"/>
            <a:ext cx="2471575" cy="433757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493609151"/>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bg>
      <p:bgPr>
        <a:solidFill>
          <a:srgbClr val="000054"/>
        </a:solidFill>
        <a:effectLst/>
      </p:bgPr>
    </p:bg>
    <p:spTree>
      <p:nvGrpSpPr>
        <p:cNvPr id="1" name="">
          <a:extLst>
            <a:ext uri="{FF2B5EF4-FFF2-40B4-BE49-F238E27FC236}">
              <a16:creationId xmlns:a16="http://schemas.microsoft.com/office/drawing/2014/main" id="{895CFEDE-AC79-CA14-8B35-F81B3CEAC91E}"/>
            </a:ext>
          </a:extLst>
        </p:cNvPr>
        <p:cNvGrpSpPr/>
        <p:nvPr/>
      </p:nvGrpSpPr>
      <p:grpSpPr>
        <a:xfrm>
          <a:off x="0" y="0"/>
          <a:ext cx="0" cy="0"/>
          <a:chOff x="0" y="0"/>
          <a:chExt cx="0" cy="0"/>
        </a:xfrm>
      </p:grpSpPr>
      <p:grpSp>
        <p:nvGrpSpPr>
          <p:cNvPr id="2" name="Group 2">
            <a:extLst>
              <a:ext uri="{FF2B5EF4-FFF2-40B4-BE49-F238E27FC236}">
                <a16:creationId xmlns:a16="http://schemas.microsoft.com/office/drawing/2014/main" id="{60D798F4-2C6F-7F0C-828D-619911EFEEED}"/>
              </a:ext>
            </a:extLst>
          </p:cNvPr>
          <p:cNvGrpSpPr/>
          <p:nvPr/>
        </p:nvGrpSpPr>
        <p:grpSpPr>
          <a:xfrm rot="-10800000">
            <a:off x="11045567" y="-12700"/>
            <a:ext cx="1146433" cy="1146433"/>
            <a:chOff x="0" y="0"/>
            <a:chExt cx="1630482" cy="1630482"/>
          </a:xfrm>
        </p:grpSpPr>
        <p:sp>
          <p:nvSpPr>
            <p:cNvPr id="3" name="Freeform 3">
              <a:extLst>
                <a:ext uri="{FF2B5EF4-FFF2-40B4-BE49-F238E27FC236}">
                  <a16:creationId xmlns:a16="http://schemas.microsoft.com/office/drawing/2014/main" id="{BD70033F-1797-4939-C684-9AD95CBC1DC2}"/>
                </a:ext>
              </a:extLst>
            </p:cNvPr>
            <p:cNvSpPr/>
            <p:nvPr/>
          </p:nvSpPr>
          <p:spPr>
            <a:xfrm>
              <a:off x="0" y="0"/>
              <a:ext cx="1630426" cy="1630426"/>
            </a:xfrm>
            <a:custGeom>
              <a:avLst/>
              <a:gdLst/>
              <a:ahLst/>
              <a:cxnLst/>
              <a:rect l="l" t="t" r="r" b="b"/>
              <a:pathLst>
                <a:path w="1630426" h="1630426">
                  <a:moveTo>
                    <a:pt x="0" y="0"/>
                  </a:moveTo>
                  <a:lnTo>
                    <a:pt x="543433" y="0"/>
                  </a:lnTo>
                  <a:lnTo>
                    <a:pt x="543433" y="543433"/>
                  </a:lnTo>
                  <a:lnTo>
                    <a:pt x="1086993" y="543433"/>
                  </a:lnTo>
                  <a:lnTo>
                    <a:pt x="1086993" y="1086993"/>
                  </a:lnTo>
                  <a:lnTo>
                    <a:pt x="1630426" y="1086993"/>
                  </a:lnTo>
                  <a:lnTo>
                    <a:pt x="1630426" y="1630426"/>
                  </a:lnTo>
                  <a:lnTo>
                    <a:pt x="0" y="1630426"/>
                  </a:lnTo>
                  <a:lnTo>
                    <a:pt x="0" y="1086993"/>
                  </a:lnTo>
                  <a:lnTo>
                    <a:pt x="0" y="543433"/>
                  </a:lnTo>
                  <a:close/>
                </a:path>
              </a:pathLst>
            </a:custGeom>
            <a:solidFill>
              <a:srgbClr val="FFFFFF"/>
            </a:solid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AU" sz="1800" b="0" i="0" u="none" strike="noStrike" kern="1200" cap="none" spc="0" normalizeH="0" baseline="0" noProof="0">
                <a:ln>
                  <a:noFill/>
                </a:ln>
                <a:solidFill>
                  <a:prstClr val="black"/>
                </a:solidFill>
                <a:effectLst/>
                <a:uLnTx/>
                <a:uFillTx/>
                <a:latin typeface="Calibri"/>
                <a:ea typeface="+mn-ea"/>
                <a:cs typeface="+mn-cs"/>
              </a:endParaRPr>
            </a:p>
          </p:txBody>
        </p:sp>
      </p:grpSp>
      <p:sp>
        <p:nvSpPr>
          <p:cNvPr id="5" name="TextBox 5">
            <a:extLst>
              <a:ext uri="{FF2B5EF4-FFF2-40B4-BE49-F238E27FC236}">
                <a16:creationId xmlns:a16="http://schemas.microsoft.com/office/drawing/2014/main" id="{5E891D7D-4480-FF44-9753-9399B9DCACD0}"/>
              </a:ext>
            </a:extLst>
          </p:cNvPr>
          <p:cNvSpPr txBox="1"/>
          <p:nvPr/>
        </p:nvSpPr>
        <p:spPr>
          <a:xfrm>
            <a:off x="392084" y="560536"/>
            <a:ext cx="11190316" cy="409471"/>
          </a:xfrm>
          <a:prstGeom prst="rect">
            <a:avLst/>
          </a:prstGeom>
        </p:spPr>
        <p:txBody>
          <a:bodyPr wrap="square" lIns="0" tIns="0" rIns="0" bIns="0" rtlCol="0" anchor="t">
            <a:spAutoFit/>
          </a:bodyPr>
          <a:lstStyle/>
          <a:p>
            <a:pPr marL="0" marR="0" lvl="0" indent="0" algn="l" defTabSz="914400" rtl="0" eaLnBrk="1" fontAlgn="auto" latinLnBrk="0" hangingPunct="1">
              <a:lnSpc>
                <a:spcPts val="3494"/>
              </a:lnSpc>
              <a:spcBef>
                <a:spcPts val="0"/>
              </a:spcBef>
              <a:spcAft>
                <a:spcPts val="0"/>
              </a:spcAft>
              <a:buClrTx/>
              <a:buSzTx/>
              <a:buFontTx/>
              <a:buNone/>
              <a:tabLst/>
              <a:defRPr/>
            </a:pPr>
            <a:r>
              <a:rPr kumimoji="0" lang="en-US" sz="2496" b="1" u="none" strike="noStrike" kern="1200" cap="none" spc="0" normalizeH="0" baseline="0" noProof="0" dirty="0">
                <a:ln>
                  <a:noFill/>
                </a:ln>
                <a:solidFill>
                  <a:srgbClr val="FFFFFF"/>
                </a:solidFill>
                <a:effectLst/>
                <a:uLnTx/>
                <a:uFillTx/>
                <a:latin typeface="Arial Bold"/>
                <a:ea typeface="Arial Bold"/>
                <a:cs typeface="Arial Bold"/>
                <a:sym typeface="Arial Bold"/>
              </a:rPr>
              <a:t>Improper Delegation – agency/alter ego</a:t>
            </a:r>
          </a:p>
        </p:txBody>
      </p:sp>
      <p:sp>
        <p:nvSpPr>
          <p:cNvPr id="9" name="TextBox 9">
            <a:extLst>
              <a:ext uri="{FF2B5EF4-FFF2-40B4-BE49-F238E27FC236}">
                <a16:creationId xmlns:a16="http://schemas.microsoft.com/office/drawing/2014/main" id="{69919D4F-A26D-374B-AE10-25A8345137C4}"/>
              </a:ext>
            </a:extLst>
          </p:cNvPr>
          <p:cNvSpPr txBox="1"/>
          <p:nvPr/>
        </p:nvSpPr>
        <p:spPr>
          <a:xfrm>
            <a:off x="392084" y="1524000"/>
            <a:ext cx="8218516" cy="3022943"/>
          </a:xfrm>
          <a:prstGeom prst="rect">
            <a:avLst/>
          </a:prstGeom>
        </p:spPr>
        <p:txBody>
          <a:bodyPr wrap="square" lIns="0" tIns="0" rIns="0" bIns="0" rtlCol="0" anchor="t">
            <a:spAutoFit/>
          </a:bodyPr>
          <a:lstStyle/>
          <a:p>
            <a:pPr marL="285750" marR="0" lvl="0" indent="-285750" algn="l" defTabSz="914400" rtl="0" eaLnBrk="1" fontAlgn="auto" latinLnBrk="0" hangingPunct="1">
              <a:lnSpc>
                <a:spcPct val="100000"/>
              </a:lnSpc>
              <a:spcBef>
                <a:spcPts val="0"/>
              </a:spcBef>
              <a:spcAft>
                <a:spcPts val="1200"/>
              </a:spcAft>
              <a:buClrTx/>
              <a:buSzTx/>
              <a:buFont typeface="Arial" panose="020B0604020202020204" pitchFamily="34" charset="0"/>
              <a:buChar char="•"/>
              <a:tabLst/>
              <a:defRPr/>
            </a:pPr>
            <a:r>
              <a:rPr lang="en-US" sz="1627" i="1" dirty="0" err="1">
                <a:solidFill>
                  <a:srgbClr val="FFFFFF"/>
                </a:solidFill>
                <a:latin typeface="Arial" panose="020B0604020202020204" pitchFamily="34" charset="0"/>
                <a:ea typeface="Arial Bold"/>
                <a:cs typeface="Arial" panose="020B0604020202020204" pitchFamily="34" charset="0"/>
                <a:sym typeface="Arial Bold"/>
              </a:rPr>
              <a:t>Carltona</a:t>
            </a:r>
            <a:r>
              <a:rPr lang="en-US" sz="1627" i="1" dirty="0">
                <a:solidFill>
                  <a:srgbClr val="FFFFFF"/>
                </a:solidFill>
                <a:latin typeface="Arial" panose="020B0604020202020204" pitchFamily="34" charset="0"/>
                <a:ea typeface="Arial Bold"/>
                <a:cs typeface="Arial" panose="020B0604020202020204" pitchFamily="34" charset="0"/>
                <a:sym typeface="Arial Bold"/>
              </a:rPr>
              <a:t> v Commissioners of Works </a:t>
            </a:r>
            <a:r>
              <a:rPr lang="en-US" sz="1627" dirty="0">
                <a:solidFill>
                  <a:srgbClr val="FFFFFF"/>
                </a:solidFill>
                <a:latin typeface="Arial" panose="020B0604020202020204" pitchFamily="34" charset="0"/>
                <a:ea typeface="Arial Bold"/>
                <a:cs typeface="Arial" panose="020B0604020202020204" pitchFamily="34" charset="0"/>
                <a:sym typeface="Arial Bold"/>
              </a:rPr>
              <a:t>[1943] 2 All ER 560</a:t>
            </a:r>
          </a:p>
          <a:p>
            <a:pPr marL="285750" marR="0" lvl="0" indent="-285750" algn="l" defTabSz="914400" rtl="0" eaLnBrk="1" fontAlgn="auto" latinLnBrk="0" hangingPunct="1">
              <a:lnSpc>
                <a:spcPct val="100000"/>
              </a:lnSpc>
              <a:spcBef>
                <a:spcPts val="0"/>
              </a:spcBef>
              <a:spcAft>
                <a:spcPts val="1200"/>
              </a:spcAft>
              <a:buClrTx/>
              <a:buSzTx/>
              <a:buFont typeface="Arial" panose="020B0604020202020204" pitchFamily="34" charset="0"/>
              <a:buChar char="•"/>
              <a:tabLst/>
              <a:defRPr/>
            </a:pPr>
            <a:r>
              <a:rPr lang="en-US" sz="1627" dirty="0">
                <a:solidFill>
                  <a:srgbClr val="FFFFFF"/>
                </a:solidFill>
                <a:latin typeface="Arial" panose="020B0604020202020204" pitchFamily="34" charset="0"/>
                <a:ea typeface="Arial Bold"/>
                <a:cs typeface="Arial" panose="020B0604020202020204" pitchFamily="34" charset="0"/>
                <a:sym typeface="Arial Bold"/>
              </a:rPr>
              <a:t>Facts: </a:t>
            </a:r>
            <a:r>
              <a:rPr lang="en-US" sz="1627" dirty="0" err="1">
                <a:solidFill>
                  <a:srgbClr val="FFFFFF"/>
                </a:solidFill>
                <a:latin typeface="Arial" panose="020B0604020202020204" pitchFamily="34" charset="0"/>
                <a:ea typeface="Arial Bold"/>
                <a:cs typeface="Arial" panose="020B0604020202020204" pitchFamily="34" charset="0"/>
                <a:sym typeface="Arial Bold"/>
              </a:rPr>
              <a:t>Carltona</a:t>
            </a:r>
            <a:r>
              <a:rPr lang="en-US" sz="1627" dirty="0">
                <a:solidFill>
                  <a:srgbClr val="FFFFFF"/>
                </a:solidFill>
                <a:latin typeface="Arial" panose="020B0604020202020204" pitchFamily="34" charset="0"/>
                <a:ea typeface="Arial Bold"/>
                <a:cs typeface="Arial" panose="020B0604020202020204" pitchFamily="34" charset="0"/>
                <a:sym typeface="Arial Bold"/>
              </a:rPr>
              <a:t> owned fruit-packaging factory.  </a:t>
            </a:r>
          </a:p>
          <a:p>
            <a:pPr marL="285750" marR="0" lvl="0" indent="-285750" algn="l" defTabSz="914400" rtl="0" eaLnBrk="1" fontAlgn="auto" latinLnBrk="0" hangingPunct="1">
              <a:lnSpc>
                <a:spcPct val="100000"/>
              </a:lnSpc>
              <a:spcBef>
                <a:spcPts val="0"/>
              </a:spcBef>
              <a:spcAft>
                <a:spcPts val="1200"/>
              </a:spcAft>
              <a:buClrTx/>
              <a:buSzTx/>
              <a:buFont typeface="Arial" panose="020B0604020202020204" pitchFamily="34" charset="0"/>
              <a:buChar char="•"/>
              <a:tabLst/>
              <a:defRPr/>
            </a:pPr>
            <a:r>
              <a:rPr lang="en-US" sz="1627" dirty="0">
                <a:solidFill>
                  <a:srgbClr val="FFFFFF"/>
                </a:solidFill>
                <a:latin typeface="Arial" panose="020B0604020202020204" pitchFamily="34" charset="0"/>
                <a:ea typeface="Arial Bold"/>
                <a:cs typeface="Arial" panose="020B0604020202020204" pitchFamily="34" charset="0"/>
                <a:sym typeface="Arial Bold"/>
              </a:rPr>
              <a:t>World War II - Minister of Works took over the factory in the national interest</a:t>
            </a:r>
          </a:p>
          <a:p>
            <a:pPr marL="285750" marR="0" lvl="0" indent="-285750" algn="l" defTabSz="914400" rtl="0" eaLnBrk="1" fontAlgn="auto" latinLnBrk="0" hangingPunct="1">
              <a:lnSpc>
                <a:spcPct val="100000"/>
              </a:lnSpc>
              <a:spcBef>
                <a:spcPts val="0"/>
              </a:spcBef>
              <a:spcAft>
                <a:spcPts val="1200"/>
              </a:spcAft>
              <a:buClrTx/>
              <a:buSzTx/>
              <a:buFont typeface="Arial" panose="020B0604020202020204" pitchFamily="34" charset="0"/>
              <a:buChar char="•"/>
              <a:tabLst/>
              <a:defRPr/>
            </a:pPr>
            <a:r>
              <a:rPr lang="en-US" sz="1627" dirty="0" err="1">
                <a:solidFill>
                  <a:srgbClr val="FFFFFF"/>
                </a:solidFill>
                <a:latin typeface="Arial" panose="020B0604020202020204" pitchFamily="34" charset="0"/>
                <a:ea typeface="Arial Bold"/>
                <a:cs typeface="Arial" panose="020B0604020202020204" pitchFamily="34" charset="0"/>
                <a:sym typeface="Arial Bold"/>
              </a:rPr>
              <a:t>Defence</a:t>
            </a:r>
            <a:r>
              <a:rPr lang="en-US" sz="1627" dirty="0">
                <a:solidFill>
                  <a:srgbClr val="FFFFFF"/>
                </a:solidFill>
                <a:latin typeface="Arial" panose="020B0604020202020204" pitchFamily="34" charset="0"/>
                <a:ea typeface="Arial Bold"/>
                <a:cs typeface="Arial" panose="020B0604020202020204" pitchFamily="34" charset="0"/>
                <a:sym typeface="Arial Bold"/>
              </a:rPr>
              <a:t> (General) Regulations 1939 - ‘competent authority’ (included Commissioner of Works and Planning Minister) could requisition land in national interest</a:t>
            </a:r>
          </a:p>
          <a:p>
            <a:pPr marL="285750" marR="0" lvl="0" indent="-285750" algn="l" defTabSz="914400" rtl="0" eaLnBrk="1" fontAlgn="auto" latinLnBrk="0" hangingPunct="1">
              <a:lnSpc>
                <a:spcPct val="100000"/>
              </a:lnSpc>
              <a:spcBef>
                <a:spcPts val="0"/>
              </a:spcBef>
              <a:spcAft>
                <a:spcPts val="1200"/>
              </a:spcAft>
              <a:buClrTx/>
              <a:buSzTx/>
              <a:buFont typeface="Arial" panose="020B0604020202020204" pitchFamily="34" charset="0"/>
              <a:buChar char="•"/>
              <a:tabLst/>
              <a:defRPr/>
            </a:pPr>
            <a:r>
              <a:rPr lang="en-US" sz="1627" dirty="0">
                <a:solidFill>
                  <a:srgbClr val="FFFFFF"/>
                </a:solidFill>
                <a:latin typeface="Arial" panose="020B0604020202020204" pitchFamily="34" charset="0"/>
                <a:ea typeface="Arial Bold"/>
                <a:cs typeface="Arial" panose="020B0604020202020204" pitchFamily="34" charset="0"/>
                <a:sym typeface="Arial Bold"/>
              </a:rPr>
              <a:t>Letter to </a:t>
            </a:r>
            <a:r>
              <a:rPr lang="en-US" sz="1627" dirty="0" err="1">
                <a:solidFill>
                  <a:srgbClr val="FFFFFF"/>
                </a:solidFill>
                <a:latin typeface="Arial" panose="020B0604020202020204" pitchFamily="34" charset="0"/>
                <a:ea typeface="Arial Bold"/>
                <a:cs typeface="Arial" panose="020B0604020202020204" pitchFamily="34" charset="0"/>
                <a:sym typeface="Arial Bold"/>
              </a:rPr>
              <a:t>Carltona</a:t>
            </a:r>
            <a:r>
              <a:rPr lang="en-US" sz="1627" dirty="0">
                <a:solidFill>
                  <a:srgbClr val="FFFFFF"/>
                </a:solidFill>
                <a:latin typeface="Arial" panose="020B0604020202020204" pitchFamily="34" charset="0"/>
                <a:ea typeface="Arial Bold"/>
                <a:cs typeface="Arial" panose="020B0604020202020204" pitchFamily="34" charset="0"/>
                <a:sym typeface="Arial Bold"/>
              </a:rPr>
              <a:t>: signed by ‘</a:t>
            </a:r>
            <a:r>
              <a:rPr lang="en-US" sz="1627" dirty="0" err="1">
                <a:solidFill>
                  <a:srgbClr val="FFFFFF"/>
                </a:solidFill>
                <a:latin typeface="Arial" panose="020B0604020202020204" pitchFamily="34" charset="0"/>
                <a:ea typeface="Arial Bold"/>
                <a:cs typeface="Arial" panose="020B0604020202020204" pitchFamily="34" charset="0"/>
                <a:sym typeface="Arial Bold"/>
              </a:rPr>
              <a:t>Mr</a:t>
            </a:r>
            <a:r>
              <a:rPr lang="en-US" sz="1627" dirty="0">
                <a:solidFill>
                  <a:srgbClr val="FFFFFF"/>
                </a:solidFill>
                <a:latin typeface="Arial" panose="020B0604020202020204" pitchFamily="34" charset="0"/>
                <a:ea typeface="Arial Bold"/>
                <a:cs typeface="Arial" panose="020B0604020202020204" pitchFamily="34" charset="0"/>
                <a:sym typeface="Arial Bold"/>
              </a:rPr>
              <a:t> Morse on behalf of the Minister’ (officer in Planning Dept)</a:t>
            </a:r>
          </a:p>
          <a:p>
            <a:pPr marL="285750" marR="0" lvl="0" indent="-285750" algn="l" defTabSz="914400" rtl="0" eaLnBrk="1" fontAlgn="auto" latinLnBrk="0" hangingPunct="1">
              <a:lnSpc>
                <a:spcPct val="100000"/>
              </a:lnSpc>
              <a:spcBef>
                <a:spcPts val="0"/>
              </a:spcBef>
              <a:spcAft>
                <a:spcPts val="1200"/>
              </a:spcAft>
              <a:buClrTx/>
              <a:buSzTx/>
              <a:buFont typeface="Arial" panose="020B0604020202020204" pitchFamily="34" charset="0"/>
              <a:buChar char="•"/>
              <a:tabLst/>
              <a:defRPr/>
            </a:pPr>
            <a:r>
              <a:rPr lang="en-US" sz="1627" dirty="0" err="1">
                <a:solidFill>
                  <a:srgbClr val="FFFFFF"/>
                </a:solidFill>
                <a:latin typeface="Arial" panose="020B0604020202020204" pitchFamily="34" charset="0"/>
                <a:ea typeface="Arial Bold"/>
                <a:cs typeface="Arial" panose="020B0604020202020204" pitchFamily="34" charset="0"/>
                <a:sym typeface="Arial Bold"/>
              </a:rPr>
              <a:t>Carltona</a:t>
            </a:r>
            <a:r>
              <a:rPr lang="en-US" sz="1627" dirty="0">
                <a:solidFill>
                  <a:srgbClr val="FFFFFF"/>
                </a:solidFill>
                <a:latin typeface="Arial" panose="020B0604020202020204" pitchFamily="34" charset="0"/>
                <a:ea typeface="Arial Bold"/>
                <a:cs typeface="Arial" panose="020B0604020202020204" pitchFamily="34" charset="0"/>
                <a:sym typeface="Arial Bold"/>
              </a:rPr>
              <a:t> argued this decision was UV - Morse not ‘competent authority’ under the statute</a:t>
            </a:r>
          </a:p>
        </p:txBody>
      </p:sp>
      <p:sp>
        <p:nvSpPr>
          <p:cNvPr id="10" name="TextBox 10">
            <a:extLst>
              <a:ext uri="{FF2B5EF4-FFF2-40B4-BE49-F238E27FC236}">
                <a16:creationId xmlns:a16="http://schemas.microsoft.com/office/drawing/2014/main" id="{AECCC092-8450-76D9-61ED-2DD5E7DF5160}"/>
              </a:ext>
            </a:extLst>
          </p:cNvPr>
          <p:cNvSpPr txBox="1"/>
          <p:nvPr/>
        </p:nvSpPr>
        <p:spPr>
          <a:xfrm>
            <a:off x="10195446" y="6347803"/>
            <a:ext cx="1773879" cy="193258"/>
          </a:xfrm>
          <a:prstGeom prst="rect">
            <a:avLst/>
          </a:prstGeom>
        </p:spPr>
        <p:txBody>
          <a:bodyPr lIns="0" tIns="0" rIns="0" bIns="0" rtlCol="0" anchor="t">
            <a:spAutoFit/>
          </a:bodyPr>
          <a:lstStyle/>
          <a:p>
            <a:pPr marL="0" marR="0" lvl="0" indent="0" algn="l" defTabSz="914400" rtl="0" eaLnBrk="1" fontAlgn="auto" latinLnBrk="0" hangingPunct="1">
              <a:lnSpc>
                <a:spcPts val="1422"/>
              </a:lnSpc>
              <a:spcBef>
                <a:spcPts val="0"/>
              </a:spcBef>
              <a:spcAft>
                <a:spcPts val="0"/>
              </a:spcAft>
              <a:buClrTx/>
              <a:buSzTx/>
              <a:buFontTx/>
              <a:buNone/>
              <a:tabLst/>
              <a:defRPr/>
            </a:pPr>
            <a:r>
              <a:rPr kumimoji="0" lang="en-US" sz="1016" b="0" i="0" u="none" strike="noStrike" kern="1200" cap="none" spc="0" normalizeH="0" baseline="0" noProof="0">
                <a:ln>
                  <a:noFill/>
                </a:ln>
                <a:solidFill>
                  <a:srgbClr val="FFFFFF"/>
                </a:solidFill>
                <a:effectLst/>
                <a:uLnTx/>
                <a:uFillTx/>
                <a:latin typeface="Arial"/>
                <a:ea typeface="Arial"/>
                <a:cs typeface="Arial"/>
                <a:sym typeface="Arial"/>
              </a:rPr>
              <a:t>Administrative Law –LAW1023</a:t>
            </a:r>
          </a:p>
        </p:txBody>
      </p:sp>
      <p:pic>
        <p:nvPicPr>
          <p:cNvPr id="3074" name="Picture 2" descr="Image result for carltona fruit factory wwii"/>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260113" y="1027907"/>
            <a:ext cx="2612572" cy="280851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034974797"/>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bg>
      <p:bgPr>
        <a:solidFill>
          <a:srgbClr val="000054"/>
        </a:solidFill>
        <a:effectLst/>
      </p:bgPr>
    </p:bg>
    <p:spTree>
      <p:nvGrpSpPr>
        <p:cNvPr id="1" name="">
          <a:extLst>
            <a:ext uri="{FF2B5EF4-FFF2-40B4-BE49-F238E27FC236}">
              <a16:creationId xmlns:a16="http://schemas.microsoft.com/office/drawing/2014/main" id="{DA85C22F-7AA8-6F9C-0B86-260AEF81B97B}"/>
            </a:ext>
          </a:extLst>
        </p:cNvPr>
        <p:cNvGrpSpPr/>
        <p:nvPr/>
      </p:nvGrpSpPr>
      <p:grpSpPr>
        <a:xfrm>
          <a:off x="0" y="0"/>
          <a:ext cx="0" cy="0"/>
          <a:chOff x="0" y="0"/>
          <a:chExt cx="0" cy="0"/>
        </a:xfrm>
      </p:grpSpPr>
      <p:grpSp>
        <p:nvGrpSpPr>
          <p:cNvPr id="2" name="Group 2">
            <a:extLst>
              <a:ext uri="{FF2B5EF4-FFF2-40B4-BE49-F238E27FC236}">
                <a16:creationId xmlns:a16="http://schemas.microsoft.com/office/drawing/2014/main" id="{9C5FDA8E-A245-6CA5-A06F-111C7DBE4CFF}"/>
              </a:ext>
            </a:extLst>
          </p:cNvPr>
          <p:cNvGrpSpPr/>
          <p:nvPr/>
        </p:nvGrpSpPr>
        <p:grpSpPr>
          <a:xfrm rot="-10800000">
            <a:off x="11045567" y="-12700"/>
            <a:ext cx="1146433" cy="1146433"/>
            <a:chOff x="0" y="0"/>
            <a:chExt cx="1630482" cy="1630482"/>
          </a:xfrm>
        </p:grpSpPr>
        <p:sp>
          <p:nvSpPr>
            <p:cNvPr id="3" name="Freeform 3">
              <a:extLst>
                <a:ext uri="{FF2B5EF4-FFF2-40B4-BE49-F238E27FC236}">
                  <a16:creationId xmlns:a16="http://schemas.microsoft.com/office/drawing/2014/main" id="{1DEB5B32-9CCA-A788-C65D-CC7BDC9A87E5}"/>
                </a:ext>
              </a:extLst>
            </p:cNvPr>
            <p:cNvSpPr/>
            <p:nvPr/>
          </p:nvSpPr>
          <p:spPr>
            <a:xfrm>
              <a:off x="0" y="0"/>
              <a:ext cx="1630426" cy="1630426"/>
            </a:xfrm>
            <a:custGeom>
              <a:avLst/>
              <a:gdLst/>
              <a:ahLst/>
              <a:cxnLst/>
              <a:rect l="l" t="t" r="r" b="b"/>
              <a:pathLst>
                <a:path w="1630426" h="1630426">
                  <a:moveTo>
                    <a:pt x="0" y="0"/>
                  </a:moveTo>
                  <a:lnTo>
                    <a:pt x="543433" y="0"/>
                  </a:lnTo>
                  <a:lnTo>
                    <a:pt x="543433" y="543433"/>
                  </a:lnTo>
                  <a:lnTo>
                    <a:pt x="1086993" y="543433"/>
                  </a:lnTo>
                  <a:lnTo>
                    <a:pt x="1086993" y="1086993"/>
                  </a:lnTo>
                  <a:lnTo>
                    <a:pt x="1630426" y="1086993"/>
                  </a:lnTo>
                  <a:lnTo>
                    <a:pt x="1630426" y="1630426"/>
                  </a:lnTo>
                  <a:lnTo>
                    <a:pt x="0" y="1630426"/>
                  </a:lnTo>
                  <a:lnTo>
                    <a:pt x="0" y="1086993"/>
                  </a:lnTo>
                  <a:lnTo>
                    <a:pt x="0" y="543433"/>
                  </a:lnTo>
                  <a:close/>
                </a:path>
              </a:pathLst>
            </a:custGeom>
            <a:solidFill>
              <a:srgbClr val="FFFFFF"/>
            </a:solid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AU" sz="1800" b="0" i="0" u="none" strike="noStrike" kern="1200" cap="none" spc="0" normalizeH="0" baseline="0" noProof="0">
                <a:ln>
                  <a:noFill/>
                </a:ln>
                <a:solidFill>
                  <a:prstClr val="black"/>
                </a:solidFill>
                <a:effectLst/>
                <a:uLnTx/>
                <a:uFillTx/>
                <a:latin typeface="Calibri"/>
                <a:ea typeface="+mn-ea"/>
                <a:cs typeface="+mn-cs"/>
              </a:endParaRPr>
            </a:p>
          </p:txBody>
        </p:sp>
      </p:grpSp>
      <p:sp>
        <p:nvSpPr>
          <p:cNvPr id="5" name="TextBox 5">
            <a:extLst>
              <a:ext uri="{FF2B5EF4-FFF2-40B4-BE49-F238E27FC236}">
                <a16:creationId xmlns:a16="http://schemas.microsoft.com/office/drawing/2014/main" id="{433661BD-799D-F095-73FC-7BBDB0F92E4A}"/>
              </a:ext>
            </a:extLst>
          </p:cNvPr>
          <p:cNvSpPr txBox="1"/>
          <p:nvPr/>
        </p:nvSpPr>
        <p:spPr>
          <a:xfrm>
            <a:off x="392084" y="560536"/>
            <a:ext cx="11190316" cy="409471"/>
          </a:xfrm>
          <a:prstGeom prst="rect">
            <a:avLst/>
          </a:prstGeom>
        </p:spPr>
        <p:txBody>
          <a:bodyPr wrap="square" lIns="0" tIns="0" rIns="0" bIns="0" rtlCol="0" anchor="t">
            <a:spAutoFit/>
          </a:bodyPr>
          <a:lstStyle/>
          <a:p>
            <a:pPr marL="0" marR="0" lvl="0" indent="0" algn="l" defTabSz="914400" rtl="0" eaLnBrk="1" fontAlgn="auto" latinLnBrk="0" hangingPunct="1">
              <a:lnSpc>
                <a:spcPts val="3494"/>
              </a:lnSpc>
              <a:spcBef>
                <a:spcPts val="0"/>
              </a:spcBef>
              <a:spcAft>
                <a:spcPts val="0"/>
              </a:spcAft>
              <a:buClrTx/>
              <a:buSzTx/>
              <a:buFontTx/>
              <a:buNone/>
              <a:tabLst/>
              <a:defRPr/>
            </a:pPr>
            <a:r>
              <a:rPr kumimoji="0" lang="en-US" sz="2496" b="1" u="none" strike="noStrike" kern="1200" cap="none" spc="0" normalizeH="0" baseline="0" noProof="0" dirty="0">
                <a:ln>
                  <a:noFill/>
                </a:ln>
                <a:solidFill>
                  <a:srgbClr val="FFFFFF"/>
                </a:solidFill>
                <a:effectLst/>
                <a:uLnTx/>
                <a:uFillTx/>
                <a:latin typeface="Arial Bold"/>
                <a:ea typeface="Arial Bold"/>
                <a:cs typeface="Arial Bold"/>
                <a:sym typeface="Arial Bold"/>
              </a:rPr>
              <a:t>Agency/alter ego – </a:t>
            </a:r>
            <a:r>
              <a:rPr kumimoji="0" lang="en-US" sz="2496" b="1" u="none" strike="noStrike" kern="1200" cap="none" spc="0" normalizeH="0" baseline="0" noProof="0" dirty="0" err="1">
                <a:ln>
                  <a:noFill/>
                </a:ln>
                <a:solidFill>
                  <a:srgbClr val="FFFFFF"/>
                </a:solidFill>
                <a:effectLst/>
                <a:uLnTx/>
                <a:uFillTx/>
                <a:latin typeface="Arial Bold"/>
                <a:ea typeface="Arial Bold"/>
                <a:cs typeface="Arial Bold"/>
                <a:sym typeface="Arial Bold"/>
              </a:rPr>
              <a:t>Carltona</a:t>
            </a:r>
            <a:r>
              <a:rPr kumimoji="0" lang="en-US" sz="2496" b="1" u="none" strike="noStrike" kern="1200" cap="none" spc="0" normalizeH="0" baseline="0" noProof="0" dirty="0">
                <a:ln>
                  <a:noFill/>
                </a:ln>
                <a:solidFill>
                  <a:srgbClr val="FFFFFF"/>
                </a:solidFill>
                <a:effectLst/>
                <a:uLnTx/>
                <a:uFillTx/>
                <a:latin typeface="Arial Bold"/>
                <a:ea typeface="Arial Bold"/>
                <a:cs typeface="Arial Bold"/>
                <a:sym typeface="Arial Bold"/>
              </a:rPr>
              <a:t> case</a:t>
            </a:r>
          </a:p>
        </p:txBody>
      </p:sp>
      <p:sp>
        <p:nvSpPr>
          <p:cNvPr id="9" name="TextBox 9">
            <a:extLst>
              <a:ext uri="{FF2B5EF4-FFF2-40B4-BE49-F238E27FC236}">
                <a16:creationId xmlns:a16="http://schemas.microsoft.com/office/drawing/2014/main" id="{6377BF93-0BCC-F250-2502-D375529623A7}"/>
              </a:ext>
            </a:extLst>
          </p:cNvPr>
          <p:cNvSpPr txBox="1"/>
          <p:nvPr/>
        </p:nvSpPr>
        <p:spPr>
          <a:xfrm>
            <a:off x="392084" y="1524000"/>
            <a:ext cx="7304116" cy="3523722"/>
          </a:xfrm>
          <a:prstGeom prst="rect">
            <a:avLst/>
          </a:prstGeom>
        </p:spPr>
        <p:txBody>
          <a:bodyPr wrap="square" lIns="0" tIns="0" rIns="0" bIns="0" rtlCol="0" anchor="t">
            <a:spAutoFit/>
          </a:bodyPr>
          <a:lstStyle/>
          <a:p>
            <a:pPr marL="285750" marR="0" lvl="0" indent="-285750" algn="l" defTabSz="914400" rtl="0" eaLnBrk="1" fontAlgn="auto" latinLnBrk="0" hangingPunct="1">
              <a:lnSpc>
                <a:spcPct val="100000"/>
              </a:lnSpc>
              <a:spcBef>
                <a:spcPts val="0"/>
              </a:spcBef>
              <a:spcAft>
                <a:spcPts val="1200"/>
              </a:spcAft>
              <a:buClrTx/>
              <a:buSzTx/>
              <a:buFont typeface="Arial" panose="020B0604020202020204" pitchFamily="34" charset="0"/>
              <a:buChar char="•"/>
              <a:tabLst/>
              <a:defRPr/>
            </a:pPr>
            <a:r>
              <a:rPr lang="en-US" sz="1627" dirty="0">
                <a:solidFill>
                  <a:srgbClr val="FFFFFF"/>
                </a:solidFill>
                <a:latin typeface="Arial" panose="020B0604020202020204" pitchFamily="34" charset="0"/>
                <a:ea typeface="Arial Bold"/>
                <a:cs typeface="Arial" panose="020B0604020202020204" pitchFamily="34" charset="0"/>
                <a:sym typeface="Arial Bold"/>
              </a:rPr>
              <a:t>UK Court of Appeal:</a:t>
            </a:r>
          </a:p>
          <a:p>
            <a:pPr marL="285750" marR="0" lvl="0" indent="-285750" algn="l" defTabSz="914400" rtl="0" eaLnBrk="1" fontAlgn="auto" latinLnBrk="0" hangingPunct="1">
              <a:lnSpc>
                <a:spcPct val="100000"/>
              </a:lnSpc>
              <a:spcBef>
                <a:spcPts val="0"/>
              </a:spcBef>
              <a:spcAft>
                <a:spcPts val="1200"/>
              </a:spcAft>
              <a:buClrTx/>
              <a:buSzTx/>
              <a:buFont typeface="Arial" panose="020B0604020202020204" pitchFamily="34" charset="0"/>
              <a:buChar char="•"/>
              <a:tabLst/>
              <a:defRPr/>
            </a:pPr>
            <a:r>
              <a:rPr lang="en-US" sz="1627" dirty="0">
                <a:solidFill>
                  <a:srgbClr val="FFFFFF"/>
                </a:solidFill>
                <a:latin typeface="Arial" panose="020B0604020202020204" pitchFamily="34" charset="0"/>
                <a:ea typeface="Arial Bold"/>
                <a:cs typeface="Arial" panose="020B0604020202020204" pitchFamily="34" charset="0"/>
                <a:sym typeface="Arial Bold"/>
              </a:rPr>
              <a:t>Introduced ‘alter ego principle’ – act was not under delegation but ‘in the name of’ the Minister</a:t>
            </a:r>
          </a:p>
          <a:p>
            <a:pPr marL="285750" marR="0" lvl="0" indent="-285750" algn="l" defTabSz="914400" rtl="0" eaLnBrk="1" fontAlgn="auto" latinLnBrk="0" hangingPunct="1">
              <a:lnSpc>
                <a:spcPct val="100000"/>
              </a:lnSpc>
              <a:spcBef>
                <a:spcPts val="0"/>
              </a:spcBef>
              <a:spcAft>
                <a:spcPts val="1200"/>
              </a:spcAft>
              <a:buClrTx/>
              <a:buSzTx/>
              <a:buFont typeface="Arial" panose="020B0604020202020204" pitchFamily="34" charset="0"/>
              <a:buChar char="•"/>
              <a:tabLst/>
              <a:defRPr/>
            </a:pPr>
            <a:r>
              <a:rPr lang="en-US" sz="1627" dirty="0">
                <a:solidFill>
                  <a:srgbClr val="FFFFFF"/>
                </a:solidFill>
                <a:latin typeface="Arial" panose="020B0604020202020204" pitchFamily="34" charset="0"/>
                <a:ea typeface="Arial Bold"/>
                <a:cs typeface="Arial" panose="020B0604020202020204" pitchFamily="34" charset="0"/>
                <a:sym typeface="Arial Bold"/>
              </a:rPr>
              <a:t>Ministers:  special position of constitutional responsibility;  ‘multifarious and complex tasks’</a:t>
            </a:r>
          </a:p>
          <a:p>
            <a:pPr marL="285750" marR="0" lvl="0" indent="-285750" algn="l" defTabSz="914400" rtl="0" eaLnBrk="1" fontAlgn="auto" latinLnBrk="0" hangingPunct="1">
              <a:lnSpc>
                <a:spcPct val="100000"/>
              </a:lnSpc>
              <a:spcBef>
                <a:spcPts val="0"/>
              </a:spcBef>
              <a:spcAft>
                <a:spcPts val="1200"/>
              </a:spcAft>
              <a:buClrTx/>
              <a:buSzTx/>
              <a:buFont typeface="Arial" panose="020B0604020202020204" pitchFamily="34" charset="0"/>
              <a:buChar char="•"/>
              <a:tabLst/>
              <a:defRPr/>
            </a:pPr>
            <a:r>
              <a:rPr lang="en-US" sz="1627" dirty="0">
                <a:solidFill>
                  <a:srgbClr val="FFFFFF"/>
                </a:solidFill>
                <a:latin typeface="Arial" panose="020B0604020202020204" pitchFamily="34" charset="0"/>
                <a:ea typeface="Arial Bold"/>
                <a:cs typeface="Arial" panose="020B0604020202020204" pitchFamily="34" charset="0"/>
                <a:sym typeface="Arial Bold"/>
              </a:rPr>
              <a:t>Administrative necessity to have some work done by agents – Parliament must have intended such</a:t>
            </a:r>
          </a:p>
          <a:p>
            <a:pPr marL="285750" marR="0" lvl="0" indent="-285750" algn="l" defTabSz="914400" rtl="0" eaLnBrk="1" fontAlgn="auto" latinLnBrk="0" hangingPunct="1">
              <a:lnSpc>
                <a:spcPct val="100000"/>
              </a:lnSpc>
              <a:spcBef>
                <a:spcPts val="0"/>
              </a:spcBef>
              <a:spcAft>
                <a:spcPts val="1200"/>
              </a:spcAft>
              <a:buClrTx/>
              <a:buSzTx/>
              <a:buFont typeface="Arial" panose="020B0604020202020204" pitchFamily="34" charset="0"/>
              <a:buChar char="•"/>
              <a:tabLst/>
              <a:defRPr/>
            </a:pPr>
            <a:r>
              <a:rPr lang="en-US" sz="1627" dirty="0">
                <a:solidFill>
                  <a:srgbClr val="FFFFFF"/>
                </a:solidFill>
                <a:latin typeface="Arial" panose="020B0604020202020204" pitchFamily="34" charset="0"/>
                <a:ea typeface="Arial Bold"/>
                <a:cs typeface="Arial" panose="020B0604020202020204" pitchFamily="34" charset="0"/>
                <a:sym typeface="Arial Bold"/>
              </a:rPr>
              <a:t>On facts: thousands of war requisitions made</a:t>
            </a:r>
          </a:p>
          <a:p>
            <a:pPr marL="285750" marR="0" lvl="0" indent="-285750" algn="l" defTabSz="914400" rtl="0" eaLnBrk="1" fontAlgn="auto" latinLnBrk="0" hangingPunct="1">
              <a:lnSpc>
                <a:spcPct val="100000"/>
              </a:lnSpc>
              <a:spcBef>
                <a:spcPts val="0"/>
              </a:spcBef>
              <a:spcAft>
                <a:spcPts val="1200"/>
              </a:spcAft>
              <a:buClrTx/>
              <a:buSzTx/>
              <a:buFont typeface="Arial" panose="020B0604020202020204" pitchFamily="34" charset="0"/>
              <a:buChar char="•"/>
              <a:tabLst/>
              <a:defRPr/>
            </a:pPr>
            <a:r>
              <a:rPr lang="en-US" sz="1627" dirty="0">
                <a:solidFill>
                  <a:srgbClr val="FFFFFF"/>
                </a:solidFill>
                <a:latin typeface="Arial" panose="020B0604020202020204" pitchFamily="34" charset="0"/>
                <a:ea typeface="Arial Bold"/>
                <a:cs typeface="Arial" panose="020B0604020202020204" pitchFamily="34" charset="0"/>
                <a:sym typeface="Arial Bold"/>
              </a:rPr>
              <a:t>Considerations included: Ministerial responsibility to Parliament remains (at least in theory); ever-growing complexity and size of modern government makes any other result unworkable</a:t>
            </a:r>
          </a:p>
        </p:txBody>
      </p:sp>
      <p:sp>
        <p:nvSpPr>
          <p:cNvPr id="10" name="TextBox 10">
            <a:extLst>
              <a:ext uri="{FF2B5EF4-FFF2-40B4-BE49-F238E27FC236}">
                <a16:creationId xmlns:a16="http://schemas.microsoft.com/office/drawing/2014/main" id="{5E735ACF-C5A6-D254-22B9-3F369AC4C968}"/>
              </a:ext>
            </a:extLst>
          </p:cNvPr>
          <p:cNvSpPr txBox="1"/>
          <p:nvPr/>
        </p:nvSpPr>
        <p:spPr>
          <a:xfrm>
            <a:off x="10195446" y="6347803"/>
            <a:ext cx="1773879" cy="193258"/>
          </a:xfrm>
          <a:prstGeom prst="rect">
            <a:avLst/>
          </a:prstGeom>
        </p:spPr>
        <p:txBody>
          <a:bodyPr lIns="0" tIns="0" rIns="0" bIns="0" rtlCol="0" anchor="t">
            <a:spAutoFit/>
          </a:bodyPr>
          <a:lstStyle/>
          <a:p>
            <a:pPr marL="0" marR="0" lvl="0" indent="0" algn="l" defTabSz="914400" rtl="0" eaLnBrk="1" fontAlgn="auto" latinLnBrk="0" hangingPunct="1">
              <a:lnSpc>
                <a:spcPts val="1422"/>
              </a:lnSpc>
              <a:spcBef>
                <a:spcPts val="0"/>
              </a:spcBef>
              <a:spcAft>
                <a:spcPts val="0"/>
              </a:spcAft>
              <a:buClrTx/>
              <a:buSzTx/>
              <a:buFontTx/>
              <a:buNone/>
              <a:tabLst/>
              <a:defRPr/>
            </a:pPr>
            <a:r>
              <a:rPr kumimoji="0" lang="en-US" sz="1016" b="0" i="0" u="none" strike="noStrike" kern="1200" cap="none" spc="0" normalizeH="0" baseline="0" noProof="0">
                <a:ln>
                  <a:noFill/>
                </a:ln>
                <a:solidFill>
                  <a:srgbClr val="FFFFFF"/>
                </a:solidFill>
                <a:effectLst/>
                <a:uLnTx/>
                <a:uFillTx/>
                <a:latin typeface="Arial"/>
                <a:ea typeface="Arial"/>
                <a:cs typeface="Arial"/>
                <a:sym typeface="Arial"/>
              </a:rPr>
              <a:t>Administrative Law –LAW1023</a:t>
            </a:r>
          </a:p>
        </p:txBody>
      </p:sp>
      <p:pic>
        <p:nvPicPr>
          <p:cNvPr id="4098" name="Picture 2" descr="Image result for alter ego"/>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9332944" y="1543204"/>
            <a:ext cx="2849912" cy="154569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296566234"/>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bg>
      <p:bgPr>
        <a:solidFill>
          <a:srgbClr val="000054"/>
        </a:solidFill>
        <a:effectLst/>
      </p:bgPr>
    </p:bg>
    <p:spTree>
      <p:nvGrpSpPr>
        <p:cNvPr id="1" name="">
          <a:extLst>
            <a:ext uri="{FF2B5EF4-FFF2-40B4-BE49-F238E27FC236}">
              <a16:creationId xmlns:a16="http://schemas.microsoft.com/office/drawing/2014/main" id="{63C1EA6F-C716-C37F-5754-3CF20899AC53}"/>
            </a:ext>
          </a:extLst>
        </p:cNvPr>
        <p:cNvGrpSpPr/>
        <p:nvPr/>
      </p:nvGrpSpPr>
      <p:grpSpPr>
        <a:xfrm>
          <a:off x="0" y="0"/>
          <a:ext cx="0" cy="0"/>
          <a:chOff x="0" y="0"/>
          <a:chExt cx="0" cy="0"/>
        </a:xfrm>
      </p:grpSpPr>
      <p:grpSp>
        <p:nvGrpSpPr>
          <p:cNvPr id="2" name="Group 2">
            <a:extLst>
              <a:ext uri="{FF2B5EF4-FFF2-40B4-BE49-F238E27FC236}">
                <a16:creationId xmlns:a16="http://schemas.microsoft.com/office/drawing/2014/main" id="{6B86E870-AA9A-18A4-E663-B82FDFBBCAC6}"/>
              </a:ext>
            </a:extLst>
          </p:cNvPr>
          <p:cNvGrpSpPr/>
          <p:nvPr/>
        </p:nvGrpSpPr>
        <p:grpSpPr>
          <a:xfrm rot="-10800000">
            <a:off x="11045567" y="-12700"/>
            <a:ext cx="1146433" cy="1146433"/>
            <a:chOff x="0" y="0"/>
            <a:chExt cx="1630482" cy="1630482"/>
          </a:xfrm>
        </p:grpSpPr>
        <p:sp>
          <p:nvSpPr>
            <p:cNvPr id="3" name="Freeform 3">
              <a:extLst>
                <a:ext uri="{FF2B5EF4-FFF2-40B4-BE49-F238E27FC236}">
                  <a16:creationId xmlns:a16="http://schemas.microsoft.com/office/drawing/2014/main" id="{A304A38C-D203-E01A-44C0-4918B6A411CF}"/>
                </a:ext>
              </a:extLst>
            </p:cNvPr>
            <p:cNvSpPr/>
            <p:nvPr/>
          </p:nvSpPr>
          <p:spPr>
            <a:xfrm>
              <a:off x="0" y="0"/>
              <a:ext cx="1630426" cy="1630426"/>
            </a:xfrm>
            <a:custGeom>
              <a:avLst/>
              <a:gdLst/>
              <a:ahLst/>
              <a:cxnLst/>
              <a:rect l="l" t="t" r="r" b="b"/>
              <a:pathLst>
                <a:path w="1630426" h="1630426">
                  <a:moveTo>
                    <a:pt x="0" y="0"/>
                  </a:moveTo>
                  <a:lnTo>
                    <a:pt x="543433" y="0"/>
                  </a:lnTo>
                  <a:lnTo>
                    <a:pt x="543433" y="543433"/>
                  </a:lnTo>
                  <a:lnTo>
                    <a:pt x="1086993" y="543433"/>
                  </a:lnTo>
                  <a:lnTo>
                    <a:pt x="1086993" y="1086993"/>
                  </a:lnTo>
                  <a:lnTo>
                    <a:pt x="1630426" y="1086993"/>
                  </a:lnTo>
                  <a:lnTo>
                    <a:pt x="1630426" y="1630426"/>
                  </a:lnTo>
                  <a:lnTo>
                    <a:pt x="0" y="1630426"/>
                  </a:lnTo>
                  <a:lnTo>
                    <a:pt x="0" y="1086993"/>
                  </a:lnTo>
                  <a:lnTo>
                    <a:pt x="0" y="543433"/>
                  </a:lnTo>
                  <a:close/>
                </a:path>
              </a:pathLst>
            </a:custGeom>
            <a:solidFill>
              <a:srgbClr val="FFFFFF"/>
            </a:solid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AU" sz="1800" b="0" i="0" u="none" strike="noStrike" kern="1200" cap="none" spc="0" normalizeH="0" baseline="0" noProof="0">
                <a:ln>
                  <a:noFill/>
                </a:ln>
                <a:solidFill>
                  <a:prstClr val="black"/>
                </a:solidFill>
                <a:effectLst/>
                <a:uLnTx/>
                <a:uFillTx/>
                <a:latin typeface="Calibri"/>
                <a:ea typeface="+mn-ea"/>
                <a:cs typeface="+mn-cs"/>
              </a:endParaRPr>
            </a:p>
          </p:txBody>
        </p:sp>
      </p:grpSp>
      <p:sp>
        <p:nvSpPr>
          <p:cNvPr id="5" name="TextBox 5">
            <a:extLst>
              <a:ext uri="{FF2B5EF4-FFF2-40B4-BE49-F238E27FC236}">
                <a16:creationId xmlns:a16="http://schemas.microsoft.com/office/drawing/2014/main" id="{149E543E-ED36-D33E-98CB-60066015F973}"/>
              </a:ext>
            </a:extLst>
          </p:cNvPr>
          <p:cNvSpPr txBox="1"/>
          <p:nvPr/>
        </p:nvSpPr>
        <p:spPr>
          <a:xfrm>
            <a:off x="392084" y="560536"/>
            <a:ext cx="11190316" cy="409471"/>
          </a:xfrm>
          <a:prstGeom prst="rect">
            <a:avLst/>
          </a:prstGeom>
        </p:spPr>
        <p:txBody>
          <a:bodyPr wrap="square" lIns="0" tIns="0" rIns="0" bIns="0" rtlCol="0" anchor="t">
            <a:spAutoFit/>
          </a:bodyPr>
          <a:lstStyle/>
          <a:p>
            <a:pPr marL="0" marR="0" lvl="0" indent="0" algn="l" defTabSz="914400" rtl="0" eaLnBrk="1" fontAlgn="auto" latinLnBrk="0" hangingPunct="1">
              <a:lnSpc>
                <a:spcPts val="3494"/>
              </a:lnSpc>
              <a:spcBef>
                <a:spcPts val="0"/>
              </a:spcBef>
              <a:spcAft>
                <a:spcPts val="0"/>
              </a:spcAft>
              <a:buClrTx/>
              <a:buSzTx/>
              <a:buFontTx/>
              <a:buNone/>
              <a:tabLst/>
              <a:defRPr/>
            </a:pPr>
            <a:r>
              <a:rPr kumimoji="0" lang="en-US" sz="2496" b="1" u="none" strike="noStrike" kern="1200" cap="none" spc="0" normalizeH="0" baseline="0" noProof="0" dirty="0">
                <a:ln>
                  <a:noFill/>
                </a:ln>
                <a:solidFill>
                  <a:srgbClr val="FFFFFF"/>
                </a:solidFill>
                <a:effectLst/>
                <a:uLnTx/>
                <a:uFillTx/>
                <a:latin typeface="Arial Bold"/>
                <a:ea typeface="Arial Bold"/>
                <a:cs typeface="Arial Bold"/>
                <a:sym typeface="Arial Bold"/>
              </a:rPr>
              <a:t>Agency/alter ego – O’Reilly Case</a:t>
            </a:r>
          </a:p>
        </p:txBody>
      </p:sp>
      <p:sp>
        <p:nvSpPr>
          <p:cNvPr id="9" name="TextBox 9">
            <a:extLst>
              <a:ext uri="{FF2B5EF4-FFF2-40B4-BE49-F238E27FC236}">
                <a16:creationId xmlns:a16="http://schemas.microsoft.com/office/drawing/2014/main" id="{F31C6171-16EC-F414-371F-4D7EA1336AAD}"/>
              </a:ext>
            </a:extLst>
          </p:cNvPr>
          <p:cNvSpPr txBox="1"/>
          <p:nvPr/>
        </p:nvSpPr>
        <p:spPr>
          <a:xfrm>
            <a:off x="392084" y="1524000"/>
            <a:ext cx="8980516" cy="2618666"/>
          </a:xfrm>
          <a:prstGeom prst="rect">
            <a:avLst/>
          </a:prstGeom>
        </p:spPr>
        <p:txBody>
          <a:bodyPr wrap="square" lIns="0" tIns="0" rIns="0" bIns="0" rtlCol="0" anchor="t">
            <a:spAutoFit/>
          </a:bodyPr>
          <a:lstStyle/>
          <a:p>
            <a:pPr marL="285750" marR="0" lvl="0" indent="-285750" algn="l" defTabSz="914400" rtl="0" eaLnBrk="1" fontAlgn="auto" latinLnBrk="0" hangingPunct="1">
              <a:lnSpc>
                <a:spcPct val="100000"/>
              </a:lnSpc>
              <a:spcBef>
                <a:spcPts val="0"/>
              </a:spcBef>
              <a:spcAft>
                <a:spcPts val="1200"/>
              </a:spcAft>
              <a:buClrTx/>
              <a:buSzTx/>
              <a:buFont typeface="Arial" panose="020B0604020202020204" pitchFamily="34" charset="0"/>
              <a:buChar char="•"/>
              <a:tabLst/>
              <a:defRPr/>
            </a:pPr>
            <a:r>
              <a:rPr lang="en-US" sz="1627" i="1" dirty="0">
                <a:solidFill>
                  <a:srgbClr val="FFFFFF"/>
                </a:solidFill>
                <a:latin typeface="Arial" panose="020B0604020202020204" pitchFamily="34" charset="0"/>
                <a:ea typeface="Arial Bold"/>
                <a:cs typeface="Arial" panose="020B0604020202020204" pitchFamily="34" charset="0"/>
                <a:sym typeface="Arial Bold"/>
              </a:rPr>
              <a:t>O’Reilly v State Bank of Victoria </a:t>
            </a:r>
            <a:r>
              <a:rPr lang="en-US" sz="1627" dirty="0">
                <a:solidFill>
                  <a:srgbClr val="FFFFFF"/>
                </a:solidFill>
                <a:latin typeface="Arial" panose="020B0604020202020204" pitchFamily="34" charset="0"/>
                <a:ea typeface="Arial Bold"/>
                <a:cs typeface="Arial" panose="020B0604020202020204" pitchFamily="34" charset="0"/>
                <a:sym typeface="Arial Bold"/>
              </a:rPr>
              <a:t>(1982) 153 CLR 1 </a:t>
            </a:r>
          </a:p>
          <a:p>
            <a:pPr marL="285750" marR="0" lvl="0" indent="-285750" algn="l" defTabSz="914400" rtl="0" eaLnBrk="1" fontAlgn="auto" latinLnBrk="0" hangingPunct="1">
              <a:lnSpc>
                <a:spcPct val="100000"/>
              </a:lnSpc>
              <a:spcBef>
                <a:spcPts val="0"/>
              </a:spcBef>
              <a:spcAft>
                <a:spcPts val="1200"/>
              </a:spcAft>
              <a:buClrTx/>
              <a:buSzTx/>
              <a:buFont typeface="Arial" panose="020B0604020202020204" pitchFamily="34" charset="0"/>
              <a:buChar char="•"/>
              <a:tabLst/>
              <a:defRPr/>
            </a:pPr>
            <a:r>
              <a:rPr lang="en-US" sz="1627" b="1" dirty="0">
                <a:solidFill>
                  <a:srgbClr val="FFFFFF"/>
                </a:solidFill>
                <a:latin typeface="Arial" panose="020B0604020202020204" pitchFamily="34" charset="0"/>
                <a:ea typeface="Arial Bold"/>
                <a:cs typeface="Arial" panose="020B0604020202020204" pitchFamily="34" charset="0"/>
                <a:sym typeface="Arial Bold"/>
              </a:rPr>
              <a:t>Facts: </a:t>
            </a:r>
            <a:r>
              <a:rPr lang="en-US" sz="1627" dirty="0">
                <a:solidFill>
                  <a:srgbClr val="FFFFFF"/>
                </a:solidFill>
                <a:latin typeface="Arial" panose="020B0604020202020204" pitchFamily="34" charset="0"/>
                <a:ea typeface="Arial Bold"/>
                <a:cs typeface="Arial" panose="020B0604020202020204" pitchFamily="34" charset="0"/>
                <a:sym typeface="Arial Bold"/>
              </a:rPr>
              <a:t>Commissioner of Taxation: expressly and validly delegated certain functions to Deputy Commissioner of Taxation (Taxation Administration Act)</a:t>
            </a:r>
          </a:p>
          <a:p>
            <a:pPr marL="285750" marR="0" lvl="0" indent="-285750" algn="l" defTabSz="914400" rtl="0" eaLnBrk="1" fontAlgn="auto" latinLnBrk="0" hangingPunct="1">
              <a:lnSpc>
                <a:spcPct val="100000"/>
              </a:lnSpc>
              <a:spcBef>
                <a:spcPts val="0"/>
              </a:spcBef>
              <a:spcAft>
                <a:spcPts val="1200"/>
              </a:spcAft>
              <a:buClrTx/>
              <a:buSzTx/>
              <a:buFont typeface="Arial" panose="020B0604020202020204" pitchFamily="34" charset="0"/>
              <a:buChar char="•"/>
              <a:tabLst/>
              <a:defRPr/>
            </a:pPr>
            <a:r>
              <a:rPr lang="en-US" sz="1627" dirty="0">
                <a:solidFill>
                  <a:srgbClr val="FFFFFF"/>
                </a:solidFill>
                <a:latin typeface="Arial" panose="020B0604020202020204" pitchFamily="34" charset="0"/>
                <a:ea typeface="Arial Bold"/>
                <a:cs typeface="Arial" panose="020B0604020202020204" pitchFamily="34" charset="0"/>
                <a:sym typeface="Arial Bold"/>
              </a:rPr>
              <a:t>Notices sent by Chief Investigative Officer (K. Holland); not personally signed by the Deputy Commissioner (had ‘facsimile’ of his signature’)</a:t>
            </a:r>
          </a:p>
          <a:p>
            <a:pPr marL="285750" marR="0" lvl="0" indent="-285750" algn="l" defTabSz="914400" rtl="0" eaLnBrk="1" fontAlgn="auto" latinLnBrk="0" hangingPunct="1">
              <a:lnSpc>
                <a:spcPct val="100000"/>
              </a:lnSpc>
              <a:spcBef>
                <a:spcPts val="0"/>
              </a:spcBef>
              <a:spcAft>
                <a:spcPts val="1200"/>
              </a:spcAft>
              <a:buClrTx/>
              <a:buSzTx/>
              <a:buFont typeface="Arial" panose="020B0604020202020204" pitchFamily="34" charset="0"/>
              <a:buChar char="•"/>
              <a:tabLst/>
              <a:defRPr/>
            </a:pPr>
            <a:r>
              <a:rPr lang="en-US" sz="1627" dirty="0">
                <a:solidFill>
                  <a:srgbClr val="FFFFFF"/>
                </a:solidFill>
                <a:latin typeface="Arial" panose="020B0604020202020204" pitchFamily="34" charset="0"/>
                <a:ea typeface="Arial Bold"/>
                <a:cs typeface="Arial" panose="020B0604020202020204" pitchFamily="34" charset="0"/>
                <a:sym typeface="Arial Bold"/>
              </a:rPr>
              <a:t>H – acting under </a:t>
            </a:r>
            <a:r>
              <a:rPr lang="en-US" sz="1627" dirty="0" err="1">
                <a:solidFill>
                  <a:srgbClr val="FFFFFF"/>
                </a:solidFill>
                <a:latin typeface="Arial" panose="020B0604020202020204" pitchFamily="34" charset="0"/>
                <a:ea typeface="Arial Bold"/>
                <a:cs typeface="Arial" panose="020B0604020202020204" pitchFamily="34" charset="0"/>
                <a:sym typeface="Arial Bold"/>
              </a:rPr>
              <a:t>authorisation</a:t>
            </a:r>
            <a:r>
              <a:rPr lang="en-US" sz="1627" dirty="0">
                <a:solidFill>
                  <a:srgbClr val="FFFFFF"/>
                </a:solidFill>
                <a:latin typeface="Arial" panose="020B0604020202020204" pitchFamily="34" charset="0"/>
                <a:ea typeface="Arial Bold"/>
                <a:cs typeface="Arial" panose="020B0604020202020204" pitchFamily="34" charset="0"/>
                <a:sym typeface="Arial Bold"/>
              </a:rPr>
              <a:t> of Deputy Commissioner</a:t>
            </a:r>
          </a:p>
          <a:p>
            <a:pPr marL="285750" marR="0" lvl="0" indent="-285750" algn="l" defTabSz="914400" rtl="0" eaLnBrk="1" fontAlgn="auto" latinLnBrk="0" hangingPunct="1">
              <a:lnSpc>
                <a:spcPct val="100000"/>
              </a:lnSpc>
              <a:spcBef>
                <a:spcPts val="0"/>
              </a:spcBef>
              <a:spcAft>
                <a:spcPts val="1200"/>
              </a:spcAft>
              <a:buClrTx/>
              <a:buSzTx/>
              <a:buFont typeface="Arial" panose="020B0604020202020204" pitchFamily="34" charset="0"/>
              <a:buChar char="•"/>
              <a:tabLst/>
              <a:defRPr/>
            </a:pPr>
            <a:r>
              <a:rPr lang="en-US" sz="1627" dirty="0">
                <a:solidFill>
                  <a:srgbClr val="FFFFFF"/>
                </a:solidFill>
                <a:latin typeface="Arial" panose="020B0604020202020204" pitchFamily="34" charset="0"/>
                <a:ea typeface="Arial Bold"/>
                <a:cs typeface="Arial" panose="020B0604020202020204" pitchFamily="34" charset="0"/>
                <a:sym typeface="Arial Bold"/>
              </a:rPr>
              <a:t>Taxpayers argued notices were invalid (breached rule against sub-delegation). Deputy Commissioner responded that he had applied the </a:t>
            </a:r>
            <a:r>
              <a:rPr lang="en-US" sz="1627" dirty="0" err="1">
                <a:solidFill>
                  <a:srgbClr val="FFFFFF"/>
                </a:solidFill>
                <a:latin typeface="Arial" panose="020B0604020202020204" pitchFamily="34" charset="0"/>
                <a:ea typeface="Arial Bold"/>
                <a:cs typeface="Arial" panose="020B0604020202020204" pitchFamily="34" charset="0"/>
                <a:sym typeface="Arial Bold"/>
              </a:rPr>
              <a:t>Carltona</a:t>
            </a:r>
            <a:r>
              <a:rPr lang="en-US" sz="1627" dirty="0">
                <a:solidFill>
                  <a:srgbClr val="FFFFFF"/>
                </a:solidFill>
                <a:latin typeface="Arial" panose="020B0604020202020204" pitchFamily="34" charset="0"/>
                <a:ea typeface="Arial Bold"/>
                <a:cs typeface="Arial" panose="020B0604020202020204" pitchFamily="34" charset="0"/>
                <a:sym typeface="Arial Bold"/>
              </a:rPr>
              <a:t> principle.</a:t>
            </a:r>
          </a:p>
        </p:txBody>
      </p:sp>
      <p:sp>
        <p:nvSpPr>
          <p:cNvPr id="10" name="TextBox 10">
            <a:extLst>
              <a:ext uri="{FF2B5EF4-FFF2-40B4-BE49-F238E27FC236}">
                <a16:creationId xmlns:a16="http://schemas.microsoft.com/office/drawing/2014/main" id="{23A037DC-4C3D-3061-6262-9B1FCE1EEF2A}"/>
              </a:ext>
            </a:extLst>
          </p:cNvPr>
          <p:cNvSpPr txBox="1"/>
          <p:nvPr/>
        </p:nvSpPr>
        <p:spPr>
          <a:xfrm>
            <a:off x="10195446" y="6347803"/>
            <a:ext cx="1773879" cy="193258"/>
          </a:xfrm>
          <a:prstGeom prst="rect">
            <a:avLst/>
          </a:prstGeom>
        </p:spPr>
        <p:txBody>
          <a:bodyPr lIns="0" tIns="0" rIns="0" bIns="0" rtlCol="0" anchor="t">
            <a:spAutoFit/>
          </a:bodyPr>
          <a:lstStyle/>
          <a:p>
            <a:pPr marL="0" marR="0" lvl="0" indent="0" algn="l" defTabSz="914400" rtl="0" eaLnBrk="1" fontAlgn="auto" latinLnBrk="0" hangingPunct="1">
              <a:lnSpc>
                <a:spcPts val="1422"/>
              </a:lnSpc>
              <a:spcBef>
                <a:spcPts val="0"/>
              </a:spcBef>
              <a:spcAft>
                <a:spcPts val="0"/>
              </a:spcAft>
              <a:buClrTx/>
              <a:buSzTx/>
              <a:buFontTx/>
              <a:buNone/>
              <a:tabLst/>
              <a:defRPr/>
            </a:pPr>
            <a:r>
              <a:rPr kumimoji="0" lang="en-US" sz="1016" b="0" i="0" u="none" strike="noStrike" kern="1200" cap="none" spc="0" normalizeH="0" baseline="0" noProof="0">
                <a:ln>
                  <a:noFill/>
                </a:ln>
                <a:solidFill>
                  <a:srgbClr val="FFFFFF"/>
                </a:solidFill>
                <a:effectLst/>
                <a:uLnTx/>
                <a:uFillTx/>
                <a:latin typeface="Arial"/>
                <a:ea typeface="Arial"/>
                <a:cs typeface="Arial"/>
                <a:sym typeface="Arial"/>
              </a:rPr>
              <a:t>Administrative Law –LAW1023</a:t>
            </a:r>
          </a:p>
        </p:txBody>
      </p:sp>
      <p:pic>
        <p:nvPicPr>
          <p:cNvPr id="5122" name="Picture 2" descr="Image result for o'reilly facto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8501197" y="4142666"/>
            <a:ext cx="3388497" cy="190602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439428878"/>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bg>
      <p:bgPr>
        <a:solidFill>
          <a:srgbClr val="000054"/>
        </a:solidFill>
        <a:effectLst/>
      </p:bgPr>
    </p:bg>
    <p:spTree>
      <p:nvGrpSpPr>
        <p:cNvPr id="1" name="">
          <a:extLst>
            <a:ext uri="{FF2B5EF4-FFF2-40B4-BE49-F238E27FC236}">
              <a16:creationId xmlns:a16="http://schemas.microsoft.com/office/drawing/2014/main" id="{DBD8B3FE-53A4-6182-A10D-143CA52E628A}"/>
            </a:ext>
          </a:extLst>
        </p:cNvPr>
        <p:cNvGrpSpPr/>
        <p:nvPr/>
      </p:nvGrpSpPr>
      <p:grpSpPr>
        <a:xfrm>
          <a:off x="0" y="0"/>
          <a:ext cx="0" cy="0"/>
          <a:chOff x="0" y="0"/>
          <a:chExt cx="0" cy="0"/>
        </a:xfrm>
      </p:grpSpPr>
      <p:grpSp>
        <p:nvGrpSpPr>
          <p:cNvPr id="2" name="Group 2">
            <a:extLst>
              <a:ext uri="{FF2B5EF4-FFF2-40B4-BE49-F238E27FC236}">
                <a16:creationId xmlns:a16="http://schemas.microsoft.com/office/drawing/2014/main" id="{83304A5A-991F-017F-E987-7DEA780818F3}"/>
              </a:ext>
            </a:extLst>
          </p:cNvPr>
          <p:cNvGrpSpPr/>
          <p:nvPr/>
        </p:nvGrpSpPr>
        <p:grpSpPr>
          <a:xfrm rot="-10800000">
            <a:off x="11045567" y="-12700"/>
            <a:ext cx="1146433" cy="1146433"/>
            <a:chOff x="0" y="0"/>
            <a:chExt cx="1630482" cy="1630482"/>
          </a:xfrm>
        </p:grpSpPr>
        <p:sp>
          <p:nvSpPr>
            <p:cNvPr id="3" name="Freeform 3">
              <a:extLst>
                <a:ext uri="{FF2B5EF4-FFF2-40B4-BE49-F238E27FC236}">
                  <a16:creationId xmlns:a16="http://schemas.microsoft.com/office/drawing/2014/main" id="{DBA3FCD9-79E0-3D29-31CC-9BF3D3EB6A5A}"/>
                </a:ext>
              </a:extLst>
            </p:cNvPr>
            <p:cNvSpPr/>
            <p:nvPr/>
          </p:nvSpPr>
          <p:spPr>
            <a:xfrm>
              <a:off x="0" y="0"/>
              <a:ext cx="1630426" cy="1630426"/>
            </a:xfrm>
            <a:custGeom>
              <a:avLst/>
              <a:gdLst/>
              <a:ahLst/>
              <a:cxnLst/>
              <a:rect l="l" t="t" r="r" b="b"/>
              <a:pathLst>
                <a:path w="1630426" h="1630426">
                  <a:moveTo>
                    <a:pt x="0" y="0"/>
                  </a:moveTo>
                  <a:lnTo>
                    <a:pt x="543433" y="0"/>
                  </a:lnTo>
                  <a:lnTo>
                    <a:pt x="543433" y="543433"/>
                  </a:lnTo>
                  <a:lnTo>
                    <a:pt x="1086993" y="543433"/>
                  </a:lnTo>
                  <a:lnTo>
                    <a:pt x="1086993" y="1086993"/>
                  </a:lnTo>
                  <a:lnTo>
                    <a:pt x="1630426" y="1086993"/>
                  </a:lnTo>
                  <a:lnTo>
                    <a:pt x="1630426" y="1630426"/>
                  </a:lnTo>
                  <a:lnTo>
                    <a:pt x="0" y="1630426"/>
                  </a:lnTo>
                  <a:lnTo>
                    <a:pt x="0" y="1086993"/>
                  </a:lnTo>
                  <a:lnTo>
                    <a:pt x="0" y="543433"/>
                  </a:lnTo>
                  <a:close/>
                </a:path>
              </a:pathLst>
            </a:custGeom>
            <a:solidFill>
              <a:srgbClr val="FFFFFF"/>
            </a:solid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AU" sz="1800" b="0" i="0" u="none" strike="noStrike" kern="1200" cap="none" spc="0" normalizeH="0" baseline="0" noProof="0">
                <a:ln>
                  <a:noFill/>
                </a:ln>
                <a:solidFill>
                  <a:prstClr val="black"/>
                </a:solidFill>
                <a:effectLst/>
                <a:uLnTx/>
                <a:uFillTx/>
                <a:latin typeface="Calibri"/>
                <a:ea typeface="+mn-ea"/>
                <a:cs typeface="+mn-cs"/>
              </a:endParaRPr>
            </a:p>
          </p:txBody>
        </p:sp>
      </p:grpSp>
      <p:sp>
        <p:nvSpPr>
          <p:cNvPr id="5" name="TextBox 5">
            <a:extLst>
              <a:ext uri="{FF2B5EF4-FFF2-40B4-BE49-F238E27FC236}">
                <a16:creationId xmlns:a16="http://schemas.microsoft.com/office/drawing/2014/main" id="{9B1713E8-2278-D81B-60A5-91850530D806}"/>
              </a:ext>
            </a:extLst>
          </p:cNvPr>
          <p:cNvSpPr txBox="1"/>
          <p:nvPr/>
        </p:nvSpPr>
        <p:spPr>
          <a:xfrm>
            <a:off x="392084" y="560536"/>
            <a:ext cx="11190316" cy="409471"/>
          </a:xfrm>
          <a:prstGeom prst="rect">
            <a:avLst/>
          </a:prstGeom>
        </p:spPr>
        <p:txBody>
          <a:bodyPr wrap="square" lIns="0" tIns="0" rIns="0" bIns="0" rtlCol="0" anchor="t">
            <a:spAutoFit/>
          </a:bodyPr>
          <a:lstStyle/>
          <a:p>
            <a:pPr marL="0" marR="0" lvl="0" indent="0" algn="l" defTabSz="914400" rtl="0" eaLnBrk="1" fontAlgn="auto" latinLnBrk="0" hangingPunct="1">
              <a:lnSpc>
                <a:spcPts val="3494"/>
              </a:lnSpc>
              <a:spcBef>
                <a:spcPts val="0"/>
              </a:spcBef>
              <a:spcAft>
                <a:spcPts val="0"/>
              </a:spcAft>
              <a:buClrTx/>
              <a:buSzTx/>
              <a:buFontTx/>
              <a:buNone/>
              <a:tabLst/>
              <a:defRPr/>
            </a:pPr>
            <a:r>
              <a:rPr kumimoji="0" lang="en-US" sz="2496" b="1" u="none" strike="noStrike" kern="1200" cap="none" spc="0" normalizeH="0" baseline="0" noProof="0" dirty="0">
                <a:ln>
                  <a:noFill/>
                </a:ln>
                <a:solidFill>
                  <a:srgbClr val="FFFFFF"/>
                </a:solidFill>
                <a:effectLst/>
                <a:uLnTx/>
                <a:uFillTx/>
                <a:latin typeface="Arial Bold"/>
                <a:ea typeface="Arial Bold"/>
                <a:cs typeface="Arial Bold"/>
                <a:sym typeface="Arial Bold"/>
              </a:rPr>
              <a:t>Agency/alter ego – O’Reilly Case</a:t>
            </a:r>
          </a:p>
        </p:txBody>
      </p:sp>
      <p:sp>
        <p:nvSpPr>
          <p:cNvPr id="9" name="TextBox 9">
            <a:extLst>
              <a:ext uri="{FF2B5EF4-FFF2-40B4-BE49-F238E27FC236}">
                <a16:creationId xmlns:a16="http://schemas.microsoft.com/office/drawing/2014/main" id="{2F900486-85C0-123F-6CAA-0CA849BBC6DC}"/>
              </a:ext>
            </a:extLst>
          </p:cNvPr>
          <p:cNvSpPr txBox="1"/>
          <p:nvPr/>
        </p:nvSpPr>
        <p:spPr>
          <a:xfrm>
            <a:off x="392084" y="1524000"/>
            <a:ext cx="7761316" cy="3369833"/>
          </a:xfrm>
          <a:prstGeom prst="rect">
            <a:avLst/>
          </a:prstGeom>
        </p:spPr>
        <p:txBody>
          <a:bodyPr wrap="square" lIns="0" tIns="0" rIns="0" bIns="0" rtlCol="0" anchor="t">
            <a:spAutoFit/>
          </a:bodyPr>
          <a:lstStyle/>
          <a:p>
            <a:pPr marL="285750" marR="0" lvl="0" indent="-285750" algn="l" defTabSz="914400" rtl="0" eaLnBrk="1" fontAlgn="auto" latinLnBrk="0" hangingPunct="1">
              <a:lnSpc>
                <a:spcPct val="100000"/>
              </a:lnSpc>
              <a:spcBef>
                <a:spcPts val="0"/>
              </a:spcBef>
              <a:spcAft>
                <a:spcPts val="1200"/>
              </a:spcAft>
              <a:buClrTx/>
              <a:buSzTx/>
              <a:buFont typeface="Arial" panose="020B0604020202020204" pitchFamily="34" charset="0"/>
              <a:buChar char="•"/>
              <a:tabLst/>
              <a:defRPr/>
            </a:pPr>
            <a:r>
              <a:rPr lang="en-US" sz="1627" dirty="0">
                <a:solidFill>
                  <a:srgbClr val="FFFFFF"/>
                </a:solidFill>
                <a:latin typeface="Arial" panose="020B0604020202020204" pitchFamily="34" charset="0"/>
                <a:ea typeface="Arial Bold"/>
                <a:cs typeface="Arial" panose="020B0604020202020204" pitchFamily="34" charset="0"/>
                <a:sym typeface="Arial Bold"/>
              </a:rPr>
              <a:t>High Court </a:t>
            </a:r>
          </a:p>
          <a:p>
            <a:pPr marL="285750" marR="0" lvl="0" indent="-285750" algn="l" defTabSz="914400" rtl="0" eaLnBrk="1" fontAlgn="auto" latinLnBrk="0" hangingPunct="1">
              <a:lnSpc>
                <a:spcPct val="100000"/>
              </a:lnSpc>
              <a:spcBef>
                <a:spcPts val="0"/>
              </a:spcBef>
              <a:spcAft>
                <a:spcPts val="1200"/>
              </a:spcAft>
              <a:buClrTx/>
              <a:buSzTx/>
              <a:buFont typeface="Arial" panose="020B0604020202020204" pitchFamily="34" charset="0"/>
              <a:buChar char="•"/>
              <a:tabLst/>
              <a:defRPr/>
            </a:pPr>
            <a:r>
              <a:rPr lang="en-US" sz="1627" dirty="0">
                <a:solidFill>
                  <a:srgbClr val="FFFFFF"/>
                </a:solidFill>
                <a:latin typeface="Arial" panose="020B0604020202020204" pitchFamily="34" charset="0"/>
                <a:ea typeface="Arial Bold"/>
                <a:cs typeface="Arial" panose="020B0604020202020204" pitchFamily="34" charset="0"/>
                <a:sym typeface="Arial Bold"/>
              </a:rPr>
              <a:t>Delegation versus agency (cited </a:t>
            </a:r>
            <a:r>
              <a:rPr lang="en-US" sz="1627" dirty="0" err="1">
                <a:solidFill>
                  <a:srgbClr val="FFFFFF"/>
                </a:solidFill>
                <a:latin typeface="Arial" panose="020B0604020202020204" pitchFamily="34" charset="0"/>
                <a:ea typeface="Arial Bold"/>
                <a:cs typeface="Arial" panose="020B0604020202020204" pitchFamily="34" charset="0"/>
                <a:sym typeface="Arial Bold"/>
              </a:rPr>
              <a:t>Carltona</a:t>
            </a:r>
            <a:r>
              <a:rPr lang="en-US" sz="1627" dirty="0">
                <a:solidFill>
                  <a:srgbClr val="FFFFFF"/>
                </a:solidFill>
                <a:latin typeface="Arial" panose="020B0604020202020204" pitchFamily="34" charset="0"/>
                <a:ea typeface="Arial Bold"/>
                <a:cs typeface="Arial" panose="020B0604020202020204" pitchFamily="34" charset="0"/>
                <a:sym typeface="Arial Bold"/>
              </a:rPr>
              <a:t>)</a:t>
            </a:r>
          </a:p>
          <a:p>
            <a:pPr marL="285750" marR="0" lvl="0" indent="-285750" algn="l" defTabSz="914400" rtl="0" eaLnBrk="1" fontAlgn="auto" latinLnBrk="0" hangingPunct="1">
              <a:lnSpc>
                <a:spcPct val="100000"/>
              </a:lnSpc>
              <a:spcBef>
                <a:spcPts val="0"/>
              </a:spcBef>
              <a:spcAft>
                <a:spcPts val="1200"/>
              </a:spcAft>
              <a:buClrTx/>
              <a:buSzTx/>
              <a:buFont typeface="Arial" panose="020B0604020202020204" pitchFamily="34" charset="0"/>
              <a:buChar char="•"/>
              <a:tabLst/>
              <a:defRPr/>
            </a:pPr>
            <a:r>
              <a:rPr lang="en-US" sz="1627" dirty="0" err="1">
                <a:solidFill>
                  <a:srgbClr val="FFFFFF"/>
                </a:solidFill>
                <a:latin typeface="Arial" panose="020B0604020202020204" pitchFamily="34" charset="0"/>
                <a:ea typeface="Arial Bold"/>
                <a:cs typeface="Arial" panose="020B0604020202020204" pitchFamily="34" charset="0"/>
                <a:sym typeface="Arial Bold"/>
              </a:rPr>
              <a:t>Carltona</a:t>
            </a:r>
            <a:r>
              <a:rPr lang="en-US" sz="1627" dirty="0">
                <a:solidFill>
                  <a:srgbClr val="FFFFFF"/>
                </a:solidFill>
                <a:latin typeface="Arial" panose="020B0604020202020204" pitchFamily="34" charset="0"/>
                <a:ea typeface="Arial Bold"/>
                <a:cs typeface="Arial" panose="020B0604020202020204" pitchFamily="34" charset="0"/>
                <a:sym typeface="Arial Bold"/>
              </a:rPr>
              <a:t> principle -  ‘equally persuasive . . to the head of any large govt department’ (such as Deputy Commissioner of Taxation, who typically oversees whole branch office in state or territory)</a:t>
            </a:r>
          </a:p>
          <a:p>
            <a:pPr marL="285750" marR="0" lvl="0" indent="-285750" algn="l" defTabSz="914400" rtl="0" eaLnBrk="1" fontAlgn="auto" latinLnBrk="0" hangingPunct="1">
              <a:lnSpc>
                <a:spcPct val="100000"/>
              </a:lnSpc>
              <a:spcBef>
                <a:spcPts val="0"/>
              </a:spcBef>
              <a:spcAft>
                <a:spcPts val="1200"/>
              </a:spcAft>
              <a:buClrTx/>
              <a:buSzTx/>
              <a:buFont typeface="Arial" panose="020B0604020202020204" pitchFamily="34" charset="0"/>
              <a:buChar char="•"/>
              <a:tabLst/>
              <a:defRPr/>
            </a:pPr>
            <a:r>
              <a:rPr lang="en-US" sz="1627" dirty="0">
                <a:solidFill>
                  <a:srgbClr val="FFFFFF"/>
                </a:solidFill>
                <a:latin typeface="Arial" panose="020B0604020202020204" pitchFamily="34" charset="0"/>
                <a:ea typeface="Arial Bold"/>
                <a:cs typeface="Arial" panose="020B0604020202020204" pitchFamily="34" charset="0"/>
                <a:sym typeface="Arial Bold"/>
              </a:rPr>
              <a:t>Commissioners, like Ministers, are given functions so ‘multifarious’ that they could not personally attend to them all. Practical administrative necessity may require a decision maker to act via an agent despite the existence of an express power to delegate. </a:t>
            </a:r>
          </a:p>
          <a:p>
            <a:pPr marL="285750" marR="0" lvl="0" indent="-285750" algn="l" defTabSz="914400" rtl="0" eaLnBrk="1" fontAlgn="auto" latinLnBrk="0" hangingPunct="1">
              <a:lnSpc>
                <a:spcPct val="100000"/>
              </a:lnSpc>
              <a:spcBef>
                <a:spcPts val="0"/>
              </a:spcBef>
              <a:spcAft>
                <a:spcPts val="1200"/>
              </a:spcAft>
              <a:buClrTx/>
              <a:buSzTx/>
              <a:buFont typeface="Arial" panose="020B0604020202020204" pitchFamily="34" charset="0"/>
              <a:buChar char="•"/>
              <a:tabLst/>
              <a:defRPr/>
            </a:pPr>
            <a:r>
              <a:rPr lang="en-US" sz="1627" dirty="0">
                <a:solidFill>
                  <a:srgbClr val="FFFFFF"/>
                </a:solidFill>
                <a:latin typeface="Arial" panose="020B0604020202020204" pitchFamily="34" charset="0"/>
                <a:ea typeface="Arial Bold"/>
                <a:cs typeface="Arial" panose="020B0604020202020204" pitchFamily="34" charset="0"/>
                <a:sym typeface="Arial Bold"/>
              </a:rPr>
              <a:t>NB Mason J dissent – should have delegated properly, because it was significant power over people’s rights.</a:t>
            </a:r>
          </a:p>
        </p:txBody>
      </p:sp>
      <p:sp>
        <p:nvSpPr>
          <p:cNvPr id="10" name="TextBox 10">
            <a:extLst>
              <a:ext uri="{FF2B5EF4-FFF2-40B4-BE49-F238E27FC236}">
                <a16:creationId xmlns:a16="http://schemas.microsoft.com/office/drawing/2014/main" id="{6F577E98-9829-87AA-0D24-07C18A28E808}"/>
              </a:ext>
            </a:extLst>
          </p:cNvPr>
          <p:cNvSpPr txBox="1"/>
          <p:nvPr/>
        </p:nvSpPr>
        <p:spPr>
          <a:xfrm>
            <a:off x="10195446" y="6347803"/>
            <a:ext cx="1773879" cy="193258"/>
          </a:xfrm>
          <a:prstGeom prst="rect">
            <a:avLst/>
          </a:prstGeom>
        </p:spPr>
        <p:txBody>
          <a:bodyPr lIns="0" tIns="0" rIns="0" bIns="0" rtlCol="0" anchor="t">
            <a:spAutoFit/>
          </a:bodyPr>
          <a:lstStyle/>
          <a:p>
            <a:pPr marL="0" marR="0" lvl="0" indent="0" algn="l" defTabSz="914400" rtl="0" eaLnBrk="1" fontAlgn="auto" latinLnBrk="0" hangingPunct="1">
              <a:lnSpc>
                <a:spcPts val="1422"/>
              </a:lnSpc>
              <a:spcBef>
                <a:spcPts val="0"/>
              </a:spcBef>
              <a:spcAft>
                <a:spcPts val="0"/>
              </a:spcAft>
              <a:buClrTx/>
              <a:buSzTx/>
              <a:buFontTx/>
              <a:buNone/>
              <a:tabLst/>
              <a:defRPr/>
            </a:pPr>
            <a:r>
              <a:rPr kumimoji="0" lang="en-US" sz="1016" b="0" i="0" u="none" strike="noStrike" kern="1200" cap="none" spc="0" normalizeH="0" baseline="0" noProof="0">
                <a:ln>
                  <a:noFill/>
                </a:ln>
                <a:solidFill>
                  <a:srgbClr val="FFFFFF"/>
                </a:solidFill>
                <a:effectLst/>
                <a:uLnTx/>
                <a:uFillTx/>
                <a:latin typeface="Arial"/>
                <a:ea typeface="Arial"/>
                <a:cs typeface="Arial"/>
                <a:sym typeface="Arial"/>
              </a:rPr>
              <a:t>Administrative Law –LAW1023</a:t>
            </a:r>
          </a:p>
        </p:txBody>
      </p:sp>
      <p:pic>
        <p:nvPicPr>
          <p:cNvPr id="4" name="Picture 3" descr="A person sitting at a desk with many hands holding papers&#10;&#10;AI-generated content may be incorrect.">
            <a:extLst>
              <a:ext uri="{FF2B5EF4-FFF2-40B4-BE49-F238E27FC236}">
                <a16:creationId xmlns:a16="http://schemas.microsoft.com/office/drawing/2014/main" id="{03BAA547-7CED-BB6A-C722-1AEB61B37084}"/>
              </a:ext>
            </a:extLst>
          </p:cNvPr>
          <p:cNvPicPr>
            <a:picLocks noChangeAspect="1"/>
          </p:cNvPicPr>
          <p:nvPr/>
        </p:nvPicPr>
        <p:blipFill>
          <a:blip r:embed="rId2"/>
          <a:stretch>
            <a:fillRect/>
          </a:stretch>
        </p:blipFill>
        <p:spPr>
          <a:xfrm>
            <a:off x="8675716" y="2078517"/>
            <a:ext cx="3124200" cy="3124200"/>
          </a:xfrm>
          <a:prstGeom prst="rect">
            <a:avLst/>
          </a:prstGeom>
        </p:spPr>
      </p:pic>
    </p:spTree>
    <p:extLst>
      <p:ext uri="{BB962C8B-B14F-4D97-AF65-F5344CB8AC3E}">
        <p14:creationId xmlns:p14="http://schemas.microsoft.com/office/powerpoint/2010/main" val="1543654652"/>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bg>
      <p:bgPr>
        <a:solidFill>
          <a:srgbClr val="000054"/>
        </a:solidFill>
        <a:effectLst/>
      </p:bgPr>
    </p:bg>
    <p:spTree>
      <p:nvGrpSpPr>
        <p:cNvPr id="1" name="">
          <a:extLst>
            <a:ext uri="{FF2B5EF4-FFF2-40B4-BE49-F238E27FC236}">
              <a16:creationId xmlns:a16="http://schemas.microsoft.com/office/drawing/2014/main" id="{B9FB8320-C05F-AC61-89B9-6543CC01F4D1}"/>
            </a:ext>
          </a:extLst>
        </p:cNvPr>
        <p:cNvGrpSpPr/>
        <p:nvPr/>
      </p:nvGrpSpPr>
      <p:grpSpPr>
        <a:xfrm>
          <a:off x="0" y="0"/>
          <a:ext cx="0" cy="0"/>
          <a:chOff x="0" y="0"/>
          <a:chExt cx="0" cy="0"/>
        </a:xfrm>
      </p:grpSpPr>
      <p:grpSp>
        <p:nvGrpSpPr>
          <p:cNvPr id="2" name="Group 2">
            <a:extLst>
              <a:ext uri="{FF2B5EF4-FFF2-40B4-BE49-F238E27FC236}">
                <a16:creationId xmlns:a16="http://schemas.microsoft.com/office/drawing/2014/main" id="{8ABBF8D3-A728-8A7A-26F6-F55586DC71CB}"/>
              </a:ext>
            </a:extLst>
          </p:cNvPr>
          <p:cNvGrpSpPr/>
          <p:nvPr/>
        </p:nvGrpSpPr>
        <p:grpSpPr>
          <a:xfrm rot="-10800000">
            <a:off x="11045567" y="-12700"/>
            <a:ext cx="1146433" cy="1146433"/>
            <a:chOff x="0" y="0"/>
            <a:chExt cx="1630482" cy="1630482"/>
          </a:xfrm>
        </p:grpSpPr>
        <p:sp>
          <p:nvSpPr>
            <p:cNvPr id="3" name="Freeform 3">
              <a:extLst>
                <a:ext uri="{FF2B5EF4-FFF2-40B4-BE49-F238E27FC236}">
                  <a16:creationId xmlns:a16="http://schemas.microsoft.com/office/drawing/2014/main" id="{40195C2D-B261-D1EF-CB5F-2619E46C096B}"/>
                </a:ext>
              </a:extLst>
            </p:cNvPr>
            <p:cNvSpPr/>
            <p:nvPr/>
          </p:nvSpPr>
          <p:spPr>
            <a:xfrm>
              <a:off x="0" y="0"/>
              <a:ext cx="1630426" cy="1630426"/>
            </a:xfrm>
            <a:custGeom>
              <a:avLst/>
              <a:gdLst/>
              <a:ahLst/>
              <a:cxnLst/>
              <a:rect l="l" t="t" r="r" b="b"/>
              <a:pathLst>
                <a:path w="1630426" h="1630426">
                  <a:moveTo>
                    <a:pt x="0" y="0"/>
                  </a:moveTo>
                  <a:lnTo>
                    <a:pt x="543433" y="0"/>
                  </a:lnTo>
                  <a:lnTo>
                    <a:pt x="543433" y="543433"/>
                  </a:lnTo>
                  <a:lnTo>
                    <a:pt x="1086993" y="543433"/>
                  </a:lnTo>
                  <a:lnTo>
                    <a:pt x="1086993" y="1086993"/>
                  </a:lnTo>
                  <a:lnTo>
                    <a:pt x="1630426" y="1086993"/>
                  </a:lnTo>
                  <a:lnTo>
                    <a:pt x="1630426" y="1630426"/>
                  </a:lnTo>
                  <a:lnTo>
                    <a:pt x="0" y="1630426"/>
                  </a:lnTo>
                  <a:lnTo>
                    <a:pt x="0" y="1086993"/>
                  </a:lnTo>
                  <a:lnTo>
                    <a:pt x="0" y="543433"/>
                  </a:lnTo>
                  <a:close/>
                </a:path>
              </a:pathLst>
            </a:custGeom>
            <a:solidFill>
              <a:srgbClr val="FFFFFF"/>
            </a:solid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AU" sz="1800" b="0" i="0" u="none" strike="noStrike" kern="1200" cap="none" spc="0" normalizeH="0" baseline="0" noProof="0">
                <a:ln>
                  <a:noFill/>
                </a:ln>
                <a:solidFill>
                  <a:prstClr val="black"/>
                </a:solidFill>
                <a:effectLst/>
                <a:uLnTx/>
                <a:uFillTx/>
                <a:latin typeface="Calibri"/>
                <a:ea typeface="+mn-ea"/>
                <a:cs typeface="+mn-cs"/>
              </a:endParaRPr>
            </a:p>
          </p:txBody>
        </p:sp>
      </p:grpSp>
      <p:sp>
        <p:nvSpPr>
          <p:cNvPr id="5" name="TextBox 5">
            <a:extLst>
              <a:ext uri="{FF2B5EF4-FFF2-40B4-BE49-F238E27FC236}">
                <a16:creationId xmlns:a16="http://schemas.microsoft.com/office/drawing/2014/main" id="{AAC1C0D7-3DE1-207D-EA24-C36394ECB781}"/>
              </a:ext>
            </a:extLst>
          </p:cNvPr>
          <p:cNvSpPr txBox="1"/>
          <p:nvPr/>
        </p:nvSpPr>
        <p:spPr>
          <a:xfrm>
            <a:off x="392084" y="560536"/>
            <a:ext cx="11190316" cy="409471"/>
          </a:xfrm>
          <a:prstGeom prst="rect">
            <a:avLst/>
          </a:prstGeom>
        </p:spPr>
        <p:txBody>
          <a:bodyPr wrap="square" lIns="0" tIns="0" rIns="0" bIns="0" rtlCol="0" anchor="t">
            <a:spAutoFit/>
          </a:bodyPr>
          <a:lstStyle/>
          <a:p>
            <a:pPr marL="0" marR="0" lvl="0" indent="0" algn="l" defTabSz="914400" rtl="0" eaLnBrk="1" fontAlgn="auto" latinLnBrk="0" hangingPunct="1">
              <a:lnSpc>
                <a:spcPts val="3494"/>
              </a:lnSpc>
              <a:spcBef>
                <a:spcPts val="0"/>
              </a:spcBef>
              <a:spcAft>
                <a:spcPts val="0"/>
              </a:spcAft>
              <a:buClrTx/>
              <a:buSzTx/>
              <a:buFontTx/>
              <a:buNone/>
              <a:tabLst/>
              <a:defRPr/>
            </a:pPr>
            <a:r>
              <a:rPr kumimoji="0" lang="en-US" sz="2496" b="1" u="none" strike="noStrike" kern="1200" cap="none" spc="0" normalizeH="0" baseline="0" noProof="0" dirty="0">
                <a:ln>
                  <a:noFill/>
                </a:ln>
                <a:solidFill>
                  <a:srgbClr val="FFFFFF"/>
                </a:solidFill>
                <a:effectLst/>
                <a:uLnTx/>
                <a:uFillTx/>
                <a:latin typeface="Arial Bold"/>
                <a:ea typeface="Arial Bold"/>
                <a:cs typeface="Arial Bold"/>
                <a:sym typeface="Arial Bold"/>
              </a:rPr>
              <a:t>Agency/alter ego – </a:t>
            </a:r>
            <a:r>
              <a:rPr kumimoji="0" lang="en-US" sz="2496" b="1" i="1" u="none" strike="noStrike" kern="1200" cap="none" spc="0" normalizeH="0" baseline="0" noProof="0" dirty="0">
                <a:ln>
                  <a:noFill/>
                </a:ln>
                <a:solidFill>
                  <a:srgbClr val="FFFFFF"/>
                </a:solidFill>
                <a:effectLst/>
                <a:uLnTx/>
                <a:uFillTx/>
                <a:latin typeface="Arial Bold"/>
                <a:ea typeface="Arial Bold"/>
                <a:cs typeface="Arial Bold"/>
                <a:sym typeface="Arial Bold"/>
              </a:rPr>
              <a:t>Northern Land Council v Quall </a:t>
            </a:r>
            <a:r>
              <a:rPr kumimoji="0" lang="en-US" sz="2496" b="1" u="none" strike="noStrike" kern="1200" cap="none" spc="0" normalizeH="0" baseline="0" noProof="0" dirty="0">
                <a:ln>
                  <a:noFill/>
                </a:ln>
                <a:solidFill>
                  <a:srgbClr val="FFFFFF"/>
                </a:solidFill>
                <a:effectLst/>
                <a:uLnTx/>
                <a:uFillTx/>
                <a:latin typeface="Arial Bold"/>
                <a:ea typeface="Arial Bold"/>
                <a:cs typeface="Arial Bold"/>
                <a:sym typeface="Arial Bold"/>
              </a:rPr>
              <a:t>- [2019] FCAFC 77</a:t>
            </a:r>
          </a:p>
        </p:txBody>
      </p:sp>
      <p:sp>
        <p:nvSpPr>
          <p:cNvPr id="9" name="TextBox 9">
            <a:extLst>
              <a:ext uri="{FF2B5EF4-FFF2-40B4-BE49-F238E27FC236}">
                <a16:creationId xmlns:a16="http://schemas.microsoft.com/office/drawing/2014/main" id="{C5DF4541-52C1-D77D-7700-12C1E0D635DF}"/>
              </a:ext>
            </a:extLst>
          </p:cNvPr>
          <p:cNvSpPr txBox="1"/>
          <p:nvPr/>
        </p:nvSpPr>
        <p:spPr>
          <a:xfrm>
            <a:off x="392084" y="1524000"/>
            <a:ext cx="6161116" cy="4121000"/>
          </a:xfrm>
          <a:prstGeom prst="rect">
            <a:avLst/>
          </a:prstGeom>
        </p:spPr>
        <p:txBody>
          <a:bodyPr wrap="square" lIns="0" tIns="0" rIns="0" bIns="0" rtlCol="0" anchor="t">
            <a:spAutoFit/>
          </a:bodyPr>
          <a:lstStyle/>
          <a:p>
            <a:pPr marL="285750" marR="0" lvl="0" indent="-285750" algn="l" defTabSz="914400" rtl="0" eaLnBrk="1" fontAlgn="auto" latinLnBrk="0" hangingPunct="1">
              <a:lnSpc>
                <a:spcPct val="100000"/>
              </a:lnSpc>
              <a:spcBef>
                <a:spcPts val="0"/>
              </a:spcBef>
              <a:spcAft>
                <a:spcPts val="1200"/>
              </a:spcAft>
              <a:buClrTx/>
              <a:buSzTx/>
              <a:buFont typeface="Arial" panose="020B0604020202020204" pitchFamily="34" charset="0"/>
              <a:buChar char="•"/>
              <a:tabLst/>
              <a:defRPr/>
            </a:pPr>
            <a:r>
              <a:rPr lang="en-US" sz="1627" dirty="0">
                <a:solidFill>
                  <a:srgbClr val="FFFFFF"/>
                </a:solidFill>
                <a:latin typeface="Arial" panose="020B0604020202020204" pitchFamily="34" charset="0"/>
                <a:ea typeface="Arial Bold"/>
                <a:cs typeface="Arial" panose="020B0604020202020204" pitchFamily="34" charset="0"/>
                <a:sym typeface="Arial Bold"/>
              </a:rPr>
              <a:t>Full Federal Court </a:t>
            </a:r>
          </a:p>
          <a:p>
            <a:pPr marL="285750" marR="0" lvl="0" indent="-285750" algn="l" defTabSz="914400" rtl="0" eaLnBrk="1" fontAlgn="auto" latinLnBrk="0" hangingPunct="1">
              <a:lnSpc>
                <a:spcPct val="100000"/>
              </a:lnSpc>
              <a:spcBef>
                <a:spcPts val="0"/>
              </a:spcBef>
              <a:spcAft>
                <a:spcPts val="1200"/>
              </a:spcAft>
              <a:buClrTx/>
              <a:buSzTx/>
              <a:buFont typeface="Arial" panose="020B0604020202020204" pitchFamily="34" charset="0"/>
              <a:buChar char="•"/>
              <a:tabLst/>
              <a:defRPr/>
            </a:pPr>
            <a:r>
              <a:rPr lang="en-US" sz="1627" dirty="0">
                <a:solidFill>
                  <a:srgbClr val="FFFFFF"/>
                </a:solidFill>
                <a:latin typeface="Arial" panose="020B0604020202020204" pitchFamily="34" charset="0"/>
                <a:ea typeface="Arial Bold"/>
                <a:cs typeface="Arial" panose="020B0604020202020204" pitchFamily="34" charset="0"/>
                <a:sym typeface="Arial Bold"/>
              </a:rPr>
              <a:t>Delegation versus agency (again cited </a:t>
            </a:r>
            <a:r>
              <a:rPr lang="en-US" sz="1627" dirty="0" err="1">
                <a:solidFill>
                  <a:srgbClr val="FFFFFF"/>
                </a:solidFill>
                <a:latin typeface="Arial" panose="020B0604020202020204" pitchFamily="34" charset="0"/>
                <a:ea typeface="Arial Bold"/>
                <a:cs typeface="Arial" panose="020B0604020202020204" pitchFamily="34" charset="0"/>
                <a:sym typeface="Arial Bold"/>
              </a:rPr>
              <a:t>Carltona</a:t>
            </a:r>
            <a:r>
              <a:rPr lang="en-US" sz="1627" dirty="0">
                <a:solidFill>
                  <a:srgbClr val="FFFFFF"/>
                </a:solidFill>
                <a:latin typeface="Arial" panose="020B0604020202020204" pitchFamily="34" charset="0"/>
                <a:ea typeface="Arial Bold"/>
                <a:cs typeface="Arial" panose="020B0604020202020204" pitchFamily="34" charset="0"/>
                <a:sym typeface="Arial Bold"/>
              </a:rPr>
              <a:t> – see para 54)</a:t>
            </a:r>
          </a:p>
          <a:p>
            <a:pPr marL="285750" marR="0" lvl="0" indent="-285750" algn="l" defTabSz="914400" rtl="0" eaLnBrk="1" fontAlgn="auto" latinLnBrk="0" hangingPunct="1">
              <a:lnSpc>
                <a:spcPct val="100000"/>
              </a:lnSpc>
              <a:spcBef>
                <a:spcPts val="0"/>
              </a:spcBef>
              <a:spcAft>
                <a:spcPts val="1200"/>
              </a:spcAft>
              <a:buClrTx/>
              <a:buSzTx/>
              <a:buFont typeface="Arial" panose="020B0604020202020204" pitchFamily="34" charset="0"/>
              <a:buChar char="•"/>
              <a:tabLst/>
              <a:defRPr/>
            </a:pPr>
            <a:r>
              <a:rPr lang="en-US" sz="1627" dirty="0">
                <a:solidFill>
                  <a:srgbClr val="FFFFFF"/>
                </a:solidFill>
                <a:latin typeface="Arial" panose="020B0604020202020204" pitchFamily="34" charset="0"/>
                <a:ea typeface="Arial Bold"/>
                <a:cs typeface="Arial" panose="020B0604020202020204" pitchFamily="34" charset="0"/>
                <a:sym typeface="Arial Bold"/>
              </a:rPr>
              <a:t>Question was whether the NLC (created under the Native Title Act 1993 (</a:t>
            </a:r>
            <a:r>
              <a:rPr lang="en-US" sz="1627" dirty="0" err="1">
                <a:solidFill>
                  <a:srgbClr val="FFFFFF"/>
                </a:solidFill>
                <a:latin typeface="Arial" panose="020B0604020202020204" pitchFamily="34" charset="0"/>
                <a:ea typeface="Arial Bold"/>
                <a:cs typeface="Arial" panose="020B0604020202020204" pitchFamily="34" charset="0"/>
                <a:sym typeface="Arial Bold"/>
              </a:rPr>
              <a:t>Cth</a:t>
            </a:r>
            <a:r>
              <a:rPr lang="en-US" sz="1627" dirty="0">
                <a:solidFill>
                  <a:srgbClr val="FFFFFF"/>
                </a:solidFill>
                <a:latin typeface="Arial" panose="020B0604020202020204" pitchFamily="34" charset="0"/>
                <a:ea typeface="Arial Bold"/>
                <a:cs typeface="Arial" panose="020B0604020202020204" pitchFamily="34" charset="0"/>
                <a:sym typeface="Arial Bold"/>
              </a:rPr>
              <a:t>)) could delegate its power to certify Indigenous Land Use Agreements (NNTT explainer)</a:t>
            </a:r>
          </a:p>
          <a:p>
            <a:pPr marL="285750" marR="0" lvl="0" indent="-285750" algn="l" defTabSz="914400" rtl="0" eaLnBrk="1" fontAlgn="auto" latinLnBrk="0" hangingPunct="1">
              <a:lnSpc>
                <a:spcPct val="100000"/>
              </a:lnSpc>
              <a:spcBef>
                <a:spcPts val="0"/>
              </a:spcBef>
              <a:spcAft>
                <a:spcPts val="1200"/>
              </a:spcAft>
              <a:buClrTx/>
              <a:buSzTx/>
              <a:buFont typeface="Arial" panose="020B0604020202020204" pitchFamily="34" charset="0"/>
              <a:buChar char="•"/>
              <a:tabLst/>
              <a:defRPr/>
            </a:pPr>
            <a:r>
              <a:rPr lang="en-US" sz="1627" dirty="0">
                <a:solidFill>
                  <a:srgbClr val="FFFFFF"/>
                </a:solidFill>
                <a:latin typeface="Arial" panose="020B0604020202020204" pitchFamily="34" charset="0"/>
                <a:ea typeface="Arial Bold"/>
                <a:cs typeface="Arial" panose="020B0604020202020204" pitchFamily="34" charset="0"/>
                <a:sym typeface="Arial Bold"/>
              </a:rPr>
              <a:t>Considering the importance of the NLC’s duty to promote and protect the interests of the Indigenous communities it represents, Court said this power should not be delegable.</a:t>
            </a:r>
          </a:p>
          <a:p>
            <a:pPr marL="285750" marR="0" lvl="0" indent="-285750" algn="l" defTabSz="914400" rtl="0" eaLnBrk="1" fontAlgn="auto" latinLnBrk="0" hangingPunct="1">
              <a:lnSpc>
                <a:spcPct val="100000"/>
              </a:lnSpc>
              <a:spcBef>
                <a:spcPts val="0"/>
              </a:spcBef>
              <a:spcAft>
                <a:spcPts val="1200"/>
              </a:spcAft>
              <a:buClrTx/>
              <a:buSzTx/>
              <a:buFont typeface="Arial" panose="020B0604020202020204" pitchFamily="34" charset="0"/>
              <a:buChar char="•"/>
              <a:tabLst/>
              <a:defRPr/>
            </a:pPr>
            <a:r>
              <a:rPr lang="en-US" sz="1627" dirty="0">
                <a:solidFill>
                  <a:srgbClr val="FFFFFF"/>
                </a:solidFill>
                <a:latin typeface="Arial" panose="020B0604020202020204" pitchFamily="34" charset="0"/>
                <a:ea typeface="Arial Bold"/>
                <a:cs typeface="Arial" panose="020B0604020202020204" pitchFamily="34" charset="0"/>
                <a:sym typeface="Arial Bold"/>
              </a:rPr>
              <a:t>s203BK of </a:t>
            </a:r>
            <a:r>
              <a:rPr lang="en-US" sz="1627" i="1" dirty="0">
                <a:solidFill>
                  <a:srgbClr val="FFFFFF"/>
                </a:solidFill>
                <a:latin typeface="Arial" panose="020B0604020202020204" pitchFamily="34" charset="0"/>
                <a:ea typeface="Arial Bold"/>
                <a:cs typeface="Arial" panose="020B0604020202020204" pitchFamily="34" charset="0"/>
                <a:sym typeface="Arial Bold"/>
              </a:rPr>
              <a:t>Native Title Act </a:t>
            </a:r>
            <a:r>
              <a:rPr lang="en-US" sz="1627" dirty="0">
                <a:solidFill>
                  <a:srgbClr val="FFFFFF"/>
                </a:solidFill>
                <a:latin typeface="Arial" panose="020B0604020202020204" pitchFamily="34" charset="0"/>
                <a:ea typeface="Arial Bold"/>
                <a:cs typeface="Arial" panose="020B0604020202020204" pitchFamily="34" charset="0"/>
                <a:sym typeface="Arial Bold"/>
              </a:rPr>
              <a:t>has ‘necessary and convenient’ clause – Court carefully examined purposes and context of Act, applied Shanahan, and concluded that the section allowed the NLC to come to certain mutual arrangements with others, but not to delegate its powers unilaterally – </a:t>
            </a:r>
            <a:r>
              <a:rPr lang="en-US" sz="1627" dirty="0" err="1">
                <a:solidFill>
                  <a:srgbClr val="FFFFFF"/>
                </a:solidFill>
                <a:latin typeface="Arial" panose="020B0604020202020204" pitchFamily="34" charset="0"/>
                <a:ea typeface="Arial Bold"/>
                <a:cs typeface="Arial" panose="020B0604020202020204" pitchFamily="34" charset="0"/>
                <a:sym typeface="Arial Bold"/>
              </a:rPr>
              <a:t>ie</a:t>
            </a:r>
            <a:r>
              <a:rPr lang="en-US" sz="1627" dirty="0">
                <a:solidFill>
                  <a:srgbClr val="FFFFFF"/>
                </a:solidFill>
                <a:latin typeface="Arial" panose="020B0604020202020204" pitchFamily="34" charset="0"/>
                <a:ea typeface="Arial Bold"/>
                <a:cs typeface="Arial" panose="020B0604020202020204" pitchFamily="34" charset="0"/>
                <a:sym typeface="Arial Bold"/>
              </a:rPr>
              <a:t> ‘outsource’ one of its key functions (see para 136).</a:t>
            </a:r>
          </a:p>
        </p:txBody>
      </p:sp>
      <p:sp>
        <p:nvSpPr>
          <p:cNvPr id="10" name="TextBox 10">
            <a:extLst>
              <a:ext uri="{FF2B5EF4-FFF2-40B4-BE49-F238E27FC236}">
                <a16:creationId xmlns:a16="http://schemas.microsoft.com/office/drawing/2014/main" id="{DA65BD05-B929-171F-E592-BA0A50A64E7F}"/>
              </a:ext>
            </a:extLst>
          </p:cNvPr>
          <p:cNvSpPr txBox="1"/>
          <p:nvPr/>
        </p:nvSpPr>
        <p:spPr>
          <a:xfrm>
            <a:off x="10195446" y="6347803"/>
            <a:ext cx="1773879" cy="193258"/>
          </a:xfrm>
          <a:prstGeom prst="rect">
            <a:avLst/>
          </a:prstGeom>
        </p:spPr>
        <p:txBody>
          <a:bodyPr lIns="0" tIns="0" rIns="0" bIns="0" rtlCol="0" anchor="t">
            <a:spAutoFit/>
          </a:bodyPr>
          <a:lstStyle/>
          <a:p>
            <a:pPr marL="0" marR="0" lvl="0" indent="0" algn="l" defTabSz="914400" rtl="0" eaLnBrk="1" fontAlgn="auto" latinLnBrk="0" hangingPunct="1">
              <a:lnSpc>
                <a:spcPts val="1422"/>
              </a:lnSpc>
              <a:spcBef>
                <a:spcPts val="0"/>
              </a:spcBef>
              <a:spcAft>
                <a:spcPts val="0"/>
              </a:spcAft>
              <a:buClrTx/>
              <a:buSzTx/>
              <a:buFontTx/>
              <a:buNone/>
              <a:tabLst/>
              <a:defRPr/>
            </a:pPr>
            <a:r>
              <a:rPr kumimoji="0" lang="en-US" sz="1016" b="0" i="0" u="none" strike="noStrike" kern="1200" cap="none" spc="0" normalizeH="0" baseline="0" noProof="0">
                <a:ln>
                  <a:noFill/>
                </a:ln>
                <a:solidFill>
                  <a:srgbClr val="FFFFFF"/>
                </a:solidFill>
                <a:effectLst/>
                <a:uLnTx/>
                <a:uFillTx/>
                <a:latin typeface="Arial"/>
                <a:ea typeface="Arial"/>
                <a:cs typeface="Arial"/>
                <a:sym typeface="Arial"/>
              </a:rPr>
              <a:t>Administrative Law –LAW1023</a:t>
            </a:r>
          </a:p>
        </p:txBody>
      </p:sp>
      <p:pic>
        <p:nvPicPr>
          <p:cNvPr id="6" name="Picture 5">
            <a:extLst>
              <a:ext uri="{FF2B5EF4-FFF2-40B4-BE49-F238E27FC236}">
                <a16:creationId xmlns:a16="http://schemas.microsoft.com/office/drawing/2014/main" id="{BE9AB97A-B3D5-2FE7-6A65-682A97455D99}"/>
              </a:ext>
            </a:extLst>
          </p:cNvPr>
          <p:cNvPicPr>
            <a:picLocks noChangeAspect="1"/>
          </p:cNvPicPr>
          <p:nvPr/>
        </p:nvPicPr>
        <p:blipFill>
          <a:blip r:embed="rId2"/>
          <a:srcRect l="695" t="16531" r="2083" b="9827"/>
          <a:stretch/>
        </p:blipFill>
        <p:spPr>
          <a:xfrm>
            <a:off x="6918607" y="1981200"/>
            <a:ext cx="4853877" cy="2297877"/>
          </a:xfrm>
          <a:prstGeom prst="rect">
            <a:avLst/>
          </a:prstGeom>
        </p:spPr>
      </p:pic>
    </p:spTree>
    <p:extLst>
      <p:ext uri="{BB962C8B-B14F-4D97-AF65-F5344CB8AC3E}">
        <p14:creationId xmlns:p14="http://schemas.microsoft.com/office/powerpoint/2010/main" val="739923143"/>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bg>
      <p:bgPr>
        <a:solidFill>
          <a:srgbClr val="000054"/>
        </a:solidFill>
        <a:effectLst/>
      </p:bgPr>
    </p:bg>
    <p:spTree>
      <p:nvGrpSpPr>
        <p:cNvPr id="1" name="">
          <a:extLst>
            <a:ext uri="{FF2B5EF4-FFF2-40B4-BE49-F238E27FC236}">
              <a16:creationId xmlns:a16="http://schemas.microsoft.com/office/drawing/2014/main" id="{7A7614B1-350E-328D-0A1C-C48189760F31}"/>
            </a:ext>
          </a:extLst>
        </p:cNvPr>
        <p:cNvGrpSpPr/>
        <p:nvPr/>
      </p:nvGrpSpPr>
      <p:grpSpPr>
        <a:xfrm>
          <a:off x="0" y="0"/>
          <a:ext cx="0" cy="0"/>
          <a:chOff x="0" y="0"/>
          <a:chExt cx="0" cy="0"/>
        </a:xfrm>
      </p:grpSpPr>
      <p:grpSp>
        <p:nvGrpSpPr>
          <p:cNvPr id="2" name="Group 2">
            <a:extLst>
              <a:ext uri="{FF2B5EF4-FFF2-40B4-BE49-F238E27FC236}">
                <a16:creationId xmlns:a16="http://schemas.microsoft.com/office/drawing/2014/main" id="{7B18B3DA-95FB-5F38-6725-060E1E293755}"/>
              </a:ext>
            </a:extLst>
          </p:cNvPr>
          <p:cNvGrpSpPr/>
          <p:nvPr/>
        </p:nvGrpSpPr>
        <p:grpSpPr>
          <a:xfrm rot="-10800000">
            <a:off x="11045567" y="-12700"/>
            <a:ext cx="1146433" cy="1146433"/>
            <a:chOff x="0" y="0"/>
            <a:chExt cx="1630482" cy="1630482"/>
          </a:xfrm>
        </p:grpSpPr>
        <p:sp>
          <p:nvSpPr>
            <p:cNvPr id="3" name="Freeform 3">
              <a:extLst>
                <a:ext uri="{FF2B5EF4-FFF2-40B4-BE49-F238E27FC236}">
                  <a16:creationId xmlns:a16="http://schemas.microsoft.com/office/drawing/2014/main" id="{323734EA-8FAE-679A-23A5-C660710BA1CF}"/>
                </a:ext>
              </a:extLst>
            </p:cNvPr>
            <p:cNvSpPr/>
            <p:nvPr/>
          </p:nvSpPr>
          <p:spPr>
            <a:xfrm>
              <a:off x="0" y="0"/>
              <a:ext cx="1630426" cy="1630426"/>
            </a:xfrm>
            <a:custGeom>
              <a:avLst/>
              <a:gdLst/>
              <a:ahLst/>
              <a:cxnLst/>
              <a:rect l="l" t="t" r="r" b="b"/>
              <a:pathLst>
                <a:path w="1630426" h="1630426">
                  <a:moveTo>
                    <a:pt x="0" y="0"/>
                  </a:moveTo>
                  <a:lnTo>
                    <a:pt x="543433" y="0"/>
                  </a:lnTo>
                  <a:lnTo>
                    <a:pt x="543433" y="543433"/>
                  </a:lnTo>
                  <a:lnTo>
                    <a:pt x="1086993" y="543433"/>
                  </a:lnTo>
                  <a:lnTo>
                    <a:pt x="1086993" y="1086993"/>
                  </a:lnTo>
                  <a:lnTo>
                    <a:pt x="1630426" y="1086993"/>
                  </a:lnTo>
                  <a:lnTo>
                    <a:pt x="1630426" y="1630426"/>
                  </a:lnTo>
                  <a:lnTo>
                    <a:pt x="0" y="1630426"/>
                  </a:lnTo>
                  <a:lnTo>
                    <a:pt x="0" y="1086993"/>
                  </a:lnTo>
                  <a:lnTo>
                    <a:pt x="0" y="543433"/>
                  </a:lnTo>
                  <a:close/>
                </a:path>
              </a:pathLst>
            </a:custGeom>
            <a:solidFill>
              <a:srgbClr val="FFFFFF"/>
            </a:solid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AU" sz="1800" b="0" i="0" u="none" strike="noStrike" kern="1200" cap="none" spc="0" normalizeH="0" baseline="0" noProof="0">
                <a:ln>
                  <a:noFill/>
                </a:ln>
                <a:solidFill>
                  <a:prstClr val="black"/>
                </a:solidFill>
                <a:effectLst/>
                <a:uLnTx/>
                <a:uFillTx/>
                <a:latin typeface="Calibri"/>
                <a:ea typeface="+mn-ea"/>
                <a:cs typeface="+mn-cs"/>
              </a:endParaRPr>
            </a:p>
          </p:txBody>
        </p:sp>
      </p:grpSp>
      <p:sp>
        <p:nvSpPr>
          <p:cNvPr id="5" name="TextBox 5">
            <a:extLst>
              <a:ext uri="{FF2B5EF4-FFF2-40B4-BE49-F238E27FC236}">
                <a16:creationId xmlns:a16="http://schemas.microsoft.com/office/drawing/2014/main" id="{EAF246B7-7D27-468D-C434-22CFC400A164}"/>
              </a:ext>
            </a:extLst>
          </p:cNvPr>
          <p:cNvSpPr txBox="1"/>
          <p:nvPr/>
        </p:nvSpPr>
        <p:spPr>
          <a:xfrm>
            <a:off x="392084" y="560536"/>
            <a:ext cx="11190316" cy="409471"/>
          </a:xfrm>
          <a:prstGeom prst="rect">
            <a:avLst/>
          </a:prstGeom>
        </p:spPr>
        <p:txBody>
          <a:bodyPr wrap="square" lIns="0" tIns="0" rIns="0" bIns="0" rtlCol="0" anchor="t">
            <a:spAutoFit/>
          </a:bodyPr>
          <a:lstStyle/>
          <a:p>
            <a:pPr marL="0" marR="0" lvl="0" indent="0" algn="l" defTabSz="914400" rtl="0" eaLnBrk="1" fontAlgn="auto" latinLnBrk="0" hangingPunct="1">
              <a:lnSpc>
                <a:spcPts val="3494"/>
              </a:lnSpc>
              <a:spcBef>
                <a:spcPts val="0"/>
              </a:spcBef>
              <a:spcAft>
                <a:spcPts val="0"/>
              </a:spcAft>
              <a:buClrTx/>
              <a:buSzTx/>
              <a:buFontTx/>
              <a:buNone/>
              <a:tabLst/>
              <a:defRPr/>
            </a:pPr>
            <a:r>
              <a:rPr kumimoji="0" lang="en-US" sz="2496" b="1" u="none" strike="noStrike" kern="1200" cap="none" spc="0" normalizeH="0" baseline="0" noProof="0" dirty="0">
                <a:ln>
                  <a:noFill/>
                </a:ln>
                <a:solidFill>
                  <a:srgbClr val="FFFFFF"/>
                </a:solidFill>
                <a:effectLst/>
                <a:uLnTx/>
                <a:uFillTx/>
                <a:latin typeface="Arial Bold"/>
                <a:ea typeface="Arial Bold"/>
                <a:cs typeface="Arial Bold"/>
                <a:sym typeface="Arial Bold"/>
              </a:rPr>
              <a:t>Questions re Delegation and  Agency</a:t>
            </a:r>
          </a:p>
        </p:txBody>
      </p:sp>
      <p:sp>
        <p:nvSpPr>
          <p:cNvPr id="9" name="TextBox 9">
            <a:extLst>
              <a:ext uri="{FF2B5EF4-FFF2-40B4-BE49-F238E27FC236}">
                <a16:creationId xmlns:a16="http://schemas.microsoft.com/office/drawing/2014/main" id="{0662DEBE-BDC6-956A-A3BF-69C8922ACE7D}"/>
              </a:ext>
            </a:extLst>
          </p:cNvPr>
          <p:cNvSpPr txBox="1"/>
          <p:nvPr/>
        </p:nvSpPr>
        <p:spPr>
          <a:xfrm>
            <a:off x="392084" y="1524000"/>
            <a:ext cx="8980516" cy="3080330"/>
          </a:xfrm>
          <a:prstGeom prst="rect">
            <a:avLst/>
          </a:prstGeom>
        </p:spPr>
        <p:txBody>
          <a:bodyPr wrap="square" lIns="0" tIns="0" rIns="0" bIns="0" rtlCol="0" anchor="t">
            <a:spAutoFit/>
          </a:bodyPr>
          <a:lstStyle/>
          <a:p>
            <a:pPr marL="285750" marR="0" lvl="0" indent="-285750" algn="l" defTabSz="914400" rtl="0" eaLnBrk="1" fontAlgn="auto" latinLnBrk="0" hangingPunct="1">
              <a:lnSpc>
                <a:spcPct val="100000"/>
              </a:lnSpc>
              <a:spcBef>
                <a:spcPts val="0"/>
              </a:spcBef>
              <a:spcAft>
                <a:spcPts val="1200"/>
              </a:spcAft>
              <a:buClrTx/>
              <a:buSzTx/>
              <a:buFont typeface="Arial" panose="020B0604020202020204" pitchFamily="34" charset="0"/>
              <a:buChar char="•"/>
              <a:tabLst/>
              <a:defRPr/>
            </a:pPr>
            <a:r>
              <a:rPr lang="en-US" sz="1627" b="1" dirty="0">
                <a:solidFill>
                  <a:srgbClr val="FFFFFF"/>
                </a:solidFill>
                <a:latin typeface="Arial" panose="020B0604020202020204" pitchFamily="34" charset="0"/>
                <a:ea typeface="Arial Bold"/>
                <a:cs typeface="Arial" panose="020B0604020202020204" pitchFamily="34" charset="0"/>
                <a:sym typeface="Arial Bold"/>
              </a:rPr>
              <a:t>If someone is a delegate, can they also be an agent?</a:t>
            </a:r>
          </a:p>
          <a:p>
            <a:pPr marL="285750" marR="0" lvl="0" indent="-285750" algn="l" defTabSz="914400" rtl="0" eaLnBrk="1" fontAlgn="auto" latinLnBrk="0" hangingPunct="1">
              <a:lnSpc>
                <a:spcPct val="100000"/>
              </a:lnSpc>
              <a:spcBef>
                <a:spcPts val="0"/>
              </a:spcBef>
              <a:spcAft>
                <a:spcPts val="1200"/>
              </a:spcAft>
              <a:buClrTx/>
              <a:buSzTx/>
              <a:buFont typeface="Arial" panose="020B0604020202020204" pitchFamily="34" charset="0"/>
              <a:buChar char="•"/>
              <a:tabLst/>
              <a:defRPr/>
            </a:pPr>
            <a:r>
              <a:rPr lang="en-US" sz="1627" dirty="0">
                <a:solidFill>
                  <a:srgbClr val="FFFFFF"/>
                </a:solidFill>
                <a:latin typeface="Arial" panose="020B0604020202020204" pitchFamily="34" charset="0"/>
                <a:ea typeface="Arial Bold"/>
                <a:cs typeface="Arial" panose="020B0604020202020204" pitchFamily="34" charset="0"/>
                <a:sym typeface="Arial Bold"/>
              </a:rPr>
              <a:t>Re Reference under Ombudsman Act s11 (1979) 2 ALD 86</a:t>
            </a:r>
          </a:p>
          <a:p>
            <a:pPr marL="285750" marR="0" lvl="0" indent="-285750" algn="l" defTabSz="914400" rtl="0" eaLnBrk="1" fontAlgn="auto" latinLnBrk="0" hangingPunct="1">
              <a:lnSpc>
                <a:spcPct val="100000"/>
              </a:lnSpc>
              <a:spcBef>
                <a:spcPts val="0"/>
              </a:spcBef>
              <a:spcAft>
                <a:spcPts val="1200"/>
              </a:spcAft>
              <a:buClrTx/>
              <a:buSzTx/>
              <a:buFont typeface="Arial" panose="020B0604020202020204" pitchFamily="34" charset="0"/>
              <a:buChar char="•"/>
              <a:tabLst/>
              <a:defRPr/>
            </a:pPr>
            <a:endParaRPr lang="en-US" sz="1627" dirty="0">
              <a:solidFill>
                <a:srgbClr val="FFFFFF"/>
              </a:solidFill>
              <a:latin typeface="Arial" panose="020B0604020202020204" pitchFamily="34" charset="0"/>
              <a:ea typeface="Arial Bold"/>
              <a:cs typeface="Arial" panose="020B0604020202020204" pitchFamily="34" charset="0"/>
              <a:sym typeface="Arial Bold"/>
            </a:endParaRPr>
          </a:p>
          <a:p>
            <a:pPr marL="285750" marR="0" lvl="0" indent="-285750" algn="l" defTabSz="914400" rtl="0" eaLnBrk="1" fontAlgn="auto" latinLnBrk="0" hangingPunct="1">
              <a:lnSpc>
                <a:spcPct val="100000"/>
              </a:lnSpc>
              <a:spcBef>
                <a:spcPts val="0"/>
              </a:spcBef>
              <a:spcAft>
                <a:spcPts val="1200"/>
              </a:spcAft>
              <a:buClrTx/>
              <a:buSzTx/>
              <a:buFont typeface="Arial" panose="020B0604020202020204" pitchFamily="34" charset="0"/>
              <a:buChar char="•"/>
              <a:tabLst/>
              <a:defRPr/>
            </a:pPr>
            <a:r>
              <a:rPr lang="en-US" sz="1627" b="1" dirty="0">
                <a:solidFill>
                  <a:srgbClr val="FFFFFF"/>
                </a:solidFill>
                <a:latin typeface="Arial" panose="020B0604020202020204" pitchFamily="34" charset="0"/>
                <a:ea typeface="Arial Bold"/>
                <a:cs typeface="Arial" panose="020B0604020202020204" pitchFamily="34" charset="0"/>
                <a:sym typeface="Arial Bold"/>
              </a:rPr>
              <a:t>Can a delegate appoint an agent?</a:t>
            </a:r>
          </a:p>
          <a:p>
            <a:pPr marL="285750" marR="0" lvl="0" indent="-285750" algn="l" defTabSz="914400" rtl="0" eaLnBrk="1" fontAlgn="auto" latinLnBrk="0" hangingPunct="1">
              <a:lnSpc>
                <a:spcPct val="100000"/>
              </a:lnSpc>
              <a:spcBef>
                <a:spcPts val="0"/>
              </a:spcBef>
              <a:spcAft>
                <a:spcPts val="1200"/>
              </a:spcAft>
              <a:buClrTx/>
              <a:buSzTx/>
              <a:buFont typeface="Arial" panose="020B0604020202020204" pitchFamily="34" charset="0"/>
              <a:buChar char="•"/>
              <a:tabLst/>
              <a:defRPr/>
            </a:pPr>
            <a:r>
              <a:rPr lang="en-US" sz="1627" dirty="0">
                <a:solidFill>
                  <a:srgbClr val="FFFFFF"/>
                </a:solidFill>
                <a:latin typeface="Arial" panose="020B0604020202020204" pitchFamily="34" charset="0"/>
                <a:ea typeface="Arial Bold"/>
                <a:cs typeface="Arial" panose="020B0604020202020204" pitchFamily="34" charset="0"/>
                <a:sym typeface="Arial Bold"/>
              </a:rPr>
              <a:t>O’Reilly v State Bank of Victoria (1983) 153 CLR 1</a:t>
            </a:r>
          </a:p>
          <a:p>
            <a:pPr marL="285750" marR="0" lvl="0" indent="-285750" algn="l" defTabSz="914400" rtl="0" eaLnBrk="1" fontAlgn="auto" latinLnBrk="0" hangingPunct="1">
              <a:lnSpc>
                <a:spcPct val="100000"/>
              </a:lnSpc>
              <a:spcBef>
                <a:spcPts val="0"/>
              </a:spcBef>
              <a:spcAft>
                <a:spcPts val="1200"/>
              </a:spcAft>
              <a:buClrTx/>
              <a:buSzTx/>
              <a:buFont typeface="Arial" panose="020B0604020202020204" pitchFamily="34" charset="0"/>
              <a:buChar char="•"/>
              <a:tabLst/>
              <a:defRPr/>
            </a:pPr>
            <a:endParaRPr lang="en-US" sz="1627" dirty="0">
              <a:solidFill>
                <a:srgbClr val="FFFFFF"/>
              </a:solidFill>
              <a:latin typeface="Arial" panose="020B0604020202020204" pitchFamily="34" charset="0"/>
              <a:ea typeface="Arial Bold"/>
              <a:cs typeface="Arial" panose="020B0604020202020204" pitchFamily="34" charset="0"/>
              <a:sym typeface="Arial Bold"/>
            </a:endParaRPr>
          </a:p>
          <a:p>
            <a:pPr marL="285750" marR="0" lvl="0" indent="-285750" algn="l" defTabSz="914400" rtl="0" eaLnBrk="1" fontAlgn="auto" latinLnBrk="0" hangingPunct="1">
              <a:lnSpc>
                <a:spcPct val="100000"/>
              </a:lnSpc>
              <a:spcBef>
                <a:spcPts val="0"/>
              </a:spcBef>
              <a:spcAft>
                <a:spcPts val="1200"/>
              </a:spcAft>
              <a:buClrTx/>
              <a:buSzTx/>
              <a:buFont typeface="Arial" panose="020B0604020202020204" pitchFamily="34" charset="0"/>
              <a:buChar char="•"/>
              <a:tabLst/>
              <a:defRPr/>
            </a:pPr>
            <a:r>
              <a:rPr lang="en-US" sz="1627" b="1" dirty="0">
                <a:solidFill>
                  <a:srgbClr val="FFFFFF"/>
                </a:solidFill>
                <a:latin typeface="Arial" panose="020B0604020202020204" pitchFamily="34" charset="0"/>
                <a:ea typeface="Arial Bold"/>
                <a:cs typeface="Arial" panose="020B0604020202020204" pitchFamily="34" charset="0"/>
                <a:sym typeface="Arial Bold"/>
              </a:rPr>
              <a:t>Can an agent appoint an agent?</a:t>
            </a:r>
          </a:p>
          <a:p>
            <a:pPr marL="285750" marR="0" lvl="0" indent="-285750" algn="l" defTabSz="914400" rtl="0" eaLnBrk="1" fontAlgn="auto" latinLnBrk="0" hangingPunct="1">
              <a:lnSpc>
                <a:spcPct val="100000"/>
              </a:lnSpc>
              <a:spcBef>
                <a:spcPts val="0"/>
              </a:spcBef>
              <a:spcAft>
                <a:spcPts val="1200"/>
              </a:spcAft>
              <a:buClrTx/>
              <a:buSzTx/>
              <a:buFont typeface="Arial" panose="020B0604020202020204" pitchFamily="34" charset="0"/>
              <a:buChar char="•"/>
              <a:tabLst/>
              <a:defRPr/>
            </a:pPr>
            <a:r>
              <a:rPr lang="en-US" sz="1627" dirty="0">
                <a:solidFill>
                  <a:srgbClr val="FFFFFF"/>
                </a:solidFill>
                <a:latin typeface="Arial" panose="020B0604020202020204" pitchFamily="34" charset="0"/>
                <a:ea typeface="Arial Bold"/>
                <a:cs typeface="Arial" panose="020B0604020202020204" pitchFamily="34" charset="0"/>
                <a:sym typeface="Arial Bold"/>
              </a:rPr>
              <a:t>Pattenden v Commissioner of Taxation (2008) 175 FCR 1</a:t>
            </a:r>
          </a:p>
        </p:txBody>
      </p:sp>
      <p:sp>
        <p:nvSpPr>
          <p:cNvPr id="10" name="TextBox 10">
            <a:extLst>
              <a:ext uri="{FF2B5EF4-FFF2-40B4-BE49-F238E27FC236}">
                <a16:creationId xmlns:a16="http://schemas.microsoft.com/office/drawing/2014/main" id="{48BB2996-173E-47D2-7B37-0F92F0EBCDBE}"/>
              </a:ext>
            </a:extLst>
          </p:cNvPr>
          <p:cNvSpPr txBox="1"/>
          <p:nvPr/>
        </p:nvSpPr>
        <p:spPr>
          <a:xfrm>
            <a:off x="10195446" y="6347803"/>
            <a:ext cx="1773879" cy="193258"/>
          </a:xfrm>
          <a:prstGeom prst="rect">
            <a:avLst/>
          </a:prstGeom>
        </p:spPr>
        <p:txBody>
          <a:bodyPr lIns="0" tIns="0" rIns="0" bIns="0" rtlCol="0" anchor="t">
            <a:spAutoFit/>
          </a:bodyPr>
          <a:lstStyle/>
          <a:p>
            <a:pPr marL="0" marR="0" lvl="0" indent="0" algn="l" defTabSz="914400" rtl="0" eaLnBrk="1" fontAlgn="auto" latinLnBrk="0" hangingPunct="1">
              <a:lnSpc>
                <a:spcPts val="1422"/>
              </a:lnSpc>
              <a:spcBef>
                <a:spcPts val="0"/>
              </a:spcBef>
              <a:spcAft>
                <a:spcPts val="0"/>
              </a:spcAft>
              <a:buClrTx/>
              <a:buSzTx/>
              <a:buFontTx/>
              <a:buNone/>
              <a:tabLst/>
              <a:defRPr/>
            </a:pPr>
            <a:r>
              <a:rPr kumimoji="0" lang="en-US" sz="1016" b="0" i="0" u="none" strike="noStrike" kern="1200" cap="none" spc="0" normalizeH="0" baseline="0" noProof="0">
                <a:ln>
                  <a:noFill/>
                </a:ln>
                <a:solidFill>
                  <a:srgbClr val="FFFFFF"/>
                </a:solidFill>
                <a:effectLst/>
                <a:uLnTx/>
                <a:uFillTx/>
                <a:latin typeface="Arial"/>
                <a:ea typeface="Arial"/>
                <a:cs typeface="Arial"/>
                <a:sym typeface="Arial"/>
              </a:rPr>
              <a:t>Administrative Law –LAW1023</a:t>
            </a:r>
          </a:p>
        </p:txBody>
      </p:sp>
      <p:pic>
        <p:nvPicPr>
          <p:cNvPr id="4" name="Picture 2" descr="Image result for agent principal">
            <a:extLst>
              <a:ext uri="{FF2B5EF4-FFF2-40B4-BE49-F238E27FC236}">
                <a16:creationId xmlns:a16="http://schemas.microsoft.com/office/drawing/2014/main" id="{5FA53DB4-11A8-09E6-E3C6-EFDD4BBBC7B3}"/>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7467600" y="1579780"/>
            <a:ext cx="4261891" cy="276362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113716063"/>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bg>
      <p:bgPr>
        <a:solidFill>
          <a:srgbClr val="000054"/>
        </a:solidFill>
        <a:effectLst/>
      </p:bgPr>
    </p:bg>
    <p:spTree>
      <p:nvGrpSpPr>
        <p:cNvPr id="1" name="">
          <a:extLst>
            <a:ext uri="{FF2B5EF4-FFF2-40B4-BE49-F238E27FC236}">
              <a16:creationId xmlns:a16="http://schemas.microsoft.com/office/drawing/2014/main" id="{E7D6BD2A-9987-9AC4-54B4-1459DCA1A44B}"/>
            </a:ext>
          </a:extLst>
        </p:cNvPr>
        <p:cNvGrpSpPr/>
        <p:nvPr/>
      </p:nvGrpSpPr>
      <p:grpSpPr>
        <a:xfrm>
          <a:off x="0" y="0"/>
          <a:ext cx="0" cy="0"/>
          <a:chOff x="0" y="0"/>
          <a:chExt cx="0" cy="0"/>
        </a:xfrm>
      </p:grpSpPr>
      <p:grpSp>
        <p:nvGrpSpPr>
          <p:cNvPr id="2" name="Group 2">
            <a:extLst>
              <a:ext uri="{FF2B5EF4-FFF2-40B4-BE49-F238E27FC236}">
                <a16:creationId xmlns:a16="http://schemas.microsoft.com/office/drawing/2014/main" id="{52FB5AFC-30FC-4959-102D-A01C803DD28E}"/>
              </a:ext>
            </a:extLst>
          </p:cNvPr>
          <p:cNvGrpSpPr/>
          <p:nvPr/>
        </p:nvGrpSpPr>
        <p:grpSpPr>
          <a:xfrm rot="-10800000">
            <a:off x="11045567" y="-12700"/>
            <a:ext cx="1146433" cy="1146433"/>
            <a:chOff x="0" y="0"/>
            <a:chExt cx="1630482" cy="1630482"/>
          </a:xfrm>
        </p:grpSpPr>
        <p:sp>
          <p:nvSpPr>
            <p:cNvPr id="3" name="Freeform 3">
              <a:extLst>
                <a:ext uri="{FF2B5EF4-FFF2-40B4-BE49-F238E27FC236}">
                  <a16:creationId xmlns:a16="http://schemas.microsoft.com/office/drawing/2014/main" id="{2D398BCB-2539-EBC9-D77B-F80A520CE3B2}"/>
                </a:ext>
              </a:extLst>
            </p:cNvPr>
            <p:cNvSpPr/>
            <p:nvPr/>
          </p:nvSpPr>
          <p:spPr>
            <a:xfrm>
              <a:off x="0" y="0"/>
              <a:ext cx="1630426" cy="1630426"/>
            </a:xfrm>
            <a:custGeom>
              <a:avLst/>
              <a:gdLst/>
              <a:ahLst/>
              <a:cxnLst/>
              <a:rect l="l" t="t" r="r" b="b"/>
              <a:pathLst>
                <a:path w="1630426" h="1630426">
                  <a:moveTo>
                    <a:pt x="0" y="0"/>
                  </a:moveTo>
                  <a:lnTo>
                    <a:pt x="543433" y="0"/>
                  </a:lnTo>
                  <a:lnTo>
                    <a:pt x="543433" y="543433"/>
                  </a:lnTo>
                  <a:lnTo>
                    <a:pt x="1086993" y="543433"/>
                  </a:lnTo>
                  <a:lnTo>
                    <a:pt x="1086993" y="1086993"/>
                  </a:lnTo>
                  <a:lnTo>
                    <a:pt x="1630426" y="1086993"/>
                  </a:lnTo>
                  <a:lnTo>
                    <a:pt x="1630426" y="1630426"/>
                  </a:lnTo>
                  <a:lnTo>
                    <a:pt x="0" y="1630426"/>
                  </a:lnTo>
                  <a:lnTo>
                    <a:pt x="0" y="1086993"/>
                  </a:lnTo>
                  <a:lnTo>
                    <a:pt x="0" y="543433"/>
                  </a:lnTo>
                  <a:close/>
                </a:path>
              </a:pathLst>
            </a:custGeom>
            <a:solidFill>
              <a:srgbClr val="FFFFFF"/>
            </a:solid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AU" sz="1800" b="0" i="0" u="none" strike="noStrike" kern="1200" cap="none" spc="0" normalizeH="0" baseline="0" noProof="0">
                <a:ln>
                  <a:noFill/>
                </a:ln>
                <a:solidFill>
                  <a:prstClr val="black"/>
                </a:solidFill>
                <a:effectLst/>
                <a:uLnTx/>
                <a:uFillTx/>
                <a:latin typeface="Calibri"/>
                <a:ea typeface="+mn-ea"/>
                <a:cs typeface="+mn-cs"/>
              </a:endParaRPr>
            </a:p>
          </p:txBody>
        </p:sp>
      </p:grpSp>
      <p:sp>
        <p:nvSpPr>
          <p:cNvPr id="5" name="TextBox 5">
            <a:extLst>
              <a:ext uri="{FF2B5EF4-FFF2-40B4-BE49-F238E27FC236}">
                <a16:creationId xmlns:a16="http://schemas.microsoft.com/office/drawing/2014/main" id="{4938E01F-AE21-83E1-0A20-366ECEBC5E29}"/>
              </a:ext>
            </a:extLst>
          </p:cNvPr>
          <p:cNvSpPr txBox="1"/>
          <p:nvPr/>
        </p:nvSpPr>
        <p:spPr>
          <a:xfrm>
            <a:off x="392084" y="560536"/>
            <a:ext cx="11190316" cy="409471"/>
          </a:xfrm>
          <a:prstGeom prst="rect">
            <a:avLst/>
          </a:prstGeom>
        </p:spPr>
        <p:txBody>
          <a:bodyPr wrap="square" lIns="0" tIns="0" rIns="0" bIns="0" rtlCol="0" anchor="t">
            <a:spAutoFit/>
          </a:bodyPr>
          <a:lstStyle/>
          <a:p>
            <a:pPr marL="0" marR="0" lvl="0" indent="0" algn="l" defTabSz="914400" rtl="0" eaLnBrk="1" fontAlgn="auto" latinLnBrk="0" hangingPunct="1">
              <a:lnSpc>
                <a:spcPts val="3494"/>
              </a:lnSpc>
              <a:spcBef>
                <a:spcPts val="0"/>
              </a:spcBef>
              <a:spcAft>
                <a:spcPts val="0"/>
              </a:spcAft>
              <a:buClrTx/>
              <a:buSzTx/>
              <a:buFontTx/>
              <a:buNone/>
              <a:tabLst/>
              <a:defRPr/>
            </a:pPr>
            <a:r>
              <a:rPr kumimoji="0" lang="en-US" sz="2496" b="1" u="none" strike="noStrike" kern="1200" cap="none" spc="0" normalizeH="0" baseline="0" noProof="0" dirty="0">
                <a:ln>
                  <a:noFill/>
                </a:ln>
                <a:solidFill>
                  <a:srgbClr val="FFFFFF"/>
                </a:solidFill>
                <a:effectLst/>
                <a:uLnTx/>
                <a:uFillTx/>
                <a:latin typeface="Arial Bold"/>
                <a:ea typeface="Arial Bold"/>
                <a:cs typeface="Arial Bold"/>
                <a:sym typeface="Arial Bold"/>
              </a:rPr>
              <a:t>Questions re Delegation and  Agency</a:t>
            </a:r>
          </a:p>
        </p:txBody>
      </p:sp>
      <p:sp>
        <p:nvSpPr>
          <p:cNvPr id="9" name="TextBox 9">
            <a:extLst>
              <a:ext uri="{FF2B5EF4-FFF2-40B4-BE49-F238E27FC236}">
                <a16:creationId xmlns:a16="http://schemas.microsoft.com/office/drawing/2014/main" id="{3FB1E859-098D-17AC-3871-C6D3E0903C36}"/>
              </a:ext>
            </a:extLst>
          </p:cNvPr>
          <p:cNvSpPr txBox="1"/>
          <p:nvPr/>
        </p:nvSpPr>
        <p:spPr>
          <a:xfrm>
            <a:off x="392084" y="1524000"/>
            <a:ext cx="8980516" cy="4139275"/>
          </a:xfrm>
          <a:prstGeom prst="rect">
            <a:avLst/>
          </a:prstGeom>
        </p:spPr>
        <p:txBody>
          <a:bodyPr wrap="square" lIns="0" tIns="0" rIns="0" bIns="0" rtlCol="0" anchor="t">
            <a:spAutoFit/>
          </a:bodyPr>
          <a:lstStyle/>
          <a:p>
            <a:pPr marL="285750" marR="0" lvl="0" indent="-285750" algn="l" defTabSz="914400" rtl="0" eaLnBrk="1" fontAlgn="auto" latinLnBrk="0" hangingPunct="1">
              <a:lnSpc>
                <a:spcPct val="100000"/>
              </a:lnSpc>
              <a:spcBef>
                <a:spcPts val="0"/>
              </a:spcBef>
              <a:spcAft>
                <a:spcPts val="1200"/>
              </a:spcAft>
              <a:buClrTx/>
              <a:buSzTx/>
              <a:buFont typeface="Arial" panose="020B0604020202020204" pitchFamily="34" charset="0"/>
              <a:buChar char="•"/>
              <a:tabLst/>
              <a:defRPr/>
            </a:pPr>
            <a:r>
              <a:rPr lang="en-US" sz="1627" b="1" dirty="0">
                <a:solidFill>
                  <a:srgbClr val="FFFFFF"/>
                </a:solidFill>
                <a:latin typeface="Arial" panose="020B0604020202020204" pitchFamily="34" charset="0"/>
                <a:ea typeface="Arial Bold"/>
                <a:cs typeface="Arial" panose="020B0604020202020204" pitchFamily="34" charset="0"/>
                <a:sym typeface="Arial Bold"/>
              </a:rPr>
              <a:t> Delegation</a:t>
            </a:r>
          </a:p>
          <a:p>
            <a:pPr marL="742950" lvl="1" indent="-285750">
              <a:spcAft>
                <a:spcPts val="1200"/>
              </a:spcAft>
              <a:buFont typeface="Arial" panose="020B0604020202020204" pitchFamily="34" charset="0"/>
              <a:buChar char="•"/>
              <a:defRPr/>
            </a:pPr>
            <a:r>
              <a:rPr lang="en-US" sz="1627" dirty="0">
                <a:solidFill>
                  <a:srgbClr val="FFFFFF"/>
                </a:solidFill>
                <a:latin typeface="Arial" panose="020B0604020202020204" pitchFamily="34" charset="0"/>
                <a:ea typeface="Arial Bold"/>
                <a:cs typeface="Arial" panose="020B0604020202020204" pitchFamily="34" charset="0"/>
                <a:sym typeface="Arial Bold"/>
              </a:rPr>
              <a:t>Power to delegate or sub-delegate must be express or implied in statute</a:t>
            </a:r>
          </a:p>
          <a:p>
            <a:pPr marL="742950" lvl="1" indent="-285750">
              <a:spcAft>
                <a:spcPts val="1200"/>
              </a:spcAft>
              <a:buFont typeface="Arial" panose="020B0604020202020204" pitchFamily="34" charset="0"/>
              <a:buChar char="•"/>
              <a:defRPr/>
            </a:pPr>
            <a:r>
              <a:rPr lang="en-US" sz="1627" dirty="0">
                <a:solidFill>
                  <a:srgbClr val="FFFFFF"/>
                </a:solidFill>
                <a:latin typeface="Arial" panose="020B0604020202020204" pitchFamily="34" charset="0"/>
                <a:ea typeface="Arial Bold"/>
                <a:cs typeface="Arial" panose="020B0604020202020204" pitchFamily="34" charset="0"/>
                <a:sym typeface="Arial Bold"/>
              </a:rPr>
              <a:t>Delegate acts and signs in own name</a:t>
            </a:r>
          </a:p>
          <a:p>
            <a:pPr marL="742950" lvl="1" indent="-285750">
              <a:spcAft>
                <a:spcPts val="1200"/>
              </a:spcAft>
              <a:buFont typeface="Arial" panose="020B0604020202020204" pitchFamily="34" charset="0"/>
              <a:buChar char="•"/>
              <a:defRPr/>
            </a:pPr>
            <a:r>
              <a:rPr lang="en-US" sz="1627" dirty="0">
                <a:solidFill>
                  <a:srgbClr val="FFFFFF"/>
                </a:solidFill>
                <a:latin typeface="Arial" panose="020B0604020202020204" pitchFamily="34" charset="0"/>
                <a:ea typeface="Arial Bold"/>
                <a:cs typeface="Arial" panose="020B0604020202020204" pitchFamily="34" charset="0"/>
                <a:sym typeface="Arial Bold"/>
              </a:rPr>
              <a:t>Delegate must exercise their own discretion/power; and</a:t>
            </a:r>
          </a:p>
          <a:p>
            <a:pPr marL="742950" lvl="1" indent="-285750">
              <a:spcAft>
                <a:spcPts val="1200"/>
              </a:spcAft>
              <a:buFont typeface="Arial" panose="020B0604020202020204" pitchFamily="34" charset="0"/>
              <a:buChar char="•"/>
              <a:defRPr/>
            </a:pPr>
            <a:r>
              <a:rPr lang="en-US" sz="1627" dirty="0">
                <a:solidFill>
                  <a:srgbClr val="FFFFFF"/>
                </a:solidFill>
                <a:latin typeface="Arial" panose="020B0604020202020204" pitchFamily="34" charset="0"/>
                <a:ea typeface="Arial Bold"/>
                <a:cs typeface="Arial" panose="020B0604020202020204" pitchFamily="34" charset="0"/>
                <a:sym typeface="Arial Bold"/>
              </a:rPr>
              <a:t>Delegator retains power (</a:t>
            </a:r>
            <a:r>
              <a:rPr lang="en-US" sz="1627" dirty="0" err="1">
                <a:solidFill>
                  <a:srgbClr val="FFFFFF"/>
                </a:solidFill>
                <a:latin typeface="Arial" panose="020B0604020202020204" pitchFamily="34" charset="0"/>
                <a:ea typeface="Arial Bold"/>
                <a:cs typeface="Arial" panose="020B0604020202020204" pitchFamily="34" charset="0"/>
                <a:sym typeface="Arial Bold"/>
              </a:rPr>
              <a:t>ie</a:t>
            </a:r>
            <a:r>
              <a:rPr lang="en-US" sz="1627" dirty="0">
                <a:solidFill>
                  <a:srgbClr val="FFFFFF"/>
                </a:solidFill>
                <a:latin typeface="Arial" panose="020B0604020202020204" pitchFamily="34" charset="0"/>
                <a:ea typeface="Arial Bold"/>
                <a:cs typeface="Arial" panose="020B0604020202020204" pitchFamily="34" charset="0"/>
                <a:sym typeface="Arial Bold"/>
              </a:rPr>
              <a:t> both delegator and delegate have power). Therefore, you can appeal decision to delegator.</a:t>
            </a:r>
          </a:p>
          <a:p>
            <a:pPr marL="285750" marR="0" lvl="0" indent="-285750" algn="l" defTabSz="914400" rtl="0" eaLnBrk="1" fontAlgn="auto" latinLnBrk="0" hangingPunct="1">
              <a:lnSpc>
                <a:spcPct val="100000"/>
              </a:lnSpc>
              <a:spcBef>
                <a:spcPts val="0"/>
              </a:spcBef>
              <a:spcAft>
                <a:spcPts val="1200"/>
              </a:spcAft>
              <a:buClrTx/>
              <a:buSzTx/>
              <a:buFont typeface="Arial" panose="020B0604020202020204" pitchFamily="34" charset="0"/>
              <a:buChar char="•"/>
              <a:tabLst/>
              <a:defRPr/>
            </a:pPr>
            <a:r>
              <a:rPr lang="en-US" sz="1627" b="1" dirty="0">
                <a:solidFill>
                  <a:srgbClr val="FFFFFF"/>
                </a:solidFill>
                <a:latin typeface="Arial" panose="020B0604020202020204" pitchFamily="34" charset="0"/>
                <a:ea typeface="Arial Bold"/>
                <a:cs typeface="Arial" panose="020B0604020202020204" pitchFamily="34" charset="0"/>
                <a:sym typeface="Arial Bold"/>
              </a:rPr>
              <a:t>Agency</a:t>
            </a:r>
          </a:p>
          <a:p>
            <a:pPr marL="742950" lvl="1" indent="-285750">
              <a:spcAft>
                <a:spcPts val="1200"/>
              </a:spcAft>
              <a:buFont typeface="Arial" panose="020B0604020202020204" pitchFamily="34" charset="0"/>
              <a:buChar char="•"/>
              <a:defRPr/>
            </a:pPr>
            <a:r>
              <a:rPr lang="en-US" sz="1627" dirty="0">
                <a:solidFill>
                  <a:srgbClr val="FFFFFF"/>
                </a:solidFill>
                <a:latin typeface="Arial" panose="020B0604020202020204" pitchFamily="34" charset="0"/>
                <a:ea typeface="Arial Bold"/>
                <a:cs typeface="Arial" panose="020B0604020202020204" pitchFamily="34" charset="0"/>
                <a:sym typeface="Arial Bold"/>
              </a:rPr>
              <a:t>Can appoint an agent where there is practical administrative necessity to do so</a:t>
            </a:r>
          </a:p>
          <a:p>
            <a:pPr marL="742950" lvl="1" indent="-285750">
              <a:spcAft>
                <a:spcPts val="1200"/>
              </a:spcAft>
              <a:buFont typeface="Arial" panose="020B0604020202020204" pitchFamily="34" charset="0"/>
              <a:buChar char="•"/>
              <a:defRPr/>
            </a:pPr>
            <a:r>
              <a:rPr lang="en-US" sz="1627" dirty="0">
                <a:solidFill>
                  <a:srgbClr val="FFFFFF"/>
                </a:solidFill>
                <a:latin typeface="Arial" panose="020B0604020202020204" pitchFamily="34" charset="0"/>
                <a:ea typeface="Arial Bold"/>
                <a:cs typeface="Arial" panose="020B0604020202020204" pitchFamily="34" charset="0"/>
                <a:sym typeface="Arial Bold"/>
              </a:rPr>
              <a:t>Agent acts and signs in the name of the principal (extension of the principal);</a:t>
            </a:r>
          </a:p>
          <a:p>
            <a:pPr marL="742950" lvl="1" indent="-285750">
              <a:spcAft>
                <a:spcPts val="1200"/>
              </a:spcAft>
              <a:buFont typeface="Arial" panose="020B0604020202020204" pitchFamily="34" charset="0"/>
              <a:buChar char="•"/>
              <a:defRPr/>
            </a:pPr>
            <a:r>
              <a:rPr lang="en-US" sz="1627" dirty="0">
                <a:solidFill>
                  <a:srgbClr val="FFFFFF"/>
                </a:solidFill>
                <a:latin typeface="Arial" panose="020B0604020202020204" pitchFamily="34" charset="0"/>
                <a:ea typeface="Arial Bold"/>
                <a:cs typeface="Arial" panose="020B0604020202020204" pitchFamily="34" charset="0"/>
                <a:sym typeface="Arial Bold"/>
              </a:rPr>
              <a:t>Agent exercises the principle’s discretion/power; and</a:t>
            </a:r>
          </a:p>
          <a:p>
            <a:pPr marL="742950" lvl="1" indent="-285750">
              <a:spcAft>
                <a:spcPts val="1200"/>
              </a:spcAft>
              <a:buFont typeface="Arial" panose="020B0604020202020204" pitchFamily="34" charset="0"/>
              <a:buChar char="•"/>
              <a:defRPr/>
            </a:pPr>
            <a:r>
              <a:rPr lang="en-US" sz="1627" dirty="0">
                <a:solidFill>
                  <a:srgbClr val="FFFFFF"/>
                </a:solidFill>
                <a:latin typeface="Arial" panose="020B0604020202020204" pitchFamily="34" charset="0"/>
                <a:ea typeface="Arial Bold"/>
                <a:cs typeface="Arial" panose="020B0604020202020204" pitchFamily="34" charset="0"/>
                <a:sym typeface="Arial Bold"/>
              </a:rPr>
              <a:t>Principal's power is spent once agency exercises it.</a:t>
            </a:r>
          </a:p>
        </p:txBody>
      </p:sp>
      <p:sp>
        <p:nvSpPr>
          <p:cNvPr id="10" name="TextBox 10">
            <a:extLst>
              <a:ext uri="{FF2B5EF4-FFF2-40B4-BE49-F238E27FC236}">
                <a16:creationId xmlns:a16="http://schemas.microsoft.com/office/drawing/2014/main" id="{39BC0FE3-82F2-553E-6112-2B918B96DACD}"/>
              </a:ext>
            </a:extLst>
          </p:cNvPr>
          <p:cNvSpPr txBox="1"/>
          <p:nvPr/>
        </p:nvSpPr>
        <p:spPr>
          <a:xfrm>
            <a:off x="10195446" y="6347803"/>
            <a:ext cx="1773879" cy="193258"/>
          </a:xfrm>
          <a:prstGeom prst="rect">
            <a:avLst/>
          </a:prstGeom>
        </p:spPr>
        <p:txBody>
          <a:bodyPr lIns="0" tIns="0" rIns="0" bIns="0" rtlCol="0" anchor="t">
            <a:spAutoFit/>
          </a:bodyPr>
          <a:lstStyle/>
          <a:p>
            <a:pPr marL="0" marR="0" lvl="0" indent="0" algn="l" defTabSz="914400" rtl="0" eaLnBrk="1" fontAlgn="auto" latinLnBrk="0" hangingPunct="1">
              <a:lnSpc>
                <a:spcPts val="1422"/>
              </a:lnSpc>
              <a:spcBef>
                <a:spcPts val="0"/>
              </a:spcBef>
              <a:spcAft>
                <a:spcPts val="0"/>
              </a:spcAft>
              <a:buClrTx/>
              <a:buSzTx/>
              <a:buFontTx/>
              <a:buNone/>
              <a:tabLst/>
              <a:defRPr/>
            </a:pPr>
            <a:r>
              <a:rPr kumimoji="0" lang="en-US" sz="1016" b="0" i="0" u="none" strike="noStrike" kern="1200" cap="none" spc="0" normalizeH="0" baseline="0" noProof="0">
                <a:ln>
                  <a:noFill/>
                </a:ln>
                <a:solidFill>
                  <a:srgbClr val="FFFFFF"/>
                </a:solidFill>
                <a:effectLst/>
                <a:uLnTx/>
                <a:uFillTx/>
                <a:latin typeface="Arial"/>
                <a:ea typeface="Arial"/>
                <a:cs typeface="Arial"/>
                <a:sym typeface="Arial"/>
              </a:rPr>
              <a:t>Administrative Law –LAW1023</a:t>
            </a:r>
          </a:p>
        </p:txBody>
      </p:sp>
    </p:spTree>
    <p:extLst>
      <p:ext uri="{BB962C8B-B14F-4D97-AF65-F5344CB8AC3E}">
        <p14:creationId xmlns:p14="http://schemas.microsoft.com/office/powerpoint/2010/main" val="2674705119"/>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bg>
      <p:bgPr>
        <a:solidFill>
          <a:srgbClr val="000054"/>
        </a:solidFill>
        <a:effectLst/>
      </p:bgPr>
    </p:bg>
    <p:spTree>
      <p:nvGrpSpPr>
        <p:cNvPr id="1" name="">
          <a:extLst>
            <a:ext uri="{FF2B5EF4-FFF2-40B4-BE49-F238E27FC236}">
              <a16:creationId xmlns:a16="http://schemas.microsoft.com/office/drawing/2014/main" id="{CCAB699E-F430-20D4-18FB-AB9E5AEB0C0E}"/>
            </a:ext>
          </a:extLst>
        </p:cNvPr>
        <p:cNvGrpSpPr/>
        <p:nvPr/>
      </p:nvGrpSpPr>
      <p:grpSpPr>
        <a:xfrm>
          <a:off x="0" y="0"/>
          <a:ext cx="0" cy="0"/>
          <a:chOff x="0" y="0"/>
          <a:chExt cx="0" cy="0"/>
        </a:xfrm>
      </p:grpSpPr>
      <p:grpSp>
        <p:nvGrpSpPr>
          <p:cNvPr id="2" name="Group 2">
            <a:extLst>
              <a:ext uri="{FF2B5EF4-FFF2-40B4-BE49-F238E27FC236}">
                <a16:creationId xmlns:a16="http://schemas.microsoft.com/office/drawing/2014/main" id="{8B889132-F3E3-4F5B-7A64-17487D61665B}"/>
              </a:ext>
            </a:extLst>
          </p:cNvPr>
          <p:cNvGrpSpPr/>
          <p:nvPr/>
        </p:nvGrpSpPr>
        <p:grpSpPr>
          <a:xfrm rot="-10800000">
            <a:off x="11045567" y="-12700"/>
            <a:ext cx="1146433" cy="1146433"/>
            <a:chOff x="0" y="0"/>
            <a:chExt cx="1630482" cy="1630482"/>
          </a:xfrm>
        </p:grpSpPr>
        <p:sp>
          <p:nvSpPr>
            <p:cNvPr id="3" name="Freeform 3">
              <a:extLst>
                <a:ext uri="{FF2B5EF4-FFF2-40B4-BE49-F238E27FC236}">
                  <a16:creationId xmlns:a16="http://schemas.microsoft.com/office/drawing/2014/main" id="{37FB3B40-5A59-D8A4-0928-F689401C0F21}"/>
                </a:ext>
              </a:extLst>
            </p:cNvPr>
            <p:cNvSpPr/>
            <p:nvPr/>
          </p:nvSpPr>
          <p:spPr>
            <a:xfrm>
              <a:off x="0" y="0"/>
              <a:ext cx="1630426" cy="1630426"/>
            </a:xfrm>
            <a:custGeom>
              <a:avLst/>
              <a:gdLst/>
              <a:ahLst/>
              <a:cxnLst/>
              <a:rect l="l" t="t" r="r" b="b"/>
              <a:pathLst>
                <a:path w="1630426" h="1630426">
                  <a:moveTo>
                    <a:pt x="0" y="0"/>
                  </a:moveTo>
                  <a:lnTo>
                    <a:pt x="543433" y="0"/>
                  </a:lnTo>
                  <a:lnTo>
                    <a:pt x="543433" y="543433"/>
                  </a:lnTo>
                  <a:lnTo>
                    <a:pt x="1086993" y="543433"/>
                  </a:lnTo>
                  <a:lnTo>
                    <a:pt x="1086993" y="1086993"/>
                  </a:lnTo>
                  <a:lnTo>
                    <a:pt x="1630426" y="1086993"/>
                  </a:lnTo>
                  <a:lnTo>
                    <a:pt x="1630426" y="1630426"/>
                  </a:lnTo>
                  <a:lnTo>
                    <a:pt x="0" y="1630426"/>
                  </a:lnTo>
                  <a:lnTo>
                    <a:pt x="0" y="1086993"/>
                  </a:lnTo>
                  <a:lnTo>
                    <a:pt x="0" y="543433"/>
                  </a:lnTo>
                  <a:close/>
                </a:path>
              </a:pathLst>
            </a:custGeom>
            <a:solidFill>
              <a:srgbClr val="FFFFFF"/>
            </a:solid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AU" sz="1800" b="0" i="0" u="none" strike="noStrike" kern="1200" cap="none" spc="0" normalizeH="0" baseline="0" noProof="0">
                <a:ln>
                  <a:noFill/>
                </a:ln>
                <a:solidFill>
                  <a:prstClr val="black"/>
                </a:solidFill>
                <a:effectLst/>
                <a:uLnTx/>
                <a:uFillTx/>
                <a:latin typeface="Calibri"/>
                <a:ea typeface="+mn-ea"/>
                <a:cs typeface="+mn-cs"/>
              </a:endParaRPr>
            </a:p>
          </p:txBody>
        </p:sp>
      </p:grpSp>
      <p:sp>
        <p:nvSpPr>
          <p:cNvPr id="5" name="TextBox 5">
            <a:extLst>
              <a:ext uri="{FF2B5EF4-FFF2-40B4-BE49-F238E27FC236}">
                <a16:creationId xmlns:a16="http://schemas.microsoft.com/office/drawing/2014/main" id="{08569BD8-29F7-83B7-8019-27556123EF98}"/>
              </a:ext>
            </a:extLst>
          </p:cNvPr>
          <p:cNvSpPr txBox="1"/>
          <p:nvPr/>
        </p:nvSpPr>
        <p:spPr>
          <a:xfrm>
            <a:off x="392084" y="560536"/>
            <a:ext cx="11190316" cy="409471"/>
          </a:xfrm>
          <a:prstGeom prst="rect">
            <a:avLst/>
          </a:prstGeom>
        </p:spPr>
        <p:txBody>
          <a:bodyPr wrap="square" lIns="0" tIns="0" rIns="0" bIns="0" rtlCol="0" anchor="t">
            <a:spAutoFit/>
          </a:bodyPr>
          <a:lstStyle/>
          <a:p>
            <a:pPr marL="0" marR="0" lvl="0" indent="0" algn="l" defTabSz="914400" rtl="0" eaLnBrk="1" fontAlgn="auto" latinLnBrk="0" hangingPunct="1">
              <a:lnSpc>
                <a:spcPts val="3494"/>
              </a:lnSpc>
              <a:spcBef>
                <a:spcPts val="0"/>
              </a:spcBef>
              <a:spcAft>
                <a:spcPts val="0"/>
              </a:spcAft>
              <a:buClrTx/>
              <a:buSzTx/>
              <a:buFontTx/>
              <a:buNone/>
              <a:tabLst/>
              <a:defRPr/>
            </a:pPr>
            <a:r>
              <a:rPr kumimoji="0" lang="en-US" sz="2496" b="1" u="none" strike="noStrike" kern="1200" cap="none" spc="0" normalizeH="0" baseline="0" noProof="0" dirty="0">
                <a:ln>
                  <a:noFill/>
                </a:ln>
                <a:solidFill>
                  <a:srgbClr val="FFFFFF"/>
                </a:solidFill>
                <a:effectLst/>
                <a:uLnTx/>
                <a:uFillTx/>
                <a:latin typeface="Arial Bold"/>
                <a:ea typeface="Arial Bold"/>
                <a:cs typeface="Arial Bold"/>
                <a:sym typeface="Arial Bold"/>
              </a:rPr>
              <a:t>Exam Hint</a:t>
            </a:r>
          </a:p>
        </p:txBody>
      </p:sp>
      <p:sp>
        <p:nvSpPr>
          <p:cNvPr id="9" name="TextBox 9">
            <a:extLst>
              <a:ext uri="{FF2B5EF4-FFF2-40B4-BE49-F238E27FC236}">
                <a16:creationId xmlns:a16="http://schemas.microsoft.com/office/drawing/2014/main" id="{02EA595D-C2EF-84D0-7BC6-E876BAE2BD3B}"/>
              </a:ext>
            </a:extLst>
          </p:cNvPr>
          <p:cNvSpPr txBox="1"/>
          <p:nvPr/>
        </p:nvSpPr>
        <p:spPr>
          <a:xfrm>
            <a:off x="392084" y="1524000"/>
            <a:ext cx="8980516" cy="1107996"/>
          </a:xfrm>
          <a:prstGeom prst="rect">
            <a:avLst/>
          </a:prstGeom>
        </p:spPr>
        <p:txBody>
          <a:bodyPr wrap="square" lIns="0" tIns="0" rIns="0" bIns="0" rtlCol="0" anchor="t">
            <a:spAutoFit/>
          </a:bodyPr>
          <a:lstStyle/>
          <a:p>
            <a:pPr marL="285750" marR="0" lvl="0" indent="-285750" algn="l" defTabSz="914400" rtl="0" eaLnBrk="1" fontAlgn="auto" latinLnBrk="0" hangingPunct="1">
              <a:lnSpc>
                <a:spcPct val="100000"/>
              </a:lnSpc>
              <a:spcBef>
                <a:spcPts val="0"/>
              </a:spcBef>
              <a:spcAft>
                <a:spcPts val="1200"/>
              </a:spcAft>
              <a:buClrTx/>
              <a:buSzTx/>
              <a:buFont typeface="Arial" panose="020B0604020202020204" pitchFamily="34" charset="0"/>
              <a:buChar char="•"/>
              <a:tabLst/>
              <a:defRPr/>
            </a:pPr>
            <a:r>
              <a:rPr lang="en-US" sz="2400" dirty="0">
                <a:solidFill>
                  <a:srgbClr val="FFFFFF"/>
                </a:solidFill>
                <a:latin typeface="Arial" panose="020B0604020202020204" pitchFamily="34" charset="0"/>
                <a:ea typeface="Arial Bold"/>
                <a:cs typeface="Arial" panose="020B0604020202020204" pitchFamily="34" charset="0"/>
                <a:sym typeface="Arial Bold"/>
              </a:rPr>
              <a:t>Identifying whether the person who is exercising the authority is an agent or a delegate ( and hence whether the exercise of power is valid) is a common exam question. </a:t>
            </a:r>
          </a:p>
        </p:txBody>
      </p:sp>
      <p:sp>
        <p:nvSpPr>
          <p:cNvPr id="10" name="TextBox 10">
            <a:extLst>
              <a:ext uri="{FF2B5EF4-FFF2-40B4-BE49-F238E27FC236}">
                <a16:creationId xmlns:a16="http://schemas.microsoft.com/office/drawing/2014/main" id="{4CB416EF-BF3D-CEDE-B0C0-CD9768E36FC0}"/>
              </a:ext>
            </a:extLst>
          </p:cNvPr>
          <p:cNvSpPr txBox="1"/>
          <p:nvPr/>
        </p:nvSpPr>
        <p:spPr>
          <a:xfrm>
            <a:off x="10195446" y="6347803"/>
            <a:ext cx="1773879" cy="193258"/>
          </a:xfrm>
          <a:prstGeom prst="rect">
            <a:avLst/>
          </a:prstGeom>
        </p:spPr>
        <p:txBody>
          <a:bodyPr lIns="0" tIns="0" rIns="0" bIns="0" rtlCol="0" anchor="t">
            <a:spAutoFit/>
          </a:bodyPr>
          <a:lstStyle/>
          <a:p>
            <a:pPr marL="0" marR="0" lvl="0" indent="0" algn="l" defTabSz="914400" rtl="0" eaLnBrk="1" fontAlgn="auto" latinLnBrk="0" hangingPunct="1">
              <a:lnSpc>
                <a:spcPts val="1422"/>
              </a:lnSpc>
              <a:spcBef>
                <a:spcPts val="0"/>
              </a:spcBef>
              <a:spcAft>
                <a:spcPts val="0"/>
              </a:spcAft>
              <a:buClrTx/>
              <a:buSzTx/>
              <a:buFontTx/>
              <a:buNone/>
              <a:tabLst/>
              <a:defRPr/>
            </a:pPr>
            <a:r>
              <a:rPr kumimoji="0" lang="en-US" sz="1016" b="0" i="0" u="none" strike="noStrike" kern="1200" cap="none" spc="0" normalizeH="0" baseline="0" noProof="0">
                <a:ln>
                  <a:noFill/>
                </a:ln>
                <a:solidFill>
                  <a:srgbClr val="FFFFFF"/>
                </a:solidFill>
                <a:effectLst/>
                <a:uLnTx/>
                <a:uFillTx/>
                <a:latin typeface="Arial"/>
                <a:ea typeface="Arial"/>
                <a:cs typeface="Arial"/>
                <a:sym typeface="Arial"/>
              </a:rPr>
              <a:t>Administrative Law –LAW1023</a:t>
            </a:r>
          </a:p>
        </p:txBody>
      </p:sp>
      <p:pic>
        <p:nvPicPr>
          <p:cNvPr id="6" name="Graphic 5" descr="Work from home desk outline">
            <a:extLst>
              <a:ext uri="{FF2B5EF4-FFF2-40B4-BE49-F238E27FC236}">
                <a16:creationId xmlns:a16="http://schemas.microsoft.com/office/drawing/2014/main" id="{888AEB41-C72D-057D-0D94-C41967993B2C}"/>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9753600" y="1393637"/>
            <a:ext cx="1574914" cy="1574914"/>
          </a:xfrm>
          <a:prstGeom prst="rect">
            <a:avLst/>
          </a:prstGeom>
        </p:spPr>
      </p:pic>
      <p:pic>
        <p:nvPicPr>
          <p:cNvPr id="8" name="Graphic 7" descr="Books outline">
            <a:extLst>
              <a:ext uri="{FF2B5EF4-FFF2-40B4-BE49-F238E27FC236}">
                <a16:creationId xmlns:a16="http://schemas.microsoft.com/office/drawing/2014/main" id="{01325096-30D1-2A6C-A57C-00E0D75EE35F}"/>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9753600" y="3083263"/>
            <a:ext cx="1574914" cy="1574914"/>
          </a:xfrm>
          <a:prstGeom prst="rect">
            <a:avLst/>
          </a:prstGeom>
        </p:spPr>
      </p:pic>
    </p:spTree>
    <p:extLst>
      <p:ext uri="{BB962C8B-B14F-4D97-AF65-F5344CB8AC3E}">
        <p14:creationId xmlns:p14="http://schemas.microsoft.com/office/powerpoint/2010/main" val="3491292168"/>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1524000" y="0"/>
            <a:ext cx="9144000" cy="1146433"/>
            <a:chOff x="0" y="0"/>
            <a:chExt cx="13004800" cy="1630482"/>
          </a:xfrm>
        </p:grpSpPr>
        <p:sp>
          <p:nvSpPr>
            <p:cNvPr id="3" name="Freeform 3"/>
            <p:cNvSpPr/>
            <p:nvPr/>
          </p:nvSpPr>
          <p:spPr>
            <a:xfrm>
              <a:off x="0" y="0"/>
              <a:ext cx="13004800" cy="1630426"/>
            </a:xfrm>
            <a:custGeom>
              <a:avLst/>
              <a:gdLst/>
              <a:ahLst/>
              <a:cxnLst/>
              <a:rect l="l" t="t" r="r" b="b"/>
              <a:pathLst>
                <a:path w="13004800" h="1630426">
                  <a:moveTo>
                    <a:pt x="0" y="0"/>
                  </a:moveTo>
                  <a:lnTo>
                    <a:pt x="13004800" y="0"/>
                  </a:lnTo>
                  <a:lnTo>
                    <a:pt x="13004800" y="1630426"/>
                  </a:lnTo>
                  <a:lnTo>
                    <a:pt x="0" y="1630426"/>
                  </a:lnTo>
                  <a:close/>
                </a:path>
              </a:pathLst>
            </a:custGeom>
            <a:solidFill>
              <a:srgbClr val="000054"/>
            </a:solidFill>
          </p:spPr>
          <p:txBody>
            <a:bodyPr/>
            <a:lstStyle/>
            <a:p>
              <a:endParaRPr lang="en-AU" dirty="0"/>
            </a:p>
          </p:txBody>
        </p:sp>
      </p:grpSp>
      <p:grpSp>
        <p:nvGrpSpPr>
          <p:cNvPr id="4" name="Group 4"/>
          <p:cNvGrpSpPr/>
          <p:nvPr/>
        </p:nvGrpSpPr>
        <p:grpSpPr>
          <a:xfrm>
            <a:off x="1524000" y="6065520"/>
            <a:ext cx="792480" cy="792480"/>
            <a:chOff x="0" y="0"/>
            <a:chExt cx="1127083" cy="1127083"/>
          </a:xfrm>
        </p:grpSpPr>
        <p:sp>
          <p:nvSpPr>
            <p:cNvPr id="5" name="Freeform 5"/>
            <p:cNvSpPr/>
            <p:nvPr/>
          </p:nvSpPr>
          <p:spPr>
            <a:xfrm>
              <a:off x="0" y="0"/>
              <a:ext cx="1127125" cy="1127125"/>
            </a:xfrm>
            <a:custGeom>
              <a:avLst/>
              <a:gdLst/>
              <a:ahLst/>
              <a:cxnLst/>
              <a:rect l="l" t="t" r="r" b="b"/>
              <a:pathLst>
                <a:path w="1127125" h="1127125">
                  <a:moveTo>
                    <a:pt x="0" y="0"/>
                  </a:moveTo>
                  <a:lnTo>
                    <a:pt x="563499" y="0"/>
                  </a:lnTo>
                  <a:lnTo>
                    <a:pt x="563499" y="563499"/>
                  </a:lnTo>
                  <a:lnTo>
                    <a:pt x="1127125" y="563499"/>
                  </a:lnTo>
                  <a:lnTo>
                    <a:pt x="1127125" y="1127125"/>
                  </a:lnTo>
                  <a:lnTo>
                    <a:pt x="0" y="1127125"/>
                  </a:lnTo>
                  <a:close/>
                </a:path>
              </a:pathLst>
            </a:custGeom>
            <a:solidFill>
              <a:srgbClr val="E60028"/>
            </a:solidFill>
          </p:spPr>
          <p:txBody>
            <a:bodyPr/>
            <a:lstStyle/>
            <a:p>
              <a:endParaRPr lang="en-AU" dirty="0"/>
            </a:p>
          </p:txBody>
        </p:sp>
      </p:grpSp>
      <p:grpSp>
        <p:nvGrpSpPr>
          <p:cNvPr id="6" name="Group 6"/>
          <p:cNvGrpSpPr/>
          <p:nvPr/>
        </p:nvGrpSpPr>
        <p:grpSpPr>
          <a:xfrm rot="-10800000">
            <a:off x="9521567" y="-12700"/>
            <a:ext cx="1146433" cy="1146433"/>
            <a:chOff x="0" y="0"/>
            <a:chExt cx="1630482" cy="1630482"/>
          </a:xfrm>
        </p:grpSpPr>
        <p:sp>
          <p:nvSpPr>
            <p:cNvPr id="7" name="Freeform 7"/>
            <p:cNvSpPr/>
            <p:nvPr/>
          </p:nvSpPr>
          <p:spPr>
            <a:xfrm>
              <a:off x="0" y="0"/>
              <a:ext cx="1630426" cy="1630426"/>
            </a:xfrm>
            <a:custGeom>
              <a:avLst/>
              <a:gdLst/>
              <a:ahLst/>
              <a:cxnLst/>
              <a:rect l="l" t="t" r="r" b="b"/>
              <a:pathLst>
                <a:path w="1630426" h="1630426">
                  <a:moveTo>
                    <a:pt x="0" y="0"/>
                  </a:moveTo>
                  <a:lnTo>
                    <a:pt x="543433" y="0"/>
                  </a:lnTo>
                  <a:lnTo>
                    <a:pt x="543433" y="543433"/>
                  </a:lnTo>
                  <a:lnTo>
                    <a:pt x="1086993" y="543433"/>
                  </a:lnTo>
                  <a:lnTo>
                    <a:pt x="1086993" y="1086993"/>
                  </a:lnTo>
                  <a:lnTo>
                    <a:pt x="1630426" y="1086993"/>
                  </a:lnTo>
                  <a:lnTo>
                    <a:pt x="1630426" y="1630426"/>
                  </a:lnTo>
                  <a:lnTo>
                    <a:pt x="0" y="1630426"/>
                  </a:lnTo>
                  <a:lnTo>
                    <a:pt x="0" y="1086993"/>
                  </a:lnTo>
                  <a:lnTo>
                    <a:pt x="0" y="543433"/>
                  </a:lnTo>
                  <a:close/>
                </a:path>
              </a:pathLst>
            </a:custGeom>
            <a:solidFill>
              <a:srgbClr val="AA00AA"/>
            </a:solidFill>
          </p:spPr>
          <p:txBody>
            <a:bodyPr/>
            <a:lstStyle/>
            <a:p>
              <a:endParaRPr lang="en-AU" dirty="0"/>
            </a:p>
          </p:txBody>
        </p:sp>
      </p:grpSp>
      <p:sp>
        <p:nvSpPr>
          <p:cNvPr id="8" name="Freeform 8"/>
          <p:cNvSpPr/>
          <p:nvPr/>
        </p:nvSpPr>
        <p:spPr>
          <a:xfrm>
            <a:off x="8815018" y="6096112"/>
            <a:ext cx="1405942" cy="629767"/>
          </a:xfrm>
          <a:custGeom>
            <a:avLst/>
            <a:gdLst/>
            <a:ahLst/>
            <a:cxnLst/>
            <a:rect l="l" t="t" r="r" b="b"/>
            <a:pathLst>
              <a:path w="1405942" h="629767">
                <a:moveTo>
                  <a:pt x="0" y="0"/>
                </a:moveTo>
                <a:lnTo>
                  <a:pt x="1405942" y="0"/>
                </a:lnTo>
                <a:lnTo>
                  <a:pt x="1405942" y="629767"/>
                </a:lnTo>
                <a:lnTo>
                  <a:pt x="0" y="629767"/>
                </a:lnTo>
                <a:lnTo>
                  <a:pt x="0" y="0"/>
                </a:lnTo>
                <a:close/>
              </a:path>
            </a:pathLst>
          </a:custGeom>
          <a:blipFill>
            <a:blip r:embed="rId2"/>
            <a:stretch>
              <a:fillRect l="-229" r="-229"/>
            </a:stretch>
          </a:blipFill>
        </p:spPr>
        <p:txBody>
          <a:bodyPr/>
          <a:lstStyle/>
          <a:p>
            <a:endParaRPr lang="en-AU" dirty="0"/>
          </a:p>
        </p:txBody>
      </p:sp>
      <p:grpSp>
        <p:nvGrpSpPr>
          <p:cNvPr id="9" name="Group 9"/>
          <p:cNvGrpSpPr/>
          <p:nvPr/>
        </p:nvGrpSpPr>
        <p:grpSpPr>
          <a:xfrm>
            <a:off x="0" y="1"/>
            <a:ext cx="12192000" cy="6858000"/>
            <a:chOff x="0" y="0"/>
            <a:chExt cx="17339733" cy="9753600"/>
          </a:xfrm>
        </p:grpSpPr>
        <p:sp>
          <p:nvSpPr>
            <p:cNvPr id="10" name="Freeform 10"/>
            <p:cNvSpPr/>
            <p:nvPr/>
          </p:nvSpPr>
          <p:spPr>
            <a:xfrm>
              <a:off x="0" y="0"/>
              <a:ext cx="17339734" cy="9753600"/>
            </a:xfrm>
            <a:custGeom>
              <a:avLst/>
              <a:gdLst/>
              <a:ahLst/>
              <a:cxnLst/>
              <a:rect l="l" t="t" r="r" b="b"/>
              <a:pathLst>
                <a:path w="17339734" h="9753600">
                  <a:moveTo>
                    <a:pt x="0" y="0"/>
                  </a:moveTo>
                  <a:lnTo>
                    <a:pt x="17339734" y="0"/>
                  </a:lnTo>
                  <a:lnTo>
                    <a:pt x="17339734" y="9753600"/>
                  </a:lnTo>
                  <a:lnTo>
                    <a:pt x="0" y="9753600"/>
                  </a:lnTo>
                  <a:close/>
                </a:path>
              </a:pathLst>
            </a:custGeom>
            <a:solidFill>
              <a:srgbClr val="000054"/>
            </a:solidFill>
          </p:spPr>
          <p:txBody>
            <a:bodyPr/>
            <a:lstStyle/>
            <a:p>
              <a:endParaRPr lang="en-AU" dirty="0"/>
            </a:p>
          </p:txBody>
        </p:sp>
      </p:grpSp>
      <p:grpSp>
        <p:nvGrpSpPr>
          <p:cNvPr id="11" name="Group 11"/>
          <p:cNvGrpSpPr/>
          <p:nvPr/>
        </p:nvGrpSpPr>
        <p:grpSpPr>
          <a:xfrm>
            <a:off x="0" y="6065520"/>
            <a:ext cx="792480" cy="792480"/>
            <a:chOff x="0" y="0"/>
            <a:chExt cx="1127083" cy="1127083"/>
          </a:xfrm>
        </p:grpSpPr>
        <p:sp>
          <p:nvSpPr>
            <p:cNvPr id="12" name="Freeform 12"/>
            <p:cNvSpPr/>
            <p:nvPr/>
          </p:nvSpPr>
          <p:spPr>
            <a:xfrm>
              <a:off x="0" y="0"/>
              <a:ext cx="1127125" cy="1127125"/>
            </a:xfrm>
            <a:custGeom>
              <a:avLst/>
              <a:gdLst/>
              <a:ahLst/>
              <a:cxnLst/>
              <a:rect l="l" t="t" r="r" b="b"/>
              <a:pathLst>
                <a:path w="1127125" h="1127125">
                  <a:moveTo>
                    <a:pt x="0" y="0"/>
                  </a:moveTo>
                  <a:lnTo>
                    <a:pt x="563499" y="0"/>
                  </a:lnTo>
                  <a:lnTo>
                    <a:pt x="563499" y="563499"/>
                  </a:lnTo>
                  <a:lnTo>
                    <a:pt x="1127125" y="563499"/>
                  </a:lnTo>
                  <a:lnTo>
                    <a:pt x="1127125" y="1127125"/>
                  </a:lnTo>
                  <a:lnTo>
                    <a:pt x="0" y="1127125"/>
                  </a:lnTo>
                  <a:close/>
                </a:path>
              </a:pathLst>
            </a:custGeom>
            <a:solidFill>
              <a:srgbClr val="E60028"/>
            </a:solidFill>
          </p:spPr>
          <p:txBody>
            <a:bodyPr/>
            <a:lstStyle/>
            <a:p>
              <a:endParaRPr lang="en-AU" dirty="0"/>
            </a:p>
          </p:txBody>
        </p:sp>
      </p:grpSp>
      <p:sp>
        <p:nvSpPr>
          <p:cNvPr id="13" name="Freeform 13"/>
          <p:cNvSpPr/>
          <p:nvPr/>
        </p:nvSpPr>
        <p:spPr>
          <a:xfrm>
            <a:off x="10381972" y="5925709"/>
            <a:ext cx="1405942" cy="629768"/>
          </a:xfrm>
          <a:custGeom>
            <a:avLst/>
            <a:gdLst/>
            <a:ahLst/>
            <a:cxnLst/>
            <a:rect l="l" t="t" r="r" b="b"/>
            <a:pathLst>
              <a:path w="1405942" h="629768">
                <a:moveTo>
                  <a:pt x="0" y="0"/>
                </a:moveTo>
                <a:lnTo>
                  <a:pt x="1405942" y="0"/>
                </a:lnTo>
                <a:lnTo>
                  <a:pt x="1405942" y="629768"/>
                </a:lnTo>
                <a:lnTo>
                  <a:pt x="0" y="629768"/>
                </a:lnTo>
                <a:lnTo>
                  <a:pt x="0" y="0"/>
                </a:lnTo>
                <a:close/>
              </a:path>
            </a:pathLst>
          </a:custGeom>
          <a:blipFill>
            <a:blip r:embed="rId3"/>
            <a:stretch>
              <a:fillRect l="-229" r="-229"/>
            </a:stretch>
          </a:blipFill>
        </p:spPr>
        <p:txBody>
          <a:bodyPr/>
          <a:lstStyle/>
          <a:p>
            <a:endParaRPr lang="en-AU" dirty="0"/>
          </a:p>
        </p:txBody>
      </p:sp>
      <p:grpSp>
        <p:nvGrpSpPr>
          <p:cNvPr id="14" name="Group 14"/>
          <p:cNvGrpSpPr/>
          <p:nvPr/>
        </p:nvGrpSpPr>
        <p:grpSpPr>
          <a:xfrm rot="5400000">
            <a:off x="8991603" y="0"/>
            <a:ext cx="3200396" cy="3200398"/>
            <a:chOff x="0" y="0"/>
            <a:chExt cx="4551674" cy="4551677"/>
          </a:xfrm>
        </p:grpSpPr>
        <p:sp>
          <p:nvSpPr>
            <p:cNvPr id="15" name="Freeform 15"/>
            <p:cNvSpPr/>
            <p:nvPr/>
          </p:nvSpPr>
          <p:spPr>
            <a:xfrm>
              <a:off x="0" y="0"/>
              <a:ext cx="4551680" cy="4551680"/>
            </a:xfrm>
            <a:custGeom>
              <a:avLst/>
              <a:gdLst/>
              <a:ahLst/>
              <a:cxnLst/>
              <a:rect l="l" t="t" r="r" b="b"/>
              <a:pathLst>
                <a:path w="4551680" h="4551680">
                  <a:moveTo>
                    <a:pt x="0" y="0"/>
                  </a:moveTo>
                  <a:lnTo>
                    <a:pt x="4551680" y="0"/>
                  </a:lnTo>
                  <a:cubicBezTo>
                    <a:pt x="4551680" y="2513838"/>
                    <a:pt x="2513838" y="4551680"/>
                    <a:pt x="0" y="4551680"/>
                  </a:cubicBezTo>
                  <a:close/>
                </a:path>
              </a:pathLst>
            </a:custGeom>
            <a:solidFill>
              <a:srgbClr val="7AE1AA"/>
            </a:solidFill>
          </p:spPr>
          <p:txBody>
            <a:bodyPr/>
            <a:lstStyle/>
            <a:p>
              <a:endParaRPr lang="en-AU" dirty="0"/>
            </a:p>
          </p:txBody>
        </p:sp>
      </p:grpSp>
      <p:sp>
        <p:nvSpPr>
          <p:cNvPr id="16" name="TextBox 16"/>
          <p:cNvSpPr txBox="1"/>
          <p:nvPr/>
        </p:nvSpPr>
        <p:spPr>
          <a:xfrm>
            <a:off x="2537901" y="1616936"/>
            <a:ext cx="6187757" cy="3183731"/>
          </a:xfrm>
          <a:prstGeom prst="rect">
            <a:avLst/>
          </a:prstGeom>
        </p:spPr>
        <p:txBody>
          <a:bodyPr lIns="0" tIns="0" rIns="0" bIns="0" rtlCol="0" anchor="t">
            <a:spAutoFit/>
          </a:bodyPr>
          <a:lstStyle/>
          <a:p>
            <a:pPr algn="l">
              <a:lnSpc>
                <a:spcPts val="4320"/>
              </a:lnSpc>
            </a:pPr>
            <a:r>
              <a:rPr lang="en-US" sz="3600" b="1" dirty="0">
                <a:solidFill>
                  <a:srgbClr val="7AE1AA"/>
                </a:solidFill>
                <a:latin typeface="Arial Bold"/>
                <a:ea typeface="Arial Bold"/>
                <a:cs typeface="Arial Bold"/>
                <a:sym typeface="Arial Bold"/>
              </a:rPr>
              <a:t>—</a:t>
            </a:r>
          </a:p>
          <a:p>
            <a:pPr algn="l">
              <a:lnSpc>
                <a:spcPts val="4320"/>
              </a:lnSpc>
            </a:pPr>
            <a:r>
              <a:rPr lang="en-US" sz="3600" b="1" dirty="0">
                <a:solidFill>
                  <a:srgbClr val="FFFFFF"/>
                </a:solidFill>
                <a:latin typeface="Arial Bold"/>
                <a:ea typeface="Arial Bold"/>
                <a:cs typeface="Arial Bold"/>
                <a:sym typeface="Arial Bold"/>
              </a:rPr>
              <a:t>Questions?</a:t>
            </a:r>
          </a:p>
          <a:p>
            <a:pPr algn="l">
              <a:lnSpc>
                <a:spcPts val="4320"/>
              </a:lnSpc>
            </a:pPr>
            <a:endParaRPr lang="en-US" sz="3600" b="1" dirty="0">
              <a:solidFill>
                <a:srgbClr val="FFFFFF"/>
              </a:solidFill>
              <a:latin typeface="Arial Bold"/>
              <a:ea typeface="Arial Bold"/>
              <a:cs typeface="Arial Bold"/>
              <a:sym typeface="Arial Bold"/>
            </a:endParaRPr>
          </a:p>
          <a:p>
            <a:pPr algn="l">
              <a:lnSpc>
                <a:spcPts val="2375"/>
              </a:lnSpc>
            </a:pPr>
            <a:r>
              <a:rPr lang="en-US" sz="1979" b="1" dirty="0">
                <a:solidFill>
                  <a:srgbClr val="FFFFFF"/>
                </a:solidFill>
                <a:latin typeface="Arial Bold"/>
                <a:ea typeface="Arial Bold"/>
                <a:cs typeface="Arial Bold"/>
                <a:sym typeface="Arial Bold"/>
              </a:rPr>
              <a:t>Email</a:t>
            </a:r>
          </a:p>
          <a:p>
            <a:pPr algn="l">
              <a:lnSpc>
                <a:spcPts val="2375"/>
              </a:lnSpc>
            </a:pPr>
            <a:r>
              <a:rPr lang="en-US" sz="1979" b="1" dirty="0">
                <a:solidFill>
                  <a:srgbClr val="FFFFFF"/>
                </a:solidFill>
                <a:latin typeface="Arial Bold"/>
                <a:ea typeface="Arial Bold"/>
                <a:cs typeface="Arial Bold"/>
                <a:sym typeface="Arial Bold"/>
              </a:rPr>
              <a:t>richard.taylor2@rmit.edu.au</a:t>
            </a:r>
          </a:p>
          <a:p>
            <a:pPr algn="l">
              <a:lnSpc>
                <a:spcPts val="2375"/>
              </a:lnSpc>
            </a:pPr>
            <a:endParaRPr lang="en-US" sz="1979" b="1" dirty="0">
              <a:solidFill>
                <a:srgbClr val="FFFFFF"/>
              </a:solidFill>
              <a:latin typeface="Arial Bold"/>
              <a:ea typeface="Arial Bold"/>
              <a:cs typeface="Arial Bold"/>
              <a:sym typeface="Arial Bold"/>
            </a:endParaRPr>
          </a:p>
          <a:p>
            <a:pPr algn="l">
              <a:lnSpc>
                <a:spcPts val="2375"/>
              </a:lnSpc>
            </a:pPr>
            <a:endParaRPr lang="en-US" sz="1979" b="1" dirty="0">
              <a:solidFill>
                <a:srgbClr val="FFFFFF"/>
              </a:solidFill>
              <a:latin typeface="Arial Bold"/>
              <a:ea typeface="Arial Bold"/>
              <a:cs typeface="Arial Bold"/>
              <a:sym typeface="Arial Bold"/>
            </a:endParaRPr>
          </a:p>
          <a:p>
            <a:pPr algn="l">
              <a:lnSpc>
                <a:spcPts val="2375"/>
              </a:lnSpc>
            </a:pPr>
            <a:endParaRPr lang="en-US" sz="1979" b="1" dirty="0">
              <a:solidFill>
                <a:srgbClr val="FFFFFF"/>
              </a:solidFill>
              <a:latin typeface="Arial Bold"/>
              <a:ea typeface="Arial Bold"/>
              <a:cs typeface="Arial Bold"/>
              <a:sym typeface="Arial Bold"/>
            </a:endParaRPr>
          </a:p>
        </p:txBody>
      </p:sp>
      <p:sp>
        <p:nvSpPr>
          <p:cNvPr id="17" name="AutoShape 17"/>
          <p:cNvSpPr/>
          <p:nvPr/>
        </p:nvSpPr>
        <p:spPr>
          <a:xfrm rot="47869">
            <a:off x="2533397" y="5904079"/>
            <a:ext cx="1824172" cy="0"/>
          </a:xfrm>
          <a:prstGeom prst="line">
            <a:avLst/>
          </a:prstGeom>
          <a:ln w="19050" cap="rnd">
            <a:solidFill>
              <a:srgbClr val="7AE1AA"/>
            </a:solidFill>
            <a:prstDash val="solid"/>
            <a:headEnd type="none" w="sm" len="sm"/>
            <a:tailEnd type="none" w="sm" len="sm"/>
          </a:ln>
        </p:spPr>
        <p:txBody>
          <a:bodyPr/>
          <a:lstStyle/>
          <a:p>
            <a:endParaRPr lang="en-AU"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1_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3_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Metadata/LabelInfo.xml><?xml version="1.0" encoding="utf-8"?>
<clbl:labelList xmlns:clbl="http://schemas.microsoft.com/office/2020/mipLabelMetadata">
  <clbl:label id="{ddaa77bc-0157-46a4-82a6-8fc765694bc9}" enabled="1" method="Standard" siteId="{d1323671-cdbe-4417-b4d4-bdb24b51316b}" removed="0"/>
</clbl:labelList>
</file>

<file path=docProps/app.xml><?xml version="1.0" encoding="utf-8"?>
<Properties xmlns="http://schemas.openxmlformats.org/officeDocument/2006/extended-properties" xmlns:vt="http://schemas.openxmlformats.org/officeDocument/2006/docPropsVTypes">
  <TotalTime>1798</TotalTime>
  <Words>5592</Words>
  <Application>Microsoft Office PowerPoint</Application>
  <PresentationFormat>Widescreen</PresentationFormat>
  <Paragraphs>396</Paragraphs>
  <Slides>44</Slides>
  <Notes>1</Notes>
  <HiddenSlides>0</HiddenSlides>
  <MMClips>0</MMClips>
  <ScaleCrop>false</ScaleCrop>
  <HeadingPairs>
    <vt:vector size="6" baseType="variant">
      <vt:variant>
        <vt:lpstr>Fonts Used</vt:lpstr>
      </vt:variant>
      <vt:variant>
        <vt:i4>9</vt:i4>
      </vt:variant>
      <vt:variant>
        <vt:lpstr>Theme</vt:lpstr>
      </vt:variant>
      <vt:variant>
        <vt:i4>3</vt:i4>
      </vt:variant>
      <vt:variant>
        <vt:lpstr>Slide Titles</vt:lpstr>
      </vt:variant>
      <vt:variant>
        <vt:i4>44</vt:i4>
      </vt:variant>
    </vt:vector>
  </HeadingPairs>
  <TitlesOfParts>
    <vt:vector size="56" baseType="lpstr">
      <vt:lpstr>Arial</vt:lpstr>
      <vt:lpstr>Merriweather</vt:lpstr>
      <vt:lpstr>Glacial Indifference</vt:lpstr>
      <vt:lpstr>Calibri</vt:lpstr>
      <vt:lpstr>Montserrat Ultra-Bold</vt:lpstr>
      <vt:lpstr>Montserrat Bold</vt:lpstr>
      <vt:lpstr>Aptos</vt:lpstr>
      <vt:lpstr>Arial Bold</vt:lpstr>
      <vt:lpstr>Wingdings</vt:lpstr>
      <vt:lpstr>Office Theme</vt:lpstr>
      <vt:lpstr>1_Office Theme</vt:lpstr>
      <vt:lpstr>3_Office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2024 Week 1 Old Slides.pdf</dc:title>
  <dc:creator>richj_4aa5khv</dc:creator>
  <cp:lastModifiedBy>Richard Taylor</cp:lastModifiedBy>
  <cp:revision>11</cp:revision>
  <dcterms:created xsi:type="dcterms:W3CDTF">2006-08-16T00:00:00Z</dcterms:created>
  <dcterms:modified xsi:type="dcterms:W3CDTF">2025-08-20T23:57:36Z</dcterms:modified>
  <dc:identifier>DAGpupLjq9o</dc:identifier>
</cp:coreProperties>
</file>