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702" r:id="rId1"/>
  </p:sldMasterIdLst>
  <p:notesMasterIdLst>
    <p:notesMasterId r:id="rId9"/>
  </p:notesMasterIdLst>
  <p:sldIdLst>
    <p:sldId id="369" r:id="rId2"/>
    <p:sldId id="370" r:id="rId3"/>
    <p:sldId id="371" r:id="rId4"/>
    <p:sldId id="348" r:id="rId5"/>
    <p:sldId id="365" r:id="rId6"/>
    <p:sldId id="366" r:id="rId7"/>
    <p:sldId id="368" r:id="rId8"/>
  </p:sldIdLst>
  <p:sldSz cx="12192000" cy="6858000"/>
  <p:notesSz cx="6889750" cy="1002188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1067" autoAdjust="0"/>
  </p:normalViewPr>
  <p:slideViewPr>
    <p:cSldViewPr snapToGrid="0">
      <p:cViewPr varScale="1">
        <p:scale>
          <a:sx n="83" d="100"/>
          <a:sy n="83" d="100"/>
        </p:scale>
        <p:origin x="6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5558" cy="502835"/>
          </a:xfrm>
          <a:prstGeom prst="rect">
            <a:avLst/>
          </a:prstGeom>
        </p:spPr>
        <p:txBody>
          <a:bodyPr vert="horz" lIns="96634" tIns="48317" rIns="96634" bIns="48317" rtlCol="0"/>
          <a:lstStyle>
            <a:lvl1pPr algn="l">
              <a:defRPr sz="1300"/>
            </a:lvl1pPr>
          </a:lstStyle>
          <a:p>
            <a:endParaRPr lang="en-AU"/>
          </a:p>
        </p:txBody>
      </p:sp>
      <p:sp>
        <p:nvSpPr>
          <p:cNvPr id="3" name="Date Placeholder 2"/>
          <p:cNvSpPr>
            <a:spLocks noGrp="1"/>
          </p:cNvSpPr>
          <p:nvPr>
            <p:ph type="dt" idx="1"/>
          </p:nvPr>
        </p:nvSpPr>
        <p:spPr>
          <a:xfrm>
            <a:off x="3902597" y="0"/>
            <a:ext cx="2985558" cy="502835"/>
          </a:xfrm>
          <a:prstGeom prst="rect">
            <a:avLst/>
          </a:prstGeom>
        </p:spPr>
        <p:txBody>
          <a:bodyPr vert="horz" lIns="96634" tIns="48317" rIns="96634" bIns="48317" rtlCol="0"/>
          <a:lstStyle>
            <a:lvl1pPr algn="r">
              <a:defRPr sz="1300"/>
            </a:lvl1pPr>
          </a:lstStyle>
          <a:p>
            <a:fld id="{74E81D2F-CA8E-437A-9D10-66BAEF403EE8}" type="datetimeFigureOut">
              <a:rPr lang="en-AU" smtClean="0"/>
              <a:t>19/04/2024</a:t>
            </a:fld>
            <a:endParaRPr lang="en-AU"/>
          </a:p>
        </p:txBody>
      </p:sp>
      <p:sp>
        <p:nvSpPr>
          <p:cNvPr id="4" name="Slide Image Placeholder 3"/>
          <p:cNvSpPr>
            <a:spLocks noGrp="1" noRot="1" noChangeAspect="1"/>
          </p:cNvSpPr>
          <p:nvPr>
            <p:ph type="sldImg" idx="2"/>
          </p:nvPr>
        </p:nvSpPr>
        <p:spPr>
          <a:xfrm>
            <a:off x="438150" y="1252538"/>
            <a:ext cx="6013450" cy="3382962"/>
          </a:xfrm>
          <a:prstGeom prst="rect">
            <a:avLst/>
          </a:prstGeom>
          <a:noFill/>
          <a:ln w="12700">
            <a:solidFill>
              <a:prstClr val="black"/>
            </a:solidFill>
          </a:ln>
        </p:spPr>
        <p:txBody>
          <a:bodyPr vert="horz" lIns="96634" tIns="48317" rIns="96634" bIns="48317" rtlCol="0" anchor="ctr"/>
          <a:lstStyle/>
          <a:p>
            <a:endParaRPr lang="en-AU"/>
          </a:p>
        </p:txBody>
      </p:sp>
      <p:sp>
        <p:nvSpPr>
          <p:cNvPr id="5" name="Notes Placeholder 4"/>
          <p:cNvSpPr>
            <a:spLocks noGrp="1"/>
          </p:cNvSpPr>
          <p:nvPr>
            <p:ph type="body" sz="quarter" idx="3"/>
          </p:nvPr>
        </p:nvSpPr>
        <p:spPr>
          <a:xfrm>
            <a:off x="688975" y="4823034"/>
            <a:ext cx="5511800" cy="3946118"/>
          </a:xfrm>
          <a:prstGeom prst="rect">
            <a:avLst/>
          </a:prstGeom>
        </p:spPr>
        <p:txBody>
          <a:bodyPr vert="horz" lIns="96634" tIns="48317" rIns="96634" bIns="48317"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519055"/>
            <a:ext cx="2985558" cy="502834"/>
          </a:xfrm>
          <a:prstGeom prst="rect">
            <a:avLst/>
          </a:prstGeom>
        </p:spPr>
        <p:txBody>
          <a:bodyPr vert="horz" lIns="96634" tIns="48317" rIns="96634" bIns="48317" rtlCol="0" anchor="b"/>
          <a:lstStyle>
            <a:lvl1pPr algn="l">
              <a:defRPr sz="1300"/>
            </a:lvl1pPr>
          </a:lstStyle>
          <a:p>
            <a:endParaRPr lang="en-AU"/>
          </a:p>
        </p:txBody>
      </p:sp>
      <p:sp>
        <p:nvSpPr>
          <p:cNvPr id="7" name="Slide Number Placeholder 6"/>
          <p:cNvSpPr>
            <a:spLocks noGrp="1"/>
          </p:cNvSpPr>
          <p:nvPr>
            <p:ph type="sldNum" sz="quarter" idx="5"/>
          </p:nvPr>
        </p:nvSpPr>
        <p:spPr>
          <a:xfrm>
            <a:off x="3902597" y="9519055"/>
            <a:ext cx="2985558" cy="502834"/>
          </a:xfrm>
          <a:prstGeom prst="rect">
            <a:avLst/>
          </a:prstGeom>
        </p:spPr>
        <p:txBody>
          <a:bodyPr vert="horz" lIns="96634" tIns="48317" rIns="96634" bIns="48317" rtlCol="0" anchor="b"/>
          <a:lstStyle>
            <a:lvl1pPr algn="r">
              <a:defRPr sz="1300"/>
            </a:lvl1pPr>
          </a:lstStyle>
          <a:p>
            <a:fld id="{E1069A12-0405-4B4D-BF55-6AD03D1360C1}" type="slidenum">
              <a:rPr lang="en-AU" smtClean="0"/>
              <a:t>‹#›</a:t>
            </a:fld>
            <a:endParaRPr lang="en-AU"/>
          </a:p>
        </p:txBody>
      </p:sp>
    </p:spTree>
    <p:extLst>
      <p:ext uri="{BB962C8B-B14F-4D97-AF65-F5344CB8AC3E}">
        <p14:creationId xmlns:p14="http://schemas.microsoft.com/office/powerpoint/2010/main" val="308000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1069A12-0405-4B4D-BF55-6AD03D1360C1}" type="slidenum">
              <a:rPr lang="en-AU" smtClean="0"/>
              <a:t>4</a:t>
            </a:fld>
            <a:endParaRPr lang="en-AU"/>
          </a:p>
        </p:txBody>
      </p:sp>
    </p:spTree>
    <p:extLst>
      <p:ext uri="{BB962C8B-B14F-4D97-AF65-F5344CB8AC3E}">
        <p14:creationId xmlns:p14="http://schemas.microsoft.com/office/powerpoint/2010/main" val="2953758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10"/>
          </p:nvPr>
        </p:nvSpPr>
        <p:spPr/>
        <p:txBody>
          <a:bodyPr/>
          <a:lstStyle/>
          <a:p>
            <a:fld id="{E1069A12-0405-4B4D-BF55-6AD03D1360C1}" type="slidenum">
              <a:rPr lang="en-AU" smtClean="0"/>
              <a:t>5</a:t>
            </a:fld>
            <a:endParaRPr lang="en-AU"/>
          </a:p>
        </p:txBody>
      </p:sp>
    </p:spTree>
    <p:extLst>
      <p:ext uri="{BB962C8B-B14F-4D97-AF65-F5344CB8AC3E}">
        <p14:creationId xmlns:p14="http://schemas.microsoft.com/office/powerpoint/2010/main" val="4266910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1584" indent="-241584">
              <a:buAutoNum type="arabicParenR"/>
            </a:pPr>
            <a:endParaRPr lang="en-AU" dirty="0"/>
          </a:p>
        </p:txBody>
      </p:sp>
      <p:sp>
        <p:nvSpPr>
          <p:cNvPr id="4" name="Slide Number Placeholder 3"/>
          <p:cNvSpPr>
            <a:spLocks noGrp="1"/>
          </p:cNvSpPr>
          <p:nvPr>
            <p:ph type="sldNum" sz="quarter" idx="10"/>
          </p:nvPr>
        </p:nvSpPr>
        <p:spPr/>
        <p:txBody>
          <a:bodyPr/>
          <a:lstStyle/>
          <a:p>
            <a:fld id="{E1069A12-0405-4B4D-BF55-6AD03D1360C1}" type="slidenum">
              <a:rPr lang="en-AU" smtClean="0"/>
              <a:t>6</a:t>
            </a:fld>
            <a:endParaRPr lang="en-AU"/>
          </a:p>
        </p:txBody>
      </p:sp>
    </p:spTree>
    <p:extLst>
      <p:ext uri="{BB962C8B-B14F-4D97-AF65-F5344CB8AC3E}">
        <p14:creationId xmlns:p14="http://schemas.microsoft.com/office/powerpoint/2010/main" val="2005605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188" indent="-181188">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E1069A12-0405-4B4D-BF55-6AD03D1360C1}" type="slidenum">
              <a:rPr lang="en-AU" smtClean="0"/>
              <a:t>7</a:t>
            </a:fld>
            <a:endParaRPr lang="en-AU"/>
          </a:p>
        </p:txBody>
      </p:sp>
    </p:spTree>
    <p:extLst>
      <p:ext uri="{BB962C8B-B14F-4D97-AF65-F5344CB8AC3E}">
        <p14:creationId xmlns:p14="http://schemas.microsoft.com/office/powerpoint/2010/main" val="1358797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8AA0D8-9387-40A4-983F-0B2DACF3C14A}" type="datetime1">
              <a:rPr lang="en-US" smtClean="0"/>
              <a:t>4/19/2024</a:t>
            </a:fld>
            <a:endParaRPr lang="en-US" dirty="0"/>
          </a:p>
        </p:txBody>
      </p:sp>
      <p:sp>
        <p:nvSpPr>
          <p:cNvPr id="5" name="Footer Placeholder 4"/>
          <p:cNvSpPr>
            <a:spLocks noGrp="1"/>
          </p:cNvSpPr>
          <p:nvPr>
            <p:ph type="ftr" sz="quarter" idx="11"/>
          </p:nvPr>
        </p:nvSpPr>
        <p:spPr/>
        <p:txBody>
          <a:bodyPr/>
          <a:lstStyle/>
          <a:p>
            <a:r>
              <a:rPr lang="en-AU"/>
              <a:t>RMIT Administrative Law, 2019 Semester 1</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0136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5297AB-54C5-4B95-A76F-5E335195EDC6}" type="datetime1">
              <a:rPr lang="en-US" smtClean="0"/>
              <a:t>4/19/2024</a:t>
            </a:fld>
            <a:endParaRPr lang="en-US" dirty="0"/>
          </a:p>
        </p:txBody>
      </p:sp>
      <p:sp>
        <p:nvSpPr>
          <p:cNvPr id="5" name="Footer Placeholder 4"/>
          <p:cNvSpPr>
            <a:spLocks noGrp="1"/>
          </p:cNvSpPr>
          <p:nvPr>
            <p:ph type="ftr" sz="quarter" idx="11"/>
          </p:nvPr>
        </p:nvSpPr>
        <p:spPr/>
        <p:txBody>
          <a:bodyPr/>
          <a:lstStyle/>
          <a:p>
            <a:r>
              <a:rPr lang="en-AU"/>
              <a:t>RMIT Administrative Law, 2019 Semester 1</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81172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003F37-98FB-439F-A909-5CA6937FEB3F}" type="datetime1">
              <a:rPr lang="en-US" smtClean="0"/>
              <a:t>4/19/2024</a:t>
            </a:fld>
            <a:endParaRPr lang="en-US" dirty="0"/>
          </a:p>
        </p:txBody>
      </p:sp>
      <p:sp>
        <p:nvSpPr>
          <p:cNvPr id="5" name="Footer Placeholder 4"/>
          <p:cNvSpPr>
            <a:spLocks noGrp="1"/>
          </p:cNvSpPr>
          <p:nvPr>
            <p:ph type="ftr" sz="quarter" idx="11"/>
          </p:nvPr>
        </p:nvSpPr>
        <p:spPr/>
        <p:txBody>
          <a:bodyPr/>
          <a:lstStyle/>
          <a:p>
            <a:r>
              <a:rPr lang="en-AU"/>
              <a:t>RMIT Administrative Law, 2019 Semester 1</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691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789011-7994-4383-8EE6-A66441DB203C}" type="datetime1">
              <a:rPr lang="en-US" smtClean="0"/>
              <a:t>4/19/2024</a:t>
            </a:fld>
            <a:endParaRPr lang="en-US" dirty="0"/>
          </a:p>
        </p:txBody>
      </p:sp>
      <p:sp>
        <p:nvSpPr>
          <p:cNvPr id="6" name="Footer Placeholder 5"/>
          <p:cNvSpPr>
            <a:spLocks noGrp="1"/>
          </p:cNvSpPr>
          <p:nvPr>
            <p:ph type="ftr" sz="quarter" idx="11"/>
          </p:nvPr>
        </p:nvSpPr>
        <p:spPr/>
        <p:txBody>
          <a:bodyPr/>
          <a:lstStyle/>
          <a:p>
            <a:r>
              <a:rPr lang="en-AU"/>
              <a:t>RMIT Administrative Law, 2019 Semester 1</a:t>
            </a:r>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954981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ED384A-208B-49F7-98F3-B257BFA728F2}" type="datetime1">
              <a:rPr lang="en-US" smtClean="0"/>
              <a:t>4/19/2024</a:t>
            </a:fld>
            <a:endParaRPr lang="en-US" dirty="0"/>
          </a:p>
        </p:txBody>
      </p:sp>
      <p:sp>
        <p:nvSpPr>
          <p:cNvPr id="8" name="Footer Placeholder 7"/>
          <p:cNvSpPr>
            <a:spLocks noGrp="1"/>
          </p:cNvSpPr>
          <p:nvPr>
            <p:ph type="ftr" sz="quarter" idx="11"/>
          </p:nvPr>
        </p:nvSpPr>
        <p:spPr/>
        <p:txBody>
          <a:bodyPr/>
          <a:lstStyle/>
          <a:p>
            <a:r>
              <a:rPr lang="en-AU"/>
              <a:t>RMIT Administrative Law, 2019 Semester 1</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6483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93C9A6-5718-4803-B7AE-86715A9345CE}" type="datetime1">
              <a:rPr lang="en-US" smtClean="0"/>
              <a:t>4/19/2024</a:t>
            </a:fld>
            <a:endParaRPr lang="en-US" dirty="0"/>
          </a:p>
        </p:txBody>
      </p:sp>
      <p:sp>
        <p:nvSpPr>
          <p:cNvPr id="4" name="Footer Placeholder 3"/>
          <p:cNvSpPr>
            <a:spLocks noGrp="1"/>
          </p:cNvSpPr>
          <p:nvPr>
            <p:ph type="ftr" sz="quarter" idx="11"/>
          </p:nvPr>
        </p:nvSpPr>
        <p:spPr/>
        <p:txBody>
          <a:bodyPr/>
          <a:lstStyle/>
          <a:p>
            <a:r>
              <a:rPr lang="en-AU"/>
              <a:t>RMIT Administrative Law, 2019 Semester 1</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70156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3792C4F-4916-40ED-A699-66CFCB7B12FC}" type="datetime1">
              <a:rPr lang="en-US" smtClean="0"/>
              <a:t>4/19/2024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AU"/>
              <a:t>RMIT Administrative Law, 2019 Semester 1</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27851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B8A379E-CD20-482A-9EC9-C46FFA8C306E}" type="datetime1">
              <a:rPr lang="en-US" smtClean="0"/>
              <a:t>4/19/2024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AU"/>
              <a:t>RMIT Administrative Law, 2019 Semester 1</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9954A3-9DFD-4C44-94BA-B95130A3BA1C}" type="slidenum">
              <a:rPr lang="en-US" smtClean="0"/>
              <a:t>‹#›</a:t>
            </a:fld>
            <a:endParaRPr lang="en-US" dirty="0"/>
          </a:p>
        </p:txBody>
      </p:sp>
    </p:spTree>
    <p:extLst>
      <p:ext uri="{BB962C8B-B14F-4D97-AF65-F5344CB8AC3E}">
        <p14:creationId xmlns:p14="http://schemas.microsoft.com/office/powerpoint/2010/main" val="2404399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0E0AAC-2498-496D-AF11-1E97AE843ADB}" type="datetime1">
              <a:rPr lang="en-US" smtClean="0"/>
              <a:t>4/19/2024</a:t>
            </a:fld>
            <a:endParaRPr lang="en-US" dirty="0"/>
          </a:p>
        </p:txBody>
      </p:sp>
      <p:sp>
        <p:nvSpPr>
          <p:cNvPr id="6" name="Footer Placeholder 5"/>
          <p:cNvSpPr>
            <a:spLocks noGrp="1"/>
          </p:cNvSpPr>
          <p:nvPr>
            <p:ph type="ftr" sz="quarter" idx="11"/>
          </p:nvPr>
        </p:nvSpPr>
        <p:spPr/>
        <p:txBody>
          <a:bodyPr/>
          <a:lstStyle/>
          <a:p>
            <a:r>
              <a:rPr lang="en-AU"/>
              <a:t>RMIT Administrative Law, 2019 Semester 1</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2327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8C6F7-A743-44FD-8D7D-5D671CCAB1BC}" type="datetime1">
              <a:rPr lang="en-US" smtClean="0"/>
              <a:t>4/19/2024</a:t>
            </a:fld>
            <a:endParaRPr lang="en-US" dirty="0"/>
          </a:p>
        </p:txBody>
      </p:sp>
      <p:sp>
        <p:nvSpPr>
          <p:cNvPr id="5" name="Footer Placeholder 4"/>
          <p:cNvSpPr>
            <a:spLocks noGrp="1"/>
          </p:cNvSpPr>
          <p:nvPr>
            <p:ph type="ftr" sz="quarter" idx="11"/>
          </p:nvPr>
        </p:nvSpPr>
        <p:spPr/>
        <p:txBody>
          <a:bodyPr/>
          <a:lstStyle/>
          <a:p>
            <a:r>
              <a:rPr lang="en-AU"/>
              <a:t>RMIT Administrative Law, 2019 Semester 1</a:t>
            </a:r>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712019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B25069-C98A-4F73-965F-40AD75069322}" type="datetime1">
              <a:rPr lang="en-US" smtClean="0"/>
              <a:t>4/19/2024</a:t>
            </a:fld>
            <a:endParaRPr lang="en-US" dirty="0"/>
          </a:p>
        </p:txBody>
      </p:sp>
      <p:sp>
        <p:nvSpPr>
          <p:cNvPr id="5" name="Footer Placeholder 4"/>
          <p:cNvSpPr>
            <a:spLocks noGrp="1"/>
          </p:cNvSpPr>
          <p:nvPr>
            <p:ph type="ftr" sz="quarter" idx="11"/>
          </p:nvPr>
        </p:nvSpPr>
        <p:spPr/>
        <p:txBody>
          <a:bodyPr/>
          <a:lstStyle/>
          <a:p>
            <a:r>
              <a:rPr lang="en-AU"/>
              <a:t>RMIT Administrative Law, 2019 Semester 1</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0915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64BDC37-0E31-4BC2-9836-0F44E6E05570}" type="datetime1">
              <a:rPr lang="en-US" smtClean="0"/>
              <a:t>4/19/2024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AU"/>
              <a:t>RMIT Administrative Law, 2019 Semester 1</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B0D6DB2-083D-B0A1-DCE4-D753961ADF11}"/>
              </a:ext>
            </a:extLst>
          </p:cNvPr>
          <p:cNvSpPr txBox="1"/>
          <p:nvPr userDrawn="1">
            <p:extLst>
              <p:ext uri="{1162E1C5-73C7-4A58-AE30-91384D911F3F}">
                <p184:classification xmlns:p184="http://schemas.microsoft.com/office/powerpoint/2018/4/main" val="hdr"/>
              </p:ext>
            </p:extLst>
          </p:nvPr>
        </p:nvSpPr>
        <p:spPr>
          <a:xfrm>
            <a:off x="5236337" y="190500"/>
            <a:ext cx="1754188" cy="182880"/>
          </a:xfrm>
          <a:prstGeom prst="rect">
            <a:avLst/>
          </a:prstGeom>
        </p:spPr>
        <p:txBody>
          <a:bodyPr horzOverflow="overflow" lIns="0" tIns="0" rIns="0" bIns="0">
            <a:spAutoFit/>
          </a:bodyPr>
          <a:lstStyle/>
          <a:p>
            <a:pPr algn="l"/>
            <a:r>
              <a:rPr lang="en-AU" sz="1200">
                <a:solidFill>
                  <a:srgbClr val="EEDC00"/>
                </a:solidFill>
                <a:latin typeface="Calibri" panose="020F0502020204030204" pitchFamily="34" charset="0"/>
                <a:cs typeface="Calibri" panose="020F0502020204030204" pitchFamily="34" charset="0"/>
              </a:rPr>
              <a:t>RMIT Classification: Trusted</a:t>
            </a:r>
          </a:p>
        </p:txBody>
      </p:sp>
    </p:spTree>
    <p:extLst>
      <p:ext uri="{BB962C8B-B14F-4D97-AF65-F5344CB8AC3E}">
        <p14:creationId xmlns:p14="http://schemas.microsoft.com/office/powerpoint/2010/main" val="297258646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6.austlii.edu.au/cgi-bin/viewdoc/au/legis/vic/consol_act/lga1989182/s3.html#council"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www6.austlii.edu.au/cgi-bin/viewdoc/au/legis/vic/consol_act/lga1989182/s224.html" TargetMode="External"/><Relationship Id="rId2" Type="http://schemas.openxmlformats.org/officeDocument/2006/relationships/hyperlink" Target="http://www6.austlii.edu.au/cgi-bin/viewdoc/au/legis/vic/consol_act/lga1989182/s3.html#person" TargetMode="External"/><Relationship Id="rId1" Type="http://schemas.openxmlformats.org/officeDocument/2006/relationships/slideLayout" Target="../slideLayouts/slideLayout2.xml"/><Relationship Id="rId6" Type="http://schemas.openxmlformats.org/officeDocument/2006/relationships/hyperlink" Target="http://www6.austlii.edu.au/cgi-bin/viewdoc/au/legis/vic/consol_act/lga1989182/s3.html#councillor" TargetMode="External"/><Relationship Id="rId5" Type="http://schemas.openxmlformats.org/officeDocument/2006/relationships/hyperlink" Target="http://www6.austlii.edu.au/cgi-bin/viewdoc/au/legis/vic/consol_act/lga1989182/s3.html#council" TargetMode="External"/><Relationship Id="rId4" Type="http://schemas.openxmlformats.org/officeDocument/2006/relationships/hyperlink" Target="http://www6.austlii.edu.au/cgi-bin/viewdoc/au/legis/vic/consol_act/lga1989182/s26.html"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www6.austlii.edu.au/cgi-bin/viewdoc/au/legis/vic/consol_act/lga1989182/s3.html#pers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melbourne.vic.gov.au/sitecollectiondocuments/activities-local-law-2009.pdf"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9EE48-2419-4B44-8185-56654A2143BD}"/>
              </a:ext>
            </a:extLst>
          </p:cNvPr>
          <p:cNvSpPr>
            <a:spLocks noGrp="1"/>
          </p:cNvSpPr>
          <p:nvPr>
            <p:ph type="title"/>
          </p:nvPr>
        </p:nvSpPr>
        <p:spPr/>
        <p:txBody>
          <a:bodyPr/>
          <a:lstStyle/>
          <a:p>
            <a:r>
              <a:rPr lang="en-AU" dirty="0"/>
              <a:t>Local Government Act 1989</a:t>
            </a:r>
          </a:p>
        </p:txBody>
      </p:sp>
      <p:sp>
        <p:nvSpPr>
          <p:cNvPr id="3" name="Content Placeholder 2">
            <a:extLst>
              <a:ext uri="{FF2B5EF4-FFF2-40B4-BE49-F238E27FC236}">
                <a16:creationId xmlns:a16="http://schemas.microsoft.com/office/drawing/2014/main" id="{024D709E-FFDD-4CF6-A5CF-ACB0FC75D2B0}"/>
              </a:ext>
            </a:extLst>
          </p:cNvPr>
          <p:cNvSpPr>
            <a:spLocks noGrp="1"/>
          </p:cNvSpPr>
          <p:nvPr>
            <p:ph idx="1"/>
          </p:nvPr>
        </p:nvSpPr>
        <p:spPr/>
        <p:txBody>
          <a:bodyPr>
            <a:normAutofit fontScale="62500" lnSpcReduction="20000"/>
          </a:bodyPr>
          <a:lstStyle/>
          <a:p>
            <a:r>
              <a:rPr lang="en-AU" b="1" dirty="0"/>
              <a:t>LOCAL GOVERNMENT ACT 1989 - SECT 111</a:t>
            </a:r>
          </a:p>
          <a:p>
            <a:r>
              <a:rPr lang="en-AU" b="1" dirty="0"/>
              <a:t>Power to make local laws</a:t>
            </a:r>
            <a:r>
              <a:rPr lang="en-AU" dirty="0"/>
              <a:t>    (1)     A </a:t>
            </a:r>
            <a:r>
              <a:rPr lang="en-AU" u="sng" dirty="0">
                <a:hlinkClick r:id="rId2"/>
              </a:rPr>
              <a:t>Council</a:t>
            </a:r>
            <a:r>
              <a:rPr lang="en-AU" dirty="0"/>
              <a:t> may make local laws for or with respect to any act, matter or thing in respect of which the </a:t>
            </a:r>
            <a:r>
              <a:rPr lang="en-AU" u="sng" dirty="0">
                <a:hlinkClick r:id="rId2"/>
              </a:rPr>
              <a:t>Council</a:t>
            </a:r>
            <a:r>
              <a:rPr lang="en-AU" dirty="0"/>
              <a:t> has a function or power under this or any other Act.</a:t>
            </a:r>
          </a:p>
          <a:p>
            <a:r>
              <a:rPr lang="en-AU" dirty="0"/>
              <a:t>  </a:t>
            </a:r>
          </a:p>
          <a:p>
            <a:r>
              <a:rPr lang="en-AU" b="1" dirty="0"/>
              <a:t>LOCAL GOVERNMENT ACT 1989 - SECT 113</a:t>
            </a:r>
          </a:p>
          <a:p>
            <a:r>
              <a:rPr lang="en-AU" b="1" dirty="0"/>
              <a:t>Permits, licences, fees and charges</a:t>
            </a:r>
            <a:r>
              <a:rPr lang="en-AU" dirty="0"/>
              <a:t>    (1)     A local law may—</a:t>
            </a:r>
          </a:p>
          <a:p>
            <a:r>
              <a:rPr lang="en-AU" dirty="0"/>
              <a:t>        (a)     provide that a </a:t>
            </a:r>
            <a:r>
              <a:rPr lang="en-AU" u="sng" dirty="0">
                <a:hlinkClick r:id="rId2"/>
              </a:rPr>
              <a:t>Council</a:t>
            </a:r>
            <a:r>
              <a:rPr lang="en-AU" dirty="0"/>
              <a:t> may by resolution determine a fee, charge, fare or rent in relation to any property, undertaking, goods, service or other act, matter or thing; and</a:t>
            </a:r>
          </a:p>
          <a:p>
            <a:r>
              <a:rPr lang="en-AU" dirty="0"/>
              <a:t>        (b)     prescribe, regulate or determine the purposes for which and the conditions on which a </a:t>
            </a:r>
            <a:r>
              <a:rPr lang="en-AU" u="sng" dirty="0">
                <a:hlinkClick r:id="rId2"/>
              </a:rPr>
              <a:t>Council</a:t>
            </a:r>
            <a:r>
              <a:rPr lang="en-AU" dirty="0"/>
              <a:t> may—</a:t>
            </a:r>
          </a:p>
          <a:p>
            <a:r>
              <a:rPr lang="en-AU" dirty="0"/>
              <a:t>              (</a:t>
            </a:r>
            <a:r>
              <a:rPr lang="en-AU" dirty="0" err="1"/>
              <a:t>i</a:t>
            </a:r>
            <a:r>
              <a:rPr lang="en-AU" dirty="0"/>
              <a:t>)     grant a permit, licence, authority or registration; or</a:t>
            </a:r>
          </a:p>
          <a:p>
            <a:r>
              <a:rPr lang="en-AU" dirty="0"/>
              <a:t>              (ii)     perform or supply a service; or</a:t>
            </a:r>
          </a:p>
          <a:p>
            <a:r>
              <a:rPr lang="en-AU" dirty="0"/>
              <a:t>              (iii)     supply any goods or information; and</a:t>
            </a:r>
          </a:p>
          <a:p>
            <a:r>
              <a:rPr lang="en-AU" dirty="0"/>
              <a:t>        (c)     prescribe the manner in which an application may be made for a permit, licence, authority or registration; and</a:t>
            </a:r>
          </a:p>
          <a:p>
            <a:r>
              <a:rPr lang="en-AU" dirty="0"/>
              <a:t>        (d)     prescribe the fee which is payable for the granting, renewal or transfer of a permit, licence, authority or registration.</a:t>
            </a:r>
          </a:p>
          <a:p>
            <a:endParaRPr lang="en-AU" dirty="0"/>
          </a:p>
          <a:p>
            <a:endParaRPr lang="en-AU" dirty="0"/>
          </a:p>
        </p:txBody>
      </p:sp>
      <p:sp>
        <p:nvSpPr>
          <p:cNvPr id="4" name="Footer Placeholder 3">
            <a:extLst>
              <a:ext uri="{FF2B5EF4-FFF2-40B4-BE49-F238E27FC236}">
                <a16:creationId xmlns:a16="http://schemas.microsoft.com/office/drawing/2014/main" id="{58C43DC4-6F1D-4A8D-858A-969973E92572}"/>
              </a:ext>
            </a:extLst>
          </p:cNvPr>
          <p:cNvSpPr>
            <a:spLocks noGrp="1"/>
          </p:cNvSpPr>
          <p:nvPr>
            <p:ph type="ftr" sz="quarter" idx="11"/>
          </p:nvPr>
        </p:nvSpPr>
        <p:spPr/>
        <p:txBody>
          <a:bodyPr/>
          <a:lstStyle/>
          <a:p>
            <a:r>
              <a:rPr lang="en-AU"/>
              <a:t>RMIT Administrative Law, 2019 Semester 1</a:t>
            </a:r>
            <a:endParaRPr lang="en-US" dirty="0"/>
          </a:p>
        </p:txBody>
      </p:sp>
      <p:sp>
        <p:nvSpPr>
          <p:cNvPr id="5" name="Slide Number Placeholder 4">
            <a:extLst>
              <a:ext uri="{FF2B5EF4-FFF2-40B4-BE49-F238E27FC236}">
                <a16:creationId xmlns:a16="http://schemas.microsoft.com/office/drawing/2014/main" id="{21B3FE24-B2FD-46EE-82D7-243D646C39CD}"/>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1129382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5E5D-4349-4E29-B09A-E4E9E2274E3C}"/>
              </a:ext>
            </a:extLst>
          </p:cNvPr>
          <p:cNvSpPr>
            <a:spLocks noGrp="1"/>
          </p:cNvSpPr>
          <p:nvPr>
            <p:ph type="title"/>
          </p:nvPr>
        </p:nvSpPr>
        <p:spPr/>
        <p:txBody>
          <a:bodyPr/>
          <a:lstStyle/>
          <a:p>
            <a:r>
              <a:rPr lang="en-AU" dirty="0"/>
              <a:t>Local Government Act 1989 (continued)</a:t>
            </a:r>
          </a:p>
        </p:txBody>
      </p:sp>
      <p:sp>
        <p:nvSpPr>
          <p:cNvPr id="3" name="Content Placeholder 2">
            <a:extLst>
              <a:ext uri="{FF2B5EF4-FFF2-40B4-BE49-F238E27FC236}">
                <a16:creationId xmlns:a16="http://schemas.microsoft.com/office/drawing/2014/main" id="{3FEED2CB-C700-4CD0-B433-E8D45ED140D0}"/>
              </a:ext>
            </a:extLst>
          </p:cNvPr>
          <p:cNvSpPr>
            <a:spLocks noGrp="1"/>
          </p:cNvSpPr>
          <p:nvPr>
            <p:ph idx="1"/>
          </p:nvPr>
        </p:nvSpPr>
        <p:spPr/>
        <p:txBody>
          <a:bodyPr>
            <a:normAutofit fontScale="92500" lnSpcReduction="20000"/>
          </a:bodyPr>
          <a:lstStyle/>
          <a:p>
            <a:r>
              <a:rPr lang="en-AU" b="1" dirty="0"/>
              <a:t>LOCAL GOVERNMENT ACT 1989 - SECT 114</a:t>
            </a:r>
          </a:p>
          <a:p>
            <a:r>
              <a:rPr lang="en-AU" b="1" dirty="0" err="1"/>
              <a:t>Delegations</a:t>
            </a:r>
            <a:r>
              <a:rPr lang="en-AU" dirty="0" err="1"/>
              <a:t>A</a:t>
            </a:r>
            <a:r>
              <a:rPr lang="en-AU" dirty="0"/>
              <a:t> local law may—</a:t>
            </a:r>
          </a:p>
          <a:p>
            <a:r>
              <a:rPr lang="en-AU" dirty="0"/>
              <a:t>        (a)     confer a discretionary authority or impose a duty on a specified </a:t>
            </a:r>
            <a:r>
              <a:rPr lang="en-AU" u="sng" dirty="0">
                <a:hlinkClick r:id="rId2"/>
              </a:rPr>
              <a:t>person</a:t>
            </a:r>
            <a:r>
              <a:rPr lang="en-AU" dirty="0"/>
              <a:t> or body or a specified class of </a:t>
            </a:r>
            <a:r>
              <a:rPr lang="en-AU" u="sng" dirty="0">
                <a:hlinkClick r:id="rId2"/>
              </a:rPr>
              <a:t>persons</a:t>
            </a:r>
            <a:r>
              <a:rPr lang="en-AU" dirty="0"/>
              <a:t> and bodies; and</a:t>
            </a:r>
          </a:p>
          <a:p>
            <a:r>
              <a:rPr lang="en-AU" b="1" dirty="0"/>
              <a:t>LOCAL GOVERNMENT ACT 1989 - SECT 115</a:t>
            </a:r>
          </a:p>
          <a:p>
            <a:r>
              <a:rPr lang="en-AU" b="1" dirty="0"/>
              <a:t>Penalties</a:t>
            </a:r>
            <a:r>
              <a:rPr lang="en-AU" dirty="0"/>
              <a:t>    (1)     A local law may—</a:t>
            </a:r>
          </a:p>
          <a:p>
            <a:r>
              <a:rPr lang="en-AU" dirty="0"/>
              <a:t>        (a)     prescribe a penalty not exceeding 20 penalty units for a contravention of a local law; and</a:t>
            </a:r>
          </a:p>
          <a:p>
            <a:r>
              <a:rPr lang="en-AU" b="1" dirty="0"/>
              <a:t>LOCAL GOVERNMENT ACT 1989 - SECT 224</a:t>
            </a:r>
          </a:p>
          <a:p>
            <a:r>
              <a:rPr lang="en-AU" b="1" dirty="0"/>
              <a:t>Authorised </a:t>
            </a:r>
            <a:r>
              <a:rPr lang="en-AU" b="1" dirty="0" err="1"/>
              <a:t>officers</a:t>
            </a:r>
            <a:r>
              <a:rPr lang="en-AU" b="1" u="sng" dirty="0" err="1">
                <a:hlinkClick r:id="rId3"/>
              </a:rPr>
              <a:t>S</a:t>
            </a:r>
            <a:r>
              <a:rPr lang="en-AU" b="1" u="sng" dirty="0">
                <a:hlinkClick r:id="rId3"/>
              </a:rPr>
              <a:t>. 224(1)</a:t>
            </a:r>
            <a:r>
              <a:rPr lang="en-AU" b="1" dirty="0"/>
              <a:t> amended by No. 125/1993 </a:t>
            </a:r>
            <a:r>
              <a:rPr lang="en-AU" b="1" u="sng" dirty="0">
                <a:hlinkClick r:id="rId4"/>
              </a:rPr>
              <a:t>s. 26(2).</a:t>
            </a:r>
            <a:endParaRPr lang="en-AU" dirty="0"/>
          </a:p>
          <a:p>
            <a:r>
              <a:rPr lang="en-AU" dirty="0"/>
              <a:t>    (1)     A </a:t>
            </a:r>
            <a:r>
              <a:rPr lang="en-AU" u="sng" dirty="0">
                <a:hlinkClick r:id="rId5"/>
              </a:rPr>
              <a:t>Council</a:t>
            </a:r>
            <a:r>
              <a:rPr lang="en-AU" dirty="0"/>
              <a:t> may appoint any </a:t>
            </a:r>
            <a:r>
              <a:rPr lang="en-AU" u="sng" dirty="0">
                <a:hlinkClick r:id="rId2"/>
              </a:rPr>
              <a:t>person</a:t>
            </a:r>
            <a:r>
              <a:rPr lang="en-AU" dirty="0"/>
              <a:t> other than a </a:t>
            </a:r>
            <a:r>
              <a:rPr lang="en-AU" u="sng" dirty="0">
                <a:hlinkClick r:id="rId6"/>
              </a:rPr>
              <a:t>Councillor</a:t>
            </a:r>
            <a:r>
              <a:rPr lang="en-AU" dirty="0"/>
              <a:t> to be an authorised officer for the purposes of the administration and enforcement of any Act, regulations or local laws which relate to the functions and powers of the </a:t>
            </a:r>
            <a:r>
              <a:rPr lang="en-AU" u="sng" dirty="0">
                <a:hlinkClick r:id="rId5"/>
              </a:rPr>
              <a:t>Council</a:t>
            </a:r>
            <a:r>
              <a:rPr lang="en-AU" dirty="0"/>
              <a:t>.</a:t>
            </a:r>
          </a:p>
          <a:p>
            <a:endParaRPr lang="en-AU" dirty="0"/>
          </a:p>
          <a:p>
            <a:endParaRPr lang="en-AU" dirty="0"/>
          </a:p>
        </p:txBody>
      </p:sp>
      <p:sp>
        <p:nvSpPr>
          <p:cNvPr id="4" name="Footer Placeholder 3">
            <a:extLst>
              <a:ext uri="{FF2B5EF4-FFF2-40B4-BE49-F238E27FC236}">
                <a16:creationId xmlns:a16="http://schemas.microsoft.com/office/drawing/2014/main" id="{19006868-CFDB-4EF5-A4BF-05EC6EE9B04A}"/>
              </a:ext>
            </a:extLst>
          </p:cNvPr>
          <p:cNvSpPr>
            <a:spLocks noGrp="1"/>
          </p:cNvSpPr>
          <p:nvPr>
            <p:ph type="ftr" sz="quarter" idx="11"/>
          </p:nvPr>
        </p:nvSpPr>
        <p:spPr/>
        <p:txBody>
          <a:bodyPr/>
          <a:lstStyle/>
          <a:p>
            <a:r>
              <a:rPr lang="en-AU"/>
              <a:t>RMIT Administrative Law, 2019 Semester 1</a:t>
            </a:r>
            <a:endParaRPr lang="en-US" dirty="0"/>
          </a:p>
        </p:txBody>
      </p:sp>
      <p:sp>
        <p:nvSpPr>
          <p:cNvPr id="5" name="Slide Number Placeholder 4">
            <a:extLst>
              <a:ext uri="{FF2B5EF4-FFF2-40B4-BE49-F238E27FC236}">
                <a16:creationId xmlns:a16="http://schemas.microsoft.com/office/drawing/2014/main" id="{334ADAD7-C68A-45AA-92D0-97560ED9E540}"/>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2666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91A9D-E4D6-4113-A0FB-D324C04E1813}"/>
              </a:ext>
            </a:extLst>
          </p:cNvPr>
          <p:cNvSpPr>
            <a:spLocks noGrp="1"/>
          </p:cNvSpPr>
          <p:nvPr>
            <p:ph type="title"/>
          </p:nvPr>
        </p:nvSpPr>
        <p:spPr>
          <a:xfrm>
            <a:off x="1097280" y="286603"/>
            <a:ext cx="10058400" cy="538897"/>
          </a:xfrm>
        </p:spPr>
        <p:txBody>
          <a:bodyPr>
            <a:normAutofit/>
          </a:bodyPr>
          <a:lstStyle/>
          <a:p>
            <a:r>
              <a:rPr lang="en-AU" sz="1200" b="1" dirty="0"/>
              <a:t>LOCAL GOVERNMENT ACT 1989 - SCHEDULE 8</a:t>
            </a:r>
            <a:br>
              <a:rPr lang="en-AU" sz="1200" b="1" dirty="0"/>
            </a:br>
            <a:r>
              <a:rPr lang="en-AU" sz="1200" b="1" dirty="0"/>
              <a:t>Schedule 8—Provisions with respect to local laws</a:t>
            </a:r>
            <a:endParaRPr lang="en-AU" sz="1200" dirty="0"/>
          </a:p>
        </p:txBody>
      </p:sp>
      <p:sp>
        <p:nvSpPr>
          <p:cNvPr id="3" name="Content Placeholder 2">
            <a:extLst>
              <a:ext uri="{FF2B5EF4-FFF2-40B4-BE49-F238E27FC236}">
                <a16:creationId xmlns:a16="http://schemas.microsoft.com/office/drawing/2014/main" id="{FDEA1081-B78B-4178-8C30-18BAAB643083}"/>
              </a:ext>
            </a:extLst>
          </p:cNvPr>
          <p:cNvSpPr>
            <a:spLocks noGrp="1"/>
          </p:cNvSpPr>
          <p:nvPr>
            <p:ph idx="1"/>
          </p:nvPr>
        </p:nvSpPr>
        <p:spPr>
          <a:xfrm>
            <a:off x="1097280" y="876300"/>
            <a:ext cx="10058400" cy="4992794"/>
          </a:xfrm>
        </p:spPr>
        <p:txBody>
          <a:bodyPr>
            <a:normAutofit fontScale="55000" lnSpcReduction="20000"/>
          </a:bodyPr>
          <a:lstStyle/>
          <a:p>
            <a:pPr marL="0" indent="0">
              <a:buNone/>
            </a:pPr>
            <a:r>
              <a:rPr lang="en-AU" dirty="0"/>
              <a:t>Without derogating from any other principles the following apply to local laws:</a:t>
            </a:r>
          </a:p>
          <a:p>
            <a:r>
              <a:rPr lang="en-AU" dirty="0"/>
              <a:t>    1     A local law must—</a:t>
            </a:r>
          </a:p>
          <a:p>
            <a:r>
              <a:rPr lang="en-AU" dirty="0"/>
              <a:t>            (e)     wherever appropriate, set performance standards rather than prescribe detailed requirements as to the manner in which those standards shall be achieved;</a:t>
            </a:r>
          </a:p>
          <a:p>
            <a:pPr marL="0" indent="0">
              <a:buNone/>
            </a:pPr>
            <a:r>
              <a:rPr lang="en-AU" dirty="0"/>
              <a:t>    2     A local law must not—</a:t>
            </a:r>
          </a:p>
          <a:p>
            <a:r>
              <a:rPr lang="en-AU" dirty="0"/>
              <a:t>            (b)     without clear and express authority in the enabling Act—</a:t>
            </a:r>
          </a:p>
          <a:p>
            <a:r>
              <a:rPr lang="en-AU" dirty="0"/>
              <a:t>              (</a:t>
            </a:r>
            <a:r>
              <a:rPr lang="en-AU" dirty="0" err="1"/>
              <a:t>i</a:t>
            </a:r>
            <a:r>
              <a:rPr lang="en-AU" dirty="0"/>
              <a:t>)     have any retrospective effect;</a:t>
            </a:r>
          </a:p>
          <a:p>
            <a:r>
              <a:rPr lang="en-AU" dirty="0"/>
              <a:t>              (ii)     impose any tax or fee, or any fine, imprisonment or other penalty;</a:t>
            </a:r>
          </a:p>
          <a:p>
            <a:r>
              <a:rPr lang="en-AU" dirty="0"/>
              <a:t>              (iii)     purport to shift the onus of proof to a </a:t>
            </a:r>
            <a:r>
              <a:rPr lang="en-AU" u="sng" dirty="0">
                <a:hlinkClick r:id="rId2"/>
              </a:rPr>
              <a:t>person</a:t>
            </a:r>
            <a:r>
              <a:rPr lang="en-AU" dirty="0"/>
              <a:t> accused of an offence;</a:t>
            </a:r>
          </a:p>
          <a:p>
            <a:r>
              <a:rPr lang="en-AU" dirty="0"/>
              <a:t>              (iv)     provide for any further delegation of powers delegated by the Act;</a:t>
            </a:r>
          </a:p>
          <a:p>
            <a:r>
              <a:rPr lang="en-AU" dirty="0"/>
              <a:t>        (c)     be inconsistent with the principles, objectives or intent of the enabling Act;</a:t>
            </a:r>
          </a:p>
          <a:p>
            <a:r>
              <a:rPr lang="en-AU" dirty="0"/>
              <a:t>        (d)     make unusual or unexpected use of the powers conferred by the Act under which the local law is made having regard to the general objectives, intention or principles of that Act;</a:t>
            </a:r>
          </a:p>
          <a:p>
            <a:r>
              <a:rPr lang="en-AU" dirty="0"/>
              <a:t>        (e)     embody principles of major substance or controversy or contain any matter which principles or matter should properly be dealt with by an Act and not by subordinate legislation;</a:t>
            </a:r>
          </a:p>
          <a:p>
            <a:r>
              <a:rPr lang="en-AU" dirty="0"/>
              <a:t>        (f)     unduly trespass on rights and liberties of the </a:t>
            </a:r>
            <a:r>
              <a:rPr lang="en-AU" u="sng" dirty="0">
                <a:hlinkClick r:id="rId2"/>
              </a:rPr>
              <a:t>person</a:t>
            </a:r>
            <a:r>
              <a:rPr lang="en-AU" dirty="0"/>
              <a:t> previously established by law;</a:t>
            </a:r>
          </a:p>
          <a:p>
            <a:r>
              <a:rPr lang="en-AU" dirty="0"/>
              <a:t>        (g)     unduly make rights and liberties of the </a:t>
            </a:r>
            <a:r>
              <a:rPr lang="en-AU" u="sng" dirty="0">
                <a:hlinkClick r:id="rId2"/>
              </a:rPr>
              <a:t>person</a:t>
            </a:r>
            <a:r>
              <a:rPr lang="en-AU" dirty="0"/>
              <a:t> dependent upon administrative and not upon judicial decisions;</a:t>
            </a:r>
          </a:p>
          <a:p>
            <a:r>
              <a:rPr lang="en-AU" dirty="0"/>
              <a:t>        (h)     be inconsistent with principles of justice and fairness;</a:t>
            </a:r>
          </a:p>
          <a:p>
            <a:r>
              <a:rPr lang="en-AU" dirty="0"/>
              <a:t>              (</a:t>
            </a:r>
            <a:r>
              <a:rPr lang="en-AU" dirty="0" err="1"/>
              <a:t>i</a:t>
            </a:r>
            <a:r>
              <a:rPr lang="en-AU" dirty="0"/>
              <a:t>)     duplicate, overlap or conflict with other statutory rules or legislation;</a:t>
            </a:r>
          </a:p>
          <a:p>
            <a:endParaRPr lang="en-AU" dirty="0"/>
          </a:p>
        </p:txBody>
      </p:sp>
      <p:sp>
        <p:nvSpPr>
          <p:cNvPr id="4" name="Footer Placeholder 3">
            <a:extLst>
              <a:ext uri="{FF2B5EF4-FFF2-40B4-BE49-F238E27FC236}">
                <a16:creationId xmlns:a16="http://schemas.microsoft.com/office/drawing/2014/main" id="{DF7DF6B9-42C9-4399-BE62-55EF34C6BB91}"/>
              </a:ext>
            </a:extLst>
          </p:cNvPr>
          <p:cNvSpPr>
            <a:spLocks noGrp="1"/>
          </p:cNvSpPr>
          <p:nvPr>
            <p:ph type="ftr" sz="quarter" idx="11"/>
          </p:nvPr>
        </p:nvSpPr>
        <p:spPr/>
        <p:txBody>
          <a:bodyPr/>
          <a:lstStyle/>
          <a:p>
            <a:r>
              <a:rPr lang="en-AU"/>
              <a:t>RMIT Administrative Law, 2019 Semester 1</a:t>
            </a:r>
            <a:endParaRPr lang="en-US" dirty="0"/>
          </a:p>
        </p:txBody>
      </p:sp>
      <p:sp>
        <p:nvSpPr>
          <p:cNvPr id="5" name="Slide Number Placeholder 4">
            <a:extLst>
              <a:ext uri="{FF2B5EF4-FFF2-40B4-BE49-F238E27FC236}">
                <a16:creationId xmlns:a16="http://schemas.microsoft.com/office/drawing/2014/main" id="{90790848-12DD-402E-A744-04C7A415A4FC}"/>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273773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75845-5982-4A07-9BC0-5B02407AC8D9}"/>
              </a:ext>
            </a:extLst>
          </p:cNvPr>
          <p:cNvSpPr>
            <a:spLocks noGrp="1"/>
          </p:cNvSpPr>
          <p:nvPr>
            <p:ph type="title"/>
          </p:nvPr>
        </p:nvSpPr>
        <p:spPr/>
        <p:txBody>
          <a:bodyPr/>
          <a:lstStyle/>
          <a:p>
            <a:r>
              <a:rPr lang="en-AU" dirty="0"/>
              <a:t>Discussion problem (Part 1)</a:t>
            </a:r>
          </a:p>
        </p:txBody>
      </p:sp>
      <p:sp>
        <p:nvSpPr>
          <p:cNvPr id="3" name="Content Placeholder 2">
            <a:extLst>
              <a:ext uri="{FF2B5EF4-FFF2-40B4-BE49-F238E27FC236}">
                <a16:creationId xmlns:a16="http://schemas.microsoft.com/office/drawing/2014/main" id="{0B724C1E-01D8-4941-AF11-54FE7C864F1E}"/>
              </a:ext>
            </a:extLst>
          </p:cNvPr>
          <p:cNvSpPr>
            <a:spLocks noGrp="1"/>
          </p:cNvSpPr>
          <p:nvPr>
            <p:ph idx="1"/>
          </p:nvPr>
        </p:nvSpPr>
        <p:spPr/>
        <p:txBody>
          <a:bodyPr>
            <a:normAutofit/>
          </a:bodyPr>
          <a:lstStyle/>
          <a:p>
            <a:r>
              <a:rPr lang="en-AU" dirty="0"/>
              <a:t>Proposed amendments to </a:t>
            </a:r>
            <a:r>
              <a:rPr lang="en-AU" i="1" dirty="0">
                <a:hlinkClick r:id="rId3"/>
              </a:rPr>
              <a:t>Activities Local Law 2009</a:t>
            </a:r>
            <a:endParaRPr lang="en-AU" i="1" dirty="0"/>
          </a:p>
          <a:p>
            <a:pPr lvl="1"/>
            <a:r>
              <a:rPr lang="en-AU" dirty="0"/>
              <a:t>Amendment to </a:t>
            </a:r>
            <a:r>
              <a:rPr lang="en-AU" b="1" dirty="0"/>
              <a:t>Camping in </a:t>
            </a:r>
            <a:r>
              <a:rPr lang="en-AU" b="1" i="1" dirty="0"/>
              <a:t>public places </a:t>
            </a:r>
            <a:r>
              <a:rPr lang="en-AU" dirty="0"/>
              <a:t>2.8</a:t>
            </a:r>
          </a:p>
          <a:p>
            <a:pPr lvl="2"/>
            <a:r>
              <a:rPr lang="en-AU" dirty="0"/>
              <a:t>Unless in accordance with a </a:t>
            </a:r>
            <a:r>
              <a:rPr lang="en-AU" i="1" dirty="0"/>
              <a:t>permit</a:t>
            </a:r>
            <a:r>
              <a:rPr lang="en-AU" dirty="0"/>
              <a:t>, a person must not camp in or on any </a:t>
            </a:r>
            <a:r>
              <a:rPr lang="en-AU" i="1" dirty="0"/>
              <a:t>public place </a:t>
            </a:r>
            <a:r>
              <a:rPr lang="en-AU" dirty="0"/>
              <a:t>in a vehicle, tent, caravan or any type of temporary or provisional form of accommodation.</a:t>
            </a:r>
          </a:p>
          <a:p>
            <a:pPr lvl="1"/>
            <a:r>
              <a:rPr lang="en-AU" dirty="0"/>
              <a:t>Addition of 2.12 </a:t>
            </a:r>
            <a:r>
              <a:rPr lang="en-AU" b="1" dirty="0"/>
              <a:t>Unattended item in a Public Place</a:t>
            </a:r>
          </a:p>
          <a:p>
            <a:pPr lvl="2"/>
            <a:r>
              <a:rPr lang="en-AU" dirty="0"/>
              <a:t>2.12.1   Unless in accordance with a permit, a person must not leave any item unattended in a public place.  </a:t>
            </a:r>
          </a:p>
          <a:p>
            <a:pPr lvl="2"/>
            <a:r>
              <a:rPr lang="en-AU" dirty="0"/>
              <a:t>2.12.2   If any item is left unattended in contravention of this Local Law, an authorised officer may confiscate and impound the item in accordance with this clause.</a:t>
            </a:r>
          </a:p>
          <a:p>
            <a:pPr lvl="2"/>
            <a:r>
              <a:rPr lang="en-AU" dirty="0"/>
              <a:t>2.12.3   Any item confiscated and impounded under clause 2.12.2 will be returned to its owner on payment of any fee or charge prescribed by the Council for its release.</a:t>
            </a:r>
          </a:p>
          <a:p>
            <a:pPr lvl="2"/>
            <a:r>
              <a:rPr lang="en-AU" dirty="0"/>
              <a:t>2.12.4   If the owner of the item has not paid any fee or charge required for its release, the Council may sell, destroy or give away the item.</a:t>
            </a:r>
          </a:p>
          <a:p>
            <a:pPr lvl="2"/>
            <a:r>
              <a:rPr lang="en-AU" dirty="0"/>
              <a:t>2.12.5   Before exercising the power conferred by clause 2.12.4, the Council must take reasonable steps to notify the owner of the item that the item has been impounded and may be sold, destroyed or given away unless the specified fee or charge is paid within 14 days.</a:t>
            </a:r>
          </a:p>
          <a:p>
            <a:endParaRPr lang="en-AU" dirty="0"/>
          </a:p>
        </p:txBody>
      </p:sp>
      <p:sp>
        <p:nvSpPr>
          <p:cNvPr id="4" name="Footer Placeholder 3">
            <a:extLst>
              <a:ext uri="{FF2B5EF4-FFF2-40B4-BE49-F238E27FC236}">
                <a16:creationId xmlns:a16="http://schemas.microsoft.com/office/drawing/2014/main" id="{9D31F126-1F32-4B15-AF19-DB034363D849}"/>
              </a:ext>
            </a:extLst>
          </p:cNvPr>
          <p:cNvSpPr>
            <a:spLocks noGrp="1"/>
          </p:cNvSpPr>
          <p:nvPr>
            <p:ph type="ftr" sz="quarter" idx="11"/>
          </p:nvPr>
        </p:nvSpPr>
        <p:spPr/>
        <p:txBody>
          <a:bodyPr/>
          <a:lstStyle/>
          <a:p>
            <a:r>
              <a:rPr lang="en-AU"/>
              <a:t>RMIT Administrative Law, 2019 Semester 1</a:t>
            </a:r>
            <a:endParaRPr lang="en-US" dirty="0"/>
          </a:p>
        </p:txBody>
      </p:sp>
      <p:sp>
        <p:nvSpPr>
          <p:cNvPr id="5" name="Slide Number Placeholder 4">
            <a:extLst>
              <a:ext uri="{FF2B5EF4-FFF2-40B4-BE49-F238E27FC236}">
                <a16:creationId xmlns:a16="http://schemas.microsoft.com/office/drawing/2014/main" id="{A03844AF-7A09-41B2-AFF6-5B10397D0519}"/>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2805700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75845-5982-4A07-9BC0-5B02407AC8D9}"/>
              </a:ext>
            </a:extLst>
          </p:cNvPr>
          <p:cNvSpPr>
            <a:spLocks noGrp="1"/>
          </p:cNvSpPr>
          <p:nvPr>
            <p:ph type="title"/>
          </p:nvPr>
        </p:nvSpPr>
        <p:spPr/>
        <p:txBody>
          <a:bodyPr/>
          <a:lstStyle/>
          <a:p>
            <a:r>
              <a:rPr lang="en-AU" dirty="0"/>
              <a:t>Discussion Problem (Part 2)</a:t>
            </a:r>
          </a:p>
        </p:txBody>
      </p:sp>
      <p:sp>
        <p:nvSpPr>
          <p:cNvPr id="3" name="Content Placeholder 2">
            <a:extLst>
              <a:ext uri="{FF2B5EF4-FFF2-40B4-BE49-F238E27FC236}">
                <a16:creationId xmlns:a16="http://schemas.microsoft.com/office/drawing/2014/main" id="{0B724C1E-01D8-4941-AF11-54FE7C864F1E}"/>
              </a:ext>
            </a:extLst>
          </p:cNvPr>
          <p:cNvSpPr>
            <a:spLocks noGrp="1"/>
          </p:cNvSpPr>
          <p:nvPr>
            <p:ph idx="1"/>
          </p:nvPr>
        </p:nvSpPr>
        <p:spPr/>
        <p:txBody>
          <a:bodyPr>
            <a:normAutofit fontScale="92500" lnSpcReduction="10000"/>
          </a:bodyPr>
          <a:lstStyle/>
          <a:p>
            <a:r>
              <a:rPr lang="en-AU" b="1" dirty="0"/>
              <a:t>Enforcement 14.8:</a:t>
            </a:r>
            <a:r>
              <a:rPr lang="en-AU" dirty="0"/>
              <a:t> An authorised officer may either orally or in writing direct a person to leave a public place if in the opinion of the authorised officer the person is failing to comply or has failed to comply with this Local Law. </a:t>
            </a:r>
          </a:p>
          <a:p>
            <a:r>
              <a:rPr lang="en-AU" b="1" dirty="0"/>
              <a:t>Offences: </a:t>
            </a:r>
            <a:r>
              <a:rPr lang="en-AU" dirty="0"/>
              <a:t>14.1	A person who: ...</a:t>
            </a:r>
          </a:p>
          <a:p>
            <a:pPr lvl="1"/>
            <a:r>
              <a:rPr lang="en-AU" dirty="0"/>
              <a:t>(e)	refuses or fails to obey directions of an authorised officer to leave a public place where in the opinion of that authorised officer the person has failed to comply or is failing to comply with this Local Law; or</a:t>
            </a:r>
          </a:p>
          <a:p>
            <a:pPr lvl="1"/>
            <a:r>
              <a:rPr lang="en-AU" dirty="0"/>
              <a:t>is guilty of an offence.</a:t>
            </a:r>
          </a:p>
          <a:p>
            <a:r>
              <a:rPr lang="en-AU" b="1" dirty="0"/>
              <a:t>Schedule 1</a:t>
            </a:r>
            <a:r>
              <a:rPr lang="en-AU" dirty="0"/>
              <a:t>: authorised officer may serve infringement notice, imposing penalties for: </a:t>
            </a:r>
          </a:p>
          <a:p>
            <a:pPr lvl="1"/>
            <a:r>
              <a:rPr lang="en-AU" dirty="0"/>
              <a:t>Camping: 2.5 penalty units</a:t>
            </a:r>
          </a:p>
          <a:p>
            <a:pPr lvl="1"/>
            <a:r>
              <a:rPr lang="en-AU" dirty="0"/>
              <a:t>Items unattended: 2.5 penalty units</a:t>
            </a:r>
          </a:p>
          <a:p>
            <a:r>
              <a:rPr lang="en-AU" b="1" dirty="0"/>
              <a:t>OR</a:t>
            </a:r>
            <a:r>
              <a:rPr lang="en-AU" dirty="0"/>
              <a:t> prosecution </a:t>
            </a:r>
          </a:p>
          <a:p>
            <a:pPr lvl="1"/>
            <a:r>
              <a:rPr lang="en-AU" dirty="0"/>
              <a:t>Reg 14.6: Court fines of up to 20 units (and 2 penalty units for each day after conviction that the contravention continues) </a:t>
            </a:r>
          </a:p>
          <a:p>
            <a:endParaRPr lang="en-AU" dirty="0"/>
          </a:p>
        </p:txBody>
      </p:sp>
      <p:sp>
        <p:nvSpPr>
          <p:cNvPr id="4" name="Footer Placeholder 3">
            <a:extLst>
              <a:ext uri="{FF2B5EF4-FFF2-40B4-BE49-F238E27FC236}">
                <a16:creationId xmlns:a16="http://schemas.microsoft.com/office/drawing/2014/main" id="{9D31F126-1F32-4B15-AF19-DB034363D849}"/>
              </a:ext>
            </a:extLst>
          </p:cNvPr>
          <p:cNvSpPr>
            <a:spLocks noGrp="1"/>
          </p:cNvSpPr>
          <p:nvPr>
            <p:ph type="ftr" sz="quarter" idx="11"/>
          </p:nvPr>
        </p:nvSpPr>
        <p:spPr/>
        <p:txBody>
          <a:bodyPr/>
          <a:lstStyle/>
          <a:p>
            <a:r>
              <a:rPr lang="en-AU"/>
              <a:t>RMIT Administrative Law, 2019 Semester 1</a:t>
            </a:r>
            <a:endParaRPr lang="en-US" dirty="0"/>
          </a:p>
        </p:txBody>
      </p:sp>
      <p:sp>
        <p:nvSpPr>
          <p:cNvPr id="5" name="Slide Number Placeholder 4">
            <a:extLst>
              <a:ext uri="{FF2B5EF4-FFF2-40B4-BE49-F238E27FC236}">
                <a16:creationId xmlns:a16="http://schemas.microsoft.com/office/drawing/2014/main" id="{A03844AF-7A09-41B2-AFF6-5B10397D0519}"/>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3309723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539E3-52E9-4552-A15E-8B3DCC28D8E6}"/>
              </a:ext>
            </a:extLst>
          </p:cNvPr>
          <p:cNvSpPr>
            <a:spLocks noGrp="1"/>
          </p:cNvSpPr>
          <p:nvPr>
            <p:ph type="title"/>
          </p:nvPr>
        </p:nvSpPr>
        <p:spPr/>
        <p:txBody>
          <a:bodyPr/>
          <a:lstStyle/>
          <a:p>
            <a:r>
              <a:rPr lang="en-AU" dirty="0"/>
              <a:t>Problem questions –</a:t>
            </a:r>
            <a:br>
              <a:rPr lang="en-AU" dirty="0"/>
            </a:br>
            <a:r>
              <a:rPr lang="en-AU" dirty="0"/>
              <a:t>Refer to the </a:t>
            </a:r>
            <a:r>
              <a:rPr lang="en-AU" i="1" dirty="0"/>
              <a:t>Local Government Act 1989</a:t>
            </a:r>
            <a:endParaRPr lang="en-AU" dirty="0"/>
          </a:p>
        </p:txBody>
      </p:sp>
      <p:sp>
        <p:nvSpPr>
          <p:cNvPr id="3" name="Content Placeholder 2">
            <a:extLst>
              <a:ext uri="{FF2B5EF4-FFF2-40B4-BE49-F238E27FC236}">
                <a16:creationId xmlns:a16="http://schemas.microsoft.com/office/drawing/2014/main" id="{F0C52A5A-AD37-4719-8975-AE74D85F0DD9}"/>
              </a:ext>
            </a:extLst>
          </p:cNvPr>
          <p:cNvSpPr>
            <a:spLocks noGrp="1"/>
          </p:cNvSpPr>
          <p:nvPr>
            <p:ph idx="1"/>
          </p:nvPr>
        </p:nvSpPr>
        <p:spPr/>
        <p:txBody>
          <a:bodyPr/>
          <a:lstStyle/>
          <a:p>
            <a:r>
              <a:rPr lang="en-AU" dirty="0"/>
              <a:t>Where does the Council get its power to enact this by-law? </a:t>
            </a:r>
          </a:p>
          <a:p>
            <a:r>
              <a:rPr lang="en-AU" dirty="0"/>
              <a:t>What procedural requirements does the Council need to go through to enact this by-law? </a:t>
            </a:r>
          </a:p>
          <a:p>
            <a:r>
              <a:rPr lang="en-AU" dirty="0"/>
              <a:t>Can the Council impose penalties? What limits are there on this power? </a:t>
            </a:r>
          </a:p>
          <a:p>
            <a:r>
              <a:rPr lang="en-AU" dirty="0"/>
              <a:t>Can dispute the validity of a by-law? How would you </a:t>
            </a:r>
            <a:r>
              <a:rPr lang="en-AU"/>
              <a:t>do that? </a:t>
            </a:r>
            <a:endParaRPr lang="en-AU" dirty="0"/>
          </a:p>
          <a:p>
            <a:endParaRPr lang="en-AU" dirty="0"/>
          </a:p>
        </p:txBody>
      </p:sp>
      <p:sp>
        <p:nvSpPr>
          <p:cNvPr id="4" name="Footer Placeholder 3">
            <a:extLst>
              <a:ext uri="{FF2B5EF4-FFF2-40B4-BE49-F238E27FC236}">
                <a16:creationId xmlns:a16="http://schemas.microsoft.com/office/drawing/2014/main" id="{9DD4720E-B91F-4FE1-B2D7-468E75EBB514}"/>
              </a:ext>
            </a:extLst>
          </p:cNvPr>
          <p:cNvSpPr>
            <a:spLocks noGrp="1"/>
          </p:cNvSpPr>
          <p:nvPr>
            <p:ph type="ftr" sz="quarter" idx="11"/>
          </p:nvPr>
        </p:nvSpPr>
        <p:spPr/>
        <p:txBody>
          <a:bodyPr/>
          <a:lstStyle/>
          <a:p>
            <a:r>
              <a:rPr lang="en-AU"/>
              <a:t>RMIT Administrative Law, 2019 Semester 1</a:t>
            </a:r>
            <a:endParaRPr lang="en-US" dirty="0"/>
          </a:p>
        </p:txBody>
      </p:sp>
      <p:sp>
        <p:nvSpPr>
          <p:cNvPr id="5" name="Slide Number Placeholder 4">
            <a:extLst>
              <a:ext uri="{FF2B5EF4-FFF2-40B4-BE49-F238E27FC236}">
                <a16:creationId xmlns:a16="http://schemas.microsoft.com/office/drawing/2014/main" id="{DA2251E5-B4D0-477D-86C4-D5718231F008}"/>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767438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04084-7AC4-4392-99E5-DD12D72C6642}"/>
              </a:ext>
            </a:extLst>
          </p:cNvPr>
          <p:cNvSpPr>
            <a:spLocks noGrp="1"/>
          </p:cNvSpPr>
          <p:nvPr>
            <p:ph type="title"/>
          </p:nvPr>
        </p:nvSpPr>
        <p:spPr/>
        <p:txBody>
          <a:bodyPr/>
          <a:lstStyle/>
          <a:p>
            <a:r>
              <a:rPr lang="en-AU" dirty="0"/>
              <a:t>Part 3 – Assume the amendments passed</a:t>
            </a:r>
          </a:p>
        </p:txBody>
      </p:sp>
      <p:sp>
        <p:nvSpPr>
          <p:cNvPr id="3" name="Content Placeholder 2">
            <a:extLst>
              <a:ext uri="{FF2B5EF4-FFF2-40B4-BE49-F238E27FC236}">
                <a16:creationId xmlns:a16="http://schemas.microsoft.com/office/drawing/2014/main" id="{A57D044D-0139-4A14-B883-DAD4F8666CF2}"/>
              </a:ext>
            </a:extLst>
          </p:cNvPr>
          <p:cNvSpPr>
            <a:spLocks noGrp="1"/>
          </p:cNvSpPr>
          <p:nvPr>
            <p:ph idx="1"/>
          </p:nvPr>
        </p:nvSpPr>
        <p:spPr/>
        <p:txBody>
          <a:bodyPr/>
          <a:lstStyle/>
          <a:p>
            <a:r>
              <a:rPr lang="en-AU" dirty="0"/>
              <a:t>Mary is a 17 year old homeless girl. She has a mattress and bag full of clothes. </a:t>
            </a:r>
          </a:p>
          <a:p>
            <a:r>
              <a:rPr lang="en-AU" dirty="0"/>
              <a:t>She was sleeping near the rail tracks on Spencer Street when a local council officer came and issued her a fine. </a:t>
            </a:r>
          </a:p>
          <a:p>
            <a:r>
              <a:rPr lang="en-AU" dirty="0"/>
              <a:t>Can Mary seek judicial review?</a:t>
            </a:r>
          </a:p>
          <a:p>
            <a:r>
              <a:rPr lang="en-AU" dirty="0"/>
              <a:t>On what grounds?</a:t>
            </a:r>
          </a:p>
          <a:p>
            <a:pPr lvl="1"/>
            <a:r>
              <a:rPr lang="en-AU" dirty="0"/>
              <a:t>Remember what jurisdiction the Local Government Act relates to</a:t>
            </a:r>
          </a:p>
          <a:p>
            <a:pPr lvl="1"/>
            <a:r>
              <a:rPr lang="en-AU" dirty="0"/>
              <a:t>And consider today’s class only</a:t>
            </a:r>
          </a:p>
          <a:p>
            <a:r>
              <a:rPr lang="en-AU" dirty="0"/>
              <a:t>Can the Charter help?</a:t>
            </a:r>
          </a:p>
          <a:p>
            <a:endParaRPr lang="en-AU" dirty="0"/>
          </a:p>
        </p:txBody>
      </p:sp>
      <p:sp>
        <p:nvSpPr>
          <p:cNvPr id="4" name="Footer Placeholder 3">
            <a:extLst>
              <a:ext uri="{FF2B5EF4-FFF2-40B4-BE49-F238E27FC236}">
                <a16:creationId xmlns:a16="http://schemas.microsoft.com/office/drawing/2014/main" id="{09DF898E-D8CC-4C10-AAB8-47F74E0C37B4}"/>
              </a:ext>
            </a:extLst>
          </p:cNvPr>
          <p:cNvSpPr>
            <a:spLocks noGrp="1"/>
          </p:cNvSpPr>
          <p:nvPr>
            <p:ph type="ftr" sz="quarter" idx="11"/>
          </p:nvPr>
        </p:nvSpPr>
        <p:spPr/>
        <p:txBody>
          <a:bodyPr/>
          <a:lstStyle/>
          <a:p>
            <a:r>
              <a:rPr lang="en-AU"/>
              <a:t>RMIT Administrative Law, 2019 Semester 1</a:t>
            </a:r>
            <a:endParaRPr lang="en-US" dirty="0"/>
          </a:p>
        </p:txBody>
      </p:sp>
      <p:sp>
        <p:nvSpPr>
          <p:cNvPr id="5" name="Slide Number Placeholder 4">
            <a:extLst>
              <a:ext uri="{FF2B5EF4-FFF2-40B4-BE49-F238E27FC236}">
                <a16:creationId xmlns:a16="http://schemas.microsoft.com/office/drawing/2014/main" id="{366003E5-CEDA-4444-9C88-2E81774B7B89}"/>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20048803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1274</Words>
  <Application>Microsoft Office PowerPoint</Application>
  <PresentationFormat>Widescreen</PresentationFormat>
  <Paragraphs>91</Paragraphs>
  <Slides>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Retrospect</vt:lpstr>
      <vt:lpstr>Local Government Act 1989</vt:lpstr>
      <vt:lpstr>Local Government Act 1989 (continued)</vt:lpstr>
      <vt:lpstr>LOCAL GOVERNMENT ACT 1989 - SCHEDULE 8 Schedule 8—Provisions with respect to local laws</vt:lpstr>
      <vt:lpstr>Discussion problem (Part 1)</vt:lpstr>
      <vt:lpstr>Discussion Problem (Part 2)</vt:lpstr>
      <vt:lpstr>Problem questions – Refer to the Local Government Act 1989</vt:lpstr>
      <vt:lpstr>Part 3 – Assume the amendments passed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2019-04-06T11:41:39Z</dcterms:created>
  <dcterms:modified xsi:type="dcterms:W3CDTF">2024-04-19T05:45:01Z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3d088b-6243-4963-a2e2-8b321ab7f8fc_Enabled">
    <vt:lpwstr>true</vt:lpwstr>
  </property>
  <property fmtid="{D5CDD505-2E9C-101B-9397-08002B2CF9AE}" pid="3" name="MSIP_Label_8c3d088b-6243-4963-a2e2-8b321ab7f8fc_SetDate">
    <vt:lpwstr>2024-04-19T05:44:53Z</vt:lpwstr>
  </property>
  <property fmtid="{D5CDD505-2E9C-101B-9397-08002B2CF9AE}" pid="4" name="MSIP_Label_8c3d088b-6243-4963-a2e2-8b321ab7f8fc_Method">
    <vt:lpwstr>Standard</vt:lpwstr>
  </property>
  <property fmtid="{D5CDD505-2E9C-101B-9397-08002B2CF9AE}" pid="5" name="MSIP_Label_8c3d088b-6243-4963-a2e2-8b321ab7f8fc_Name">
    <vt:lpwstr>Trusted</vt:lpwstr>
  </property>
  <property fmtid="{D5CDD505-2E9C-101B-9397-08002B2CF9AE}" pid="6" name="MSIP_Label_8c3d088b-6243-4963-a2e2-8b321ab7f8fc_SiteId">
    <vt:lpwstr>d1323671-cdbe-4417-b4d4-bdb24b51316b</vt:lpwstr>
  </property>
  <property fmtid="{D5CDD505-2E9C-101B-9397-08002B2CF9AE}" pid="7" name="MSIP_Label_8c3d088b-6243-4963-a2e2-8b321ab7f8fc_ActionId">
    <vt:lpwstr>2057418d-031b-4e0e-8911-c81ccb9cd454</vt:lpwstr>
  </property>
  <property fmtid="{D5CDD505-2E9C-101B-9397-08002B2CF9AE}" pid="8" name="MSIP_Label_8c3d088b-6243-4963-a2e2-8b321ab7f8fc_ContentBits">
    <vt:lpwstr>1</vt:lpwstr>
  </property>
  <property fmtid="{D5CDD505-2E9C-101B-9397-08002B2CF9AE}" pid="9" name="ClassificationContentMarkingHeaderLocations">
    <vt:lpwstr>Retrospect:11</vt:lpwstr>
  </property>
  <property fmtid="{D5CDD505-2E9C-101B-9397-08002B2CF9AE}" pid="10" name="ClassificationContentMarkingHeaderText">
    <vt:lpwstr>RMIT Classification: Trusted</vt:lpwstr>
  </property>
</Properties>
</file>